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3"/>
  </p:sldMasterIdLst>
  <p:notesMasterIdLst>
    <p:notesMasterId r:id="rId7"/>
  </p:notesMasterIdLst>
  <p:handoutMasterIdLst>
    <p:handoutMasterId r:id="rId8"/>
  </p:handoutMasterIdLst>
  <p:sldIdLst>
    <p:sldId id="256" r:id="rId4"/>
    <p:sldId id="321" r:id="rId5"/>
    <p:sldId id="319" r:id="rId6"/>
  </p:sldIdLst>
  <p:sldSz cx="12204700" cy="6859270"/>
  <p:notesSz cx="9144000" cy="6858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8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38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86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3515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26771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81254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35737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7" autoAdjust="0"/>
    <p:restoredTop sz="96552" autoAdjust="0"/>
  </p:normalViewPr>
  <p:slideViewPr>
    <p:cSldViewPr>
      <p:cViewPr varScale="1">
        <p:scale>
          <a:sx n="63" d="100"/>
          <a:sy n="63" d="100"/>
        </p:scale>
        <p:origin x="72" y="462"/>
      </p:cViewPr>
      <p:guideLst>
        <p:guide orient="horz" pos="2161"/>
        <p:guide pos="38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2064" y="58"/>
      </p:cViewPr>
      <p:guideLst>
        <p:guide orient="horz" pos="2160"/>
        <p:guide pos="288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0E44AF-0D8D-4B66-BECC-4D5B9292E15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3C35A87-E971-49BF-8F02-A5CE2B85C74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7119A08-1D2F-470C-8FD3-E69459F4B57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4413" y="514350"/>
            <a:ext cx="45751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6004EB-C740-4F3D-A864-243FCB14D11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8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902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385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868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351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77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25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737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实验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1 numpy</a:t>
              </a:r>
              <a:endParaRPr lang="en-US" altLang="zh-CN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C9F260F8-0F8D-4271-AB2B-8487BB54F279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  <a:endParaRPr lang="zh-CN" altLang="en-US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实验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1 numpy</a:t>
              </a:r>
              <a:endParaRPr lang="en-US" altLang="zh-CN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C9F260F8-0F8D-4271-AB2B-8487BB54F279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  <a:endParaRPr lang="zh-CN" altLang="en-US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实验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1 numpy</a:t>
              </a:r>
              <a:endParaRPr lang="en-US" altLang="zh-CN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数据分析基础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赵伟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实验</a:t>
              </a:r>
              <a:r>
                <a:rPr lang="en-US" altLang="zh-CN" sz="1300" b="1" dirty="0">
                  <a:solidFill>
                    <a:schemeClr val="accent4">
                      <a:lumMod val="50000"/>
                    </a:schemeClr>
                  </a:solidFill>
                </a:rPr>
                <a:t>1 numpy</a:t>
              </a:r>
              <a:endParaRPr lang="en-US" altLang="zh-CN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768207" y="5157986"/>
            <a:ext cx="10668285" cy="844324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dirty="0"/>
              <a:t>数据分析基础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886" y="1413570"/>
            <a:ext cx="7920880" cy="31353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 numpy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920" y="1075626"/>
            <a:ext cx="10984230" cy="5041187"/>
          </a:xfrm>
        </p:spPr>
        <p:txBody>
          <a:bodyPr/>
          <a:lstStyle/>
          <a:p>
            <a:pPr marL="514350" indent="-514350">
              <a:buFont typeface="+mj-ea"/>
              <a:buAutoNum type="ea1JpnChsDbPeriod"/>
            </a:pPr>
            <a:r>
              <a:rPr lang="zh-CN" altLang="en-US" sz="1900" dirty="0">
                <a:sym typeface="+mn-ea"/>
              </a:rPr>
              <a:t>实验目的：</a:t>
            </a:r>
            <a:endParaRPr lang="en-US" altLang="zh-CN" sz="1900" dirty="0"/>
          </a:p>
          <a:p>
            <a:pPr marL="887730" lvl="1" indent="-342900">
              <a:buFont typeface="+mj-lt"/>
              <a:buAutoNum type="arabicPeriod"/>
            </a:pPr>
            <a:r>
              <a:rPr lang="zh-CN" altLang="en-US" sz="1900" dirty="0">
                <a:sym typeface="+mn-ea"/>
              </a:rPr>
              <a:t>掌握</a:t>
            </a:r>
            <a:r>
              <a:rPr lang="en-US" altLang="zh-CN" sz="1900" dirty="0">
                <a:sym typeface="+mn-ea"/>
              </a:rPr>
              <a:t>Numpy</a:t>
            </a:r>
            <a:r>
              <a:rPr lang="zh-CN" altLang="en-US" sz="1900" dirty="0">
                <a:sym typeface="+mn-ea"/>
              </a:rPr>
              <a:t>生成数组的方式</a:t>
            </a:r>
            <a:endParaRPr lang="zh-CN" altLang="en-US" sz="1900" dirty="0"/>
          </a:p>
          <a:p>
            <a:pPr marL="887730" lvl="1" indent="-342900">
              <a:buFont typeface="+mj-lt"/>
              <a:buAutoNum type="arabicPeriod"/>
            </a:pPr>
            <a:r>
              <a:rPr lang="zh-CN" altLang="en-US" sz="1900" dirty="0">
                <a:sym typeface="+mn-ea"/>
              </a:rPr>
              <a:t>熟练使用</a:t>
            </a:r>
            <a:r>
              <a:rPr lang="en-US" altLang="zh-CN" sz="1900" dirty="0">
                <a:sym typeface="+mn-ea"/>
              </a:rPr>
              <a:t>Numpy</a:t>
            </a:r>
            <a:r>
              <a:rPr lang="zh-CN" altLang="en-US" sz="1900" dirty="0">
                <a:sym typeface="+mn-ea"/>
              </a:rPr>
              <a:t>生成随机数</a:t>
            </a:r>
            <a:endParaRPr lang="zh-CN" altLang="en-US" sz="1900" dirty="0">
              <a:sym typeface="+mn-ea"/>
            </a:endParaRPr>
          </a:p>
          <a:p>
            <a:pPr marL="887730" lvl="1" indent="-342900">
              <a:buFont typeface="+mj-lt"/>
              <a:buAutoNum type="arabicPeriod"/>
            </a:pPr>
            <a:r>
              <a:rPr lang="zh-CN" altLang="en-US" sz="1900" dirty="0">
                <a:sym typeface="+mn-ea"/>
              </a:rPr>
              <a:t>掌握</a:t>
            </a:r>
            <a:r>
              <a:rPr lang="en-US" altLang="zh-CN" sz="1900" dirty="0">
                <a:sym typeface="+mn-ea"/>
              </a:rPr>
              <a:t>Numpy</a:t>
            </a:r>
            <a:r>
              <a:rPr lang="zh-CN" altLang="en-US" sz="1900" dirty="0">
                <a:sym typeface="+mn-ea"/>
              </a:rPr>
              <a:t>数组的基本用法</a:t>
            </a:r>
            <a:endParaRPr lang="zh-CN" altLang="en-US" sz="1900" dirty="0"/>
          </a:p>
          <a:p>
            <a:pPr marL="457200" indent="-457200">
              <a:buFont typeface="+mj-lt"/>
              <a:buAutoNum type="ea1JpnChsDbPeriod"/>
            </a:pPr>
            <a:r>
              <a:rPr lang="zh-CN" altLang="en-US" sz="1900" dirty="0">
                <a:sym typeface="+mn-ea"/>
              </a:rPr>
              <a:t>实验内容：</a:t>
            </a:r>
            <a:endParaRPr lang="en-US" altLang="zh-CN" sz="1900" dirty="0"/>
          </a:p>
          <a:p>
            <a:pPr marL="887730" lvl="1" indent="-342900">
              <a:buAutoNum type="arabicPeriod"/>
            </a:pPr>
            <a:r>
              <a:rPr lang="en-US" altLang="zh-CN" dirty="0"/>
              <a:t>生成随机数组</a:t>
            </a:r>
            <a:endParaRPr lang="en-US" altLang="zh-CN" dirty="0"/>
          </a:p>
          <a:p>
            <a:pPr marL="1431925" lvl="2" indent="-342900">
              <a:buFont typeface="+mj-ea"/>
              <a:buAutoNum type="circleNumDbPlain"/>
            </a:pPr>
            <a:r>
              <a:rPr lang="en-US" altLang="zh-CN" dirty="0"/>
              <a:t>生成一个3行5列的满足标准正态分布的随机数组arr1</a:t>
            </a:r>
            <a:endParaRPr lang="en-US" altLang="zh-CN" dirty="0"/>
          </a:p>
          <a:p>
            <a:pPr marL="1431925" lvl="2" indent="-342900">
              <a:buFont typeface="+mj-ea"/>
              <a:buAutoNum type="circleNumDbPlain"/>
            </a:pPr>
            <a:r>
              <a:rPr lang="en-US" altLang="zh-CN" dirty="0"/>
              <a:t>将数组arr1中的所有元素值放大10倍得到arr2</a:t>
            </a:r>
            <a:endParaRPr lang="en-US" altLang="zh-CN" dirty="0"/>
          </a:p>
          <a:p>
            <a:pPr marL="1431925" lvl="2" indent="-342900">
              <a:buFont typeface="+mj-ea"/>
              <a:buAutoNum type="circleNumDbPlain"/>
            </a:pPr>
            <a:r>
              <a:rPr lang="en-US" altLang="zh-CN" dirty="0"/>
              <a:t>将数组arr2分解成2个数组：一个数组只包含原数组的整数部分arrInt，另一个数组只包含原数组的小数部分arrFloat</a:t>
            </a:r>
            <a:endParaRPr lang="en-US" altLang="zh-CN" dirty="0"/>
          </a:p>
          <a:p>
            <a:pPr marL="1431925" lvl="2" indent="-342900">
              <a:buFont typeface="+mj-ea"/>
              <a:buAutoNum type="circleNumDbPlain"/>
            </a:pPr>
            <a:r>
              <a:rPr lang="en-US" altLang="zh-CN" dirty="0">
                <a:sym typeface="+mn-ea"/>
              </a:rPr>
              <a:t>将数组arr1中大于0的值取整数部分，小于0的值取小数部分，生成arr3</a:t>
            </a:r>
            <a:endParaRPr lang="en-US" altLang="zh-CN" dirty="0"/>
          </a:p>
          <a:p>
            <a:pPr marL="1431925" lvl="2" indent="-342900">
              <a:buFont typeface="+mj-ea"/>
              <a:buAutoNum type="circleNumDbPlain"/>
            </a:pPr>
            <a:r>
              <a:rPr lang="en-US" altLang="zh-CN" dirty="0">
                <a:sym typeface="+mn-ea"/>
              </a:rPr>
              <a:t>将数组arr3里元素通通转换为字符串类型得到数组arr4</a:t>
            </a:r>
            <a:endParaRPr lang="en-US" altLang="zh-CN" dirty="0">
              <a:sym typeface="+mn-ea"/>
            </a:endParaRPr>
          </a:p>
          <a:p>
            <a:pPr marL="1431925" lvl="2" indent="-342900">
              <a:buFont typeface="+mj-ea"/>
              <a:buAutoNum type="circleNumDbPlain"/>
            </a:pPr>
            <a:r>
              <a:rPr lang="en-US" altLang="zh-CN" dirty="0">
                <a:sym typeface="+mn-ea"/>
              </a:rPr>
              <a:t>随机生成一个由True和False组成的10个元素的布尔数组arrB</a:t>
            </a:r>
            <a:endParaRPr lang="en-US" altLang="zh-CN" dirty="0"/>
          </a:p>
          <a:p>
            <a:pPr marL="1431925" lvl="2" indent="-342900"/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 numpy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920" y="1075626"/>
            <a:ext cx="10984230" cy="5041187"/>
          </a:xfrm>
        </p:spPr>
        <p:txBody>
          <a:bodyPr/>
          <a:lstStyle/>
          <a:p>
            <a:pPr marL="514350" indent="-514350">
              <a:buFont typeface="+mj-ea"/>
              <a:buAutoNum type="ea1JpnChsDbPeriod" startAt="2"/>
            </a:pPr>
            <a:r>
              <a:rPr lang="zh-CN" altLang="en-US" sz="1900" dirty="0">
                <a:sym typeface="+mn-ea"/>
              </a:rPr>
              <a:t>实验内容：</a:t>
            </a:r>
            <a:endParaRPr lang="en-US" altLang="zh-CN" sz="1900" dirty="0"/>
          </a:p>
          <a:p>
            <a:pPr marL="887730" lvl="1" indent="-342900">
              <a:buAutoNum type="arabicPeriod"/>
            </a:pPr>
            <a:r>
              <a:rPr lang="en-US" altLang="zh-CN" sz="1700" dirty="0">
                <a:sym typeface="+mn-ea"/>
              </a:rPr>
              <a:t>生成随机数组</a:t>
            </a:r>
            <a:endParaRPr lang="en-US" altLang="zh-CN" sz="1700" dirty="0"/>
          </a:p>
          <a:p>
            <a:pPr marL="1431925" lvl="2" indent="-342900">
              <a:buFont typeface="+mj-ea"/>
              <a:buAutoNum type="circleNumDbPlain" startAt="7"/>
            </a:pPr>
            <a:r>
              <a:rPr lang="en-US" altLang="zh-CN" dirty="0">
                <a:sym typeface="+mn-ea"/>
              </a:rPr>
              <a:t>自定义函数myArr(start, end, row)，返回一个由start开始到end结束的连续整数组成的嵌套列表，数值按照列的顺序从大到小排列。</a:t>
            </a:r>
            <a:endParaRPr lang="en-US" altLang="zh-CN" dirty="0"/>
          </a:p>
          <a:p>
            <a:pPr marL="1976755" lvl="3" indent="-342900"/>
            <a:r>
              <a:rPr lang="zh-CN" altLang="en-US" dirty="0">
                <a:sym typeface="+mn-ea"/>
              </a:rPr>
              <a:t>示例：</a:t>
            </a:r>
            <a:r>
              <a:rPr lang="en-US" altLang="zh-CN" dirty="0">
                <a:sym typeface="+mn-ea"/>
              </a:rPr>
              <a:t>调用myArr(11, 60, 5)，将得到如下嵌套列表</a:t>
            </a:r>
            <a:endParaRPr lang="en-US" altLang="zh-CN" dirty="0"/>
          </a:p>
          <a:p>
            <a:pPr marL="887730" lvl="1" indent="-342900">
              <a:buAutoNum type="arabicPeriod"/>
            </a:pPr>
            <a:endParaRPr lang="en-US" altLang="zh-CN" dirty="0"/>
          </a:p>
          <a:p>
            <a:pPr marL="887730" lvl="1" indent="-342900">
              <a:buAutoNum type="arabicPeriod"/>
            </a:pPr>
            <a:endParaRPr lang="en-US" altLang="zh-CN" dirty="0"/>
          </a:p>
          <a:p>
            <a:pPr marL="887730" lvl="1" indent="-342900">
              <a:buAutoNum type="arabicPeriod"/>
            </a:pPr>
            <a:r>
              <a:rPr lang="en-US" altLang="zh-CN" dirty="0"/>
              <a:t>切片</a:t>
            </a:r>
            <a:endParaRPr lang="en-US" altLang="zh-CN" dirty="0"/>
          </a:p>
          <a:p>
            <a:pPr marL="1344930" lvl="2" indent="-342900">
              <a:buFont typeface="+mj-ea"/>
              <a:buAutoNum type="circleNumDbPlain"/>
            </a:pPr>
            <a:r>
              <a:rPr lang="en-US" altLang="zh-CN" dirty="0"/>
              <a:t>生成一个10*15的随机整数组成的数组，随机数的取值访问[100,200]生成数组arr5 </a:t>
            </a:r>
            <a:endParaRPr lang="en-US" altLang="zh-CN" dirty="0"/>
          </a:p>
          <a:p>
            <a:pPr marL="1344930" lvl="2" indent="-342900">
              <a:buFont typeface="+mj-ea"/>
              <a:buAutoNum type="circleNumDbPlain"/>
            </a:pPr>
            <a:r>
              <a:rPr lang="en-US" altLang="zh-CN" dirty="0"/>
              <a:t>复制出arr5中的奇数行和奇数列位置上的元素值，组成新的数组arr6</a:t>
            </a:r>
            <a:endParaRPr lang="en-US" altLang="zh-CN" dirty="0"/>
          </a:p>
          <a:p>
            <a:pPr marL="1344930" lvl="2" indent="-342900">
              <a:buFont typeface="+mj-ea"/>
              <a:buAutoNum type="circleNumDbPlain"/>
            </a:pPr>
            <a:r>
              <a:rPr lang="en-US" altLang="zh-CN" dirty="0"/>
              <a:t>自定义函数myArr2(arr, rowList, colList)，从原始2维数组arr中返回一个指定行列表rowList和列列表colList位置上的元素组成的新的2维数组</a:t>
            </a:r>
            <a:endParaRPr lang="en-US" altLang="zh-CN" dirty="0"/>
          </a:p>
          <a:p>
            <a:pPr marL="1431925" lvl="2" indent="-342900"/>
            <a:endParaRPr lang="en-US" altLang="zh-CN" dirty="0"/>
          </a:p>
          <a:p>
            <a:pPr marL="887730" lvl="1" indent="-342900">
              <a:buAutoNum type="arabicPeriod"/>
            </a:pP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414020" y="2997200"/>
            <a:ext cx="86487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2"/>
            <a:r>
              <a:rPr lang="en-US" altLang="zh-CN" sz="1400" dirty="0">
                <a:sym typeface="+mn-ea"/>
              </a:rPr>
              <a:t>		[[60, 55, 50, 45, 40, 35, 30, 25, 20, 15],</a:t>
            </a:r>
            <a:endParaRPr lang="en-US" altLang="zh-CN" sz="1400" dirty="0"/>
          </a:p>
          <a:p>
            <a:pPr lvl="2"/>
            <a:r>
              <a:rPr lang="en-US" altLang="zh-CN" sz="1400" dirty="0">
                <a:sym typeface="+mn-ea"/>
              </a:rPr>
              <a:t>		 [59, 54, 49, 44, 39, 34, 29, 24, 19, 14],</a:t>
            </a:r>
            <a:endParaRPr lang="en-US" altLang="zh-CN" sz="1400" dirty="0"/>
          </a:p>
          <a:p>
            <a:pPr lvl="2"/>
            <a:r>
              <a:rPr lang="en-US" altLang="zh-CN" sz="1400" dirty="0">
                <a:sym typeface="+mn-ea"/>
              </a:rPr>
              <a:t>		 [58, 53, 48, 43, 38, 33, 28, 23, 18, 13],</a:t>
            </a:r>
            <a:endParaRPr lang="en-US" altLang="zh-CN" sz="1400" dirty="0"/>
          </a:p>
          <a:p>
            <a:pPr lvl="2"/>
            <a:r>
              <a:rPr lang="en-US" altLang="zh-CN" sz="1400" dirty="0">
                <a:sym typeface="+mn-ea"/>
              </a:rPr>
              <a:t>		 [57, 52, 47, 42, 37, 32, 27, 22, 17, 12],</a:t>
            </a:r>
            <a:endParaRPr lang="en-US" altLang="zh-CN" sz="1400" dirty="0"/>
          </a:p>
          <a:p>
            <a:pPr lvl="2"/>
            <a:r>
              <a:rPr lang="en-US" altLang="zh-CN" sz="1400" dirty="0">
                <a:sym typeface="+mn-ea"/>
              </a:rPr>
              <a:t>		 [56, 51, 46, 41, 36, 31, 26, 21, 16, 11]]</a:t>
            </a:r>
            <a:endParaRPr lang="en-US" altLang="zh-CN" sz="14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</Words>
  <Application>WPS 演示</Application>
  <PresentationFormat>自定义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Arial Unicode MS</vt:lpstr>
      <vt:lpstr>微软雅黑</vt:lpstr>
      <vt:lpstr>Arial Black</vt:lpstr>
      <vt:lpstr>Arial Unicode MS</vt:lpstr>
      <vt:lpstr>Calibri</vt:lpstr>
      <vt:lpstr>Office 主题</vt:lpstr>
      <vt:lpstr>1_Office 主题</vt:lpstr>
      <vt:lpstr>数据分析基础</vt:lpstr>
      <vt:lpstr>实验1： numpy</vt:lpstr>
      <vt:lpstr>实验1： numpy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赵伟</dc:creator>
  <cp:lastModifiedBy>赵伟</cp:lastModifiedBy>
  <cp:revision>709</cp:revision>
  <cp:lastPrinted>2012-03-16T05:44:00Z</cp:lastPrinted>
  <dcterms:created xsi:type="dcterms:W3CDTF">2020-09-20T05:29:00Z</dcterms:created>
  <dcterms:modified xsi:type="dcterms:W3CDTF">2022-01-13T00:54:20Z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71928D23EBAA42B986DBAE1186005113</vt:lpwstr>
  </property>
</Properties>
</file>