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2"/>
  </p:notesMasterIdLst>
  <p:handoutMasterIdLst>
    <p:handoutMasterId r:id="rId73"/>
  </p:handoutMasterIdLst>
  <p:sldIdLst>
    <p:sldId id="256" r:id="rId3"/>
    <p:sldId id="368" r:id="rId4"/>
    <p:sldId id="486" r:id="rId5"/>
    <p:sldId id="476" r:id="rId6"/>
    <p:sldId id="483" r:id="rId7"/>
    <p:sldId id="487" r:id="rId8"/>
    <p:sldId id="488" r:id="rId9"/>
    <p:sldId id="489" r:id="rId10"/>
    <p:sldId id="490" r:id="rId11"/>
    <p:sldId id="491" r:id="rId12"/>
    <p:sldId id="492" r:id="rId13"/>
    <p:sldId id="493" r:id="rId14"/>
    <p:sldId id="494" r:id="rId15"/>
    <p:sldId id="495" r:id="rId16"/>
    <p:sldId id="496" r:id="rId17"/>
    <p:sldId id="497" r:id="rId18"/>
    <p:sldId id="498" r:id="rId19"/>
    <p:sldId id="499" r:id="rId20"/>
    <p:sldId id="500" r:id="rId21"/>
    <p:sldId id="501" r:id="rId22"/>
    <p:sldId id="502" r:id="rId23"/>
    <p:sldId id="503" r:id="rId24"/>
    <p:sldId id="504" r:id="rId25"/>
    <p:sldId id="505" r:id="rId26"/>
    <p:sldId id="506" r:id="rId27"/>
    <p:sldId id="510" r:id="rId28"/>
    <p:sldId id="511" r:id="rId29"/>
    <p:sldId id="512" r:id="rId30"/>
    <p:sldId id="513" r:id="rId31"/>
    <p:sldId id="514" r:id="rId32"/>
    <p:sldId id="515" r:id="rId33"/>
    <p:sldId id="516" r:id="rId34"/>
    <p:sldId id="517" r:id="rId35"/>
    <p:sldId id="518" r:id="rId36"/>
    <p:sldId id="519" r:id="rId37"/>
    <p:sldId id="520" r:id="rId38"/>
    <p:sldId id="521" r:id="rId39"/>
    <p:sldId id="522" r:id="rId40"/>
    <p:sldId id="523" r:id="rId41"/>
    <p:sldId id="524" r:id="rId42"/>
    <p:sldId id="525" r:id="rId43"/>
    <p:sldId id="526" r:id="rId44"/>
    <p:sldId id="527" r:id="rId45"/>
    <p:sldId id="529" r:id="rId46"/>
    <p:sldId id="528" r:id="rId47"/>
    <p:sldId id="533" r:id="rId48"/>
    <p:sldId id="532" r:id="rId49"/>
    <p:sldId id="534" r:id="rId50"/>
    <p:sldId id="535" r:id="rId51"/>
    <p:sldId id="536" r:id="rId52"/>
    <p:sldId id="537" r:id="rId53"/>
    <p:sldId id="538" r:id="rId54"/>
    <p:sldId id="539" r:id="rId55"/>
    <p:sldId id="540" r:id="rId56"/>
    <p:sldId id="541" r:id="rId57"/>
    <p:sldId id="544" r:id="rId58"/>
    <p:sldId id="545" r:id="rId59"/>
    <p:sldId id="546" r:id="rId60"/>
    <p:sldId id="547" r:id="rId61"/>
    <p:sldId id="548" r:id="rId62"/>
    <p:sldId id="549" r:id="rId63"/>
    <p:sldId id="550" r:id="rId64"/>
    <p:sldId id="551" r:id="rId65"/>
    <p:sldId id="552" r:id="rId66"/>
    <p:sldId id="553" r:id="rId67"/>
    <p:sldId id="554" r:id="rId68"/>
    <p:sldId id="555" r:id="rId69"/>
    <p:sldId id="556" r:id="rId70"/>
    <p:sldId id="265" r:id="rId71"/>
  </p:sldIdLst>
  <p:sldSz cx="12204700" cy="6859270"/>
  <p:notesSz cx="9144000" cy="6858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4483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890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338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1786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723515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326771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81254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435737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33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0" autoAdjust="0"/>
    <p:restoredTop sz="96552" autoAdjust="0"/>
  </p:normalViewPr>
  <p:slideViewPr>
    <p:cSldViewPr>
      <p:cViewPr varScale="1">
        <p:scale>
          <a:sx n="81" d="100"/>
          <a:sy n="81" d="100"/>
        </p:scale>
        <p:origin x="96" y="834"/>
      </p:cViewPr>
      <p:guideLst>
        <p:guide orient="horz" pos="2160"/>
        <p:guide pos="386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126"/>
    </p:cViewPr>
  </p:sorterViewPr>
  <p:notesViewPr>
    <p:cSldViewPr>
      <p:cViewPr varScale="1">
        <p:scale>
          <a:sx n="87" d="100"/>
          <a:sy n="87" d="100"/>
        </p:scale>
        <p:origin x="2064" y="58"/>
      </p:cViewPr>
      <p:guideLst>
        <p:guide orient="horz" pos="2160"/>
        <p:guide pos="28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handoutMaster" Target="handoutMasters/handoutMaster1.xml"/><Relationship Id="rId72" Type="http://schemas.openxmlformats.org/officeDocument/2006/relationships/notesMaster" Target="notesMasters/notesMaster1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0E44AF-0D8D-4B66-BECC-4D5B9292E151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3C35A87-E971-49BF-8F02-A5CE2B85C74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7119A08-1D2F-470C-8FD3-E69459F4B57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4413" y="514350"/>
            <a:ext cx="4575175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6004EB-C740-4F3D-A864-243FCB14D11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483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8902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3385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7868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3515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771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254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737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/>
          <p:nvPr userDrawn="1"/>
        </p:nvSpPr>
        <p:spPr>
          <a:xfrm>
            <a:off x="239599" y="6434041"/>
            <a:ext cx="4228870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grpSp>
        <p:nvGrpSpPr>
          <p:cNvPr id="5" name="组合 19"/>
          <p:cNvGrpSpPr/>
          <p:nvPr userDrawn="1"/>
        </p:nvGrpSpPr>
        <p:grpSpPr bwMode="auto">
          <a:xfrm>
            <a:off x="0" y="6238758"/>
            <a:ext cx="12204700" cy="273832"/>
            <a:chOff x="0" y="6237927"/>
            <a:chExt cx="9144000" cy="272911"/>
          </a:xfrm>
        </p:grpSpPr>
        <p:cxnSp>
          <p:nvCxnSpPr>
            <p:cNvPr id="6" name="直接连接符 5"/>
            <p:cNvCxnSpPr>
              <a:endCxn id="7" idx="1"/>
            </p:cNvCxnSpPr>
            <p:nvPr userDrawn="1"/>
          </p:nvCxnSpPr>
          <p:spPr>
            <a:xfrm flipV="1">
              <a:off x="0" y="6374383"/>
              <a:ext cx="32758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7" idx="3"/>
            </p:cNvCxnSpPr>
            <p:nvPr userDrawn="1"/>
          </p:nvCxnSpPr>
          <p:spPr>
            <a:xfrm>
              <a:off x="5826944" y="6374383"/>
              <a:ext cx="33170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 userDrawn="1"/>
          </p:nvSpPr>
          <p:spPr>
            <a:xfrm>
              <a:off x="3275856" y="6237927"/>
              <a:ext cx="2551088" cy="2729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solidFill>
                    <a:schemeClr val="accent4">
                      <a:lumMod val="50000"/>
                    </a:schemeClr>
                  </a:solidFill>
                </a:rPr>
                <a:t>数据分析基础</a:t>
              </a:r>
              <a:endParaRPr lang="zh-CN" altLang="en-US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353" y="2929613"/>
            <a:ext cx="10373995" cy="928910"/>
          </a:xfrm>
        </p:spPr>
        <p:txBody>
          <a:bodyPr>
            <a:normAutofit/>
          </a:bodyPr>
          <a:lstStyle>
            <a:lvl1pPr algn="l">
              <a:defRPr sz="43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5353" y="3887100"/>
            <a:ext cx="8543290" cy="685967"/>
          </a:xfrm>
        </p:spPr>
        <p:txBody>
          <a:bodyPr anchor="ctr">
            <a:normAutofit/>
          </a:bodyPr>
          <a:lstStyle>
            <a:lvl1pPr marL="0" indent="0" algn="l">
              <a:buNone/>
              <a:defRPr sz="1700" b="1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defRPr>
            </a:lvl1pPr>
            <a:lvl2pPr marL="544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9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8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7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2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7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742" y="405458"/>
            <a:ext cx="8279325" cy="5760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FFADEFA4-4608-418A-84AC-D4C3F38BFDE0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3669564"/>
            <a:ext cx="12204700" cy="60180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29363" y="1703784"/>
            <a:ext cx="652508" cy="611329"/>
          </a:xfrm>
          <a:prstGeom prst="rect">
            <a:avLst/>
          </a:prstGeom>
          <a:solidFill>
            <a:schemeClr val="accent4">
              <a:lumMod val="5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页脚占位符 4"/>
          <p:cNvSpPr txBox="1"/>
          <p:nvPr userDrawn="1"/>
        </p:nvSpPr>
        <p:spPr>
          <a:xfrm>
            <a:off x="610235" y="6434041"/>
            <a:ext cx="4443274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集美大学诚毅学院 数据科学与大数据教研室</a:t>
            </a:r>
            <a:endParaRPr lang="zh-CN" altLang="en-US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57734" y="1197546"/>
            <a:ext cx="864096" cy="828867"/>
          </a:xfrm>
          <a:prstGeom prst="rect">
            <a:avLst/>
          </a:prstGeom>
          <a:solidFill>
            <a:schemeClr val="accent4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892153" y="2107102"/>
            <a:ext cx="5339556" cy="1541157"/>
          </a:xfrm>
          <a:prstGeom prst="rect">
            <a:avLst/>
          </a:prstGeom>
          <a:noFill/>
        </p:spPr>
        <p:txBody>
          <a:bodyPr lIns="108932" tIns="54466" rIns="108932" bIns="5446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3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Thanks</a:t>
            </a:r>
            <a:endParaRPr lang="zh-CN" altLang="en-US" sz="93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79012" y="3581432"/>
            <a:ext cx="2517159" cy="771715"/>
          </a:xfrm>
          <a:prstGeom prst="rect">
            <a:avLst/>
          </a:prstGeom>
          <a:noFill/>
        </p:spPr>
        <p:txBody>
          <a:bodyPr wrap="none" lIns="108932" tIns="54466" rIns="108932" bIns="54466" anchor="ctr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FAQ</a:t>
            </a:r>
            <a:r>
              <a:rPr lang="zh-CN" altLang="en-US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时间</a:t>
            </a:r>
            <a:endParaRPr lang="en-US" altLang="zh-CN" sz="4300" dirty="0">
              <a:solidFill>
                <a:schemeClr val="bg1"/>
              </a:solidFill>
              <a:latin typeface="Arial Black" panose="020B0A04020102020204" pitchFamily="34" charset="0"/>
              <a:ea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629742" y="405458"/>
            <a:ext cx="8279325" cy="5760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10235" y="1197546"/>
            <a:ext cx="10984230" cy="5041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413718" y="1053530"/>
            <a:ext cx="11251208" cy="1587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页脚占位符 4"/>
          <p:cNvSpPr txBox="1"/>
          <p:nvPr userDrawn="1"/>
        </p:nvSpPr>
        <p:spPr>
          <a:xfrm>
            <a:off x="239598" y="6434041"/>
            <a:ext cx="4324981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485726" y="405458"/>
            <a:ext cx="118690" cy="4990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2059" name="组合 18"/>
          <p:cNvGrpSpPr/>
          <p:nvPr userDrawn="1"/>
        </p:nvGrpSpPr>
        <p:grpSpPr bwMode="auto">
          <a:xfrm>
            <a:off x="0" y="6238756"/>
            <a:ext cx="12204700" cy="288099"/>
            <a:chOff x="0" y="6237942"/>
            <a:chExt cx="9144000" cy="287130"/>
          </a:xfrm>
        </p:grpSpPr>
        <p:cxnSp>
          <p:nvCxnSpPr>
            <p:cNvPr id="20" name="直接连接符 19"/>
            <p:cNvCxnSpPr>
              <a:endCxn id="27" idx="1"/>
            </p:cNvCxnSpPr>
            <p:nvPr userDrawn="1"/>
          </p:nvCxnSpPr>
          <p:spPr>
            <a:xfrm>
              <a:off x="0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 userDrawn="1"/>
          </p:nvSpPr>
          <p:spPr>
            <a:xfrm>
              <a:off x="3347864" y="6237942"/>
              <a:ext cx="2448272" cy="28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数据分析基础</a:t>
              </a:r>
              <a:endParaRPr lang="zh-CN" altLang="en-US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cxnSp>
          <p:nvCxnSpPr>
            <p:cNvPr id="28" name="直接连接符 27"/>
            <p:cNvCxnSpPr>
              <a:stCxn id="27" idx="3"/>
            </p:cNvCxnSpPr>
            <p:nvPr userDrawn="1"/>
          </p:nvCxnSpPr>
          <p:spPr>
            <a:xfrm>
              <a:off x="5796136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9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4830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108902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63385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217868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08305" indent="-40830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4">
            <a:lumMod val="50000"/>
          </a:schemeClr>
        </a:buClr>
        <a:buFont typeface="Wingdings" panose="05000000000000000000" pitchFamily="2" charset="2"/>
        <a:buChar char="u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885190" indent="-34036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36144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90627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45110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995930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012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495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978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83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02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85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868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351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771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254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737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tags" Target="../tags/tag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>
          <a:xfrm>
            <a:off x="768207" y="5157986"/>
            <a:ext cx="10668285" cy="844324"/>
          </a:xfrm>
        </p:spPr>
        <p:txBody>
          <a:bodyPr>
            <a:normAutofit/>
          </a:bodyPr>
          <a:lstStyle/>
          <a:p>
            <a:pPr lvl="2"/>
            <a:r>
              <a:rPr lang="en-US" altLang="zh-CN" sz="1150" dirty="0"/>
              <a:t>https://www.jianshu.com/p/04d180d90a3f</a:t>
            </a:r>
            <a:endParaRPr lang="en-US" altLang="zh-CN" sz="1150" dirty="0"/>
          </a:p>
        </p:txBody>
      </p:sp>
      <p:pic>
        <p:nvPicPr>
          <p:cNvPr id="53250" name="Picture 2" descr="https://gimg2.baidu.com/image_search/src=http%3A%2F%2Fwww.xinhuanet.com%2Fenglish%2F2017-07%2F17%2F136444348_15000292480911n.jpg&amp;refer=http%3A%2F%2Fwww.xinhuanet.com&amp;app=2002&amp;size=f9999,10000&amp;q=a80&amp;n=0&amp;g=0n&amp;fmt=jpeg?sec=1623057878&amp;t=6b76ebbfbbfbf14cbd36ccd4a0c817b5"/>
          <p:cNvPicPr>
            <a:picLocks noChangeAspect="1" noChangeArrowheads="1"/>
          </p:cNvPicPr>
          <p:nvPr/>
        </p:nvPicPr>
        <p:blipFill>
          <a:blip r:embed="rId1" cstate="print"/>
          <a:srcRect b="6761"/>
          <a:stretch>
            <a:fillRect/>
          </a:stretch>
        </p:blipFill>
        <p:spPr bwMode="auto">
          <a:xfrm>
            <a:off x="2717974" y="692974"/>
            <a:ext cx="7066520" cy="43924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Pandas</a:t>
            </a:r>
            <a:r>
              <a:rPr lang="zh-CN" altLang="en-US" dirty="0"/>
              <a:t>入门大纲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5.1 pandas数据结构介绍</a:t>
            </a:r>
            <a:endParaRPr dirty="0"/>
          </a:p>
          <a:p>
            <a:pPr lvl="1"/>
            <a:r>
              <a:rPr dirty="0"/>
              <a:t>5.2 基本功能</a:t>
            </a:r>
            <a:endParaRPr dirty="0"/>
          </a:p>
          <a:p>
            <a:pPr lvl="1"/>
            <a:r>
              <a:rPr dirty="0"/>
              <a:t>5.3 描述性统计的概述与计算</a:t>
            </a:r>
            <a:endParaRPr dirty="0"/>
          </a:p>
          <a:p>
            <a:pPr lvl="1"/>
            <a:r>
              <a:rPr dirty="0"/>
              <a:t>5.4 小结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Pandas</a:t>
            </a:r>
            <a:r>
              <a:rPr lang="zh-CN" altLang="en-US" dirty="0">
                <a:sym typeface="+mn-ea"/>
              </a:rPr>
              <a:t>简介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/>
              <a:t>高效的数据清洗和分析库</a:t>
            </a:r>
            <a:endParaRPr lang="zh-CN"/>
          </a:p>
          <a:p>
            <a:r>
              <a:rPr lang="zh-CN" altLang="zh-CN"/>
              <a:t>经常混合使用：</a:t>
            </a:r>
            <a:endParaRPr lang="zh-CN" altLang="zh-CN"/>
          </a:p>
          <a:p>
            <a:pPr lvl="1"/>
            <a:r>
              <a:rPr lang="zh-CN" altLang="zh-CN"/>
              <a:t>数值计算工具NumPy和SciPy</a:t>
            </a:r>
            <a:endParaRPr lang="zh-CN" altLang="zh-CN"/>
          </a:p>
          <a:p>
            <a:pPr lvl="1"/>
            <a:r>
              <a:rPr lang="zh-CN" altLang="zh-CN"/>
              <a:t>分析库statsmodels和scikit-learn</a:t>
            </a:r>
            <a:endParaRPr lang="zh-CN" altLang="zh-CN"/>
          </a:p>
          <a:p>
            <a:pPr lvl="1"/>
            <a:r>
              <a:rPr lang="zh-CN" altLang="zh-CN"/>
              <a:t>数据可视化库matplotlib</a:t>
            </a:r>
            <a:endParaRPr lang="zh-CN" altLang="zh-CN"/>
          </a:p>
          <a:p>
            <a:r>
              <a:rPr lang="zh-CN" altLang="zh-CN"/>
              <a:t>对比</a:t>
            </a:r>
            <a:r>
              <a:rPr lang="en-US" altLang="zh-CN"/>
              <a:t>Numpy</a:t>
            </a:r>
            <a:endParaRPr lang="en-US" altLang="zh-CN"/>
          </a:p>
          <a:p>
            <a:pPr lvl="1"/>
            <a:r>
              <a:rPr lang="en-US" altLang="zh-CN"/>
              <a:t>pandas是专门为处理表格和混杂数据设计的</a:t>
            </a:r>
            <a:endParaRPr lang="en-US" altLang="zh-CN"/>
          </a:p>
          <a:p>
            <a:pPr lvl="1"/>
            <a:r>
              <a:rPr lang="en-US" altLang="zh-CN"/>
              <a:t>NumPy更适合处理统一的数值数组数据</a:t>
            </a:r>
            <a:endParaRPr lang="en-US" altLang="zh-CN"/>
          </a:p>
          <a:p>
            <a:r>
              <a:rPr lang="en-US" altLang="zh-CN"/>
              <a:t>2010年</a:t>
            </a:r>
            <a:r>
              <a:rPr lang="zh-CN" altLang="zh-CN"/>
              <a:t>开源</a:t>
            </a:r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5.1 pandas数据结构介绍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/>
              <a:t>5.1.1 Series</a:t>
            </a:r>
            <a:endParaRPr lang="zh-CN"/>
          </a:p>
          <a:p>
            <a:r>
              <a:rPr lang="zh-CN"/>
              <a:t>5.1.2 DataFrame</a:t>
            </a:r>
            <a:endParaRPr lang="zh-CN"/>
          </a:p>
          <a:p>
            <a:r>
              <a:rPr lang="zh-CN"/>
              <a:t>5.1.3 索引对象</a:t>
            </a:r>
            <a:endParaRPr 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5.1.1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/>
              <a:t>Series是一种类似于一维数组的对象</a:t>
            </a:r>
            <a:endParaRPr lang="zh-CN"/>
          </a:p>
          <a:p>
            <a:pPr lvl="1"/>
            <a:r>
              <a:rPr lang="zh-CN"/>
              <a:t>由一组数据（各种NumPy数据类型）以及一组与之相关的数据标签（即索引）组成。</a:t>
            </a:r>
            <a:endParaRPr lang="zh-CN"/>
          </a:p>
          <a:p>
            <a:pPr lvl="1"/>
            <a:r>
              <a:rPr lang="zh-CN"/>
              <a:t>Series 的values和index属性</a:t>
            </a:r>
            <a:endParaRPr lang="zh-CN"/>
          </a:p>
          <a:p>
            <a:endParaRPr lang="zh-CN"/>
          </a:p>
        </p:txBody>
      </p:sp>
      <p:sp>
        <p:nvSpPr>
          <p:cNvPr id="4" name="文本框 3"/>
          <p:cNvSpPr txBox="1"/>
          <p:nvPr/>
        </p:nvSpPr>
        <p:spPr>
          <a:xfrm>
            <a:off x="1997710" y="2709545"/>
            <a:ext cx="550608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[11]: obj = pd.Series([4, 7, -5, 3])</a:t>
            </a:r>
            <a:endParaRPr lang="zh-CN" altLang="en-US" sz="1400"/>
          </a:p>
          <a:p>
            <a:r>
              <a:rPr lang="zh-CN" altLang="en-US" sz="1400"/>
              <a:t>In [12]: obj</a:t>
            </a:r>
            <a:endParaRPr lang="zh-CN" altLang="en-US" sz="1400"/>
          </a:p>
          <a:p>
            <a:r>
              <a:rPr lang="zh-CN" altLang="en-US" sz="1400"/>
              <a:t>Out[12]: </a:t>
            </a:r>
            <a:endParaRPr lang="zh-CN" altLang="en-US" sz="1400"/>
          </a:p>
          <a:p>
            <a:r>
              <a:rPr lang="zh-CN" altLang="en-US" sz="1400"/>
              <a:t>0    4</a:t>
            </a:r>
            <a:endParaRPr lang="zh-CN" altLang="en-US" sz="1400"/>
          </a:p>
          <a:p>
            <a:r>
              <a:rPr lang="zh-CN" altLang="en-US" sz="1400"/>
              <a:t>1    7</a:t>
            </a:r>
            <a:endParaRPr lang="zh-CN" altLang="en-US" sz="1400"/>
          </a:p>
          <a:p>
            <a:r>
              <a:rPr lang="zh-CN" altLang="en-US" sz="1400"/>
              <a:t>2   -5</a:t>
            </a:r>
            <a:endParaRPr lang="zh-CN" altLang="en-US" sz="1400"/>
          </a:p>
          <a:p>
            <a:r>
              <a:rPr lang="zh-CN" altLang="en-US" sz="1400"/>
              <a:t>3    3</a:t>
            </a:r>
            <a:endParaRPr lang="zh-CN" altLang="en-US" sz="1400"/>
          </a:p>
          <a:p>
            <a:r>
              <a:rPr lang="zh-CN" altLang="en-US" sz="1400"/>
              <a:t>dtype: int64</a:t>
            </a:r>
            <a:endParaRPr lang="zh-CN" altLang="en-US" sz="1400"/>
          </a:p>
          <a:p>
            <a:r>
              <a:rPr lang="zh-CN" altLang="en-US" sz="1400"/>
              <a:t>In [13]: obj.values</a:t>
            </a:r>
            <a:endParaRPr lang="zh-CN" altLang="en-US" sz="1400"/>
          </a:p>
          <a:p>
            <a:r>
              <a:rPr lang="zh-CN" altLang="en-US" sz="1400"/>
              <a:t>Out[13]: array([ 4,  7, -5,  3])</a:t>
            </a:r>
            <a:endParaRPr lang="zh-CN" altLang="en-US" sz="1400"/>
          </a:p>
          <a:p>
            <a:r>
              <a:rPr lang="zh-CN" altLang="en-US" sz="1400"/>
              <a:t>In [14]: obj.index  # like range(4)</a:t>
            </a:r>
            <a:endParaRPr lang="zh-CN" altLang="en-US" sz="1400"/>
          </a:p>
          <a:p>
            <a:r>
              <a:rPr lang="zh-CN" altLang="en-US" sz="1400"/>
              <a:t>Out[14]: RangeIndex(start=0, stop=4, step=1)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5.1.1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/>
              <a:t>创建一个可以对各个数据点进行标记的索引</a:t>
            </a:r>
            <a:endParaRPr lang="zh-CN"/>
          </a:p>
          <a:p>
            <a:r>
              <a:rPr lang="zh-CN"/>
              <a:t>通过索引的方式选取Series中的单个或一组值</a:t>
            </a:r>
            <a:endParaRPr lang="zh-CN"/>
          </a:p>
          <a:p>
            <a:endParaRPr lang="zh-CN"/>
          </a:p>
        </p:txBody>
      </p:sp>
      <p:sp>
        <p:nvSpPr>
          <p:cNvPr id="4" name="文本框 3"/>
          <p:cNvSpPr txBox="1"/>
          <p:nvPr/>
        </p:nvSpPr>
        <p:spPr>
          <a:xfrm>
            <a:off x="2070100" y="2637790"/>
            <a:ext cx="5506085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[15]: obj2 = pd.Series([4, 7, -5, 3], index=['d', 'b', 'a', 'c'])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[16]: obj2</a:t>
            </a:r>
            <a:endParaRPr lang="zh-CN" altLang="en-US" sz="1400"/>
          </a:p>
          <a:p>
            <a:r>
              <a:rPr lang="zh-CN" altLang="en-US" sz="1400"/>
              <a:t>Out[16]: </a:t>
            </a:r>
            <a:endParaRPr lang="zh-CN" altLang="en-US" sz="1400"/>
          </a:p>
          <a:p>
            <a:r>
              <a:rPr lang="zh-CN" altLang="en-US" sz="1400"/>
              <a:t>d    4</a:t>
            </a:r>
            <a:endParaRPr lang="zh-CN" altLang="en-US" sz="1400"/>
          </a:p>
          <a:p>
            <a:r>
              <a:rPr lang="zh-CN" altLang="en-US" sz="1400"/>
              <a:t>b    7</a:t>
            </a:r>
            <a:endParaRPr lang="zh-CN" altLang="en-US" sz="1400"/>
          </a:p>
          <a:p>
            <a:r>
              <a:rPr lang="zh-CN" altLang="en-US" sz="1400"/>
              <a:t>a   -5</a:t>
            </a:r>
            <a:endParaRPr lang="zh-CN" altLang="en-US" sz="1400"/>
          </a:p>
          <a:p>
            <a:r>
              <a:rPr lang="zh-CN" altLang="en-US" sz="1400"/>
              <a:t>c    3</a:t>
            </a:r>
            <a:endParaRPr lang="zh-CN" altLang="en-US" sz="1400"/>
          </a:p>
          <a:p>
            <a:r>
              <a:rPr lang="zh-CN" altLang="en-US" sz="1400"/>
              <a:t>dtype: int64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[17]: obj2.index</a:t>
            </a:r>
            <a:endParaRPr lang="zh-CN" altLang="en-US" sz="1400"/>
          </a:p>
          <a:p>
            <a:r>
              <a:rPr lang="zh-CN" altLang="en-US" sz="1400"/>
              <a:t>Out[17]: Index(['d', 'b', 'a', 'c'], dtype='object')</a:t>
            </a:r>
            <a:endParaRPr lang="zh-CN" altLang="en-US" sz="1400"/>
          </a:p>
          <a:p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7974330" y="2637790"/>
            <a:ext cx="2633345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[18]: obj2['a']</a:t>
            </a:r>
            <a:endParaRPr lang="zh-CN" altLang="en-US" sz="1400"/>
          </a:p>
          <a:p>
            <a:r>
              <a:rPr lang="zh-CN" altLang="en-US" sz="1400"/>
              <a:t>Out[18]: -5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[19]: obj2['d'] = 6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[20]: obj2[['c', 'a', 'd']]</a:t>
            </a:r>
            <a:endParaRPr lang="zh-CN" altLang="en-US" sz="1400"/>
          </a:p>
          <a:p>
            <a:r>
              <a:rPr lang="zh-CN" altLang="en-US" sz="1400"/>
              <a:t>Out[20]: </a:t>
            </a:r>
            <a:endParaRPr lang="zh-CN" altLang="en-US" sz="1400"/>
          </a:p>
          <a:p>
            <a:r>
              <a:rPr lang="zh-CN" altLang="en-US" sz="1400"/>
              <a:t>c    3</a:t>
            </a:r>
            <a:endParaRPr lang="zh-CN" altLang="en-US" sz="1400"/>
          </a:p>
          <a:p>
            <a:r>
              <a:rPr lang="zh-CN" altLang="en-US" sz="1400"/>
              <a:t>a   -5</a:t>
            </a:r>
            <a:endParaRPr lang="zh-CN" altLang="en-US" sz="1400"/>
          </a:p>
          <a:p>
            <a:r>
              <a:rPr lang="zh-CN" altLang="en-US" sz="1400"/>
              <a:t>d    6</a:t>
            </a:r>
            <a:endParaRPr lang="zh-CN" altLang="en-US" sz="1400"/>
          </a:p>
          <a:p>
            <a:r>
              <a:rPr lang="zh-CN" altLang="en-US" sz="1400"/>
              <a:t>dtype: int64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5.1.1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/>
              <a:t>使用NumPy函数或类似NumPy的运算都会保留索引值的链接</a:t>
            </a:r>
            <a:endParaRPr lang="zh-CN"/>
          </a:p>
          <a:p>
            <a:pPr lvl="1"/>
            <a:r>
              <a:rPr lang="zh-CN"/>
              <a:t>如根据布尔型数组进行过滤、标量乘法、应用数学函数等</a:t>
            </a:r>
            <a:endParaRPr lang="zh-CN"/>
          </a:p>
        </p:txBody>
      </p:sp>
      <p:sp>
        <p:nvSpPr>
          <p:cNvPr id="4" name="文本框 3"/>
          <p:cNvSpPr txBox="1"/>
          <p:nvPr/>
        </p:nvSpPr>
        <p:spPr>
          <a:xfrm>
            <a:off x="8622665" y="1629410"/>
            <a:ext cx="272478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[21]: obj2[obj2 &gt; 0]</a:t>
            </a:r>
            <a:endParaRPr lang="zh-CN" altLang="en-US" sz="1400"/>
          </a:p>
          <a:p>
            <a:r>
              <a:rPr lang="zh-CN" altLang="en-US" sz="1400"/>
              <a:t>Out[21]: </a:t>
            </a:r>
            <a:endParaRPr lang="zh-CN" altLang="en-US" sz="1400"/>
          </a:p>
          <a:p>
            <a:r>
              <a:rPr lang="zh-CN" altLang="en-US" sz="1400"/>
              <a:t>d    6</a:t>
            </a:r>
            <a:endParaRPr lang="zh-CN" altLang="en-US" sz="1400"/>
          </a:p>
          <a:p>
            <a:r>
              <a:rPr lang="zh-CN" altLang="en-US" sz="1400"/>
              <a:t>b    7</a:t>
            </a:r>
            <a:endParaRPr lang="zh-CN" altLang="en-US" sz="1400"/>
          </a:p>
          <a:p>
            <a:r>
              <a:rPr lang="zh-CN" altLang="en-US" sz="1400"/>
              <a:t>c    3</a:t>
            </a:r>
            <a:endParaRPr lang="zh-CN" altLang="en-US" sz="1400"/>
          </a:p>
          <a:p>
            <a:r>
              <a:rPr lang="zh-CN" altLang="en-US" sz="1400"/>
              <a:t>dtype: int64</a:t>
            </a:r>
            <a:endParaRPr lang="zh-CN" altLang="en-US" sz="1400"/>
          </a:p>
          <a:p>
            <a:r>
              <a:rPr lang="zh-CN" altLang="en-US" sz="1400"/>
              <a:t>In [22]: obj2 * 2</a:t>
            </a:r>
            <a:endParaRPr lang="zh-CN" altLang="en-US" sz="1400"/>
          </a:p>
          <a:p>
            <a:r>
              <a:rPr lang="zh-CN" altLang="en-US" sz="1400"/>
              <a:t>Out[22]:</a:t>
            </a:r>
            <a:endParaRPr lang="zh-CN" altLang="en-US" sz="1400"/>
          </a:p>
          <a:p>
            <a:r>
              <a:rPr lang="zh-CN" altLang="en-US" sz="1400"/>
              <a:t>d    12</a:t>
            </a:r>
            <a:endParaRPr lang="zh-CN" altLang="en-US" sz="1400"/>
          </a:p>
          <a:p>
            <a:r>
              <a:rPr lang="zh-CN" altLang="en-US" sz="1400"/>
              <a:t>b    14</a:t>
            </a:r>
            <a:endParaRPr lang="zh-CN" altLang="en-US" sz="1400"/>
          </a:p>
          <a:p>
            <a:r>
              <a:rPr lang="zh-CN" altLang="en-US" sz="1400"/>
              <a:t>a   -10</a:t>
            </a:r>
            <a:endParaRPr lang="zh-CN" altLang="en-US" sz="1400"/>
          </a:p>
          <a:p>
            <a:r>
              <a:rPr lang="zh-CN" altLang="en-US" sz="1400"/>
              <a:t>c     6</a:t>
            </a:r>
            <a:endParaRPr lang="zh-CN" altLang="en-US" sz="1400"/>
          </a:p>
          <a:p>
            <a:r>
              <a:rPr lang="zh-CN" altLang="en-US" sz="1400"/>
              <a:t>dtype: int64</a:t>
            </a:r>
            <a:endParaRPr lang="zh-CN" altLang="en-US" sz="1400"/>
          </a:p>
          <a:p>
            <a:r>
              <a:rPr lang="zh-CN" altLang="en-US" sz="1400"/>
              <a:t>In [23]: np.exp(obj2)</a:t>
            </a:r>
            <a:endParaRPr lang="zh-CN" altLang="en-US" sz="1400"/>
          </a:p>
          <a:p>
            <a:r>
              <a:rPr lang="zh-CN" altLang="en-US" sz="1400"/>
              <a:t>Out[23]: </a:t>
            </a:r>
            <a:endParaRPr lang="zh-CN" altLang="en-US" sz="1400"/>
          </a:p>
          <a:p>
            <a:r>
              <a:rPr lang="zh-CN" altLang="en-US" sz="1400"/>
              <a:t>d     403.428793</a:t>
            </a:r>
            <a:endParaRPr lang="zh-CN" altLang="en-US" sz="1400"/>
          </a:p>
          <a:p>
            <a:r>
              <a:rPr lang="zh-CN" altLang="en-US" sz="1400"/>
              <a:t>b    1096.633158</a:t>
            </a:r>
            <a:endParaRPr lang="zh-CN" altLang="en-US" sz="1400"/>
          </a:p>
          <a:p>
            <a:r>
              <a:rPr lang="zh-CN" altLang="en-US" sz="1400"/>
              <a:t>a       0.006738</a:t>
            </a:r>
            <a:endParaRPr lang="zh-CN" altLang="en-US" sz="1400"/>
          </a:p>
          <a:p>
            <a:r>
              <a:rPr lang="zh-CN" altLang="en-US" sz="1400"/>
              <a:t>c      20.085537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5.1.1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/>
              <a:t>Series</a:t>
            </a:r>
            <a:r>
              <a:rPr lang="zh-CN" altLang="zh-CN"/>
              <a:t>与字典的关系</a:t>
            </a:r>
            <a:endParaRPr lang="zh-CN"/>
          </a:p>
          <a:p>
            <a:pPr lvl="1"/>
            <a:r>
              <a:rPr lang="zh-CN"/>
              <a:t>Series可看成是一个定长的有序字典</a:t>
            </a:r>
            <a:endParaRPr lang="zh-CN"/>
          </a:p>
          <a:p>
            <a:pPr lvl="2"/>
            <a:r>
              <a:rPr lang="zh-CN"/>
              <a:t>它是索引值到数据值的一个映射</a:t>
            </a:r>
            <a:endParaRPr lang="zh-CN"/>
          </a:p>
          <a:p>
            <a:pPr lvl="1"/>
            <a:r>
              <a:rPr lang="zh-CN"/>
              <a:t>可将字典转换为</a:t>
            </a:r>
            <a:r>
              <a:rPr lang="en-US" altLang="zh-CN"/>
              <a:t>Series</a:t>
            </a:r>
            <a:endParaRPr lang="en-US" altLang="zh-CN"/>
          </a:p>
          <a:p>
            <a:pPr lvl="1"/>
            <a:r>
              <a:rPr lang="en-US" altLang="zh-CN"/>
              <a:t>可以传入排好序的字典的键以改变顺序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190230" y="1629410"/>
            <a:ext cx="3720465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[24]: 'b' in obj2</a:t>
            </a:r>
            <a:endParaRPr lang="zh-CN" altLang="en-US" sz="1400"/>
          </a:p>
          <a:p>
            <a:r>
              <a:rPr lang="zh-CN" altLang="en-US" sz="1400"/>
              <a:t>Out[24]: True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[25]: 'e' in obj2</a:t>
            </a:r>
            <a:endParaRPr lang="zh-CN" altLang="en-US" sz="1400"/>
          </a:p>
          <a:p>
            <a:r>
              <a:rPr lang="zh-CN" altLang="en-US" sz="1400"/>
              <a:t>Out[25]: False</a:t>
            </a:r>
            <a:endParaRPr lang="zh-CN" altLang="en-US" sz="1400"/>
          </a:p>
          <a:p>
            <a:r>
              <a:rPr lang="zh-CN" altLang="en-US" sz="1400"/>
              <a:t>In [26]: sdata = {'Ohio': 35000, 'Texas': 71000, 'Oregon': 16000, 'Utah': 5000}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[27]: obj3 = pd.Series(sdata)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[28]: obj3</a:t>
            </a:r>
            <a:endParaRPr lang="zh-CN" altLang="en-US" sz="1400"/>
          </a:p>
          <a:p>
            <a:r>
              <a:rPr lang="zh-CN" altLang="en-US" sz="1400"/>
              <a:t>Out[28]: </a:t>
            </a:r>
            <a:endParaRPr lang="zh-CN" altLang="en-US" sz="1400"/>
          </a:p>
          <a:p>
            <a:r>
              <a:rPr lang="zh-CN" altLang="en-US" sz="1400"/>
              <a:t>Ohio      35000</a:t>
            </a:r>
            <a:endParaRPr lang="zh-CN" altLang="en-US" sz="1400"/>
          </a:p>
          <a:p>
            <a:r>
              <a:rPr lang="zh-CN" altLang="en-US" sz="1400"/>
              <a:t>Oregon    16000</a:t>
            </a:r>
            <a:endParaRPr lang="zh-CN" altLang="en-US" sz="1400"/>
          </a:p>
          <a:p>
            <a:r>
              <a:rPr lang="zh-CN" altLang="en-US" sz="1400"/>
              <a:t>Texas     71000</a:t>
            </a:r>
            <a:endParaRPr lang="zh-CN" altLang="en-US" sz="1400"/>
          </a:p>
          <a:p>
            <a:r>
              <a:rPr lang="zh-CN" altLang="en-US" sz="1400"/>
              <a:t>Utah       5000</a:t>
            </a:r>
            <a:endParaRPr lang="zh-CN" altLang="en-US" sz="1400"/>
          </a:p>
          <a:p>
            <a:r>
              <a:rPr lang="zh-CN" altLang="en-US" sz="1400"/>
              <a:t>dtype: int64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1997710" y="3573780"/>
            <a:ext cx="572897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[29]: states = ['California', 'Ohio', 'Oregon', 'Texas']</a:t>
            </a:r>
            <a:endParaRPr lang="zh-CN" altLang="en-US" sz="1400"/>
          </a:p>
          <a:p>
            <a:r>
              <a:rPr lang="zh-CN" altLang="en-US" sz="1400"/>
              <a:t>In [30]: obj4 = pd.Series(sdata, index=states)</a:t>
            </a:r>
            <a:endParaRPr lang="zh-CN" altLang="en-US" sz="1400"/>
          </a:p>
          <a:p>
            <a:r>
              <a:rPr lang="zh-CN" altLang="en-US" sz="1400"/>
              <a:t>In [31]: obj4</a:t>
            </a:r>
            <a:endParaRPr lang="zh-CN" altLang="en-US" sz="1400"/>
          </a:p>
          <a:p>
            <a:r>
              <a:rPr lang="zh-CN" altLang="en-US" sz="1400"/>
              <a:t>Out[31]: </a:t>
            </a:r>
            <a:endParaRPr lang="zh-CN" altLang="en-US" sz="1400"/>
          </a:p>
          <a:p>
            <a:r>
              <a:rPr lang="zh-CN" altLang="en-US" sz="1400"/>
              <a:t>California        NaN</a:t>
            </a:r>
            <a:endParaRPr lang="zh-CN" altLang="en-US" sz="1400"/>
          </a:p>
          <a:p>
            <a:r>
              <a:rPr lang="zh-CN" altLang="en-US" sz="1400"/>
              <a:t>Ohio          35000.0</a:t>
            </a:r>
            <a:endParaRPr lang="zh-CN" altLang="en-US" sz="1400"/>
          </a:p>
          <a:p>
            <a:r>
              <a:rPr lang="zh-CN" altLang="en-US" sz="1400"/>
              <a:t>Oregon        16000.0</a:t>
            </a:r>
            <a:endParaRPr lang="zh-CN" altLang="en-US" sz="1400"/>
          </a:p>
          <a:p>
            <a:r>
              <a:rPr lang="zh-CN" altLang="en-US" sz="1400"/>
              <a:t>Texas         71000.0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5.1.1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/>
              <a:t>检测缺失数据</a:t>
            </a:r>
            <a:endParaRPr lang="en-US" altLang="zh-CN"/>
          </a:p>
          <a:p>
            <a:pPr lvl="1"/>
            <a:r>
              <a:rPr lang="en-US" altLang="zh-CN"/>
              <a:t>pandas</a:t>
            </a:r>
            <a:r>
              <a:rPr lang="zh-CN" altLang="zh-CN"/>
              <a:t>的顶级函数</a:t>
            </a:r>
            <a:r>
              <a:rPr lang="zh-CN"/>
              <a:t>isnull和notnull</a:t>
            </a:r>
            <a:endParaRPr lang="zh-CN"/>
          </a:p>
          <a:p>
            <a:pPr lvl="1"/>
            <a:r>
              <a:rPr lang="en-US" altLang="zh-CN"/>
              <a:t>Series的实例方法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070100" y="2781300"/>
            <a:ext cx="319468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[32]: pd.isnull(obj4)</a:t>
            </a:r>
            <a:endParaRPr lang="zh-CN" altLang="en-US" sz="1400"/>
          </a:p>
          <a:p>
            <a:r>
              <a:rPr lang="zh-CN" altLang="en-US" sz="1400"/>
              <a:t>Out[32]: </a:t>
            </a:r>
            <a:endParaRPr lang="zh-CN" altLang="en-US" sz="1400"/>
          </a:p>
          <a:p>
            <a:r>
              <a:rPr lang="zh-CN" altLang="en-US" sz="1400"/>
              <a:t>California     True</a:t>
            </a:r>
            <a:endParaRPr lang="zh-CN" altLang="en-US" sz="1400"/>
          </a:p>
          <a:p>
            <a:r>
              <a:rPr lang="zh-CN" altLang="en-US" sz="1400"/>
              <a:t>Ohio          False</a:t>
            </a:r>
            <a:endParaRPr lang="zh-CN" altLang="en-US" sz="1400"/>
          </a:p>
          <a:p>
            <a:r>
              <a:rPr lang="zh-CN" altLang="en-US" sz="1400"/>
              <a:t>Oregon        False</a:t>
            </a:r>
            <a:endParaRPr lang="zh-CN" altLang="en-US" sz="1400"/>
          </a:p>
          <a:p>
            <a:r>
              <a:rPr lang="zh-CN" altLang="en-US" sz="1400"/>
              <a:t>Texas         False</a:t>
            </a:r>
            <a:endParaRPr lang="zh-CN" altLang="en-US" sz="1400"/>
          </a:p>
          <a:p>
            <a:r>
              <a:rPr lang="zh-CN" altLang="en-US" sz="1400"/>
              <a:t>dtype: bool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[33]: pd.notnull(obj4)</a:t>
            </a:r>
            <a:endParaRPr lang="zh-CN" altLang="en-US" sz="1400"/>
          </a:p>
          <a:p>
            <a:r>
              <a:rPr lang="zh-CN" altLang="en-US" sz="1400"/>
              <a:t>Out[33]: </a:t>
            </a:r>
            <a:endParaRPr lang="zh-CN" altLang="en-US" sz="1400"/>
          </a:p>
          <a:p>
            <a:r>
              <a:rPr lang="zh-CN" altLang="en-US" sz="1400"/>
              <a:t>California    False</a:t>
            </a:r>
            <a:endParaRPr lang="zh-CN" altLang="en-US" sz="1400"/>
          </a:p>
          <a:p>
            <a:r>
              <a:rPr lang="zh-CN" altLang="en-US" sz="1400"/>
              <a:t>Ohio           True</a:t>
            </a:r>
            <a:endParaRPr lang="zh-CN" altLang="en-US" sz="1400"/>
          </a:p>
          <a:p>
            <a:r>
              <a:rPr lang="zh-CN" altLang="en-US" sz="1400"/>
              <a:t>Oregon         True</a:t>
            </a:r>
            <a:endParaRPr lang="zh-CN" altLang="en-US" sz="1400"/>
          </a:p>
          <a:p>
            <a:r>
              <a:rPr lang="zh-CN" altLang="en-US" sz="1400"/>
              <a:t>Texas          True</a:t>
            </a:r>
            <a:endParaRPr lang="zh-CN" altLang="en-US" sz="1400"/>
          </a:p>
          <a:p>
            <a:r>
              <a:rPr lang="zh-CN" altLang="en-US" sz="1400"/>
              <a:t>dtype: bool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6245860" y="2709545"/>
            <a:ext cx="319468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[34]: obj4.isnull()</a:t>
            </a:r>
            <a:endParaRPr lang="zh-CN" altLang="en-US" sz="1400"/>
          </a:p>
          <a:p>
            <a:r>
              <a:rPr lang="zh-CN" altLang="en-US" sz="1400"/>
              <a:t>Out[34]: </a:t>
            </a:r>
            <a:endParaRPr lang="zh-CN" altLang="en-US" sz="1400"/>
          </a:p>
          <a:p>
            <a:r>
              <a:rPr lang="zh-CN" altLang="en-US" sz="1400"/>
              <a:t>California     True</a:t>
            </a:r>
            <a:endParaRPr lang="zh-CN" altLang="en-US" sz="1400"/>
          </a:p>
          <a:p>
            <a:r>
              <a:rPr lang="zh-CN" altLang="en-US" sz="1400"/>
              <a:t>Ohio          False</a:t>
            </a:r>
            <a:endParaRPr lang="zh-CN" altLang="en-US" sz="1400"/>
          </a:p>
          <a:p>
            <a:r>
              <a:rPr lang="zh-CN" altLang="en-US" sz="1400"/>
              <a:t>Oregon        False</a:t>
            </a:r>
            <a:endParaRPr lang="zh-CN" altLang="en-US" sz="1400"/>
          </a:p>
          <a:p>
            <a:r>
              <a:rPr lang="zh-CN" altLang="en-US" sz="1400"/>
              <a:t>Texas         False</a:t>
            </a:r>
            <a:endParaRPr lang="zh-CN" altLang="en-US" sz="1400"/>
          </a:p>
          <a:p>
            <a:r>
              <a:rPr lang="zh-CN" altLang="en-US" sz="1400"/>
              <a:t>dtype: bool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5.1.1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/>
              <a:t>索引标签自动对齐</a:t>
            </a:r>
            <a:endParaRPr lang="en-US" altLang="zh-CN"/>
          </a:p>
          <a:p>
            <a:pPr lvl="1"/>
            <a:r>
              <a:rPr lang="en-US" altLang="zh-CN"/>
              <a:t>类似join操作</a:t>
            </a:r>
            <a:endParaRPr lang="en-US" altLang="zh-CN"/>
          </a:p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949825" y="1407795"/>
            <a:ext cx="3194685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[35]: obj3</a:t>
            </a:r>
            <a:endParaRPr lang="zh-CN" altLang="en-US" sz="1400"/>
          </a:p>
          <a:p>
            <a:r>
              <a:rPr lang="zh-CN" altLang="en-US" sz="1400"/>
              <a:t>Out[35]: </a:t>
            </a:r>
            <a:endParaRPr lang="zh-CN" altLang="en-US" sz="1400"/>
          </a:p>
          <a:p>
            <a:r>
              <a:rPr lang="zh-CN" altLang="en-US" sz="1400"/>
              <a:t>Ohio      35000</a:t>
            </a:r>
            <a:endParaRPr lang="zh-CN" altLang="en-US" sz="1400"/>
          </a:p>
          <a:p>
            <a:r>
              <a:rPr lang="zh-CN" altLang="en-US" sz="1400"/>
              <a:t>Oregon    16000</a:t>
            </a:r>
            <a:endParaRPr lang="zh-CN" altLang="en-US" sz="1400"/>
          </a:p>
          <a:p>
            <a:r>
              <a:rPr lang="zh-CN" altLang="en-US" sz="1400"/>
              <a:t>Texas     71000</a:t>
            </a:r>
            <a:endParaRPr lang="zh-CN" altLang="en-US" sz="1400"/>
          </a:p>
          <a:p>
            <a:r>
              <a:rPr lang="zh-CN" altLang="en-US" sz="1400"/>
              <a:t>Utah       5000</a:t>
            </a:r>
            <a:endParaRPr lang="zh-CN" altLang="en-US" sz="1400"/>
          </a:p>
          <a:p>
            <a:r>
              <a:rPr lang="zh-CN" altLang="en-US" sz="1400"/>
              <a:t>dtype: int64</a:t>
            </a:r>
            <a:endParaRPr lang="zh-CN" altLang="en-US" sz="1400"/>
          </a:p>
          <a:p>
            <a:r>
              <a:rPr lang="zh-CN" altLang="en-US" sz="1400"/>
              <a:t>In [36]: obj4</a:t>
            </a:r>
            <a:endParaRPr lang="zh-CN" altLang="en-US" sz="1400"/>
          </a:p>
          <a:p>
            <a:r>
              <a:rPr lang="zh-CN" altLang="en-US" sz="1400"/>
              <a:t>Out[36]: </a:t>
            </a:r>
            <a:endParaRPr lang="zh-CN" altLang="en-US" sz="1400"/>
          </a:p>
          <a:p>
            <a:r>
              <a:rPr lang="zh-CN" altLang="en-US" sz="1400"/>
              <a:t>California        NaN</a:t>
            </a:r>
            <a:endParaRPr lang="zh-CN" altLang="en-US" sz="1400"/>
          </a:p>
          <a:p>
            <a:r>
              <a:rPr lang="zh-CN" altLang="en-US" sz="1400"/>
              <a:t>Ohio          35000.0</a:t>
            </a:r>
            <a:endParaRPr lang="zh-CN" altLang="en-US" sz="1400"/>
          </a:p>
          <a:p>
            <a:r>
              <a:rPr lang="zh-CN" altLang="en-US" sz="1400"/>
              <a:t>Oregon        16000.0</a:t>
            </a:r>
            <a:endParaRPr lang="zh-CN" altLang="en-US" sz="1400"/>
          </a:p>
          <a:p>
            <a:r>
              <a:rPr lang="zh-CN" altLang="en-US" sz="1400"/>
              <a:t>Texas         71000.0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  <a:p>
            <a:r>
              <a:rPr lang="zh-CN" altLang="en-US" sz="1400"/>
              <a:t>In [37]: obj3 + obj4</a:t>
            </a:r>
            <a:endParaRPr lang="zh-CN" altLang="en-US" sz="1400"/>
          </a:p>
          <a:p>
            <a:r>
              <a:rPr lang="zh-CN" altLang="en-US" sz="1400"/>
              <a:t>Out[37]: </a:t>
            </a:r>
            <a:endParaRPr lang="zh-CN" altLang="en-US" sz="1400"/>
          </a:p>
          <a:p>
            <a:r>
              <a:rPr lang="zh-CN" altLang="en-US" sz="1400"/>
              <a:t>California         NaN</a:t>
            </a:r>
            <a:endParaRPr lang="zh-CN" altLang="en-US" sz="1400"/>
          </a:p>
          <a:p>
            <a:r>
              <a:rPr lang="zh-CN" altLang="en-US" sz="1400"/>
              <a:t>Ohio           70000.0</a:t>
            </a:r>
            <a:endParaRPr lang="zh-CN" altLang="en-US" sz="1400"/>
          </a:p>
          <a:p>
            <a:r>
              <a:rPr lang="zh-CN" altLang="en-US" sz="1400"/>
              <a:t>Oregon         32000.0</a:t>
            </a:r>
            <a:endParaRPr lang="zh-CN" altLang="en-US" sz="1400"/>
          </a:p>
          <a:p>
            <a:r>
              <a:rPr lang="zh-CN" altLang="en-US" sz="1400"/>
              <a:t>Texas         142000.0</a:t>
            </a:r>
            <a:endParaRPr lang="zh-CN" altLang="en-US" sz="1400"/>
          </a:p>
          <a:p>
            <a:r>
              <a:rPr lang="zh-CN" altLang="en-US" sz="1400"/>
              <a:t>Utah               NaN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5.1.1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/>
              <a:t>Series对象本身及其索引都有一个name属性</a:t>
            </a:r>
            <a:endParaRPr lang="en-US" altLang="zh-CN"/>
          </a:p>
          <a:p>
            <a:pPr lvl="1"/>
            <a:r>
              <a:rPr lang="en-US" altLang="zh-CN"/>
              <a:t>跟pandas其他的关键功能关系非常密切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077845" y="2349500"/>
            <a:ext cx="319468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[38]: obj4.name = 'population'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[39]: obj4.index.name = 'state'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[40]: obj4</a:t>
            </a:r>
            <a:endParaRPr lang="zh-CN" altLang="en-US" sz="1400"/>
          </a:p>
          <a:p>
            <a:r>
              <a:rPr lang="zh-CN" altLang="en-US" sz="1400"/>
              <a:t>Out[40]: </a:t>
            </a:r>
            <a:endParaRPr lang="zh-CN" altLang="en-US" sz="1400"/>
          </a:p>
          <a:p>
            <a:r>
              <a:rPr lang="zh-CN" altLang="en-US" sz="1400"/>
              <a:t>state</a:t>
            </a:r>
            <a:endParaRPr lang="zh-CN" altLang="en-US" sz="1400"/>
          </a:p>
          <a:p>
            <a:r>
              <a:rPr lang="zh-CN" altLang="en-US" sz="1400"/>
              <a:t>California        NaN</a:t>
            </a:r>
            <a:endParaRPr lang="zh-CN" altLang="en-US" sz="1400"/>
          </a:p>
          <a:p>
            <a:r>
              <a:rPr lang="zh-CN" altLang="en-US" sz="1400"/>
              <a:t>Ohio          35000.0</a:t>
            </a:r>
            <a:endParaRPr lang="zh-CN" altLang="en-US" sz="1400"/>
          </a:p>
          <a:p>
            <a:r>
              <a:rPr lang="zh-CN" altLang="en-US" sz="1400"/>
              <a:t>Oregon        16000.0</a:t>
            </a:r>
            <a:endParaRPr lang="zh-CN" altLang="en-US" sz="1400"/>
          </a:p>
          <a:p>
            <a:r>
              <a:rPr lang="zh-CN" altLang="en-US" sz="1400"/>
              <a:t>Texas         71000.0</a:t>
            </a:r>
            <a:endParaRPr lang="zh-CN" altLang="en-US" sz="1400"/>
          </a:p>
          <a:p>
            <a:r>
              <a:rPr lang="zh-CN" altLang="en-US" sz="1400"/>
              <a:t>Name: population, 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5.1.1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/>
              <a:t>Series对象本身及其索引都有一个name属性</a:t>
            </a:r>
            <a:endParaRPr lang="en-US" altLang="zh-CN"/>
          </a:p>
          <a:p>
            <a:pPr lvl="1"/>
            <a:r>
              <a:rPr lang="en-US" altLang="zh-CN"/>
              <a:t>跟pandas其他的关键功能关系非常密切</a:t>
            </a:r>
            <a:endParaRPr lang="en-US" altLang="zh-CN"/>
          </a:p>
          <a:p>
            <a:pPr lvl="1"/>
            <a:r>
              <a:rPr lang="en-US" altLang="zh-CN"/>
              <a:t>Series的索引可以通过赋值的方式就地修改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174105" y="1557020"/>
            <a:ext cx="552513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In [41]: obj</a:t>
            </a:r>
            <a:endParaRPr lang="zh-CN" altLang="en-US"/>
          </a:p>
          <a:p>
            <a:r>
              <a:rPr lang="zh-CN" altLang="en-US"/>
              <a:t>Out[41]: </a:t>
            </a:r>
            <a:endParaRPr lang="zh-CN" altLang="en-US"/>
          </a:p>
          <a:p>
            <a:r>
              <a:rPr lang="zh-CN" altLang="en-US"/>
              <a:t>0    4</a:t>
            </a:r>
            <a:endParaRPr lang="zh-CN" altLang="en-US"/>
          </a:p>
          <a:p>
            <a:r>
              <a:rPr lang="zh-CN" altLang="en-US"/>
              <a:t>1    7</a:t>
            </a:r>
            <a:endParaRPr lang="zh-CN" altLang="en-US"/>
          </a:p>
          <a:p>
            <a:r>
              <a:rPr lang="zh-CN" altLang="en-US"/>
              <a:t>2   -5</a:t>
            </a:r>
            <a:endParaRPr lang="zh-CN" altLang="en-US"/>
          </a:p>
          <a:p>
            <a:r>
              <a:rPr lang="zh-CN" altLang="en-US"/>
              <a:t>3    3</a:t>
            </a:r>
            <a:endParaRPr lang="zh-CN" altLang="en-US"/>
          </a:p>
          <a:p>
            <a:r>
              <a:rPr lang="zh-CN" altLang="en-US"/>
              <a:t>dtype: int64</a:t>
            </a:r>
            <a:endParaRPr lang="zh-CN" altLang="en-US"/>
          </a:p>
          <a:p>
            <a:r>
              <a:rPr lang="zh-CN" altLang="en-US"/>
              <a:t>In [42]: obj.index = ['Bob', 'Steve', 'Jeff', 'Ryan']</a:t>
            </a:r>
            <a:endParaRPr lang="zh-CN" altLang="en-US"/>
          </a:p>
          <a:p>
            <a:r>
              <a:rPr lang="zh-CN" altLang="en-US"/>
              <a:t>In [43]: obj</a:t>
            </a:r>
            <a:endParaRPr lang="zh-CN" altLang="en-US"/>
          </a:p>
          <a:p>
            <a:r>
              <a:rPr lang="zh-CN" altLang="en-US"/>
              <a:t>Out[43]: </a:t>
            </a:r>
            <a:endParaRPr lang="zh-CN" altLang="en-US"/>
          </a:p>
          <a:p>
            <a:r>
              <a:rPr lang="zh-CN" altLang="en-US"/>
              <a:t>Bob      4</a:t>
            </a:r>
            <a:endParaRPr lang="zh-CN" altLang="en-US"/>
          </a:p>
          <a:p>
            <a:r>
              <a:rPr lang="zh-CN" altLang="en-US"/>
              <a:t>Steve    7</a:t>
            </a:r>
            <a:endParaRPr lang="zh-CN" altLang="en-US"/>
          </a:p>
          <a:p>
            <a:r>
              <a:rPr lang="zh-CN" altLang="en-US"/>
              <a:t>Jeff    -5</a:t>
            </a:r>
            <a:endParaRPr lang="zh-CN" altLang="en-US"/>
          </a:p>
          <a:p>
            <a:r>
              <a:rPr lang="zh-CN" altLang="en-US"/>
              <a:t>Ryan     3</a:t>
            </a:r>
            <a:endParaRPr lang="zh-CN" altLang="en-US"/>
          </a:p>
          <a:p>
            <a:r>
              <a:rPr lang="zh-CN" altLang="en-US"/>
              <a:t>dtype: int64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en-US" altLang="zh-CN"/>
              <a:t>DataFrame是一个表格型的数据结构</a:t>
            </a:r>
            <a:endParaRPr lang="en-US" altLang="zh-CN"/>
          </a:p>
          <a:p>
            <a:pPr lvl="1"/>
            <a:r>
              <a:rPr lang="en-US" altLang="zh-CN"/>
              <a:t>它含有一组有序的列，每列可以是不同的值类型</a:t>
            </a:r>
            <a:endParaRPr lang="en-US" altLang="zh-CN"/>
          </a:p>
          <a:p>
            <a:pPr lvl="1"/>
            <a:r>
              <a:rPr lang="en-US" altLang="zh-CN"/>
              <a:t>DataFrame既有行索引也有列索引</a:t>
            </a:r>
            <a:endParaRPr lang="en-US" altLang="zh-CN"/>
          </a:p>
          <a:p>
            <a:pPr lvl="2"/>
            <a:r>
              <a:rPr lang="en-US" altLang="zh-CN"/>
              <a:t>由Series组成的字典（共用同一个索引）</a:t>
            </a:r>
            <a:endParaRPr lang="en-US" altLang="zh-CN"/>
          </a:p>
          <a:p>
            <a:pPr lvl="1"/>
            <a:r>
              <a:rPr lang="en-US" altLang="zh-CN"/>
              <a:t>DataFrame中的数据是以一个或多个二维块存放的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zh-CN"/>
              <a:t>创建</a:t>
            </a:r>
            <a:r>
              <a:rPr lang="en-US" altLang="zh-CN"/>
              <a:t>DataFrame</a:t>
            </a:r>
            <a:r>
              <a:rPr lang="zh-CN" altLang="en-US"/>
              <a:t>对象</a:t>
            </a:r>
            <a:endParaRPr lang="en-US" altLang="zh-CN"/>
          </a:p>
          <a:p>
            <a:pPr lvl="1"/>
            <a:r>
              <a:rPr lang="en-US" altLang="zh-CN"/>
              <a:t>直接传入一个由等长列表或NumPy数组组成的字典</a:t>
            </a:r>
            <a:endParaRPr lang="en-US" altLang="zh-CN"/>
          </a:p>
          <a:p>
            <a:pPr lvl="2"/>
            <a:r>
              <a:rPr lang="en-US" altLang="zh-CN"/>
              <a:t>DataFrame会自动加上索引（跟Series一样）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709420" y="2853690"/>
            <a:ext cx="7845425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data = {'state': ['Ohio', 'Ohio', 'Ohio', 'Nevada', 'Nevada', 'Nevada'],</a:t>
            </a:r>
            <a:endParaRPr lang="zh-CN" altLang="en-US" sz="1400"/>
          </a:p>
          <a:p>
            <a:r>
              <a:rPr lang="zh-CN" altLang="en-US" sz="1400"/>
              <a:t>        'year': [2000, 2001, 2002, 2001, 2002, 2003],</a:t>
            </a:r>
            <a:endParaRPr lang="zh-CN" altLang="en-US" sz="1400"/>
          </a:p>
          <a:p>
            <a:r>
              <a:rPr lang="zh-CN" altLang="en-US" sz="1400"/>
              <a:t>        'pop': [1.5, 1.7, 3.6, 2.4, 2.9, 3.2]}</a:t>
            </a:r>
            <a:endParaRPr lang="zh-CN" altLang="en-US" sz="1400"/>
          </a:p>
          <a:p>
            <a:r>
              <a:rPr lang="zh-CN" altLang="en-US" sz="1400"/>
              <a:t>frame = pd.DataFrame(data)</a:t>
            </a:r>
            <a:endParaRPr lang="zh-CN" altLang="en-US" sz="1400"/>
          </a:p>
          <a:p>
            <a:r>
              <a:rPr lang="zh-CN" altLang="en-US" sz="1400"/>
              <a:t>In [45]: frame</a:t>
            </a:r>
            <a:endParaRPr lang="zh-CN" altLang="en-US" sz="1400"/>
          </a:p>
          <a:p>
            <a:r>
              <a:rPr lang="zh-CN" altLang="en-US" sz="1400"/>
              <a:t>Out[45]: </a:t>
            </a:r>
            <a:endParaRPr lang="zh-CN" altLang="en-US" sz="1400"/>
          </a:p>
          <a:p>
            <a:r>
              <a:rPr lang="zh-CN" altLang="en-US" sz="1400"/>
              <a:t>   pop   state  year</a:t>
            </a:r>
            <a:endParaRPr lang="zh-CN" altLang="en-US" sz="1400"/>
          </a:p>
          <a:p>
            <a:r>
              <a:rPr lang="zh-CN" altLang="en-US" sz="1400"/>
              <a:t>0  1.5    Ohio  2000</a:t>
            </a:r>
            <a:endParaRPr lang="zh-CN" altLang="en-US" sz="1400"/>
          </a:p>
          <a:p>
            <a:r>
              <a:rPr lang="zh-CN" altLang="en-US" sz="1400"/>
              <a:t>1  1.7    Ohio  2001</a:t>
            </a:r>
            <a:endParaRPr lang="zh-CN" altLang="en-US" sz="1400"/>
          </a:p>
          <a:p>
            <a:r>
              <a:rPr lang="zh-CN" altLang="en-US" sz="1400"/>
              <a:t>2  3.6    Ohio  2002</a:t>
            </a:r>
            <a:endParaRPr lang="zh-CN" altLang="en-US" sz="1400"/>
          </a:p>
          <a:p>
            <a:r>
              <a:rPr lang="zh-CN" altLang="en-US" sz="1400"/>
              <a:t>3  2.4  Nevada  2001</a:t>
            </a:r>
            <a:endParaRPr lang="zh-CN" altLang="en-US" sz="1400"/>
          </a:p>
          <a:p>
            <a:r>
              <a:rPr lang="zh-CN" altLang="en-US" sz="1400"/>
              <a:t>4  2.9  Nevada  2002</a:t>
            </a:r>
            <a:endParaRPr lang="zh-CN" altLang="en-US" sz="1400"/>
          </a:p>
          <a:p>
            <a:r>
              <a:rPr lang="zh-CN" altLang="en-US" sz="1400"/>
              <a:t>5  3.2  Nevada  2003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数据样例查看方式</a:t>
            </a:r>
            <a:endParaRPr lang="en-US" altLang="zh-CN"/>
          </a:p>
          <a:p>
            <a:pPr lvl="1"/>
            <a:r>
              <a:rPr lang="en-US" altLang="zh-CN"/>
              <a:t>对于特别大的DataFrame，head方法会选取前五行</a:t>
            </a:r>
            <a:endParaRPr lang="en-US" altLang="zh-CN"/>
          </a:p>
          <a:p>
            <a:pPr lvl="1"/>
            <a:r>
              <a:rPr lang="zh-CN" altLang="en-US"/>
              <a:t>思考：查看前</a:t>
            </a:r>
            <a:r>
              <a:rPr lang="en-US" altLang="zh-CN"/>
              <a:t>10</a:t>
            </a:r>
            <a:r>
              <a:rPr lang="zh-CN" altLang="en-US"/>
              <a:t>行、查看后</a:t>
            </a:r>
            <a:r>
              <a:rPr lang="en-US" altLang="zh-CN"/>
              <a:t>10</a:t>
            </a:r>
            <a:r>
              <a:rPr lang="zh-CN" altLang="en-US"/>
              <a:t>行？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717800" y="3069590"/>
            <a:ext cx="240982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[46]: frame.head()</a:t>
            </a:r>
            <a:endParaRPr lang="zh-CN" altLang="en-US" sz="1400"/>
          </a:p>
          <a:p>
            <a:r>
              <a:rPr lang="zh-CN" altLang="en-US" sz="1400"/>
              <a:t>Out[46]: </a:t>
            </a:r>
            <a:endParaRPr lang="zh-CN" altLang="en-US" sz="1400"/>
          </a:p>
          <a:p>
            <a:r>
              <a:rPr lang="zh-CN" altLang="en-US" sz="1400"/>
              <a:t>   pop   state  year</a:t>
            </a:r>
            <a:endParaRPr lang="zh-CN" altLang="en-US" sz="1400"/>
          </a:p>
          <a:p>
            <a:r>
              <a:rPr lang="zh-CN" altLang="en-US" sz="1400"/>
              <a:t>0  1.5    Ohio  2000</a:t>
            </a:r>
            <a:endParaRPr lang="zh-CN" altLang="en-US" sz="1400"/>
          </a:p>
          <a:p>
            <a:r>
              <a:rPr lang="zh-CN" altLang="en-US" sz="1400"/>
              <a:t>1  1.7    Ohio  2001</a:t>
            </a:r>
            <a:endParaRPr lang="zh-CN" altLang="en-US" sz="1400"/>
          </a:p>
          <a:p>
            <a:r>
              <a:rPr lang="zh-CN" altLang="en-US" sz="1400"/>
              <a:t>2  3.6    Ohio  2002</a:t>
            </a:r>
            <a:endParaRPr lang="zh-CN" altLang="en-US" sz="1400"/>
          </a:p>
          <a:p>
            <a:r>
              <a:rPr lang="zh-CN" altLang="en-US" sz="1400"/>
              <a:t>3  2.4  Nevada  2001</a:t>
            </a:r>
            <a:endParaRPr lang="zh-CN" altLang="en-US" sz="1400"/>
          </a:p>
          <a:p>
            <a:r>
              <a:rPr lang="zh-CN" altLang="en-US" sz="1400"/>
              <a:t>4  2.9  Nevada  2002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数据样例查看方式</a:t>
            </a:r>
            <a:endParaRPr lang="en-US" altLang="zh-CN"/>
          </a:p>
          <a:p>
            <a:pPr lvl="1"/>
            <a:r>
              <a:rPr lang="en-US" altLang="zh-CN"/>
              <a:t>指定了列序列</a:t>
            </a:r>
            <a:endParaRPr lang="en-US" altLang="zh-CN"/>
          </a:p>
          <a:p>
            <a:pPr lvl="2"/>
            <a:r>
              <a:rPr lang="en-US" altLang="zh-CN"/>
              <a:t>如果传入的列在数据中找不到，就会在结果中产生缺失值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28015" y="3068955"/>
            <a:ext cx="498284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[47]: pd.DataFrame(data, columns=['year', 'state', 'pop'])</a:t>
            </a:r>
            <a:endParaRPr lang="zh-CN" altLang="en-US" sz="1400"/>
          </a:p>
          <a:p>
            <a:r>
              <a:rPr lang="zh-CN" altLang="en-US" sz="1400"/>
              <a:t>Out[47]: </a:t>
            </a:r>
            <a:endParaRPr lang="zh-CN" altLang="en-US" sz="1400"/>
          </a:p>
          <a:p>
            <a:r>
              <a:rPr lang="zh-CN" altLang="en-US" sz="1400"/>
              <a:t>   year   state  pop</a:t>
            </a:r>
            <a:endParaRPr lang="zh-CN" altLang="en-US" sz="1400"/>
          </a:p>
          <a:p>
            <a:r>
              <a:rPr lang="zh-CN" altLang="en-US" sz="1400"/>
              <a:t>0  2000    Ohio  1.5</a:t>
            </a:r>
            <a:endParaRPr lang="zh-CN" altLang="en-US" sz="1400"/>
          </a:p>
          <a:p>
            <a:r>
              <a:rPr lang="zh-CN" altLang="en-US" sz="1400"/>
              <a:t>1  2001    Ohio  1.7</a:t>
            </a:r>
            <a:endParaRPr lang="zh-CN" altLang="en-US" sz="1400"/>
          </a:p>
          <a:p>
            <a:r>
              <a:rPr lang="zh-CN" altLang="en-US" sz="1400"/>
              <a:t>2  2002    Ohio  3.6</a:t>
            </a:r>
            <a:endParaRPr lang="zh-CN" altLang="en-US" sz="1400"/>
          </a:p>
          <a:p>
            <a:r>
              <a:rPr lang="zh-CN" altLang="en-US" sz="1400"/>
              <a:t>3  2001  Nevada  2.4</a:t>
            </a:r>
            <a:endParaRPr lang="zh-CN" altLang="en-US" sz="1400"/>
          </a:p>
          <a:p>
            <a:r>
              <a:rPr lang="zh-CN" altLang="en-US" sz="1400"/>
              <a:t>4  2002  Nevada  2.9</a:t>
            </a:r>
            <a:endParaRPr lang="zh-CN" altLang="en-US" sz="1400"/>
          </a:p>
          <a:p>
            <a:r>
              <a:rPr lang="zh-CN" altLang="en-US" sz="1400"/>
              <a:t>5  2003  Nevada  3.2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5742305" y="2997835"/>
            <a:ext cx="6289040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[48]: frame2 = pd.DataFrame(data, columns=['year', 'state', 'pop', 'debt'],</a:t>
            </a:r>
            <a:endParaRPr lang="zh-CN" altLang="en-US" sz="1400"/>
          </a:p>
          <a:p>
            <a:r>
              <a:rPr lang="zh-CN" altLang="en-US" sz="1400"/>
              <a:t>   ....:                       index=['one', 'two', 'three', 'four',</a:t>
            </a:r>
            <a:r>
              <a:rPr lang="en-US" altLang="zh-CN" sz="1400"/>
              <a:t> </a:t>
            </a:r>
            <a:r>
              <a:rPr lang="zh-CN" altLang="en-US" sz="1400"/>
              <a:t> 'five', 'six'])</a:t>
            </a:r>
            <a:endParaRPr lang="zh-CN" altLang="en-US" sz="1400"/>
          </a:p>
          <a:p>
            <a:r>
              <a:rPr lang="zh-CN" altLang="en-US" sz="1400"/>
              <a:t>In [49]: frame2</a:t>
            </a:r>
            <a:endParaRPr lang="zh-CN" altLang="en-US" sz="1400"/>
          </a:p>
          <a:p>
            <a:r>
              <a:rPr lang="zh-CN" altLang="en-US" sz="1400"/>
              <a:t>Out[49]: </a:t>
            </a:r>
            <a:endParaRPr lang="zh-CN" altLang="en-US" sz="1400"/>
          </a:p>
          <a:p>
            <a:r>
              <a:rPr lang="zh-CN" altLang="en-US" sz="1400"/>
              <a:t>       year   state  pop debt</a:t>
            </a:r>
            <a:endParaRPr lang="zh-CN" altLang="en-US" sz="1400"/>
          </a:p>
          <a:p>
            <a:r>
              <a:rPr lang="zh-CN" altLang="en-US" sz="1400"/>
              <a:t>one    2000    Ohio  1.5  NaN</a:t>
            </a:r>
            <a:endParaRPr lang="zh-CN" altLang="en-US" sz="1400"/>
          </a:p>
          <a:p>
            <a:r>
              <a:rPr lang="zh-CN" altLang="en-US" sz="1400"/>
              <a:t>two    2001    Ohio  1.7  NaN</a:t>
            </a:r>
            <a:endParaRPr lang="zh-CN" altLang="en-US" sz="1400"/>
          </a:p>
          <a:p>
            <a:r>
              <a:rPr lang="zh-CN" altLang="en-US" sz="1400"/>
              <a:t>three  2002    Ohio  3.6  NaN</a:t>
            </a:r>
            <a:endParaRPr lang="zh-CN" altLang="en-US" sz="1400"/>
          </a:p>
          <a:p>
            <a:r>
              <a:rPr lang="zh-CN" altLang="en-US" sz="1400"/>
              <a:t>four   2001  Nevada  2.4  NaN</a:t>
            </a:r>
            <a:endParaRPr lang="zh-CN" altLang="en-US" sz="1400"/>
          </a:p>
          <a:p>
            <a:r>
              <a:rPr lang="zh-CN" altLang="en-US" sz="1400"/>
              <a:t>five   2002  Nevada  2.9  NaN</a:t>
            </a:r>
            <a:endParaRPr lang="zh-CN" altLang="en-US" sz="1400"/>
          </a:p>
          <a:p>
            <a:r>
              <a:rPr lang="zh-CN" altLang="en-US" sz="1400"/>
              <a:t>six    2003  Nevada  3.2  NaN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[50]: frame2.columns</a:t>
            </a:r>
            <a:endParaRPr lang="zh-CN" altLang="en-US" sz="1400"/>
          </a:p>
          <a:p>
            <a:r>
              <a:rPr lang="zh-CN" altLang="en-US" sz="1400"/>
              <a:t>Out[50]: Index(['year', 'state', 'pop', 'debt'], dtype='object')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>
                <a:sym typeface="+mn-ea"/>
              </a:rPr>
              <a:t>获取</a:t>
            </a:r>
            <a:r>
              <a:rPr lang="zh-CN" altLang="en-US"/>
              <a:t>DataFrame的列</a:t>
            </a:r>
            <a:endParaRPr lang="zh-CN" altLang="en-US"/>
          </a:p>
          <a:p>
            <a:pPr lvl="1"/>
            <a:r>
              <a:rPr lang="en-US" altLang="zh-CN"/>
              <a:t>通过类似字典标记的方式或属性的方式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属性</a:t>
            </a:r>
            <a:r>
              <a:rPr lang="en-US" altLang="zh-CN"/>
              <a:t>只有在列名是一个合理的Python变量名时才适用。</a:t>
            </a:r>
            <a:endParaRPr lang="en-US" altLang="zh-CN"/>
          </a:p>
          <a:p>
            <a:pPr lvl="2"/>
            <a:r>
              <a:rPr lang="en-US" altLang="zh-CN"/>
              <a:t>返回的Series拥有原DataFrame相同的索引</a:t>
            </a:r>
            <a:endParaRPr lang="en-US" altLang="zh-CN"/>
          </a:p>
          <a:p>
            <a:pPr lvl="2"/>
            <a:r>
              <a:rPr lang="en-US" altLang="zh-CN"/>
              <a:t>其name属性也已经被相应地设置好</a:t>
            </a:r>
            <a:endParaRPr lang="en-US" altLang="zh-CN"/>
          </a:p>
          <a:p>
            <a:pPr lvl="2"/>
            <a:r>
              <a:rPr lang="en-US" altLang="zh-CN"/>
              <a:t>行也可以通过位置或名称的方式进行获取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8110220" y="1917065"/>
            <a:ext cx="3649345" cy="4184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[51]: frame2['state']</a:t>
            </a:r>
            <a:endParaRPr lang="zh-CN" altLang="en-US" sz="1400"/>
          </a:p>
          <a:p>
            <a:r>
              <a:rPr lang="zh-CN" altLang="en-US" sz="1400"/>
              <a:t>Out[51]: </a:t>
            </a:r>
            <a:endParaRPr lang="zh-CN" altLang="en-US" sz="1400"/>
          </a:p>
          <a:p>
            <a:r>
              <a:rPr lang="zh-CN" altLang="en-US" sz="1400"/>
              <a:t>one        Ohio</a:t>
            </a:r>
            <a:endParaRPr lang="zh-CN" altLang="en-US" sz="1400"/>
          </a:p>
          <a:p>
            <a:r>
              <a:rPr lang="zh-CN" altLang="en-US" sz="1400"/>
              <a:t>two        Ohio</a:t>
            </a:r>
            <a:endParaRPr lang="zh-CN" altLang="en-US" sz="1400"/>
          </a:p>
          <a:p>
            <a:r>
              <a:rPr lang="zh-CN" altLang="en-US" sz="1400"/>
              <a:t>three      Ohio</a:t>
            </a:r>
            <a:endParaRPr lang="zh-CN" altLang="en-US" sz="1400"/>
          </a:p>
          <a:p>
            <a:r>
              <a:rPr lang="zh-CN" altLang="en-US" sz="1400"/>
              <a:t>four     Nevada</a:t>
            </a:r>
            <a:endParaRPr lang="zh-CN" altLang="en-US" sz="1400"/>
          </a:p>
          <a:p>
            <a:r>
              <a:rPr lang="zh-CN" altLang="en-US" sz="1400"/>
              <a:t>five     Nevada</a:t>
            </a:r>
            <a:endParaRPr lang="zh-CN" altLang="en-US" sz="1400"/>
          </a:p>
          <a:p>
            <a:r>
              <a:rPr lang="zh-CN" altLang="en-US" sz="1400"/>
              <a:t>six      Nevada</a:t>
            </a:r>
            <a:endParaRPr lang="zh-CN" altLang="en-US" sz="1400"/>
          </a:p>
          <a:p>
            <a:r>
              <a:rPr lang="zh-CN" altLang="en-US" sz="1400"/>
              <a:t>Name: state, dtype: object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[52]: frame2.year</a:t>
            </a:r>
            <a:endParaRPr lang="zh-CN" altLang="en-US" sz="1400"/>
          </a:p>
          <a:p>
            <a:r>
              <a:rPr lang="zh-CN" altLang="en-US" sz="1400"/>
              <a:t>Out[52]: </a:t>
            </a:r>
            <a:endParaRPr lang="zh-CN" altLang="en-US" sz="1400"/>
          </a:p>
          <a:p>
            <a:r>
              <a:rPr lang="zh-CN" altLang="en-US" sz="1400"/>
              <a:t>one      2000</a:t>
            </a:r>
            <a:endParaRPr lang="zh-CN" altLang="en-US" sz="1400"/>
          </a:p>
          <a:p>
            <a:r>
              <a:rPr lang="zh-CN" altLang="en-US" sz="1400"/>
              <a:t>two      2001</a:t>
            </a:r>
            <a:endParaRPr lang="zh-CN" altLang="en-US" sz="1400"/>
          </a:p>
          <a:p>
            <a:r>
              <a:rPr lang="zh-CN" altLang="en-US" sz="1400"/>
              <a:t>three    2002</a:t>
            </a:r>
            <a:endParaRPr lang="zh-CN" altLang="en-US" sz="1400"/>
          </a:p>
          <a:p>
            <a:r>
              <a:rPr lang="zh-CN" altLang="en-US" sz="1400"/>
              <a:t>four     2001</a:t>
            </a:r>
            <a:endParaRPr lang="zh-CN" altLang="en-US" sz="1400"/>
          </a:p>
          <a:p>
            <a:r>
              <a:rPr lang="zh-CN" altLang="en-US" sz="1400"/>
              <a:t>five     2002</a:t>
            </a:r>
            <a:endParaRPr lang="zh-CN" altLang="en-US" sz="1400"/>
          </a:p>
          <a:p>
            <a:r>
              <a:rPr lang="zh-CN" altLang="en-US" sz="1400"/>
              <a:t>six      2003</a:t>
            </a:r>
            <a:endParaRPr lang="zh-CN" altLang="en-US" sz="1400"/>
          </a:p>
          <a:p>
            <a:r>
              <a:rPr lang="zh-CN" altLang="en-US" sz="1400"/>
              <a:t>Name: year, dtype: int64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2141855" y="4366260"/>
            <a:ext cx="425894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[53]: frame2.loc['three']</a:t>
            </a:r>
            <a:endParaRPr lang="zh-CN" altLang="en-US" sz="1400"/>
          </a:p>
          <a:p>
            <a:r>
              <a:rPr lang="zh-CN" altLang="en-US" sz="1400"/>
              <a:t>Out[53]: </a:t>
            </a:r>
            <a:endParaRPr lang="zh-CN" altLang="en-US" sz="1400"/>
          </a:p>
          <a:p>
            <a:r>
              <a:rPr lang="zh-CN" altLang="en-US" sz="1400"/>
              <a:t>year     2002</a:t>
            </a:r>
            <a:endParaRPr lang="zh-CN" altLang="en-US" sz="1400"/>
          </a:p>
          <a:p>
            <a:r>
              <a:rPr lang="zh-CN" altLang="en-US" sz="1400"/>
              <a:t>state    Ohio</a:t>
            </a:r>
            <a:endParaRPr lang="zh-CN" altLang="en-US" sz="1400"/>
          </a:p>
          <a:p>
            <a:r>
              <a:rPr lang="zh-CN" altLang="en-US" sz="1400"/>
              <a:t>pop       3.6</a:t>
            </a:r>
            <a:endParaRPr lang="zh-CN" altLang="en-US" sz="1400"/>
          </a:p>
          <a:p>
            <a:r>
              <a:rPr lang="zh-CN" altLang="en-US" sz="1400"/>
              <a:t>debt      NaN</a:t>
            </a:r>
            <a:endParaRPr lang="zh-CN" altLang="en-US" sz="1400"/>
          </a:p>
          <a:p>
            <a:r>
              <a:rPr lang="zh-CN" altLang="en-US" sz="1400"/>
              <a:t>Name: three, dtype: object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列可以通过赋值的方式进行修改</a:t>
            </a:r>
            <a:endParaRPr lang="zh-CN" altLang="en-US"/>
          </a:p>
          <a:p>
            <a:pPr lvl="1"/>
            <a:r>
              <a:rPr lang="en-US" altLang="zh-CN"/>
              <a:t>可以给那个空的"debt"列赋上一个标量值或一组值</a:t>
            </a:r>
            <a:endParaRPr lang="en-US" altLang="zh-CN"/>
          </a:p>
          <a:p>
            <a:pPr lvl="2"/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686040" y="1192530"/>
            <a:ext cx="4084320" cy="5046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[54]: frame2['debt'] = 16.5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[55]: frame2</a:t>
            </a:r>
            <a:endParaRPr lang="zh-CN" altLang="en-US" sz="1400"/>
          </a:p>
          <a:p>
            <a:r>
              <a:rPr lang="zh-CN" altLang="en-US" sz="1400"/>
              <a:t>Out[55]: </a:t>
            </a:r>
            <a:endParaRPr lang="zh-CN" altLang="en-US" sz="1400"/>
          </a:p>
          <a:p>
            <a:r>
              <a:rPr lang="zh-CN" altLang="en-US" sz="1400"/>
              <a:t>       year   state  pop  debt</a:t>
            </a:r>
            <a:endParaRPr lang="zh-CN" altLang="en-US" sz="1400"/>
          </a:p>
          <a:p>
            <a:r>
              <a:rPr lang="zh-CN" altLang="en-US" sz="1400"/>
              <a:t>one    2000    Ohio  1.5  16.5</a:t>
            </a:r>
            <a:endParaRPr lang="zh-CN" altLang="en-US" sz="1400"/>
          </a:p>
          <a:p>
            <a:r>
              <a:rPr lang="zh-CN" altLang="en-US" sz="1400"/>
              <a:t>two    2001    Ohio  1.7  16.5</a:t>
            </a:r>
            <a:endParaRPr lang="zh-CN" altLang="en-US" sz="1400"/>
          </a:p>
          <a:p>
            <a:r>
              <a:rPr lang="zh-CN" altLang="en-US" sz="1400"/>
              <a:t>three  2002    Ohio  3.6  16.5</a:t>
            </a:r>
            <a:endParaRPr lang="zh-CN" altLang="en-US" sz="1400"/>
          </a:p>
          <a:p>
            <a:r>
              <a:rPr lang="zh-CN" altLang="en-US" sz="1400"/>
              <a:t>four   2001  Nevada  2.4  16.5</a:t>
            </a:r>
            <a:endParaRPr lang="zh-CN" altLang="en-US" sz="1400"/>
          </a:p>
          <a:p>
            <a:r>
              <a:rPr lang="zh-CN" altLang="en-US" sz="1400"/>
              <a:t>five   2002  Nevada  2.9  16.5</a:t>
            </a:r>
            <a:endParaRPr lang="zh-CN" altLang="en-US" sz="1400"/>
          </a:p>
          <a:p>
            <a:r>
              <a:rPr lang="zh-CN" altLang="en-US" sz="1400"/>
              <a:t>six    2003  Nevada  3.2  16.5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[56]: frame2['debt'] = np.arange(6.)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[57]: frame2</a:t>
            </a:r>
            <a:endParaRPr lang="zh-CN" altLang="en-US" sz="1400"/>
          </a:p>
          <a:p>
            <a:r>
              <a:rPr lang="zh-CN" altLang="en-US" sz="1400"/>
              <a:t>Out[57]: </a:t>
            </a:r>
            <a:endParaRPr lang="zh-CN" altLang="en-US" sz="1400"/>
          </a:p>
          <a:p>
            <a:r>
              <a:rPr lang="zh-CN" altLang="en-US" sz="1400"/>
              <a:t>       year   state  pop  debt</a:t>
            </a:r>
            <a:endParaRPr lang="zh-CN" altLang="en-US" sz="1400"/>
          </a:p>
          <a:p>
            <a:r>
              <a:rPr lang="zh-CN" altLang="en-US" sz="1400"/>
              <a:t>one    2000    Ohio  1.5   0.0</a:t>
            </a:r>
            <a:endParaRPr lang="zh-CN" altLang="en-US" sz="1400"/>
          </a:p>
          <a:p>
            <a:r>
              <a:rPr lang="zh-CN" altLang="en-US" sz="1400"/>
              <a:t>two    2001    Ohio  1.7   1.0</a:t>
            </a:r>
            <a:endParaRPr lang="zh-CN" altLang="en-US" sz="1400"/>
          </a:p>
          <a:p>
            <a:r>
              <a:rPr lang="zh-CN" altLang="en-US" sz="1400"/>
              <a:t>three  2002    Ohio  3.6   2.0</a:t>
            </a:r>
            <a:endParaRPr lang="zh-CN" altLang="en-US" sz="1400"/>
          </a:p>
          <a:p>
            <a:r>
              <a:rPr lang="zh-CN" altLang="en-US" sz="1400"/>
              <a:t>four   2001  Nevada  2.4   3.0</a:t>
            </a:r>
            <a:endParaRPr lang="zh-CN" altLang="en-US" sz="1400"/>
          </a:p>
          <a:p>
            <a:r>
              <a:rPr lang="zh-CN" altLang="en-US" sz="1400"/>
              <a:t>five   2002  Nevada  2.9   4.0</a:t>
            </a:r>
            <a:endParaRPr lang="zh-CN" altLang="en-US" sz="1400"/>
          </a:p>
          <a:p>
            <a:r>
              <a:rPr lang="zh-CN" altLang="en-US" sz="1400"/>
              <a:t>six    2003  Nevada  3.2   5.0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将列表或数组赋值给某个列时，其长度必须跟DataFrame的长度相匹配</a:t>
            </a:r>
            <a:endParaRPr lang="zh-CN" altLang="en-US"/>
          </a:p>
          <a:p>
            <a:r>
              <a:rPr lang="zh-CN" altLang="en-US"/>
              <a:t>如果赋值的是一个Series，就会精确匹配DataFrame的索引，所有的空位都将被填上缺失值</a:t>
            </a:r>
            <a:endParaRPr lang="zh-CN" altLang="en-US"/>
          </a:p>
          <a:p>
            <a:pPr lvl="1"/>
            <a:r>
              <a:rPr lang="zh-CN" altLang="en-US"/>
              <a:t>序列索引若不包含与</a:t>
            </a:r>
            <a:r>
              <a:rPr lang="en-US" altLang="zh-CN"/>
              <a:t>DataFrame</a:t>
            </a:r>
            <a:r>
              <a:rPr lang="zh-CN" altLang="en-US"/>
              <a:t>索引将会如何？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626870" y="2710180"/>
            <a:ext cx="8998585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[58]: val = pd.Series([-1.2, -1.5, -1.7], index=['two', 'four', 'five'])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[59]: frame2['debt'] = val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[60]: frame2</a:t>
            </a:r>
            <a:endParaRPr lang="zh-CN" altLang="en-US" sz="1400"/>
          </a:p>
          <a:p>
            <a:r>
              <a:rPr lang="zh-CN" altLang="en-US" sz="1400"/>
              <a:t>Out[60]: </a:t>
            </a:r>
            <a:endParaRPr lang="zh-CN" altLang="en-US" sz="1400"/>
          </a:p>
          <a:p>
            <a:r>
              <a:rPr lang="zh-CN" altLang="en-US" sz="1400"/>
              <a:t>       year   state  pop  debt</a:t>
            </a:r>
            <a:endParaRPr lang="zh-CN" altLang="en-US" sz="1400"/>
          </a:p>
          <a:p>
            <a:r>
              <a:rPr lang="zh-CN" altLang="en-US" sz="1400"/>
              <a:t>one    2000    Ohio  1.5   NaN</a:t>
            </a:r>
            <a:endParaRPr lang="zh-CN" altLang="en-US" sz="1400"/>
          </a:p>
          <a:p>
            <a:r>
              <a:rPr lang="zh-CN" altLang="en-US" sz="1400"/>
              <a:t>two    2001    Ohio  1.7  -1.2</a:t>
            </a:r>
            <a:endParaRPr lang="zh-CN" altLang="en-US" sz="1400"/>
          </a:p>
          <a:p>
            <a:r>
              <a:rPr lang="zh-CN" altLang="en-US" sz="1400"/>
              <a:t>three  2002    Ohio  3.6   NaN</a:t>
            </a:r>
            <a:endParaRPr lang="zh-CN" altLang="en-US" sz="1400"/>
          </a:p>
          <a:p>
            <a:r>
              <a:rPr lang="zh-CN" altLang="en-US" sz="1400"/>
              <a:t>four   2001  Nevada  2.4  -1.5</a:t>
            </a:r>
            <a:endParaRPr lang="zh-CN" altLang="en-US" sz="1400"/>
          </a:p>
          <a:p>
            <a:r>
              <a:rPr lang="zh-CN" altLang="en-US" sz="1400"/>
              <a:t>five   2002  Nevada  2.9  -1.7</a:t>
            </a:r>
            <a:endParaRPr lang="zh-CN" altLang="en-US" sz="1400"/>
          </a:p>
          <a:p>
            <a:r>
              <a:rPr lang="zh-CN" altLang="en-US" sz="1400"/>
              <a:t>six    2003  Nevada  3.2   NaN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关键字del用于删除列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93520" y="2205990"/>
            <a:ext cx="899858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[61]: frame2['eastern'] = frame2.state == 'Ohio'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[62]: frame2</a:t>
            </a:r>
            <a:endParaRPr lang="zh-CN" altLang="en-US" sz="1400"/>
          </a:p>
          <a:p>
            <a:r>
              <a:rPr lang="zh-CN" altLang="en-US" sz="1400"/>
              <a:t>Out[62]: </a:t>
            </a:r>
            <a:endParaRPr lang="zh-CN" altLang="en-US" sz="1400"/>
          </a:p>
          <a:p>
            <a:r>
              <a:rPr lang="zh-CN" altLang="en-US" sz="1400"/>
              <a:t>       year   state  pop  debt  eastern</a:t>
            </a:r>
            <a:endParaRPr lang="zh-CN" altLang="en-US" sz="1400"/>
          </a:p>
          <a:p>
            <a:r>
              <a:rPr lang="zh-CN" altLang="en-US" sz="1400"/>
              <a:t>one    2000    Ohio  1.5   NaN     True</a:t>
            </a:r>
            <a:endParaRPr lang="zh-CN" altLang="en-US" sz="1400"/>
          </a:p>
          <a:p>
            <a:r>
              <a:rPr lang="zh-CN" altLang="en-US" sz="1400"/>
              <a:t>two    2001    Ohio  1.7  -1.2     True</a:t>
            </a:r>
            <a:endParaRPr lang="zh-CN" altLang="en-US" sz="1400"/>
          </a:p>
          <a:p>
            <a:r>
              <a:rPr lang="zh-CN" altLang="en-US" sz="1400"/>
              <a:t>three  2002    Ohio  3.6   NaN     True</a:t>
            </a:r>
            <a:endParaRPr lang="zh-CN" altLang="en-US" sz="1400"/>
          </a:p>
          <a:p>
            <a:r>
              <a:rPr lang="zh-CN" altLang="en-US" sz="1400"/>
              <a:t>four   2001  Nevada  2.4  -1.5    False</a:t>
            </a:r>
            <a:endParaRPr lang="zh-CN" altLang="en-US" sz="1400"/>
          </a:p>
          <a:p>
            <a:r>
              <a:rPr lang="zh-CN" altLang="en-US" sz="1400"/>
              <a:t>five   2002  Nevada  2.9  -1.7    False</a:t>
            </a:r>
            <a:endParaRPr lang="zh-CN" altLang="en-US" sz="1400"/>
          </a:p>
          <a:p>
            <a:r>
              <a:rPr lang="zh-CN" altLang="en-US" sz="1400"/>
              <a:t>six    2003  Nevada  3.2   NaN    False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[63]: del frame2['eastern']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[64]: frame2.columns</a:t>
            </a:r>
            <a:endParaRPr lang="zh-CN" altLang="en-US" sz="1400"/>
          </a:p>
          <a:p>
            <a:r>
              <a:rPr lang="zh-CN" altLang="en-US" sz="1400"/>
              <a:t>Out[64]: Index(['year', 'state', 'pop', 'debt'], dtype='object')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嵌套字典</a:t>
            </a:r>
            <a:endParaRPr lang="zh-CN" altLang="en-US"/>
          </a:p>
          <a:p>
            <a:pPr lvl="1"/>
            <a:r>
              <a:rPr lang="zh-CN" altLang="en-US"/>
              <a:t>外层字典的键作为列，内层键则作为行索引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内层字典的键会被合并、排序以形成最终的索引。</a:t>
            </a:r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r>
              <a:rPr lang="zh-CN" altLang="en-US"/>
              <a:t>明确指定了索引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40585" y="2667635"/>
            <a:ext cx="472249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[65]: pop = {'Nevada': {2001: 2.4, 2002: 2.9},</a:t>
            </a:r>
            <a:endParaRPr lang="zh-CN" altLang="en-US" sz="1400"/>
          </a:p>
          <a:p>
            <a:r>
              <a:rPr lang="zh-CN" altLang="en-US" sz="1400"/>
              <a:t>....:        'Ohio': {2000: 1.5, 2001: 1.7, 2002: 3.6}}</a:t>
            </a:r>
            <a:endParaRPr lang="zh-CN" altLang="en-US" sz="1400"/>
          </a:p>
          <a:p>
            <a:r>
              <a:rPr lang="zh-CN" altLang="en-US" sz="1400"/>
              <a:t>In [66]: frame3 = pd.DataFrame(pop)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[67]: frame3</a:t>
            </a:r>
            <a:endParaRPr lang="zh-CN" altLang="en-US" sz="1400"/>
          </a:p>
          <a:p>
            <a:r>
              <a:rPr lang="zh-CN" altLang="en-US" sz="1400"/>
              <a:t>Out[67]: </a:t>
            </a:r>
            <a:endParaRPr lang="zh-CN" altLang="en-US" sz="1400"/>
          </a:p>
          <a:p>
            <a:r>
              <a:rPr lang="zh-CN" altLang="en-US" sz="1400"/>
              <a:t>      Nevada  Ohio</a:t>
            </a:r>
            <a:endParaRPr lang="zh-CN" altLang="en-US" sz="1400"/>
          </a:p>
          <a:p>
            <a:r>
              <a:rPr lang="zh-CN" altLang="en-US" sz="1400"/>
              <a:t>2000     NaN   1.5</a:t>
            </a:r>
            <a:endParaRPr lang="zh-CN" altLang="en-US" sz="1400"/>
          </a:p>
          <a:p>
            <a:r>
              <a:rPr lang="zh-CN" altLang="en-US" sz="1400"/>
              <a:t>2001     2.4   1.7</a:t>
            </a:r>
            <a:endParaRPr lang="zh-CN" altLang="en-US" sz="1400"/>
          </a:p>
          <a:p>
            <a:r>
              <a:rPr lang="zh-CN" altLang="en-US" sz="1400"/>
              <a:t>2002     2.9   3.6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7325995" y="4726305"/>
            <a:ext cx="472313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[69]: pd.DataFrame(pop, index=[2001, 2002, 2003])</a:t>
            </a:r>
            <a:endParaRPr lang="zh-CN" altLang="en-US" sz="1400"/>
          </a:p>
          <a:p>
            <a:r>
              <a:rPr lang="zh-CN" altLang="en-US" sz="1400"/>
              <a:t>Out[69]: </a:t>
            </a:r>
            <a:endParaRPr lang="zh-CN" altLang="en-US" sz="1400"/>
          </a:p>
          <a:p>
            <a:r>
              <a:rPr lang="zh-CN" altLang="en-US" sz="1400"/>
              <a:t>      Nevada  Ohio</a:t>
            </a:r>
            <a:endParaRPr lang="zh-CN" altLang="en-US" sz="1400"/>
          </a:p>
          <a:p>
            <a:r>
              <a:rPr lang="zh-CN" altLang="en-US" sz="1400"/>
              <a:t>2001     2.4   1.7</a:t>
            </a:r>
            <a:endParaRPr lang="zh-CN" altLang="en-US" sz="1400"/>
          </a:p>
          <a:p>
            <a:r>
              <a:rPr lang="zh-CN" altLang="en-US" sz="1400"/>
              <a:t>2002     2.9   3.6</a:t>
            </a:r>
            <a:endParaRPr lang="zh-CN" altLang="en-US" sz="1400"/>
          </a:p>
          <a:p>
            <a:r>
              <a:rPr lang="zh-CN" altLang="en-US" sz="1400"/>
              <a:t>2003     NaN   NaN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DataFrame进行转置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由Series组成的字典差不多也是一样的用法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637665" y="1990090"/>
            <a:ext cx="365887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[68]: frame3.T</a:t>
            </a:r>
            <a:endParaRPr lang="zh-CN" altLang="en-US" sz="1400"/>
          </a:p>
          <a:p>
            <a:r>
              <a:rPr lang="zh-CN" altLang="en-US" sz="1400"/>
              <a:t>Out[68]: </a:t>
            </a:r>
            <a:endParaRPr lang="zh-CN" altLang="en-US" sz="1400"/>
          </a:p>
          <a:p>
            <a:r>
              <a:rPr lang="zh-CN" altLang="en-US" sz="1400"/>
              <a:t>        2000  2001  2002</a:t>
            </a:r>
            <a:endParaRPr lang="zh-CN" altLang="en-US" sz="1400"/>
          </a:p>
          <a:p>
            <a:r>
              <a:rPr lang="zh-CN" altLang="en-US" sz="1400"/>
              <a:t>Nevada   NaN   2.4   2.9</a:t>
            </a:r>
            <a:endParaRPr lang="zh-CN" altLang="en-US" sz="1400"/>
          </a:p>
          <a:p>
            <a:r>
              <a:rPr lang="zh-CN" altLang="en-US" sz="1400"/>
              <a:t>Ohio     1.5   1.7   3.6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1669415" y="4006215"/>
            <a:ext cx="620014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[70]: pdata = {'Ohio': frame3['Ohio'][:-1],</a:t>
            </a:r>
            <a:endParaRPr lang="zh-CN" altLang="en-US" sz="1400"/>
          </a:p>
          <a:p>
            <a:r>
              <a:rPr lang="zh-CN" altLang="en-US" sz="1400"/>
              <a:t>....:          'Nevada': frame3['Nevada'][:2]}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[71]: pd.DataFrame(pdata)</a:t>
            </a:r>
            <a:endParaRPr lang="zh-CN" altLang="en-US" sz="1400"/>
          </a:p>
          <a:p>
            <a:r>
              <a:rPr lang="zh-CN" altLang="en-US" sz="1400"/>
              <a:t>Out[71]: </a:t>
            </a:r>
            <a:endParaRPr lang="zh-CN" altLang="en-US" sz="1400"/>
          </a:p>
          <a:p>
            <a:r>
              <a:rPr lang="zh-CN" altLang="en-US" sz="1400"/>
              <a:t>      Nevada  Ohio</a:t>
            </a:r>
            <a:endParaRPr lang="zh-CN" altLang="en-US" sz="1400"/>
          </a:p>
          <a:p>
            <a:r>
              <a:rPr lang="zh-CN" altLang="en-US" sz="1400"/>
              <a:t>2000     NaN   1.5</a:t>
            </a:r>
            <a:endParaRPr lang="zh-CN" altLang="en-US" sz="1400"/>
          </a:p>
          <a:p>
            <a:r>
              <a:rPr lang="zh-CN" altLang="en-US" sz="1400"/>
              <a:t>2001     2.4   1.7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DataFrame构造函数所能接受的各种数据</a:t>
            </a:r>
            <a:endParaRPr lang="zh-CN" altLang="en-US"/>
          </a:p>
          <a:p>
            <a:pPr lvl="1"/>
            <a:endParaRPr lang="zh-CN" altLang="en-US"/>
          </a:p>
        </p:txBody>
      </p:sp>
      <p:pic>
        <p:nvPicPr>
          <p:cNvPr id="6" name="图片 5" descr="df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7890" y="1845945"/>
            <a:ext cx="5936615" cy="4230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设置了DataFrame的index和columns的name属性，则这些信息也会被显示出来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lvl="1"/>
            <a:r>
              <a:rPr lang="zh-CN" altLang="en-US"/>
              <a:t>values属性也会以二维ndarray的形式返回DataFrame中的数据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65910" y="2061845"/>
            <a:ext cx="600646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[72]: frame3.index.name = 'year'; frame3.columns.name = 'state'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[73]: frame3</a:t>
            </a:r>
            <a:endParaRPr lang="zh-CN" altLang="en-US" sz="1400"/>
          </a:p>
          <a:p>
            <a:r>
              <a:rPr lang="zh-CN" altLang="en-US" sz="1400"/>
              <a:t>Out[73]: </a:t>
            </a:r>
            <a:endParaRPr lang="zh-CN" altLang="en-US" sz="1400"/>
          </a:p>
          <a:p>
            <a:r>
              <a:rPr lang="zh-CN" altLang="en-US" sz="1400"/>
              <a:t>state  Nevada  Ohio</a:t>
            </a:r>
            <a:endParaRPr lang="zh-CN" altLang="en-US" sz="1400"/>
          </a:p>
          <a:p>
            <a:r>
              <a:rPr lang="zh-CN" altLang="en-US" sz="1400"/>
              <a:t>year</a:t>
            </a:r>
            <a:endParaRPr lang="zh-CN" altLang="en-US" sz="1400"/>
          </a:p>
          <a:p>
            <a:r>
              <a:rPr lang="zh-CN" altLang="en-US" sz="1400"/>
              <a:t>2000      NaN   1.5</a:t>
            </a:r>
            <a:endParaRPr lang="zh-CN" altLang="en-US" sz="1400"/>
          </a:p>
          <a:p>
            <a:r>
              <a:rPr lang="zh-CN" altLang="en-US" sz="1400"/>
              <a:t>2001      2.4   1.7</a:t>
            </a:r>
            <a:endParaRPr lang="zh-CN" altLang="en-US" sz="1400"/>
          </a:p>
          <a:p>
            <a:r>
              <a:rPr lang="zh-CN" altLang="en-US" sz="1400"/>
              <a:t>2002      2.9   3.6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1709420" y="4869815"/>
            <a:ext cx="542480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[74]: frame3.values</a:t>
            </a:r>
            <a:endParaRPr lang="zh-CN" altLang="en-US" sz="1400"/>
          </a:p>
          <a:p>
            <a:r>
              <a:rPr lang="zh-CN" altLang="en-US" sz="1400"/>
              <a:t>Out[74]: </a:t>
            </a:r>
            <a:endParaRPr lang="zh-CN" altLang="en-US" sz="1400"/>
          </a:p>
          <a:p>
            <a:r>
              <a:rPr lang="zh-CN" altLang="en-US" sz="1400"/>
              <a:t>array([[ nan,  1.5],</a:t>
            </a:r>
            <a:endParaRPr lang="zh-CN" altLang="en-US" sz="1400"/>
          </a:p>
          <a:p>
            <a:r>
              <a:rPr lang="zh-CN" altLang="en-US" sz="1400"/>
              <a:t>       [ 2.4,  1.7],</a:t>
            </a:r>
            <a:endParaRPr lang="zh-CN" altLang="en-US" sz="1400"/>
          </a:p>
          <a:p>
            <a:r>
              <a:rPr lang="zh-CN" altLang="en-US" sz="1400"/>
              <a:t>       [ 2.9,  3.6]])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2 DataFrame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如果DataFrame各列的数据类型不同，则值数组的dtype就会选用能兼容所有列的数据类型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65910" y="2061845"/>
            <a:ext cx="600646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[75]: frame2.values</a:t>
            </a:r>
            <a:endParaRPr lang="zh-CN" altLang="en-US" sz="1400"/>
          </a:p>
          <a:p>
            <a:r>
              <a:rPr lang="zh-CN" altLang="en-US" sz="1400"/>
              <a:t>Out[75]:</a:t>
            </a:r>
            <a:endParaRPr lang="zh-CN" altLang="en-US" sz="1400"/>
          </a:p>
          <a:p>
            <a:r>
              <a:rPr lang="zh-CN" altLang="en-US" sz="1400"/>
              <a:t>array([[2000, 'Ohio', 1.5, nan],</a:t>
            </a:r>
            <a:endParaRPr lang="zh-CN" altLang="en-US" sz="1400"/>
          </a:p>
          <a:p>
            <a:r>
              <a:rPr lang="zh-CN" altLang="en-US" sz="1400"/>
              <a:t>       [2001, 'Ohio', 1.7, -1.2],</a:t>
            </a:r>
            <a:endParaRPr lang="zh-CN" altLang="en-US" sz="1400"/>
          </a:p>
          <a:p>
            <a:r>
              <a:rPr lang="zh-CN" altLang="en-US" sz="1400"/>
              <a:t>       [2002, 'Ohio', 3.6, nan],</a:t>
            </a:r>
            <a:endParaRPr lang="zh-CN" altLang="en-US" sz="1400"/>
          </a:p>
          <a:p>
            <a:r>
              <a:rPr lang="zh-CN" altLang="en-US" sz="1400"/>
              <a:t>       [2001, 'Nevada', 2.4, -1.5],</a:t>
            </a:r>
            <a:endParaRPr lang="zh-CN" altLang="en-US" sz="1400"/>
          </a:p>
          <a:p>
            <a:r>
              <a:rPr lang="zh-CN" altLang="en-US" sz="1400"/>
              <a:t>       [2002, 'Nevada', 2.9, -1.7],</a:t>
            </a:r>
            <a:endParaRPr lang="zh-CN" altLang="en-US" sz="1400"/>
          </a:p>
          <a:p>
            <a:r>
              <a:rPr lang="zh-CN" altLang="en-US" sz="1400"/>
              <a:t>       [2003, 'Nevada', 3.2, nan]], dtype=object)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索引对象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pandas的索引对象负责管理轴标签和其他元数据（比如轴名称等）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65910" y="1845310"/>
            <a:ext cx="600646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[76]: obj = pd.Series(range(3), index=['a', 'b', 'c'])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[77]: index = obj.index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[78]: index</a:t>
            </a:r>
            <a:endParaRPr lang="zh-CN" altLang="en-US" sz="1400"/>
          </a:p>
          <a:p>
            <a:r>
              <a:rPr lang="zh-CN" altLang="en-US" sz="1400"/>
              <a:t>Out[78]: Index(['a', 'b', 'c'], dtype='object')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[79]: index[1:]</a:t>
            </a:r>
            <a:endParaRPr lang="zh-CN" altLang="en-US" sz="1400"/>
          </a:p>
          <a:p>
            <a:r>
              <a:rPr lang="zh-CN" altLang="en-US" sz="1400"/>
              <a:t>Out[79]: Index(['b', 'c'], dtype='object')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索引对象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Index对象是不可变的</a:t>
            </a:r>
            <a:endParaRPr lang="zh-CN" altLang="en-US"/>
          </a:p>
          <a:p>
            <a:endParaRPr lang="zh-CN" altLang="en-US"/>
          </a:p>
          <a:p>
            <a:pPr lvl="1"/>
            <a:r>
              <a:rPr lang="zh-CN" altLang="en-US"/>
              <a:t>不可变可以使Index对象在多个数据结构之间安全共享</a:t>
            </a:r>
            <a:endParaRPr lang="zh-CN" altLang="en-US"/>
          </a:p>
          <a:p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70100" y="1845310"/>
            <a:ext cx="600646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index[1] = 'd'  # TypeError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2070100" y="2637790"/>
            <a:ext cx="690054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[80]: labels = pd.Index(np.arange(3))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[81]: labels</a:t>
            </a:r>
            <a:endParaRPr lang="zh-CN" altLang="en-US" sz="1400"/>
          </a:p>
          <a:p>
            <a:r>
              <a:rPr lang="zh-CN" altLang="en-US" sz="1400"/>
              <a:t>Out[81]: Int64Index([0, 1, 2], dtype='int64')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[82]: obj2 = pd.Series([1.5, -2.5, 0], index=labels)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[83]: obj2</a:t>
            </a:r>
            <a:endParaRPr lang="zh-CN" altLang="en-US" sz="1400"/>
          </a:p>
          <a:p>
            <a:r>
              <a:rPr lang="zh-CN" altLang="en-US" sz="1400"/>
              <a:t>Out[83]: </a:t>
            </a:r>
            <a:endParaRPr lang="zh-CN" altLang="en-US" sz="1400"/>
          </a:p>
          <a:p>
            <a:r>
              <a:rPr lang="zh-CN" altLang="en-US" sz="1400"/>
              <a:t>0    1.5</a:t>
            </a:r>
            <a:endParaRPr lang="zh-CN" altLang="en-US" sz="1400"/>
          </a:p>
          <a:p>
            <a:r>
              <a:rPr lang="zh-CN" altLang="en-US" sz="1400"/>
              <a:t>1   -2.5</a:t>
            </a:r>
            <a:endParaRPr lang="zh-CN" altLang="en-US" sz="1400"/>
          </a:p>
          <a:p>
            <a:r>
              <a:rPr lang="zh-CN" altLang="en-US" sz="1400"/>
              <a:t>2    0.0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[84]: obj2.index is labels</a:t>
            </a:r>
            <a:endParaRPr lang="zh-CN" altLang="en-US" sz="1400"/>
          </a:p>
          <a:p>
            <a:r>
              <a:rPr lang="zh-CN" altLang="en-US" sz="1400"/>
              <a:t>Out[84]: True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索引对象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Index的功能也类似一个固定大小的集合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lvl="1"/>
            <a:r>
              <a:rPr lang="zh-CN" altLang="en-US"/>
              <a:t>与python的集合不同，pandas的Index可以包含重复的标签，</a:t>
            </a:r>
            <a:r>
              <a:rPr lang="en-US" altLang="zh-CN"/>
              <a:t> 选择重复的标签，会显示所有的结果。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008505" y="1767840"/>
            <a:ext cx="6900545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[85]: frame3</a:t>
            </a:r>
            <a:endParaRPr lang="zh-CN" altLang="en-US" sz="1400"/>
          </a:p>
          <a:p>
            <a:r>
              <a:rPr lang="zh-CN" altLang="en-US" sz="1400"/>
              <a:t>Out[85]: </a:t>
            </a:r>
            <a:endParaRPr lang="zh-CN" altLang="en-US" sz="1400"/>
          </a:p>
          <a:p>
            <a:r>
              <a:rPr lang="zh-CN" altLang="en-US" sz="1400"/>
              <a:t>state  Nevada  Ohio</a:t>
            </a:r>
            <a:endParaRPr lang="zh-CN" altLang="en-US" sz="1400"/>
          </a:p>
          <a:p>
            <a:r>
              <a:rPr lang="zh-CN" altLang="en-US" sz="1400"/>
              <a:t>year               </a:t>
            </a:r>
            <a:endParaRPr lang="zh-CN" altLang="en-US" sz="1400"/>
          </a:p>
          <a:p>
            <a:r>
              <a:rPr lang="zh-CN" altLang="en-US" sz="1400"/>
              <a:t>2000      NaN   1.5</a:t>
            </a:r>
            <a:endParaRPr lang="zh-CN" altLang="en-US" sz="1400"/>
          </a:p>
          <a:p>
            <a:r>
              <a:rPr lang="zh-CN" altLang="en-US" sz="1400"/>
              <a:t>2001      2.4   1.7</a:t>
            </a:r>
            <a:endParaRPr lang="zh-CN" altLang="en-US" sz="1400"/>
          </a:p>
          <a:p>
            <a:r>
              <a:rPr lang="zh-CN" altLang="en-US" sz="1400"/>
              <a:t>2002      2.9   3.6</a:t>
            </a:r>
            <a:endParaRPr lang="zh-CN" altLang="en-US" sz="1400"/>
          </a:p>
          <a:p>
            <a:r>
              <a:rPr lang="zh-CN" altLang="en-US" sz="1400"/>
              <a:t>In [86]: frame3.columns</a:t>
            </a:r>
            <a:endParaRPr lang="zh-CN" altLang="en-US" sz="1400"/>
          </a:p>
          <a:p>
            <a:r>
              <a:rPr lang="zh-CN" altLang="en-US" sz="1400"/>
              <a:t>Out[86]: Index(['Nevada', 'Ohio'], dtype='object', name='state')</a:t>
            </a:r>
            <a:endParaRPr lang="zh-CN" altLang="en-US" sz="1400"/>
          </a:p>
          <a:p>
            <a:r>
              <a:rPr lang="zh-CN" altLang="en-US" sz="1400"/>
              <a:t>In [87]: 'Ohio' in frame3.columns</a:t>
            </a:r>
            <a:endParaRPr lang="zh-CN" altLang="en-US" sz="1400"/>
          </a:p>
          <a:p>
            <a:r>
              <a:rPr lang="zh-CN" altLang="en-US" sz="1400"/>
              <a:t>Out[87]: True</a:t>
            </a:r>
            <a:endParaRPr lang="zh-CN" altLang="en-US" sz="1400"/>
          </a:p>
          <a:p>
            <a:r>
              <a:rPr lang="zh-CN" altLang="en-US" sz="1400"/>
              <a:t>In [88]: 2003 in frame3.index</a:t>
            </a:r>
            <a:endParaRPr lang="zh-CN" altLang="en-US" sz="1400"/>
          </a:p>
          <a:p>
            <a:r>
              <a:rPr lang="zh-CN" altLang="en-US" sz="1400"/>
              <a:t>Out[88]: False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2008505" y="5158105"/>
            <a:ext cx="572706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[89]: dup_labels = pd.Index(['foo', 'foo', 'bar', 'bar'])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[90]: dup_labels</a:t>
            </a:r>
            <a:endParaRPr lang="zh-CN" altLang="en-US" sz="1400"/>
          </a:p>
          <a:p>
            <a:r>
              <a:rPr lang="zh-CN" altLang="en-US" sz="1400"/>
              <a:t>Out[90]: Index(['foo', 'foo', 'bar', 'bar'], dtype='object')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5.1.</a:t>
            </a:r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索引对象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Index的方法和属性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  <p:pic>
        <p:nvPicPr>
          <p:cNvPr id="4" name="图片 3" descr="索引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61945" y="1845310"/>
            <a:ext cx="6963410" cy="4102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</a:t>
            </a:r>
            <a:r>
              <a:rPr lang="en-US">
                <a:sym typeface="+mn-ea"/>
              </a:rPr>
              <a:t>2 </a:t>
            </a:r>
            <a:r>
              <a:rPr lang="zh-CN" altLang="en-US">
                <a:sym typeface="+mn-ea"/>
              </a:rPr>
              <a:t>基本功能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重建索引</a:t>
            </a:r>
            <a:endParaRPr lang="zh-CN" altLang="en-US"/>
          </a:p>
          <a:p>
            <a:r>
              <a:rPr lang="zh-CN" altLang="en-US"/>
              <a:t>轴向上删除条目</a:t>
            </a:r>
            <a:endParaRPr lang="zh-CN" altLang="en-US"/>
          </a:p>
          <a:p>
            <a:r>
              <a:rPr lang="zh-CN" altLang="en-US"/>
              <a:t>索引、选择与过滤</a:t>
            </a:r>
            <a:endParaRPr lang="zh-CN" altLang="en-US"/>
          </a:p>
          <a:p>
            <a:r>
              <a:rPr lang="zh-CN" altLang="en-US"/>
              <a:t>整数索引</a:t>
            </a:r>
            <a:endParaRPr lang="zh-CN" altLang="en-US"/>
          </a:p>
          <a:p>
            <a:r>
              <a:rPr lang="zh-CN" altLang="en-US"/>
              <a:t>算术和数据对齐</a:t>
            </a:r>
            <a:endParaRPr lang="zh-CN" altLang="en-US"/>
          </a:p>
          <a:p>
            <a:r>
              <a:rPr lang="zh-CN" altLang="en-US"/>
              <a:t>函数应用和映射</a:t>
            </a:r>
            <a:endParaRPr lang="zh-CN" altLang="en-US"/>
          </a:p>
          <a:p>
            <a:r>
              <a:rPr lang="zh-CN" altLang="en-US"/>
              <a:t>排序和排名</a:t>
            </a:r>
            <a:endParaRPr lang="zh-CN" altLang="en-US"/>
          </a:p>
          <a:p>
            <a:r>
              <a:rPr lang="zh-CN" altLang="en-US"/>
              <a:t>含有重复标签的轴索引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</a:t>
            </a:r>
            <a:r>
              <a:rPr lang="en-US">
                <a:sym typeface="+mn-ea"/>
              </a:rPr>
              <a:t>2.1 </a:t>
            </a:r>
            <a:r>
              <a:rPr lang="zh-CN" altLang="en-US">
                <a:sym typeface="+mn-ea"/>
              </a:rPr>
              <a:t>重建索引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reindex是</a:t>
            </a:r>
            <a:r>
              <a:rPr lang="zh-CN" altLang="en-US">
                <a:sym typeface="+mn-ea"/>
              </a:rPr>
              <a:t>pandas对象的一个重要方法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创建一个新对象，它的数据符合新的索引。</a:t>
            </a:r>
            <a:endParaRPr lang="zh-CN" altLang="en-US">
              <a:sym typeface="+mn-ea"/>
            </a:endParaRPr>
          </a:p>
          <a:p>
            <a:pPr lvl="1"/>
            <a:endParaRPr lang="zh-CN" altLang="en-US">
              <a:sym typeface="+mn-ea"/>
            </a:endParaRPr>
          </a:p>
          <a:p>
            <a:pPr lvl="1"/>
            <a:endParaRPr lang="zh-CN" altLang="en-US">
              <a:sym typeface="+mn-ea"/>
            </a:endParaRPr>
          </a:p>
          <a:p>
            <a:pPr lvl="1"/>
            <a:endParaRPr lang="zh-CN" altLang="en-US">
              <a:sym typeface="+mn-ea"/>
            </a:endParaRPr>
          </a:p>
          <a:p>
            <a:pPr lvl="1"/>
            <a:endParaRPr lang="zh-CN" altLang="en-US">
              <a:sym typeface="+mn-ea"/>
            </a:endParaRPr>
          </a:p>
          <a:p>
            <a:pPr lvl="1"/>
            <a:endParaRPr lang="zh-CN" altLang="en-US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用该Series的reindex将会根据新索引进行重排</a:t>
            </a:r>
            <a:endParaRPr lang="zh-CN" altLang="en-US">
              <a:sym typeface="+mn-ea"/>
            </a:endParaRPr>
          </a:p>
          <a:p>
            <a:pPr lvl="2"/>
            <a:r>
              <a:rPr lang="zh-CN" altLang="en-US">
                <a:sym typeface="+mn-ea"/>
              </a:rPr>
              <a:t>如果某个索引值当前不存在，就引入缺失值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86000" y="2205355"/>
            <a:ext cx="597281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[91]: obj = pd.Series([4.5, 7.2, -5.3, 3.6], index=['d', 'b', 'a', 'c'])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[92]: obj</a:t>
            </a:r>
            <a:endParaRPr lang="zh-CN" altLang="en-US" sz="1400"/>
          </a:p>
          <a:p>
            <a:r>
              <a:rPr lang="zh-CN" altLang="en-US" sz="1400"/>
              <a:t>Out[92]: </a:t>
            </a:r>
            <a:endParaRPr lang="zh-CN" altLang="en-US" sz="1400"/>
          </a:p>
          <a:p>
            <a:r>
              <a:rPr lang="zh-CN" altLang="en-US" sz="1400"/>
              <a:t>d    4.5</a:t>
            </a:r>
            <a:endParaRPr lang="zh-CN" altLang="en-US" sz="1400"/>
          </a:p>
          <a:p>
            <a:r>
              <a:rPr lang="zh-CN" altLang="en-US" sz="1400"/>
              <a:t>b    7.2</a:t>
            </a:r>
            <a:endParaRPr lang="zh-CN" altLang="en-US" sz="1400"/>
          </a:p>
          <a:p>
            <a:r>
              <a:rPr lang="zh-CN" altLang="en-US" sz="1400"/>
              <a:t>a   -5.3</a:t>
            </a:r>
            <a:endParaRPr lang="zh-CN" altLang="en-US" sz="1400"/>
          </a:p>
          <a:p>
            <a:r>
              <a:rPr lang="zh-CN" altLang="en-US" sz="1400"/>
              <a:t>c    3.6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8258810" y="3789680"/>
            <a:ext cx="366331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[93]: obj2 = obj.reindex(['a', 'b', 'c', 'd', 'e'])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[94]: obj2</a:t>
            </a:r>
            <a:endParaRPr lang="zh-CN" altLang="en-US" sz="1400"/>
          </a:p>
          <a:p>
            <a:r>
              <a:rPr lang="zh-CN" altLang="en-US" sz="1400"/>
              <a:t>Out[94]: </a:t>
            </a:r>
            <a:endParaRPr lang="zh-CN" altLang="en-US" sz="1400"/>
          </a:p>
          <a:p>
            <a:r>
              <a:rPr lang="zh-CN" altLang="en-US" sz="1400"/>
              <a:t>a   -5.3</a:t>
            </a:r>
            <a:endParaRPr lang="zh-CN" altLang="en-US" sz="1400"/>
          </a:p>
          <a:p>
            <a:r>
              <a:rPr lang="zh-CN" altLang="en-US" sz="1400"/>
              <a:t>b    7.2</a:t>
            </a:r>
            <a:endParaRPr lang="zh-CN" altLang="en-US" sz="1400"/>
          </a:p>
          <a:p>
            <a:r>
              <a:rPr lang="zh-CN" altLang="en-US" sz="1400"/>
              <a:t>c    3.6</a:t>
            </a:r>
            <a:endParaRPr lang="zh-CN" altLang="en-US" sz="1400"/>
          </a:p>
          <a:p>
            <a:r>
              <a:rPr lang="zh-CN" altLang="en-US" sz="1400"/>
              <a:t>d    4.5</a:t>
            </a:r>
            <a:endParaRPr lang="zh-CN" altLang="en-US" sz="1400"/>
          </a:p>
          <a:p>
            <a:r>
              <a:rPr lang="zh-CN" altLang="en-US" sz="1400"/>
              <a:t>e    NaN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</a:t>
            </a:r>
            <a:r>
              <a:rPr lang="en-US">
                <a:sym typeface="+mn-ea"/>
              </a:rPr>
              <a:t>2.1 </a:t>
            </a:r>
            <a:r>
              <a:rPr lang="zh-CN" altLang="en-US">
                <a:sym typeface="+mn-ea"/>
              </a:rPr>
              <a:t>重建索引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reindex是</a:t>
            </a:r>
            <a:r>
              <a:rPr lang="zh-CN" altLang="en-US">
                <a:sym typeface="+mn-ea"/>
              </a:rPr>
              <a:t>pandas对象的一个重要方法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/>
              <a:t>对于时间序列这样的有序数据，重新索引时可能需要做一些插值处理。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86000" y="2421890"/>
            <a:ext cx="5972810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[95]: obj3 = pd.Series(['blue', 'purple', 'yellow'], index=[0, 2, 4])</a:t>
            </a:r>
            <a:endParaRPr lang="zh-CN" altLang="en-US" sz="1400"/>
          </a:p>
          <a:p>
            <a:r>
              <a:rPr lang="zh-CN" altLang="en-US" sz="1400"/>
              <a:t>In [96]: obj3</a:t>
            </a:r>
            <a:endParaRPr lang="zh-CN" altLang="en-US" sz="1400"/>
          </a:p>
          <a:p>
            <a:r>
              <a:rPr lang="zh-CN" altLang="en-US" sz="1400"/>
              <a:t>Out[96]: </a:t>
            </a:r>
            <a:endParaRPr lang="zh-CN" altLang="en-US" sz="1400"/>
          </a:p>
          <a:p>
            <a:r>
              <a:rPr lang="zh-CN" altLang="en-US" sz="1400"/>
              <a:t>0      blue</a:t>
            </a:r>
            <a:endParaRPr lang="zh-CN" altLang="en-US" sz="1400"/>
          </a:p>
          <a:p>
            <a:r>
              <a:rPr lang="zh-CN" altLang="en-US" sz="1400"/>
              <a:t>2    purple</a:t>
            </a:r>
            <a:endParaRPr lang="zh-CN" altLang="en-US" sz="1400"/>
          </a:p>
          <a:p>
            <a:r>
              <a:rPr lang="zh-CN" altLang="en-US" sz="1400"/>
              <a:t>4    yellow</a:t>
            </a:r>
            <a:endParaRPr lang="zh-CN" altLang="en-US" sz="1400"/>
          </a:p>
          <a:p>
            <a:r>
              <a:rPr lang="zh-CN" altLang="en-US" sz="1400"/>
              <a:t>dtype: object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[97]: obj3.reindex(range(6), method='ffill')</a:t>
            </a:r>
            <a:endParaRPr lang="zh-CN" altLang="en-US" sz="1400"/>
          </a:p>
          <a:p>
            <a:r>
              <a:rPr lang="zh-CN" altLang="en-US" sz="1400"/>
              <a:t>Out[97]: </a:t>
            </a:r>
            <a:endParaRPr lang="zh-CN" altLang="en-US" sz="1400"/>
          </a:p>
          <a:p>
            <a:r>
              <a:rPr lang="zh-CN" altLang="en-US" sz="1400"/>
              <a:t>0      blue</a:t>
            </a:r>
            <a:endParaRPr lang="zh-CN" altLang="en-US" sz="1400"/>
          </a:p>
          <a:p>
            <a:r>
              <a:rPr lang="zh-CN" altLang="en-US" sz="1400"/>
              <a:t>1      blue</a:t>
            </a:r>
            <a:endParaRPr lang="zh-CN" altLang="en-US" sz="1400"/>
          </a:p>
          <a:p>
            <a:r>
              <a:rPr lang="zh-CN" altLang="en-US" sz="1400"/>
              <a:t>2    purple</a:t>
            </a:r>
            <a:endParaRPr lang="zh-CN" altLang="en-US" sz="1400"/>
          </a:p>
          <a:p>
            <a:r>
              <a:rPr lang="zh-CN" altLang="en-US" sz="1400"/>
              <a:t>3    purple</a:t>
            </a:r>
            <a:endParaRPr lang="zh-CN" altLang="en-US" sz="1400"/>
          </a:p>
          <a:p>
            <a:r>
              <a:rPr lang="zh-CN" altLang="en-US" sz="1400"/>
              <a:t>4    yellow</a:t>
            </a:r>
            <a:endParaRPr lang="zh-CN" altLang="en-US" sz="1400"/>
          </a:p>
          <a:p>
            <a:r>
              <a:rPr lang="zh-CN" altLang="en-US" sz="1400"/>
              <a:t>5    yellow</a:t>
            </a:r>
            <a:endParaRPr lang="zh-CN" altLang="en-US" sz="1400"/>
          </a:p>
          <a:p>
            <a:r>
              <a:rPr lang="zh-CN" altLang="en-US" sz="1400"/>
              <a:t>dtype: object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</a:t>
            </a:r>
            <a:r>
              <a:rPr lang="en-US">
                <a:sym typeface="+mn-ea"/>
              </a:rPr>
              <a:t>2.1 </a:t>
            </a:r>
            <a:r>
              <a:rPr lang="zh-CN" altLang="en-US">
                <a:sym typeface="+mn-ea"/>
              </a:rPr>
              <a:t>重建索引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reindex可以修改（行）索引和列。只传递一个序列时，会重新索引结果的行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列可以用columns关键字重新索引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10055" y="1841500"/>
            <a:ext cx="5972810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[98]: frame = pd.DataFrame(np.arange(9).reshape((3, 3)),</a:t>
            </a:r>
            <a:endParaRPr lang="zh-CN" altLang="en-US" sz="1400"/>
          </a:p>
          <a:p>
            <a:r>
              <a:rPr lang="zh-CN" altLang="en-US" sz="1400"/>
              <a:t>   ....:                      index=['a', 'c', 'd'],</a:t>
            </a:r>
            <a:endParaRPr lang="zh-CN" altLang="en-US" sz="1400"/>
          </a:p>
          <a:p>
            <a:r>
              <a:rPr lang="zh-CN" altLang="en-US" sz="1400"/>
              <a:t>   ....:                      columns=['Ohio', 'Texas', 'California'])</a:t>
            </a:r>
            <a:endParaRPr lang="zh-CN" altLang="en-US" sz="1400"/>
          </a:p>
          <a:p>
            <a:r>
              <a:rPr lang="zh-CN" altLang="en-US" sz="1400"/>
              <a:t>In [99]: frame</a:t>
            </a:r>
            <a:endParaRPr lang="zh-CN" altLang="en-US" sz="1400"/>
          </a:p>
          <a:p>
            <a:r>
              <a:rPr lang="zh-CN" altLang="en-US" sz="1400"/>
              <a:t>Out[99]: </a:t>
            </a:r>
            <a:endParaRPr lang="zh-CN" altLang="en-US" sz="1400"/>
          </a:p>
          <a:p>
            <a:r>
              <a:rPr lang="zh-CN" altLang="en-US" sz="1400"/>
              <a:t>   Ohio  Texas  California</a:t>
            </a:r>
            <a:endParaRPr lang="zh-CN" altLang="en-US" sz="1400"/>
          </a:p>
          <a:p>
            <a:r>
              <a:rPr lang="zh-CN" altLang="en-US" sz="1400"/>
              <a:t>a     0      1           2</a:t>
            </a:r>
            <a:endParaRPr lang="zh-CN" altLang="en-US" sz="1400"/>
          </a:p>
          <a:p>
            <a:r>
              <a:rPr lang="zh-CN" altLang="en-US" sz="1400"/>
              <a:t>c     3      4           5</a:t>
            </a:r>
            <a:endParaRPr lang="zh-CN" altLang="en-US" sz="1400"/>
          </a:p>
          <a:p>
            <a:r>
              <a:rPr lang="zh-CN" altLang="en-US" sz="1400"/>
              <a:t>d     6      7           8</a:t>
            </a:r>
            <a:endParaRPr lang="zh-CN" altLang="en-US" sz="1400"/>
          </a:p>
          <a:p>
            <a:r>
              <a:rPr lang="zh-CN" altLang="en-US" sz="1400"/>
              <a:t>In [100]: frame2 = frame.reindex(['a', 'b', 'c', 'd'])</a:t>
            </a:r>
            <a:endParaRPr lang="zh-CN" altLang="en-US" sz="1400"/>
          </a:p>
          <a:p>
            <a:r>
              <a:rPr lang="zh-CN" altLang="en-US" sz="1400"/>
              <a:t>In [101]: frame2</a:t>
            </a:r>
            <a:endParaRPr lang="zh-CN" altLang="en-US" sz="1400"/>
          </a:p>
          <a:p>
            <a:r>
              <a:rPr lang="zh-CN" altLang="en-US" sz="1400"/>
              <a:t>Out[101]: </a:t>
            </a:r>
            <a:endParaRPr lang="zh-CN" altLang="en-US" sz="1400"/>
          </a:p>
          <a:p>
            <a:r>
              <a:rPr lang="zh-CN" altLang="en-US" sz="1400"/>
              <a:t>   Ohio  Texas  California</a:t>
            </a:r>
            <a:endParaRPr lang="zh-CN" altLang="en-US" sz="1400"/>
          </a:p>
          <a:p>
            <a:r>
              <a:rPr lang="zh-CN" altLang="en-US" sz="1400"/>
              <a:t>a   0.0    1.0         2.0</a:t>
            </a:r>
            <a:endParaRPr lang="zh-CN" altLang="en-US" sz="1400"/>
          </a:p>
          <a:p>
            <a:r>
              <a:rPr lang="zh-CN" altLang="en-US" sz="1400"/>
              <a:t>b   NaN    NaN         NaN</a:t>
            </a:r>
            <a:endParaRPr lang="zh-CN" altLang="en-US" sz="1400"/>
          </a:p>
          <a:p>
            <a:r>
              <a:rPr lang="zh-CN" altLang="en-US" sz="1400"/>
              <a:t>c   3.0    4.0         5.0</a:t>
            </a:r>
            <a:endParaRPr lang="zh-CN" altLang="en-US" sz="1400"/>
          </a:p>
          <a:p>
            <a:r>
              <a:rPr lang="zh-CN" altLang="en-US" sz="1400"/>
              <a:t>d   6.0    7.0         8.0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7470140" y="4222115"/>
            <a:ext cx="405638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[102]: states = ['Texas', 'Utah', 'California']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[103]: frame.reindex(columns=states)</a:t>
            </a:r>
            <a:endParaRPr lang="zh-CN" altLang="en-US" sz="1400"/>
          </a:p>
          <a:p>
            <a:r>
              <a:rPr lang="zh-CN" altLang="en-US" sz="1400"/>
              <a:t>Out[103]: </a:t>
            </a:r>
            <a:endParaRPr lang="zh-CN" altLang="en-US" sz="1400"/>
          </a:p>
          <a:p>
            <a:r>
              <a:rPr lang="zh-CN" altLang="en-US" sz="1400"/>
              <a:t>   Texas  Utah  California</a:t>
            </a:r>
            <a:endParaRPr lang="zh-CN" altLang="en-US" sz="1400"/>
          </a:p>
          <a:p>
            <a:r>
              <a:rPr lang="zh-CN" altLang="en-US" sz="1400"/>
              <a:t>a      1   NaN           2</a:t>
            </a:r>
            <a:endParaRPr lang="zh-CN" altLang="en-US" sz="1400"/>
          </a:p>
          <a:p>
            <a:r>
              <a:rPr lang="zh-CN" altLang="en-US" sz="1400"/>
              <a:t>c      4   NaN           5</a:t>
            </a:r>
            <a:endParaRPr lang="zh-CN" altLang="en-US" sz="1400"/>
          </a:p>
          <a:p>
            <a:r>
              <a:rPr lang="zh-CN" altLang="en-US" sz="1400"/>
              <a:t>d      7   NaN           8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</a:t>
            </a:r>
            <a:r>
              <a:rPr lang="en-US">
                <a:sym typeface="+mn-ea"/>
              </a:rPr>
              <a:t>2.1 </a:t>
            </a:r>
            <a:r>
              <a:rPr lang="zh-CN" altLang="en-US">
                <a:sym typeface="+mn-ea"/>
              </a:rPr>
              <a:t>重建索引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reindex函数的参数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6" name="图片 5" descr="reinde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100" y="1845310"/>
            <a:ext cx="9429115" cy="4325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</a:t>
            </a:r>
            <a:r>
              <a:rPr lang="en-US">
                <a:sym typeface="+mn-ea"/>
              </a:rPr>
              <a:t>2.2 </a:t>
            </a:r>
            <a:r>
              <a:rPr lang="zh-CN">
                <a:sym typeface="+mn-ea"/>
              </a:rPr>
              <a:t>轴向上删除条目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5414010" cy="5041265"/>
          </a:xfrm>
        </p:spPr>
        <p:txBody>
          <a:bodyPr/>
          <a:lstStyle/>
          <a:p>
            <a:r>
              <a:rPr lang="zh-CN" altLang="en-US"/>
              <a:t>drop方法返回的是一个在指定轴上删除了指定值的新对象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06540" y="1192530"/>
            <a:ext cx="5399405" cy="5046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[105]: obj = pd.Series(np.arange(5.), index=['a', 'b', 'c', 'd', 'e'])</a:t>
            </a:r>
            <a:endParaRPr lang="zh-CN" altLang="en-US" sz="1400"/>
          </a:p>
          <a:p>
            <a:r>
              <a:rPr lang="zh-CN" altLang="en-US" sz="1400"/>
              <a:t>In [106]: obj</a:t>
            </a:r>
            <a:endParaRPr lang="zh-CN" altLang="en-US" sz="1400"/>
          </a:p>
          <a:p>
            <a:r>
              <a:rPr lang="zh-CN" altLang="en-US" sz="1400"/>
              <a:t>Out[106]: </a:t>
            </a:r>
            <a:endParaRPr lang="zh-CN" altLang="en-US" sz="1400"/>
          </a:p>
          <a:p>
            <a:r>
              <a:rPr lang="zh-CN" altLang="en-US" sz="1400"/>
              <a:t>a    0.0</a:t>
            </a:r>
            <a:endParaRPr lang="zh-CN" altLang="en-US" sz="1400"/>
          </a:p>
          <a:p>
            <a:r>
              <a:rPr lang="zh-CN" altLang="en-US" sz="1400"/>
              <a:t>b    1.0</a:t>
            </a:r>
            <a:endParaRPr lang="zh-CN" altLang="en-US" sz="1400"/>
          </a:p>
          <a:p>
            <a:r>
              <a:rPr lang="zh-CN" altLang="en-US" sz="1400"/>
              <a:t>c    2.0</a:t>
            </a:r>
            <a:endParaRPr lang="zh-CN" altLang="en-US" sz="1400"/>
          </a:p>
          <a:p>
            <a:r>
              <a:rPr lang="zh-CN" altLang="en-US" sz="1400"/>
              <a:t>d    3.0</a:t>
            </a:r>
            <a:endParaRPr lang="zh-CN" altLang="en-US" sz="1400"/>
          </a:p>
          <a:p>
            <a:r>
              <a:rPr lang="zh-CN" altLang="en-US" sz="1400"/>
              <a:t>e    4.0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  <a:p>
            <a:r>
              <a:rPr lang="zh-CN" altLang="en-US" sz="1400"/>
              <a:t>In [107]: new_obj = obj.drop('c')</a:t>
            </a:r>
            <a:endParaRPr lang="zh-CN" altLang="en-US" sz="1400"/>
          </a:p>
          <a:p>
            <a:r>
              <a:rPr lang="zh-CN" altLang="en-US" sz="1400"/>
              <a:t>In [108]: new_obj</a:t>
            </a:r>
            <a:endParaRPr lang="zh-CN" altLang="en-US" sz="1400"/>
          </a:p>
          <a:p>
            <a:r>
              <a:rPr lang="zh-CN" altLang="en-US" sz="1400"/>
              <a:t>Out[108]: </a:t>
            </a:r>
            <a:endParaRPr lang="zh-CN" altLang="en-US" sz="1400"/>
          </a:p>
          <a:p>
            <a:r>
              <a:rPr lang="zh-CN" altLang="en-US" sz="1400"/>
              <a:t>a    0.0</a:t>
            </a:r>
            <a:endParaRPr lang="zh-CN" altLang="en-US" sz="1400"/>
          </a:p>
          <a:p>
            <a:r>
              <a:rPr lang="zh-CN" altLang="en-US" sz="1400"/>
              <a:t>b    1.0</a:t>
            </a:r>
            <a:endParaRPr lang="zh-CN" altLang="en-US" sz="1400"/>
          </a:p>
          <a:p>
            <a:r>
              <a:rPr lang="zh-CN" altLang="en-US" sz="1400"/>
              <a:t>d    3.0</a:t>
            </a:r>
            <a:endParaRPr lang="zh-CN" altLang="en-US" sz="1400"/>
          </a:p>
          <a:p>
            <a:r>
              <a:rPr lang="zh-CN" altLang="en-US" sz="1400"/>
              <a:t>e    4.0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  <a:p>
            <a:r>
              <a:rPr lang="zh-CN" altLang="en-US" sz="1400"/>
              <a:t>In [109]: obj.drop(['d', 'c'])</a:t>
            </a:r>
            <a:endParaRPr lang="zh-CN" altLang="en-US" sz="1400"/>
          </a:p>
          <a:p>
            <a:r>
              <a:rPr lang="zh-CN" altLang="en-US" sz="1400"/>
              <a:t>Out[109]: </a:t>
            </a:r>
            <a:endParaRPr lang="zh-CN" altLang="en-US" sz="1400"/>
          </a:p>
          <a:p>
            <a:r>
              <a:rPr lang="zh-CN" altLang="en-US" sz="1400"/>
              <a:t>a    0.0</a:t>
            </a:r>
            <a:endParaRPr lang="zh-CN" altLang="en-US" sz="1400"/>
          </a:p>
          <a:p>
            <a:r>
              <a:rPr lang="zh-CN" altLang="en-US" sz="1400"/>
              <a:t>b    1.0</a:t>
            </a:r>
            <a:endParaRPr lang="zh-CN" altLang="en-US" sz="1400"/>
          </a:p>
          <a:p>
            <a:r>
              <a:rPr lang="zh-CN" altLang="en-US" sz="1400"/>
              <a:t>e    4.0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</a:t>
            </a:r>
            <a:r>
              <a:rPr lang="en-US">
                <a:sym typeface="+mn-ea"/>
              </a:rPr>
              <a:t>2.2 </a:t>
            </a:r>
            <a:r>
              <a:rPr lang="zh-CN">
                <a:sym typeface="+mn-ea"/>
              </a:rPr>
              <a:t>轴向上删除条目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5927725" cy="5041265"/>
          </a:xfrm>
        </p:spPr>
        <p:txBody>
          <a:bodyPr/>
          <a:lstStyle/>
          <a:p>
            <a:r>
              <a:rPr lang="zh-CN" altLang="en-US"/>
              <a:t>对于DataFrame，可以删除任意轴上的索引值</a:t>
            </a:r>
            <a:endParaRPr lang="zh-CN" altLang="en-US"/>
          </a:p>
          <a:p>
            <a:pPr lvl="1"/>
            <a:r>
              <a:rPr lang="zh-CN" altLang="en-US"/>
              <a:t>用标签序列调用drop会从行标签（axis 0）删除值</a:t>
            </a:r>
            <a:endParaRPr lang="zh-CN" altLang="en-US"/>
          </a:p>
          <a:p>
            <a:pPr lvl="1"/>
            <a:r>
              <a:rPr lang="zh-CN" altLang="en-US"/>
              <a:t>通过传递axis=1或axis='columns'可以删除列的值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06540" y="1192530"/>
            <a:ext cx="5399405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[110]: data = pd.DataFrame(np.arange(16).reshape((4, 4)),</a:t>
            </a:r>
            <a:endParaRPr lang="zh-CN" altLang="en-US" sz="1400"/>
          </a:p>
          <a:p>
            <a:r>
              <a:rPr lang="zh-CN" altLang="en-US" sz="1400"/>
              <a:t>   .....:                     index=['Ohio', 'Colorado', 'Utah', 'New York'],</a:t>
            </a:r>
            <a:endParaRPr lang="zh-CN" altLang="en-US" sz="1400"/>
          </a:p>
          <a:p>
            <a:r>
              <a:rPr lang="zh-CN" altLang="en-US" sz="1400"/>
              <a:t>   .....:                     columns=['one', 'two', 'three', 'four'])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[111]: data</a:t>
            </a:r>
            <a:endParaRPr lang="zh-CN" altLang="en-US" sz="1400"/>
          </a:p>
          <a:p>
            <a:r>
              <a:rPr lang="zh-CN" altLang="en-US" sz="1400"/>
              <a:t>Out[111]: </a:t>
            </a:r>
            <a:endParaRPr lang="zh-CN" altLang="en-US" sz="1400"/>
          </a:p>
          <a:p>
            <a:r>
              <a:rPr lang="zh-CN" altLang="en-US" sz="1400"/>
              <a:t>          one  two  three  four</a:t>
            </a:r>
            <a:endParaRPr lang="zh-CN" altLang="en-US" sz="1400"/>
          </a:p>
          <a:p>
            <a:r>
              <a:rPr lang="zh-CN" altLang="en-US" sz="1400"/>
              <a:t>Ohio        0    1      2     3</a:t>
            </a:r>
            <a:endParaRPr lang="zh-CN" altLang="en-US" sz="1400"/>
          </a:p>
          <a:p>
            <a:r>
              <a:rPr lang="zh-CN" altLang="en-US" sz="1400"/>
              <a:t>Colorado    4    5      6     7</a:t>
            </a:r>
            <a:endParaRPr lang="zh-CN" altLang="en-US" sz="1400"/>
          </a:p>
          <a:p>
            <a:r>
              <a:rPr lang="zh-CN" altLang="en-US" sz="1400"/>
              <a:t>Utah        8    9     10    11</a:t>
            </a:r>
            <a:endParaRPr lang="zh-CN" altLang="en-US" sz="1400"/>
          </a:p>
          <a:p>
            <a:r>
              <a:rPr lang="zh-CN" altLang="en-US" sz="1400"/>
              <a:t>New York   12   13     14    15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[112]: data.drop(['Colorado', 'Ohio'])</a:t>
            </a:r>
            <a:endParaRPr lang="zh-CN" altLang="en-US" sz="1400"/>
          </a:p>
          <a:p>
            <a:r>
              <a:rPr lang="zh-CN" altLang="en-US" sz="1400"/>
              <a:t>Out[112]: </a:t>
            </a:r>
            <a:endParaRPr lang="zh-CN" altLang="en-US" sz="1400"/>
          </a:p>
          <a:p>
            <a:r>
              <a:rPr lang="zh-CN" altLang="en-US" sz="1400"/>
              <a:t>          one  two  three  four</a:t>
            </a:r>
            <a:endParaRPr lang="zh-CN" altLang="en-US" sz="1400"/>
          </a:p>
          <a:p>
            <a:r>
              <a:rPr lang="zh-CN" altLang="en-US" sz="1400"/>
              <a:t>Utah        8    9     10    11</a:t>
            </a:r>
            <a:endParaRPr lang="zh-CN" altLang="en-US" sz="1400"/>
          </a:p>
          <a:p>
            <a:r>
              <a:rPr lang="zh-CN" altLang="en-US" sz="1400"/>
              <a:t>New York   12   13     14    15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2070100" y="2781935"/>
            <a:ext cx="451104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[113]: data.drop('two', axis=1)</a:t>
            </a:r>
            <a:endParaRPr lang="zh-CN" altLang="en-US" sz="1400"/>
          </a:p>
          <a:p>
            <a:r>
              <a:rPr lang="zh-CN" altLang="en-US" sz="1400"/>
              <a:t>Out[113]: </a:t>
            </a:r>
            <a:endParaRPr lang="zh-CN" altLang="en-US" sz="1400"/>
          </a:p>
          <a:p>
            <a:r>
              <a:rPr lang="zh-CN" altLang="en-US" sz="1400"/>
              <a:t>          one  three  four</a:t>
            </a:r>
            <a:endParaRPr lang="zh-CN" altLang="en-US" sz="1400"/>
          </a:p>
          <a:p>
            <a:r>
              <a:rPr lang="zh-CN" altLang="en-US" sz="1400"/>
              <a:t>Ohio        0      2     3</a:t>
            </a:r>
            <a:endParaRPr lang="zh-CN" altLang="en-US" sz="1400"/>
          </a:p>
          <a:p>
            <a:r>
              <a:rPr lang="zh-CN" altLang="en-US" sz="1400"/>
              <a:t>Colorado    4      6     7</a:t>
            </a:r>
            <a:endParaRPr lang="zh-CN" altLang="en-US" sz="1400"/>
          </a:p>
          <a:p>
            <a:r>
              <a:rPr lang="zh-CN" altLang="en-US" sz="1400"/>
              <a:t>Utah        8     10    11</a:t>
            </a:r>
            <a:endParaRPr lang="zh-CN" altLang="en-US" sz="1400"/>
          </a:p>
          <a:p>
            <a:r>
              <a:rPr lang="zh-CN" altLang="en-US" sz="1400"/>
              <a:t>New York   12     14    15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[114]: data.drop(['two', 'four'], axis='columns')</a:t>
            </a:r>
            <a:endParaRPr lang="zh-CN" altLang="en-US" sz="1400"/>
          </a:p>
          <a:p>
            <a:r>
              <a:rPr lang="zh-CN" altLang="en-US" sz="1400"/>
              <a:t>Out[114]: </a:t>
            </a:r>
            <a:endParaRPr lang="zh-CN" altLang="en-US" sz="1400"/>
          </a:p>
          <a:p>
            <a:r>
              <a:rPr lang="zh-CN" altLang="en-US" sz="1400"/>
              <a:t>          one  three</a:t>
            </a:r>
            <a:endParaRPr lang="zh-CN" altLang="en-US" sz="1400"/>
          </a:p>
          <a:p>
            <a:r>
              <a:rPr lang="zh-CN" altLang="en-US" sz="1400"/>
              <a:t>Ohio        0      2</a:t>
            </a:r>
            <a:endParaRPr lang="zh-CN" altLang="en-US" sz="1400"/>
          </a:p>
          <a:p>
            <a:r>
              <a:rPr lang="zh-CN" altLang="en-US" sz="1400"/>
              <a:t>Colorado    4      6</a:t>
            </a:r>
            <a:endParaRPr lang="zh-CN" altLang="en-US" sz="1400"/>
          </a:p>
          <a:p>
            <a:r>
              <a:rPr lang="zh-CN" altLang="en-US" sz="1400"/>
              <a:t>Utah        8     10</a:t>
            </a:r>
            <a:endParaRPr lang="zh-CN" altLang="en-US" sz="1400"/>
          </a:p>
          <a:p>
            <a:r>
              <a:rPr lang="zh-CN" altLang="en-US" sz="1400"/>
              <a:t>New York   12     14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5.</a:t>
            </a:r>
            <a:r>
              <a:rPr lang="en-US">
                <a:sym typeface="+mn-ea"/>
              </a:rPr>
              <a:t>2.2 </a:t>
            </a:r>
            <a:r>
              <a:rPr lang="zh-CN">
                <a:sym typeface="+mn-ea"/>
              </a:rPr>
              <a:t>轴向上删除条目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5927725" cy="5041265"/>
          </a:xfrm>
        </p:spPr>
        <p:txBody>
          <a:bodyPr/>
          <a:lstStyle/>
          <a:p>
            <a:r>
              <a:rPr lang="zh-CN" altLang="en-US"/>
              <a:t>就地修改对象</a:t>
            </a:r>
            <a:endParaRPr lang="zh-CN" altLang="en-US"/>
          </a:p>
          <a:p>
            <a:pPr lvl="1"/>
            <a:r>
              <a:rPr lang="zh-CN" altLang="en-US"/>
              <a:t>小心使用inplace，它会销毁所有被删除的数据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070100" y="2781935"/>
            <a:ext cx="451104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[115]: obj.drop('c', inplace=True)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[116]: obj</a:t>
            </a:r>
            <a:endParaRPr lang="zh-CN" altLang="en-US" sz="1400"/>
          </a:p>
          <a:p>
            <a:r>
              <a:rPr lang="zh-CN" altLang="en-US" sz="1400"/>
              <a:t>Out[116]: </a:t>
            </a:r>
            <a:endParaRPr lang="zh-CN" altLang="en-US" sz="1400"/>
          </a:p>
          <a:p>
            <a:r>
              <a:rPr lang="zh-CN" altLang="en-US" sz="1400"/>
              <a:t>a    0.0</a:t>
            </a:r>
            <a:endParaRPr lang="zh-CN" altLang="en-US" sz="1400"/>
          </a:p>
          <a:p>
            <a:r>
              <a:rPr lang="zh-CN" altLang="en-US" sz="1400"/>
              <a:t>b    1.0</a:t>
            </a:r>
            <a:endParaRPr lang="zh-CN" altLang="en-US" sz="1400"/>
          </a:p>
          <a:p>
            <a:r>
              <a:rPr lang="zh-CN" altLang="en-US" sz="1400"/>
              <a:t>d    3.0</a:t>
            </a:r>
            <a:endParaRPr lang="zh-CN" altLang="en-US" sz="1400"/>
          </a:p>
          <a:p>
            <a:r>
              <a:rPr lang="zh-CN" altLang="en-US" sz="1400"/>
              <a:t>e    4.0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5.2.3 索引、选取和过滤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163300" cy="5041265"/>
          </a:xfrm>
        </p:spPr>
        <p:txBody>
          <a:bodyPr/>
          <a:lstStyle/>
          <a:p>
            <a:r>
              <a:rPr lang="zh-CN" altLang="en-US"/>
              <a:t>Series索引（obj[...]）的工作方式类似于NumPy数组的索引，只不过Series的索引值不只是整数。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210435" y="1845310"/>
            <a:ext cx="5547360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[117]: obj = pd.Series(np.arange(4.), index=['a', 'b', 'c', 'd'])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[118]: obj</a:t>
            </a:r>
            <a:endParaRPr lang="zh-CN" altLang="en-US" sz="1400"/>
          </a:p>
          <a:p>
            <a:r>
              <a:rPr lang="zh-CN" altLang="en-US" sz="1400"/>
              <a:t>Out[118]: </a:t>
            </a:r>
            <a:endParaRPr lang="zh-CN" altLang="en-US" sz="1400"/>
          </a:p>
          <a:p>
            <a:r>
              <a:rPr lang="zh-CN" altLang="en-US" sz="1400"/>
              <a:t>a    0.0</a:t>
            </a:r>
            <a:endParaRPr lang="zh-CN" altLang="en-US" sz="1400"/>
          </a:p>
          <a:p>
            <a:r>
              <a:rPr lang="zh-CN" altLang="en-US" sz="1400"/>
              <a:t>b    1.0</a:t>
            </a:r>
            <a:endParaRPr lang="zh-CN" altLang="en-US" sz="1400"/>
          </a:p>
          <a:p>
            <a:r>
              <a:rPr lang="zh-CN" altLang="en-US" sz="1400"/>
              <a:t>c    2.0</a:t>
            </a:r>
            <a:endParaRPr lang="zh-CN" altLang="en-US" sz="1400"/>
          </a:p>
          <a:p>
            <a:r>
              <a:rPr lang="zh-CN" altLang="en-US" sz="1400"/>
              <a:t>d    3.0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[119]: obj['b']</a:t>
            </a:r>
            <a:endParaRPr lang="zh-CN" altLang="en-US" sz="1400"/>
          </a:p>
          <a:p>
            <a:r>
              <a:rPr lang="zh-CN" altLang="en-US" sz="1400"/>
              <a:t>Out[119]: 1.0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[120]: obj[1]</a:t>
            </a:r>
            <a:endParaRPr lang="zh-CN" altLang="en-US" sz="1400"/>
          </a:p>
          <a:p>
            <a:r>
              <a:rPr lang="zh-CN" altLang="en-US" sz="1400"/>
              <a:t>Out[120]: 1.0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[121]: obj[2:4]</a:t>
            </a:r>
            <a:endParaRPr lang="zh-CN" altLang="en-US" sz="1400"/>
          </a:p>
          <a:p>
            <a:r>
              <a:rPr lang="zh-CN" altLang="en-US" sz="1400"/>
              <a:t>Out[121]: </a:t>
            </a:r>
            <a:endParaRPr lang="zh-CN" altLang="en-US" sz="1400"/>
          </a:p>
          <a:p>
            <a:r>
              <a:rPr lang="zh-CN" altLang="en-US" sz="1400"/>
              <a:t>c    2.0</a:t>
            </a:r>
            <a:endParaRPr lang="zh-CN" altLang="en-US" sz="1400"/>
          </a:p>
          <a:p>
            <a:r>
              <a:rPr lang="zh-CN" altLang="en-US" sz="1400"/>
              <a:t>d    3.0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8616315" y="1845310"/>
            <a:ext cx="248412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In [122]: obj[['b', 'a', 'd']]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Out[122]: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b    1.0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a    0.0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d    3.0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dtype: float64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>
                <a:sym typeface="+mn-ea"/>
              </a:rPr>
              <a:t>In [123]: obj[[1, 3]]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Out[123]: 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b    1.0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d    3.0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dtype: float64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>
                <a:sym typeface="+mn-ea"/>
              </a:rPr>
              <a:t>In [124]: obj[obj &lt; 2]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Out[124]: 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a    0.0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b    1.0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dtype: float64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5.2.3 索引、选取和过滤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标签的切片运算与普通的Python切片运算不同，其末端是包含的</a:t>
            </a:r>
            <a:endParaRPr lang="zh-CN" altLang="en-US"/>
          </a:p>
          <a:p>
            <a:r>
              <a:rPr lang="zh-CN" altLang="en-US"/>
              <a:t>用切片可以对Series的相应部分进行设置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97710" y="2277745"/>
            <a:ext cx="451104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[125]: obj['b':'c']</a:t>
            </a:r>
            <a:endParaRPr lang="zh-CN" altLang="en-US" sz="1400"/>
          </a:p>
          <a:p>
            <a:r>
              <a:rPr lang="zh-CN" altLang="en-US" sz="1400"/>
              <a:t>Out[125]:</a:t>
            </a:r>
            <a:endParaRPr lang="zh-CN" altLang="en-US" sz="1400"/>
          </a:p>
          <a:p>
            <a:r>
              <a:rPr lang="zh-CN" altLang="en-US" sz="1400"/>
              <a:t>b    1.0</a:t>
            </a:r>
            <a:endParaRPr lang="zh-CN" altLang="en-US" sz="1400"/>
          </a:p>
          <a:p>
            <a:r>
              <a:rPr lang="zh-CN" altLang="en-US" sz="1400"/>
              <a:t>c    2.0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[126]: obj['b':'c'] = 5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[127]: obj</a:t>
            </a:r>
            <a:endParaRPr lang="zh-CN" altLang="en-US" sz="1400"/>
          </a:p>
          <a:p>
            <a:r>
              <a:rPr lang="zh-CN" altLang="en-US" sz="1400"/>
              <a:t>Out[127]: </a:t>
            </a:r>
            <a:endParaRPr lang="zh-CN" altLang="en-US" sz="1400"/>
          </a:p>
          <a:p>
            <a:r>
              <a:rPr lang="zh-CN" altLang="en-US" sz="1400"/>
              <a:t>a    0.0</a:t>
            </a:r>
            <a:endParaRPr lang="zh-CN" altLang="en-US" sz="1400"/>
          </a:p>
          <a:p>
            <a:r>
              <a:rPr lang="zh-CN" altLang="en-US" sz="1400"/>
              <a:t>b    5.0</a:t>
            </a:r>
            <a:endParaRPr lang="zh-CN" altLang="en-US" sz="1400"/>
          </a:p>
          <a:p>
            <a:r>
              <a:rPr lang="zh-CN" altLang="en-US" sz="1400"/>
              <a:t>c    5.0</a:t>
            </a:r>
            <a:endParaRPr lang="zh-CN" altLang="en-US" sz="1400"/>
          </a:p>
          <a:p>
            <a:r>
              <a:rPr lang="zh-CN" altLang="en-US" sz="1400"/>
              <a:t>d    3.0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5.2.3 索引、选取和过滤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获取一个或多个列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565910" y="1989455"/>
            <a:ext cx="588454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[128]: data = pd.DataFrame(np.arange(16).reshape((4, 4)),</a:t>
            </a:r>
            <a:endParaRPr lang="zh-CN" altLang="en-US" sz="1400"/>
          </a:p>
          <a:p>
            <a:r>
              <a:rPr lang="zh-CN" altLang="en-US" sz="1400"/>
              <a:t>   .....:                     index=['Ohio', 'Colorado', 'Utah', 'New York'],</a:t>
            </a:r>
            <a:endParaRPr lang="zh-CN" altLang="en-US" sz="1400"/>
          </a:p>
          <a:p>
            <a:r>
              <a:rPr lang="zh-CN" altLang="en-US" sz="1400"/>
              <a:t>   .....:                     columns=['one', 'two', 'three', 'four'])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[129]: data</a:t>
            </a:r>
            <a:endParaRPr lang="zh-CN" altLang="en-US" sz="1400"/>
          </a:p>
          <a:p>
            <a:r>
              <a:rPr lang="zh-CN" altLang="en-US" sz="1400"/>
              <a:t>Out[129]: </a:t>
            </a:r>
            <a:endParaRPr lang="zh-CN" altLang="en-US" sz="1400"/>
          </a:p>
          <a:p>
            <a:r>
              <a:rPr lang="zh-CN" altLang="en-US" sz="1400"/>
              <a:t>          one  two  three  four</a:t>
            </a:r>
            <a:endParaRPr lang="zh-CN" altLang="en-US" sz="1400"/>
          </a:p>
          <a:p>
            <a:r>
              <a:rPr lang="zh-CN" altLang="en-US" sz="1400"/>
              <a:t>Ohio        0    1      2     3</a:t>
            </a:r>
            <a:endParaRPr lang="zh-CN" altLang="en-US" sz="1400"/>
          </a:p>
          <a:p>
            <a:r>
              <a:rPr lang="zh-CN" altLang="en-US" sz="1400"/>
              <a:t>Colorado    4    5      6     7</a:t>
            </a:r>
            <a:endParaRPr lang="zh-CN" altLang="en-US" sz="1400"/>
          </a:p>
          <a:p>
            <a:r>
              <a:rPr lang="zh-CN" altLang="en-US" sz="1400"/>
              <a:t>Utah        8    9     10    11</a:t>
            </a:r>
            <a:endParaRPr lang="zh-CN" altLang="en-US" sz="1400"/>
          </a:p>
          <a:p>
            <a:r>
              <a:rPr lang="zh-CN" altLang="en-US" sz="1400"/>
              <a:t>New York   12   13     14    15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[130]: data['two']</a:t>
            </a:r>
            <a:endParaRPr lang="zh-CN" altLang="en-US" sz="1400"/>
          </a:p>
          <a:p>
            <a:r>
              <a:rPr lang="zh-CN" altLang="en-US" sz="1400"/>
              <a:t>Out[130]: </a:t>
            </a:r>
            <a:endParaRPr lang="zh-CN" altLang="en-US" sz="1400"/>
          </a:p>
          <a:p>
            <a:r>
              <a:rPr lang="zh-CN" altLang="en-US" sz="1400"/>
              <a:t>Ohio         1</a:t>
            </a:r>
            <a:endParaRPr lang="zh-CN" altLang="en-US" sz="1400"/>
          </a:p>
          <a:p>
            <a:r>
              <a:rPr lang="zh-CN" altLang="en-US" sz="1400"/>
              <a:t>Colorado     5</a:t>
            </a:r>
            <a:endParaRPr lang="zh-CN" altLang="en-US" sz="1400"/>
          </a:p>
          <a:p>
            <a:r>
              <a:rPr lang="zh-CN" altLang="en-US" sz="1400"/>
              <a:t>Utah         9</a:t>
            </a:r>
            <a:endParaRPr lang="zh-CN" altLang="en-US" sz="1400"/>
          </a:p>
          <a:p>
            <a:r>
              <a:rPr lang="zh-CN" altLang="en-US" sz="1400"/>
              <a:t>New York    13</a:t>
            </a:r>
            <a:endParaRPr lang="zh-CN" altLang="en-US" sz="1400"/>
          </a:p>
          <a:p>
            <a:r>
              <a:rPr lang="zh-CN" altLang="en-US" sz="1400"/>
              <a:t>Name: two, dtype: int64</a:t>
            </a:r>
            <a:endParaRPr lang="zh-CN" altLang="en-US" sz="1400"/>
          </a:p>
          <a:p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7830185" y="1917700"/>
            <a:ext cx="304609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In [131]: data[['three', 'one']]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Out[131]: 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          three  one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Ohio          2    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Colorado      6    4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Utah         10    8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New York     14   12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5.2.3 索引、选取和过滤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通过切片或布尔型数组选取数据</a:t>
            </a:r>
            <a:endParaRPr lang="zh-CN" altLang="en-US"/>
          </a:p>
          <a:p>
            <a:r>
              <a:rPr lang="zh-CN" altLang="en-US"/>
              <a:t>通过布尔型DataFrame进行索引</a:t>
            </a:r>
            <a:endParaRPr lang="zh-CN" altLang="en-US"/>
          </a:p>
          <a:p>
            <a:pPr lvl="1"/>
            <a:r>
              <a:rPr lang="zh-CN" altLang="en-US"/>
              <a:t>DataFrame的语法与NumPy二维数组的语法很像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21765" y="2997835"/>
            <a:ext cx="376428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[132]: data[:2]</a:t>
            </a:r>
            <a:endParaRPr lang="zh-CN" altLang="en-US" sz="1400"/>
          </a:p>
          <a:p>
            <a:r>
              <a:rPr lang="zh-CN" altLang="en-US" sz="1400"/>
              <a:t>Out[132]: </a:t>
            </a:r>
            <a:endParaRPr lang="zh-CN" altLang="en-US" sz="1400"/>
          </a:p>
          <a:p>
            <a:r>
              <a:rPr lang="zh-CN" altLang="en-US" sz="1400"/>
              <a:t>          one  two  three  four</a:t>
            </a:r>
            <a:endParaRPr lang="zh-CN" altLang="en-US" sz="1400"/>
          </a:p>
          <a:p>
            <a:r>
              <a:rPr lang="zh-CN" altLang="en-US" sz="1400"/>
              <a:t>Ohio        0    1      2     3</a:t>
            </a:r>
            <a:endParaRPr lang="zh-CN" altLang="en-US" sz="1400"/>
          </a:p>
          <a:p>
            <a:r>
              <a:rPr lang="zh-CN" altLang="en-US" sz="1400"/>
              <a:t>Colorado    4    5      6     7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[133]: data[data['three'] &gt; 5]</a:t>
            </a:r>
            <a:endParaRPr lang="zh-CN" altLang="en-US" sz="1400"/>
          </a:p>
          <a:p>
            <a:r>
              <a:rPr lang="zh-CN" altLang="en-US" sz="1400"/>
              <a:t>Out[133]: </a:t>
            </a:r>
            <a:endParaRPr lang="zh-CN" altLang="en-US" sz="1400"/>
          </a:p>
          <a:p>
            <a:r>
              <a:rPr lang="zh-CN" altLang="en-US" sz="1400"/>
              <a:t>          one  two  three  four</a:t>
            </a:r>
            <a:endParaRPr lang="zh-CN" altLang="en-US" sz="1400"/>
          </a:p>
          <a:p>
            <a:r>
              <a:rPr lang="zh-CN" altLang="en-US" sz="1400"/>
              <a:t>Colorado    4    5      6     7</a:t>
            </a:r>
            <a:endParaRPr lang="zh-CN" altLang="en-US" sz="1400"/>
          </a:p>
          <a:p>
            <a:r>
              <a:rPr lang="zh-CN" altLang="en-US" sz="1400"/>
              <a:t>Utah        8    9     10    11</a:t>
            </a:r>
            <a:endParaRPr lang="zh-CN" altLang="en-US" sz="1400"/>
          </a:p>
          <a:p>
            <a:r>
              <a:rPr lang="zh-CN" altLang="en-US" sz="1400"/>
              <a:t>New York   12   13     14    15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8046720" y="2349500"/>
            <a:ext cx="3550285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In [134]: data &lt; 5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Out[134]: 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            one    two  three   four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Ohio       True   True   True   True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Colorado   True  False  False  False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Utah      False  False  False  False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New York  False  False  False  False</a:t>
            </a:r>
            <a:endParaRPr lang="zh-CN" altLang="en-US" sz="1400">
              <a:sym typeface="+mn-ea"/>
            </a:endParaRPr>
          </a:p>
          <a:p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 [135]: data[data &lt; 5] = 0</a:t>
            </a:r>
            <a:endParaRPr lang="zh-CN" altLang="en-US" sz="1400">
              <a:sym typeface="+mn-ea"/>
            </a:endParaRPr>
          </a:p>
          <a:p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 [136]: data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Out[136]: 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          one  two  three  four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Ohio        0    0      0     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Colorado    0    5      6     7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Utah        8    9     10    11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New York   12   13     14    15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5.2.3 索引、选取和过滤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用loc和iloc进行选取</a:t>
            </a:r>
            <a:endParaRPr lang="zh-CN" altLang="en-US"/>
          </a:p>
          <a:p>
            <a:pPr lvl="1"/>
            <a:r>
              <a:rPr lang="zh-CN" altLang="en-US"/>
              <a:t>使用轴标签（loc）或整数索引（iloc）选择行和列的子集。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21765" y="2997835"/>
            <a:ext cx="376428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[137]: data.loc['Colorado', ['two', 'three']]</a:t>
            </a:r>
            <a:endParaRPr lang="zh-CN" altLang="en-US" sz="1400"/>
          </a:p>
          <a:p>
            <a:r>
              <a:rPr lang="zh-CN" altLang="en-US" sz="1400"/>
              <a:t>Out[137]: </a:t>
            </a:r>
            <a:endParaRPr lang="zh-CN" altLang="en-US" sz="1400"/>
          </a:p>
          <a:p>
            <a:r>
              <a:rPr lang="zh-CN" altLang="en-US" sz="1400"/>
              <a:t>two      5</a:t>
            </a:r>
            <a:endParaRPr lang="zh-CN" altLang="en-US" sz="1400"/>
          </a:p>
          <a:p>
            <a:r>
              <a:rPr lang="zh-CN" altLang="en-US" sz="1400"/>
              <a:t>three    6</a:t>
            </a:r>
            <a:endParaRPr lang="zh-CN" altLang="en-US" sz="1400"/>
          </a:p>
          <a:p>
            <a:r>
              <a:rPr lang="zh-CN" altLang="en-US" sz="1400"/>
              <a:t>Name: Colorado, dtype: int64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8766810" y="1701800"/>
            <a:ext cx="330835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In [138]: data.iloc[2, [3, 0, 1]]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Out[138]: 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four    11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one      8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two      9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Name: Utah, dtype: int64</a:t>
            </a:r>
            <a:endParaRPr lang="zh-CN" altLang="en-US" sz="1400">
              <a:sym typeface="+mn-ea"/>
            </a:endParaRPr>
          </a:p>
          <a:p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 [139]: data.iloc[2]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Out[139]: 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one       8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two       9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three    10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four     11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Name: Utah, dtype: int64</a:t>
            </a:r>
            <a:endParaRPr lang="zh-CN" altLang="en-US" sz="1400">
              <a:sym typeface="+mn-ea"/>
            </a:endParaRPr>
          </a:p>
          <a:p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 [140]: data.iloc[[1, 2], [3, 0, 1]]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Out[140]: 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          four  one  two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Colorado     7    0    5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Utah        11    8    9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5.2.3 索引、选取和过滤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用loc和iloc进行选取</a:t>
            </a:r>
            <a:endParaRPr lang="zh-CN" altLang="en-US"/>
          </a:p>
          <a:p>
            <a:pPr lvl="1"/>
            <a:r>
              <a:rPr lang="zh-CN" altLang="en-US"/>
              <a:t>使用轴标签（loc）或整数索引（iloc）适用于一个标签或多个标签的切片。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97710" y="2349500"/>
            <a:ext cx="3764280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[141]: data.loc[:'Utah', 'two']</a:t>
            </a:r>
            <a:endParaRPr lang="zh-CN" altLang="en-US" sz="1400"/>
          </a:p>
          <a:p>
            <a:r>
              <a:rPr lang="zh-CN" altLang="en-US" sz="1400"/>
              <a:t>Out[141]: </a:t>
            </a:r>
            <a:endParaRPr lang="zh-CN" altLang="en-US" sz="1400"/>
          </a:p>
          <a:p>
            <a:r>
              <a:rPr lang="zh-CN" altLang="en-US" sz="1400"/>
              <a:t>Ohio        0</a:t>
            </a:r>
            <a:endParaRPr lang="zh-CN" altLang="en-US" sz="1400"/>
          </a:p>
          <a:p>
            <a:r>
              <a:rPr lang="zh-CN" altLang="en-US" sz="1400"/>
              <a:t>Colorado    5</a:t>
            </a:r>
            <a:endParaRPr lang="zh-CN" altLang="en-US" sz="1400"/>
          </a:p>
          <a:p>
            <a:r>
              <a:rPr lang="zh-CN" altLang="en-US" sz="1400"/>
              <a:t>Utah        9</a:t>
            </a:r>
            <a:endParaRPr lang="zh-CN" altLang="en-US" sz="1400"/>
          </a:p>
          <a:p>
            <a:r>
              <a:rPr lang="zh-CN" altLang="en-US" sz="1400"/>
              <a:t>Name: two, dtype: int64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[142]: data.iloc[:, :3][data.three &gt; 5]</a:t>
            </a:r>
            <a:endParaRPr lang="zh-CN" altLang="en-US" sz="1400"/>
          </a:p>
          <a:p>
            <a:r>
              <a:rPr lang="zh-CN" altLang="en-US" sz="1400"/>
              <a:t>Out[142]: </a:t>
            </a:r>
            <a:endParaRPr lang="zh-CN" altLang="en-US" sz="1400"/>
          </a:p>
          <a:p>
            <a:r>
              <a:rPr lang="zh-CN" altLang="en-US" sz="1400"/>
              <a:t>          one  two  three</a:t>
            </a:r>
            <a:endParaRPr lang="zh-CN" altLang="en-US" sz="1400"/>
          </a:p>
          <a:p>
            <a:r>
              <a:rPr lang="zh-CN" altLang="en-US" sz="1400"/>
              <a:t>Colorado    0    5      6</a:t>
            </a:r>
            <a:endParaRPr lang="zh-CN" altLang="en-US" sz="1400"/>
          </a:p>
          <a:p>
            <a:r>
              <a:rPr lang="zh-CN" altLang="en-US" sz="1400"/>
              <a:t>Utah        8    9     10</a:t>
            </a:r>
            <a:endParaRPr lang="zh-CN" altLang="en-US" sz="1400"/>
          </a:p>
          <a:p>
            <a:r>
              <a:rPr lang="zh-CN" altLang="en-US" sz="1400"/>
              <a:t>New York   12   13     14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5.2.3 索引、选取和过滤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DataFrame索引</a:t>
            </a:r>
            <a:endParaRPr lang="zh-CN" altLang="en-US"/>
          </a:p>
        </p:txBody>
      </p:sp>
      <p:pic>
        <p:nvPicPr>
          <p:cNvPr id="4" name="图片 3" descr="df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7935" y="1392555"/>
            <a:ext cx="7634605" cy="4651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5.2.4 </a:t>
            </a:r>
            <a:r>
              <a:rPr lang="zh-CN" altLang="en-US" dirty="0">
                <a:sym typeface="+mn-ea"/>
              </a:rPr>
              <a:t>整数索引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整数索引与Python内置的列表和元组的索引语法不同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lvl="1"/>
            <a:r>
              <a:rPr lang="zh-CN" altLang="en-US"/>
              <a:t>对于非整数索引，不会产生歧义</a:t>
            </a:r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r>
              <a:rPr lang="zh-CN" altLang="en-US"/>
              <a:t>如果轴索引含有整数，数据选取总会使用标签</a:t>
            </a:r>
            <a:endParaRPr lang="zh-CN" altLang="en-US"/>
          </a:p>
          <a:p>
            <a:pPr lvl="2"/>
            <a:r>
              <a:rPr lang="zh-CN" altLang="en-US"/>
              <a:t>了更准确，请使用loc（标签）或iloc（整数）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069465" y="1701800"/>
            <a:ext cx="575564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ser = pd.Series(np.arange(3.))</a:t>
            </a:r>
            <a:endParaRPr lang="zh-CN" altLang="en-US" sz="1400"/>
          </a:p>
          <a:p>
            <a:r>
              <a:rPr lang="zh-CN" altLang="en-US" sz="1400"/>
              <a:t>ser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ser[-1]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2141855" y="3286760"/>
            <a:ext cx="638302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[145]: ser2 = pd.Series(np.arange(3.), index=['a', 'b', 'c'])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[146]: ser2[-1]</a:t>
            </a:r>
            <a:endParaRPr lang="zh-CN" altLang="en-US" sz="1400"/>
          </a:p>
          <a:p>
            <a:r>
              <a:rPr lang="zh-CN" altLang="en-US" sz="1400"/>
              <a:t>Out[146]: 2.0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8694420" y="2853690"/>
            <a:ext cx="314833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[147]: ser[:1]</a:t>
            </a:r>
            <a:endParaRPr lang="zh-CN" altLang="en-US" sz="1400"/>
          </a:p>
          <a:p>
            <a:r>
              <a:rPr lang="zh-CN" altLang="en-US" sz="1400"/>
              <a:t>Out[147]: </a:t>
            </a:r>
            <a:endParaRPr lang="zh-CN" altLang="en-US" sz="1400"/>
          </a:p>
          <a:p>
            <a:r>
              <a:rPr lang="zh-CN" altLang="en-US" sz="1400"/>
              <a:t>0    0.0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[148]: ser.loc[:1]</a:t>
            </a:r>
            <a:endParaRPr lang="zh-CN" altLang="en-US" sz="1400"/>
          </a:p>
          <a:p>
            <a:r>
              <a:rPr lang="zh-CN" altLang="en-US" sz="1400"/>
              <a:t>Out[148]: </a:t>
            </a:r>
            <a:endParaRPr lang="zh-CN" altLang="en-US" sz="1400"/>
          </a:p>
          <a:p>
            <a:r>
              <a:rPr lang="zh-CN" altLang="en-US" sz="1400"/>
              <a:t>0    0.0</a:t>
            </a:r>
            <a:endParaRPr lang="zh-CN" altLang="en-US" sz="1400"/>
          </a:p>
          <a:p>
            <a:r>
              <a:rPr lang="zh-CN" altLang="en-US" sz="1400"/>
              <a:t>1    1.0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[149]: ser.iloc[:1]</a:t>
            </a:r>
            <a:endParaRPr lang="zh-CN" altLang="en-US" sz="1400"/>
          </a:p>
          <a:p>
            <a:r>
              <a:rPr lang="zh-CN" altLang="en-US" sz="1400"/>
              <a:t>Out[149]: </a:t>
            </a:r>
            <a:endParaRPr lang="zh-CN" altLang="en-US" sz="1400"/>
          </a:p>
          <a:p>
            <a:r>
              <a:rPr lang="zh-CN" altLang="en-US" sz="1400"/>
              <a:t>0    0.0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5.2.5 </a:t>
            </a:r>
            <a:r>
              <a:rPr lang="zh-CN" dirty="0">
                <a:sym typeface="+mn-ea"/>
              </a:rPr>
              <a:t>算术和数据对齐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对不同索引的对象进行算术运算</a:t>
            </a:r>
            <a:endParaRPr lang="zh-CN" altLang="en-US"/>
          </a:p>
          <a:p>
            <a:pPr lvl="1"/>
            <a:r>
              <a:rPr lang="zh-CN" altLang="en-US"/>
              <a:t>如果存在不同的索引对，则结果的索引就是该索引对的并集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36395" y="2277110"/>
            <a:ext cx="638302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[150]: s1 = pd.Series([7.3, -2.5, 3.4, 1.5], index=['a', 'c', 'd', 'e'])</a:t>
            </a:r>
            <a:endParaRPr lang="zh-CN" altLang="en-US" sz="1400"/>
          </a:p>
          <a:p>
            <a:r>
              <a:rPr lang="zh-CN" altLang="en-US" sz="1400"/>
              <a:t>In [151]: s2 = pd.Series([-2.1, 3.6, -1.5, 4, 3.1],</a:t>
            </a:r>
            <a:endParaRPr lang="zh-CN" altLang="en-US" sz="1400"/>
          </a:p>
          <a:p>
            <a:r>
              <a:rPr lang="zh-CN" altLang="en-US" sz="1400"/>
              <a:t>   .....:                index=['a', 'c', 'e', 'f', 'g'])</a:t>
            </a:r>
            <a:endParaRPr lang="zh-CN" altLang="en-US" sz="1400"/>
          </a:p>
          <a:p>
            <a:r>
              <a:rPr lang="zh-CN" altLang="en-US" sz="1400"/>
              <a:t>In [152]: s1</a:t>
            </a:r>
            <a:endParaRPr lang="zh-CN" altLang="en-US" sz="1400"/>
          </a:p>
          <a:p>
            <a:r>
              <a:rPr lang="zh-CN" altLang="en-US" sz="1400"/>
              <a:t>Out[152]: </a:t>
            </a:r>
            <a:endParaRPr lang="zh-CN" altLang="en-US" sz="1400"/>
          </a:p>
          <a:p>
            <a:r>
              <a:rPr lang="zh-CN" altLang="en-US" sz="1400"/>
              <a:t>a    7.3</a:t>
            </a:r>
            <a:endParaRPr lang="zh-CN" altLang="en-US" sz="1400"/>
          </a:p>
          <a:p>
            <a:r>
              <a:rPr lang="zh-CN" altLang="en-US" sz="1400"/>
              <a:t>c   -2.5</a:t>
            </a:r>
            <a:endParaRPr lang="zh-CN" altLang="en-US" sz="1400"/>
          </a:p>
          <a:p>
            <a:r>
              <a:rPr lang="zh-CN" altLang="en-US" sz="1400"/>
              <a:t>d    3.4</a:t>
            </a:r>
            <a:endParaRPr lang="zh-CN" altLang="en-US" sz="1400"/>
          </a:p>
          <a:p>
            <a:r>
              <a:rPr lang="zh-CN" altLang="en-US" sz="1400"/>
              <a:t>e    1.5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  <a:p>
            <a:r>
              <a:rPr lang="zh-CN" altLang="en-US" sz="1400"/>
              <a:t>In [153]: s2</a:t>
            </a:r>
            <a:endParaRPr lang="zh-CN" altLang="en-US" sz="1400"/>
          </a:p>
          <a:p>
            <a:r>
              <a:rPr lang="zh-CN" altLang="en-US" sz="1400"/>
              <a:t>Out[153]: </a:t>
            </a:r>
            <a:endParaRPr lang="zh-CN" altLang="en-US" sz="1400"/>
          </a:p>
          <a:p>
            <a:r>
              <a:rPr lang="zh-CN" altLang="en-US" sz="1400"/>
              <a:t>a   -2.1</a:t>
            </a:r>
            <a:endParaRPr lang="zh-CN" altLang="en-US" sz="1400"/>
          </a:p>
          <a:p>
            <a:r>
              <a:rPr lang="zh-CN" altLang="en-US" sz="1400"/>
              <a:t>c    3.6</a:t>
            </a:r>
            <a:endParaRPr lang="zh-CN" altLang="en-US" sz="1400"/>
          </a:p>
          <a:p>
            <a:r>
              <a:rPr lang="zh-CN" altLang="en-US" sz="1400"/>
              <a:t>e   -1.5</a:t>
            </a:r>
            <a:endParaRPr lang="zh-CN" altLang="en-US" sz="1400"/>
          </a:p>
          <a:p>
            <a:r>
              <a:rPr lang="zh-CN" altLang="en-US" sz="1400"/>
              <a:t>f    4.0</a:t>
            </a:r>
            <a:endParaRPr lang="zh-CN" altLang="en-US" sz="1400"/>
          </a:p>
          <a:p>
            <a:r>
              <a:rPr lang="zh-CN" altLang="en-US" sz="1400"/>
              <a:t>g    3.1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8550275" y="2277745"/>
            <a:ext cx="2540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[154]: s1 + s2</a:t>
            </a:r>
            <a:endParaRPr lang="zh-CN" altLang="en-US" sz="1400"/>
          </a:p>
          <a:p>
            <a:r>
              <a:rPr lang="zh-CN" altLang="en-US" sz="1400"/>
              <a:t>Out[154]: </a:t>
            </a:r>
            <a:endParaRPr lang="zh-CN" altLang="en-US" sz="1400"/>
          </a:p>
          <a:p>
            <a:r>
              <a:rPr lang="zh-CN" altLang="en-US" sz="1400"/>
              <a:t>a    5.2</a:t>
            </a:r>
            <a:endParaRPr lang="zh-CN" altLang="en-US" sz="1400"/>
          </a:p>
          <a:p>
            <a:r>
              <a:rPr lang="zh-CN" altLang="en-US" sz="1400"/>
              <a:t>c    1.1</a:t>
            </a:r>
            <a:endParaRPr lang="zh-CN" altLang="en-US" sz="1400"/>
          </a:p>
          <a:p>
            <a:r>
              <a:rPr lang="zh-CN" altLang="en-US" sz="1400"/>
              <a:t>d    NaN</a:t>
            </a:r>
            <a:endParaRPr lang="zh-CN" altLang="en-US" sz="1400"/>
          </a:p>
          <a:p>
            <a:r>
              <a:rPr lang="zh-CN" altLang="en-US" sz="1400"/>
              <a:t>e    0.0</a:t>
            </a:r>
            <a:endParaRPr lang="zh-CN" altLang="en-US" sz="1400"/>
          </a:p>
          <a:p>
            <a:r>
              <a:rPr lang="zh-CN" altLang="en-US" sz="1400"/>
              <a:t>f    NaN</a:t>
            </a:r>
            <a:endParaRPr lang="zh-CN" altLang="en-US" sz="1400"/>
          </a:p>
          <a:p>
            <a:r>
              <a:rPr lang="zh-CN" altLang="en-US" sz="1400"/>
              <a:t>g    NaN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5.2.5 </a:t>
            </a:r>
            <a:r>
              <a:rPr lang="zh-CN" dirty="0">
                <a:sym typeface="+mn-ea"/>
              </a:rPr>
              <a:t>算术和数据对齐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对不同索引的对象进行算术运算</a:t>
            </a:r>
            <a:endParaRPr lang="zh-CN" altLang="en-US"/>
          </a:p>
          <a:p>
            <a:pPr lvl="1"/>
            <a:r>
              <a:rPr lang="zh-CN" altLang="en-US"/>
              <a:t>对齐操作会同时发生在行和列上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65910" y="2421890"/>
            <a:ext cx="987298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[155]: df1 = pd.DataFrame(np.arange(9.).reshape((3, 3)), columns=list('bcd'),  index=['Ohio', 'Texas', 'Colorado'])</a:t>
            </a:r>
            <a:endParaRPr lang="zh-CN" altLang="en-US" sz="1400"/>
          </a:p>
          <a:p>
            <a:r>
              <a:rPr lang="zh-CN" altLang="en-US" sz="1400"/>
              <a:t>In [156]: df2 = pd.DataFrame(np.arange(12.).reshape((4, 3)), columns=list('bde'),</a:t>
            </a:r>
            <a:r>
              <a:rPr lang="en-US" altLang="zh-CN" sz="1400"/>
              <a:t> </a:t>
            </a:r>
            <a:r>
              <a:rPr lang="zh-CN" altLang="en-US" sz="1400"/>
              <a:t>index=['Utah', 'Ohio', 'Texas', 'Oregon'])</a:t>
            </a:r>
            <a:endParaRPr lang="zh-CN" altLang="en-US" sz="1400"/>
          </a:p>
          <a:p>
            <a:r>
              <a:rPr lang="zh-CN" altLang="en-US" sz="1400"/>
              <a:t>In [157]: df1</a:t>
            </a:r>
            <a:endParaRPr lang="zh-CN" altLang="en-US" sz="1400"/>
          </a:p>
          <a:p>
            <a:r>
              <a:rPr lang="zh-CN" altLang="en-US" sz="1400"/>
              <a:t>Out[157]: </a:t>
            </a:r>
            <a:endParaRPr lang="zh-CN" altLang="en-US" sz="1400"/>
          </a:p>
          <a:p>
            <a:r>
              <a:rPr lang="zh-CN" altLang="en-US" sz="1400"/>
              <a:t>            b    c    d</a:t>
            </a:r>
            <a:endParaRPr lang="zh-CN" altLang="en-US" sz="1400"/>
          </a:p>
          <a:p>
            <a:r>
              <a:rPr lang="zh-CN" altLang="en-US" sz="1400"/>
              <a:t>Ohio      0.0  1.0  2.0</a:t>
            </a:r>
            <a:endParaRPr lang="zh-CN" altLang="en-US" sz="1400"/>
          </a:p>
          <a:p>
            <a:r>
              <a:rPr lang="zh-CN" altLang="en-US" sz="1400"/>
              <a:t>Texas     3.0  4.0  5.0</a:t>
            </a:r>
            <a:endParaRPr lang="zh-CN" altLang="en-US" sz="1400"/>
          </a:p>
          <a:p>
            <a:r>
              <a:rPr lang="zh-CN" altLang="en-US" sz="1400"/>
              <a:t>Colorado  6.0  7.0  8.0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[158]: df2</a:t>
            </a:r>
            <a:endParaRPr lang="zh-CN" altLang="en-US" sz="1400"/>
          </a:p>
          <a:p>
            <a:r>
              <a:rPr lang="zh-CN" altLang="en-US" sz="1400"/>
              <a:t>Out[158]: </a:t>
            </a:r>
            <a:endParaRPr lang="zh-CN" altLang="en-US" sz="1400"/>
          </a:p>
          <a:p>
            <a:r>
              <a:rPr lang="zh-CN" altLang="en-US" sz="1400"/>
              <a:t>          b     d     e</a:t>
            </a:r>
            <a:endParaRPr lang="zh-CN" altLang="en-US" sz="1400"/>
          </a:p>
          <a:p>
            <a:r>
              <a:rPr lang="zh-CN" altLang="en-US" sz="1400"/>
              <a:t>Utah    0.0   1.0   2.0</a:t>
            </a:r>
            <a:endParaRPr lang="zh-CN" altLang="en-US" sz="1400"/>
          </a:p>
          <a:p>
            <a:r>
              <a:rPr lang="zh-CN" altLang="en-US" sz="1400"/>
              <a:t>Ohio    3.0   4.0   5.0</a:t>
            </a:r>
            <a:endParaRPr lang="zh-CN" altLang="en-US" sz="1400"/>
          </a:p>
          <a:p>
            <a:r>
              <a:rPr lang="zh-CN" altLang="en-US" sz="1400"/>
              <a:t>Texas   6.0   7.0   8.0</a:t>
            </a:r>
            <a:endParaRPr lang="zh-CN" altLang="en-US" sz="1400"/>
          </a:p>
          <a:p>
            <a:r>
              <a:rPr lang="zh-CN" altLang="en-US" sz="1400"/>
              <a:t>Oregon  9.0  10.0  11.0</a:t>
            </a:r>
            <a:endParaRPr lang="zh-CN" altLang="en-US" sz="1400"/>
          </a:p>
        </p:txBody>
      </p:sp>
      <p:sp>
        <p:nvSpPr>
          <p:cNvPr id="7" name="文本框 6"/>
          <p:cNvSpPr txBox="1"/>
          <p:nvPr/>
        </p:nvSpPr>
        <p:spPr>
          <a:xfrm>
            <a:off x="6822440" y="3933825"/>
            <a:ext cx="368744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[159]: df1 + df2</a:t>
            </a:r>
            <a:endParaRPr lang="zh-CN" altLang="en-US" sz="1400"/>
          </a:p>
          <a:p>
            <a:r>
              <a:rPr lang="zh-CN" altLang="en-US" sz="1400"/>
              <a:t>Out[159]: </a:t>
            </a:r>
            <a:endParaRPr lang="zh-CN" altLang="en-US" sz="1400"/>
          </a:p>
          <a:p>
            <a:r>
              <a:rPr lang="zh-CN" altLang="en-US" sz="1400"/>
              <a:t>            b   c     d   e</a:t>
            </a:r>
            <a:endParaRPr lang="zh-CN" altLang="en-US" sz="1400"/>
          </a:p>
          <a:p>
            <a:r>
              <a:rPr lang="zh-CN" altLang="en-US" sz="1400"/>
              <a:t>Colorado  NaN NaN   NaN NaN</a:t>
            </a:r>
            <a:endParaRPr lang="zh-CN" altLang="en-US" sz="1400"/>
          </a:p>
          <a:p>
            <a:r>
              <a:rPr lang="zh-CN" altLang="en-US" sz="1400"/>
              <a:t>Ohio      3.0 NaN   6.0 NaN</a:t>
            </a:r>
            <a:endParaRPr lang="zh-CN" altLang="en-US" sz="1400"/>
          </a:p>
          <a:p>
            <a:r>
              <a:rPr lang="zh-CN" altLang="en-US" sz="1400"/>
              <a:t>Oregon    NaN NaN   NaN NaN</a:t>
            </a:r>
            <a:endParaRPr lang="zh-CN" altLang="en-US" sz="1400"/>
          </a:p>
          <a:p>
            <a:r>
              <a:rPr lang="zh-CN" altLang="en-US" sz="1400"/>
              <a:t>Texas     9.0 NaN  12.0 NaN</a:t>
            </a:r>
            <a:endParaRPr lang="zh-CN" altLang="en-US" sz="1400"/>
          </a:p>
          <a:p>
            <a:r>
              <a:rPr lang="zh-CN" altLang="en-US" sz="1400"/>
              <a:t>Utah      NaN NaN   NaN NaN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5.2.5 </a:t>
            </a:r>
            <a:r>
              <a:rPr lang="zh-CN" dirty="0">
                <a:sym typeface="+mn-ea"/>
              </a:rPr>
              <a:t>算术和数据对齐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对不同索引的对象进行算术运算</a:t>
            </a:r>
            <a:endParaRPr lang="zh-CN" altLang="en-US"/>
          </a:p>
          <a:p>
            <a:pPr lvl="1"/>
            <a:r>
              <a:rPr lang="zh-CN" altLang="en-US"/>
              <a:t>DataFrame对象相加，没有共用的列或行标签，结果都会是空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97935" y="2269490"/>
            <a:ext cx="386842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[160]: df1 = pd.DataFrame({'A': [1, 2]})</a:t>
            </a:r>
            <a:endParaRPr lang="zh-CN" altLang="en-US" sz="1400"/>
          </a:p>
          <a:p>
            <a:r>
              <a:rPr lang="zh-CN" altLang="en-US" sz="1400"/>
              <a:t>In [161]: df2 = pd.DataFrame({'B': [3, 4]})</a:t>
            </a:r>
            <a:endParaRPr lang="zh-CN" altLang="en-US" sz="1400"/>
          </a:p>
          <a:p>
            <a:r>
              <a:rPr lang="zh-CN" altLang="en-US" sz="1400"/>
              <a:t>In [162]: df1</a:t>
            </a:r>
            <a:endParaRPr lang="zh-CN" altLang="en-US" sz="1400"/>
          </a:p>
          <a:p>
            <a:r>
              <a:rPr lang="zh-CN" altLang="en-US" sz="1400"/>
              <a:t>Out[162]: </a:t>
            </a:r>
            <a:endParaRPr lang="zh-CN" altLang="en-US" sz="1400"/>
          </a:p>
          <a:p>
            <a:r>
              <a:rPr lang="zh-CN" altLang="en-US" sz="1400"/>
              <a:t>   A</a:t>
            </a:r>
            <a:endParaRPr lang="zh-CN" altLang="en-US" sz="1400"/>
          </a:p>
          <a:p>
            <a:r>
              <a:rPr lang="zh-CN" altLang="en-US" sz="1400"/>
              <a:t>0  1</a:t>
            </a:r>
            <a:endParaRPr lang="zh-CN" altLang="en-US" sz="1400"/>
          </a:p>
          <a:p>
            <a:r>
              <a:rPr lang="zh-CN" altLang="en-US" sz="1400"/>
              <a:t>1  2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[163]: df2</a:t>
            </a:r>
            <a:endParaRPr lang="zh-CN" altLang="en-US" sz="1400"/>
          </a:p>
          <a:p>
            <a:r>
              <a:rPr lang="zh-CN" altLang="en-US" sz="1400"/>
              <a:t>Out[163]: </a:t>
            </a:r>
            <a:endParaRPr lang="zh-CN" altLang="en-US" sz="1400"/>
          </a:p>
          <a:p>
            <a:r>
              <a:rPr lang="zh-CN" altLang="en-US" sz="1400"/>
              <a:t>   B</a:t>
            </a:r>
            <a:endParaRPr lang="zh-CN" altLang="en-US" sz="1400"/>
          </a:p>
          <a:p>
            <a:r>
              <a:rPr lang="zh-CN" altLang="en-US" sz="1400"/>
              <a:t>0  3</a:t>
            </a:r>
            <a:endParaRPr lang="zh-CN" altLang="en-US" sz="1400"/>
          </a:p>
          <a:p>
            <a:r>
              <a:rPr lang="zh-CN" altLang="en-US" sz="1400"/>
              <a:t>1  4</a:t>
            </a:r>
            <a:endParaRPr lang="zh-CN" altLang="en-US" sz="1400"/>
          </a:p>
          <a:p>
            <a:r>
              <a:rPr lang="zh-CN" altLang="en-US" sz="1400"/>
              <a:t>In [164]: df1 - df2</a:t>
            </a:r>
            <a:endParaRPr lang="zh-CN" altLang="en-US" sz="1400"/>
          </a:p>
          <a:p>
            <a:r>
              <a:rPr lang="zh-CN" altLang="en-US" sz="1400"/>
              <a:t>Out[164]: </a:t>
            </a:r>
            <a:endParaRPr lang="zh-CN" altLang="en-US" sz="1400"/>
          </a:p>
          <a:p>
            <a:r>
              <a:rPr lang="zh-CN" altLang="en-US" sz="1400"/>
              <a:t>    A   B</a:t>
            </a:r>
            <a:endParaRPr lang="zh-CN" altLang="en-US" sz="1400"/>
          </a:p>
          <a:p>
            <a:r>
              <a:rPr lang="zh-CN" altLang="en-US" sz="1400"/>
              <a:t>0 NaN NaN</a:t>
            </a:r>
            <a:endParaRPr lang="zh-CN" altLang="en-US" sz="1400"/>
          </a:p>
          <a:p>
            <a:r>
              <a:rPr lang="zh-CN" altLang="en-US" sz="1400"/>
              <a:t>1 NaN NaN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5.2.5 </a:t>
            </a:r>
            <a:r>
              <a:rPr lang="zh-CN" dirty="0">
                <a:sym typeface="+mn-ea"/>
              </a:rPr>
              <a:t>算术和数据对齐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在算术方法中填充值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46045" y="1701800"/>
            <a:ext cx="785812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[165]: df1 = pd.DataFrame(np.arange(12.).reshape((3, 4)),</a:t>
            </a:r>
            <a:endParaRPr lang="zh-CN" altLang="en-US" sz="1400"/>
          </a:p>
          <a:p>
            <a:r>
              <a:rPr lang="zh-CN" altLang="en-US" sz="1400"/>
              <a:t>   .....:                    columns=list('abcd'))</a:t>
            </a:r>
            <a:endParaRPr lang="zh-CN" altLang="en-US" sz="1400"/>
          </a:p>
          <a:p>
            <a:r>
              <a:rPr lang="zh-CN" altLang="en-US" sz="1400"/>
              <a:t>In [166]: df2 = pd.DataFrame(np.arange(20.).reshape((4, 5)),</a:t>
            </a:r>
            <a:endParaRPr lang="zh-CN" altLang="en-US" sz="1400"/>
          </a:p>
          <a:p>
            <a:r>
              <a:rPr lang="zh-CN" altLang="en-US" sz="1400"/>
              <a:t>   .....:                    columns=list('abcde'))</a:t>
            </a:r>
            <a:endParaRPr lang="zh-CN" altLang="en-US" sz="1400"/>
          </a:p>
          <a:p>
            <a:r>
              <a:rPr lang="zh-CN" altLang="en-US" sz="1400"/>
              <a:t>In [167]: df2.loc[1, 'b'] = np.nan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[168]: df1</a:t>
            </a:r>
            <a:endParaRPr lang="zh-CN" altLang="en-US" sz="1400"/>
          </a:p>
          <a:p>
            <a:r>
              <a:rPr lang="zh-CN" altLang="en-US" sz="1400"/>
              <a:t>Out[168]: </a:t>
            </a:r>
            <a:endParaRPr lang="zh-CN" altLang="en-US" sz="1400"/>
          </a:p>
          <a:p>
            <a:r>
              <a:rPr lang="zh-CN" altLang="en-US" sz="1400"/>
              <a:t>     a    b     c     d</a:t>
            </a:r>
            <a:endParaRPr lang="zh-CN" altLang="en-US" sz="1400"/>
          </a:p>
          <a:p>
            <a:r>
              <a:rPr lang="zh-CN" altLang="en-US" sz="1400"/>
              <a:t>0  0.0  1.0   2.0   3.0</a:t>
            </a:r>
            <a:endParaRPr lang="zh-CN" altLang="en-US" sz="1400"/>
          </a:p>
          <a:p>
            <a:r>
              <a:rPr lang="zh-CN" altLang="en-US" sz="1400"/>
              <a:t>1  4.0  5.0   6.0   7.0</a:t>
            </a:r>
            <a:endParaRPr lang="zh-CN" altLang="en-US" sz="1400"/>
          </a:p>
          <a:p>
            <a:r>
              <a:rPr lang="zh-CN" altLang="en-US" sz="1400"/>
              <a:t>2  8.0  9.0  10.0  11.0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[169]: df2</a:t>
            </a:r>
            <a:endParaRPr lang="zh-CN" altLang="en-US" sz="1400"/>
          </a:p>
          <a:p>
            <a:r>
              <a:rPr lang="zh-CN" altLang="en-US" sz="1400"/>
              <a:t>Out[169]: </a:t>
            </a:r>
            <a:endParaRPr lang="zh-CN" altLang="en-US" sz="1400"/>
          </a:p>
          <a:p>
            <a:r>
              <a:rPr lang="zh-CN" altLang="en-US" sz="1400"/>
              <a:t>      a     b     c     d     e</a:t>
            </a:r>
            <a:endParaRPr lang="zh-CN" altLang="en-US" sz="1400"/>
          </a:p>
          <a:p>
            <a:r>
              <a:rPr lang="zh-CN" altLang="en-US" sz="1400"/>
              <a:t>0   0.0   1.0   2.0   3.0   4.0</a:t>
            </a:r>
            <a:endParaRPr lang="zh-CN" altLang="en-US" sz="1400"/>
          </a:p>
          <a:p>
            <a:r>
              <a:rPr lang="zh-CN" altLang="en-US" sz="1400"/>
              <a:t>1   5.0   NaN   7.0   8.0   9.0</a:t>
            </a:r>
            <a:endParaRPr lang="zh-CN" altLang="en-US" sz="1400"/>
          </a:p>
          <a:p>
            <a:r>
              <a:rPr lang="zh-CN" altLang="en-US" sz="1400"/>
              <a:t>2  10.0  11.0  12.0  13.0  14.0</a:t>
            </a:r>
            <a:endParaRPr lang="zh-CN" altLang="en-US" sz="1400"/>
          </a:p>
          <a:p>
            <a:r>
              <a:rPr lang="zh-CN" altLang="en-US" sz="1400"/>
              <a:t>3  15.0  16.0  17.0  18.0  19.0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5.2.5 </a:t>
            </a:r>
            <a:r>
              <a:rPr lang="zh-CN" dirty="0">
                <a:sym typeface="+mn-ea"/>
              </a:rPr>
              <a:t>算术和数据对齐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在算术方法中填充值</a:t>
            </a:r>
            <a:endParaRPr lang="zh-CN" altLang="en-US"/>
          </a:p>
          <a:p>
            <a:pPr lvl="1"/>
            <a:r>
              <a:rPr lang="zh-CN" altLang="en-US"/>
              <a:t>将它们相加时，没有重叠的位置就会产生NA值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21765" y="2277745"/>
            <a:ext cx="546735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[165]: df1 = pd.DataFrame(np.arange(12.).reshape((3, 4)),</a:t>
            </a:r>
            <a:endParaRPr lang="zh-CN" altLang="en-US" sz="1400"/>
          </a:p>
          <a:p>
            <a:r>
              <a:rPr lang="zh-CN" altLang="en-US" sz="1400"/>
              <a:t>   .....:                    columns=list('abcd'))</a:t>
            </a:r>
            <a:endParaRPr lang="zh-CN" altLang="en-US" sz="1400"/>
          </a:p>
          <a:p>
            <a:r>
              <a:rPr lang="zh-CN" altLang="en-US" sz="1400"/>
              <a:t>In [166]: df2 = pd.DataFrame(np.arange(20.).reshape((4, 5)),</a:t>
            </a:r>
            <a:endParaRPr lang="zh-CN" altLang="en-US" sz="1400"/>
          </a:p>
          <a:p>
            <a:r>
              <a:rPr lang="zh-CN" altLang="en-US" sz="1400"/>
              <a:t>   .....:                    columns=list('abcde'))</a:t>
            </a:r>
            <a:endParaRPr lang="zh-CN" altLang="en-US" sz="1400"/>
          </a:p>
          <a:p>
            <a:r>
              <a:rPr lang="zh-CN" altLang="en-US" sz="1400"/>
              <a:t>In [167]: df2.loc[1, 'b'] = np.nan</a:t>
            </a:r>
            <a:endParaRPr lang="zh-CN" altLang="en-US" sz="1400"/>
          </a:p>
          <a:p>
            <a:r>
              <a:rPr lang="zh-CN" altLang="en-US" sz="1400"/>
              <a:t>In [168]: df1</a:t>
            </a:r>
            <a:endParaRPr lang="zh-CN" altLang="en-US" sz="1400"/>
          </a:p>
          <a:p>
            <a:r>
              <a:rPr lang="zh-CN" altLang="en-US" sz="1400"/>
              <a:t>Out[168]: </a:t>
            </a:r>
            <a:endParaRPr lang="zh-CN" altLang="en-US" sz="1400"/>
          </a:p>
          <a:p>
            <a:r>
              <a:rPr lang="zh-CN" altLang="en-US" sz="1400"/>
              <a:t>     a    b     c     d</a:t>
            </a:r>
            <a:endParaRPr lang="zh-CN" altLang="en-US" sz="1400"/>
          </a:p>
          <a:p>
            <a:r>
              <a:rPr lang="zh-CN" altLang="en-US" sz="1400"/>
              <a:t>0  0.0  1.0   2.0   3.0</a:t>
            </a:r>
            <a:endParaRPr lang="zh-CN" altLang="en-US" sz="1400"/>
          </a:p>
          <a:p>
            <a:r>
              <a:rPr lang="zh-CN" altLang="en-US" sz="1400"/>
              <a:t>1  4.0  5.0   6.0   7.0</a:t>
            </a:r>
            <a:endParaRPr lang="zh-CN" altLang="en-US" sz="1400"/>
          </a:p>
          <a:p>
            <a:r>
              <a:rPr lang="zh-CN" altLang="en-US" sz="1400"/>
              <a:t>2  8.0  9.0  10.0  11.0</a:t>
            </a:r>
            <a:endParaRPr lang="zh-CN" altLang="en-US" sz="1400"/>
          </a:p>
          <a:p>
            <a:r>
              <a:rPr lang="zh-CN" altLang="en-US" sz="1400"/>
              <a:t>In [169]: df2</a:t>
            </a:r>
            <a:endParaRPr lang="zh-CN" altLang="en-US" sz="1400"/>
          </a:p>
          <a:p>
            <a:r>
              <a:rPr lang="zh-CN" altLang="en-US" sz="1400"/>
              <a:t>Out[169]: </a:t>
            </a:r>
            <a:endParaRPr lang="zh-CN" altLang="en-US" sz="1400"/>
          </a:p>
          <a:p>
            <a:r>
              <a:rPr lang="zh-CN" altLang="en-US" sz="1400"/>
              <a:t>      a     b     c     d     e</a:t>
            </a:r>
            <a:endParaRPr lang="zh-CN" altLang="en-US" sz="1400"/>
          </a:p>
          <a:p>
            <a:r>
              <a:rPr lang="zh-CN" altLang="en-US" sz="1400"/>
              <a:t>0   0.0   1.0   2.0   3.0   4.0</a:t>
            </a:r>
            <a:endParaRPr lang="zh-CN" altLang="en-US" sz="1400"/>
          </a:p>
          <a:p>
            <a:r>
              <a:rPr lang="zh-CN" altLang="en-US" sz="1400"/>
              <a:t>1   5.0   NaN   7.0   8.0   9.0</a:t>
            </a:r>
            <a:endParaRPr lang="zh-CN" altLang="en-US" sz="1400"/>
          </a:p>
          <a:p>
            <a:r>
              <a:rPr lang="zh-CN" altLang="en-US" sz="1400"/>
              <a:t>2  10.0  11.0  12.0  13.0  14.0</a:t>
            </a:r>
            <a:endParaRPr lang="zh-CN" altLang="en-US" sz="1400"/>
          </a:p>
          <a:p>
            <a:r>
              <a:rPr lang="zh-CN" altLang="en-US" sz="1400"/>
              <a:t>3  15.0  16.0  17.0  18.0  19.0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5.2.5 </a:t>
            </a:r>
            <a:r>
              <a:rPr lang="zh-CN" dirty="0">
                <a:sym typeface="+mn-ea"/>
              </a:rPr>
              <a:t>算术和数据对齐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在算术方法中填充值</a:t>
            </a:r>
            <a:endParaRPr lang="zh-CN" altLang="en-US"/>
          </a:p>
          <a:p>
            <a:pPr lvl="1"/>
            <a:r>
              <a:rPr lang="zh-CN" altLang="en-US"/>
              <a:t>将它们相加时，没有重叠的位置就会产生NA值</a:t>
            </a:r>
            <a:endParaRPr lang="zh-CN" altLang="en-US"/>
          </a:p>
          <a:p>
            <a:pPr lvl="1"/>
            <a:r>
              <a:rPr lang="zh-CN" altLang="en-US"/>
              <a:t>使用df1的add方法，传入df2以及一个fill_value参数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58430" y="1845310"/>
            <a:ext cx="386334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[170]: df1 + df2</a:t>
            </a:r>
            <a:endParaRPr lang="zh-CN" altLang="en-US" sz="1400"/>
          </a:p>
          <a:p>
            <a:r>
              <a:rPr lang="zh-CN" altLang="en-US" sz="1400"/>
              <a:t>Out[170]: </a:t>
            </a:r>
            <a:endParaRPr lang="zh-CN" altLang="en-US" sz="1400"/>
          </a:p>
          <a:p>
            <a:r>
              <a:rPr lang="zh-CN" altLang="en-US" sz="1400"/>
              <a:t>      a     b     c     d   e</a:t>
            </a:r>
            <a:endParaRPr lang="zh-CN" altLang="en-US" sz="1400"/>
          </a:p>
          <a:p>
            <a:r>
              <a:rPr lang="zh-CN" altLang="en-US" sz="1400"/>
              <a:t>0   0.0   2.0   4.0   6.0 NaN</a:t>
            </a:r>
            <a:endParaRPr lang="zh-CN" altLang="en-US" sz="1400"/>
          </a:p>
          <a:p>
            <a:r>
              <a:rPr lang="zh-CN" altLang="en-US" sz="1400"/>
              <a:t>1   9.0   NaN  13.0  15.0 NaN</a:t>
            </a:r>
            <a:endParaRPr lang="zh-CN" altLang="en-US" sz="1400"/>
          </a:p>
          <a:p>
            <a:r>
              <a:rPr lang="zh-CN" altLang="en-US" sz="1400"/>
              <a:t>2  18.0  20.0  22.0  24.0 NaN</a:t>
            </a:r>
            <a:endParaRPr lang="zh-CN" altLang="en-US" sz="1400"/>
          </a:p>
          <a:p>
            <a:r>
              <a:rPr lang="zh-CN" altLang="en-US" sz="1400"/>
              <a:t>3   NaN   NaN   NaN   NaN NaN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[171]: df1.add(df2, fill_value=0)</a:t>
            </a:r>
            <a:endParaRPr lang="zh-CN" altLang="en-US" sz="1400"/>
          </a:p>
          <a:p>
            <a:r>
              <a:rPr lang="zh-CN" altLang="en-US" sz="1400"/>
              <a:t>Out[171]: </a:t>
            </a:r>
            <a:endParaRPr lang="zh-CN" altLang="en-US" sz="1400"/>
          </a:p>
          <a:p>
            <a:r>
              <a:rPr lang="zh-CN" altLang="en-US" sz="1400"/>
              <a:t>      a     b     c     d     e</a:t>
            </a:r>
            <a:endParaRPr lang="zh-CN" altLang="en-US" sz="1400"/>
          </a:p>
          <a:p>
            <a:r>
              <a:rPr lang="zh-CN" altLang="en-US" sz="1400"/>
              <a:t>0   0.0   2.0   4.0   6.0   4.0</a:t>
            </a:r>
            <a:endParaRPr lang="zh-CN" altLang="en-US" sz="1400"/>
          </a:p>
          <a:p>
            <a:r>
              <a:rPr lang="zh-CN" altLang="en-US" sz="1400"/>
              <a:t>1   9.0   5.0  13.0  15.0   9.0</a:t>
            </a:r>
            <a:endParaRPr lang="zh-CN" altLang="en-US" sz="1400"/>
          </a:p>
          <a:p>
            <a:r>
              <a:rPr lang="zh-CN" altLang="en-US" sz="1400"/>
              <a:t>2  18.0  20.0  22.0  24.0  14.0</a:t>
            </a:r>
            <a:endParaRPr lang="zh-CN" altLang="en-US" sz="1400"/>
          </a:p>
          <a:p>
            <a:r>
              <a:rPr lang="zh-CN" altLang="en-US" sz="1400"/>
              <a:t>3  15.0  16.0  17.0  18.0  19.0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5.2.5 </a:t>
            </a:r>
            <a:r>
              <a:rPr lang="zh-CN" dirty="0">
                <a:sym typeface="+mn-ea"/>
              </a:rPr>
              <a:t>算术和数据对齐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灵活的算术方法</a:t>
            </a:r>
            <a:endParaRPr lang="zh-CN" altLang="en-US"/>
          </a:p>
          <a:p>
            <a:pPr lvl="1"/>
            <a:r>
              <a:rPr lang="zh-CN" altLang="en-US"/>
              <a:t>以字母r开头，它会翻转参数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58430" y="1845310"/>
            <a:ext cx="3863340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[172]: 1 / df1</a:t>
            </a:r>
            <a:endParaRPr lang="zh-CN" altLang="en-US" sz="1400"/>
          </a:p>
          <a:p>
            <a:r>
              <a:rPr lang="zh-CN" altLang="en-US" sz="1400"/>
              <a:t>Out[172]: </a:t>
            </a:r>
            <a:endParaRPr lang="zh-CN" altLang="en-US" sz="1400"/>
          </a:p>
          <a:p>
            <a:r>
              <a:rPr lang="zh-CN" altLang="en-US" sz="1400"/>
              <a:t>          a         b         c         d</a:t>
            </a:r>
            <a:endParaRPr lang="zh-CN" altLang="en-US" sz="1400"/>
          </a:p>
          <a:p>
            <a:r>
              <a:rPr lang="zh-CN" altLang="en-US" sz="1400"/>
              <a:t>0       inf  1.000000  0.500000  0.333333</a:t>
            </a:r>
            <a:endParaRPr lang="zh-CN" altLang="en-US" sz="1400"/>
          </a:p>
          <a:p>
            <a:r>
              <a:rPr lang="zh-CN" altLang="en-US" sz="1400"/>
              <a:t>1  0.250000  0.200000  0.166667  0.142857</a:t>
            </a:r>
            <a:endParaRPr lang="zh-CN" altLang="en-US" sz="1400"/>
          </a:p>
          <a:p>
            <a:r>
              <a:rPr lang="zh-CN" altLang="en-US" sz="1400"/>
              <a:t>2  0.125000  0.111111  0.100000  0.090909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[173]: df1.rdiv(1)</a:t>
            </a:r>
            <a:endParaRPr lang="zh-CN" altLang="en-US" sz="1400"/>
          </a:p>
          <a:p>
            <a:r>
              <a:rPr lang="zh-CN" altLang="en-US" sz="1400"/>
              <a:t>Out[173]: </a:t>
            </a:r>
            <a:endParaRPr lang="zh-CN" altLang="en-US" sz="1400"/>
          </a:p>
          <a:p>
            <a:r>
              <a:rPr lang="zh-CN" altLang="en-US" sz="1400"/>
              <a:t>          a         b         c         d</a:t>
            </a:r>
            <a:endParaRPr lang="zh-CN" altLang="en-US" sz="1400"/>
          </a:p>
          <a:p>
            <a:r>
              <a:rPr lang="zh-CN" altLang="en-US" sz="1400"/>
              <a:t>0       inf  1.000000  0.500000  0.333333</a:t>
            </a:r>
            <a:endParaRPr lang="zh-CN" altLang="en-US" sz="1400"/>
          </a:p>
          <a:p>
            <a:r>
              <a:rPr lang="zh-CN" altLang="en-US" sz="1400"/>
              <a:t>1  0.250000  0.200000  0.166667  0.142857</a:t>
            </a:r>
            <a:endParaRPr lang="zh-CN" altLang="en-US" sz="1400"/>
          </a:p>
          <a:p>
            <a:r>
              <a:rPr lang="zh-CN" altLang="en-US" sz="1400"/>
              <a:t>2  0.125000  0.111111  0.100000  0.090909</a:t>
            </a:r>
            <a:endParaRPr lang="zh-CN" altLang="en-US" sz="1400"/>
          </a:p>
        </p:txBody>
      </p:sp>
      <p:pic>
        <p:nvPicPr>
          <p:cNvPr id="4" name="图片 3" descr="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1855" y="2493645"/>
            <a:ext cx="3695700" cy="2419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5.2.5 </a:t>
            </a:r>
            <a:r>
              <a:rPr lang="zh-CN" dirty="0">
                <a:sym typeface="+mn-ea"/>
              </a:rPr>
              <a:t>算术和数据对齐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对Series或DataFrame重新索引时，也可以指定一个填充值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97710" y="2205355"/>
            <a:ext cx="544258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[174]: df1.reindex(columns=df2.columns, fill_value=0)</a:t>
            </a:r>
            <a:endParaRPr lang="zh-CN" altLang="en-US" sz="1400"/>
          </a:p>
          <a:p>
            <a:r>
              <a:rPr lang="zh-CN" altLang="en-US" sz="1400"/>
              <a:t>Out[174]: </a:t>
            </a:r>
            <a:endParaRPr lang="zh-CN" altLang="en-US" sz="1400"/>
          </a:p>
          <a:p>
            <a:r>
              <a:rPr lang="zh-CN" altLang="en-US" sz="1400"/>
              <a:t>     a    b     c     d  e</a:t>
            </a:r>
            <a:endParaRPr lang="zh-CN" altLang="en-US" sz="1400"/>
          </a:p>
          <a:p>
            <a:r>
              <a:rPr lang="zh-CN" altLang="en-US" sz="1400"/>
              <a:t>0  0.0  1.0   2.0   3.0  0</a:t>
            </a:r>
            <a:endParaRPr lang="zh-CN" altLang="en-US" sz="1400"/>
          </a:p>
          <a:p>
            <a:r>
              <a:rPr lang="zh-CN" altLang="en-US" sz="1400"/>
              <a:t>1  4.0  5.0   6.0   7.0  0</a:t>
            </a:r>
            <a:endParaRPr lang="zh-CN" altLang="en-US" sz="1400"/>
          </a:p>
          <a:p>
            <a:r>
              <a:rPr lang="zh-CN" altLang="en-US" sz="1400"/>
              <a:t>2  8.0  9.0  10.0  11.0  0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5.2.5 </a:t>
            </a:r>
            <a:r>
              <a:rPr lang="zh-CN" dirty="0">
                <a:sym typeface="+mn-ea"/>
              </a:rPr>
              <a:t>算术和数据对齐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DataFrame和Series之间的运算</a:t>
            </a:r>
            <a:endParaRPr lang="zh-CN" altLang="en-US"/>
          </a:p>
          <a:p>
            <a:pPr lvl="1"/>
            <a:r>
              <a:rPr lang="zh-CN" altLang="en-US"/>
              <a:t>示例：计算一个二维数组与其某行之间的差</a:t>
            </a:r>
            <a:endParaRPr lang="zh-CN" altLang="en-US"/>
          </a:p>
          <a:p>
            <a:pPr lvl="2"/>
            <a:r>
              <a:rPr lang="zh-CN" altLang="en-US"/>
              <a:t>从arr减去arr[0]，每一行都会执行这个操作。这就叫做广播（broadcasting）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429510" y="2700655"/>
            <a:ext cx="544258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[175]: arr = np.arange(12.).reshape((3, 4))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[176]: arr</a:t>
            </a:r>
            <a:endParaRPr lang="zh-CN" altLang="en-US" sz="1400"/>
          </a:p>
          <a:p>
            <a:r>
              <a:rPr lang="zh-CN" altLang="en-US" sz="1400"/>
              <a:t>Out[176]: </a:t>
            </a:r>
            <a:endParaRPr lang="zh-CN" altLang="en-US" sz="1400"/>
          </a:p>
          <a:p>
            <a:r>
              <a:rPr lang="zh-CN" altLang="en-US" sz="1400"/>
              <a:t>array([[  0.,   1.,   2.,   3.],</a:t>
            </a:r>
            <a:endParaRPr lang="zh-CN" altLang="en-US" sz="1400"/>
          </a:p>
          <a:p>
            <a:r>
              <a:rPr lang="zh-CN" altLang="en-US" sz="1400"/>
              <a:t>       [  4.,   5.,   6.,   7.],</a:t>
            </a:r>
            <a:endParaRPr lang="zh-CN" altLang="en-US" sz="1400"/>
          </a:p>
          <a:p>
            <a:r>
              <a:rPr lang="zh-CN" altLang="en-US" sz="1400"/>
              <a:t>       [  8.,   9.,  10.,  11.]])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[177]: arr[0]</a:t>
            </a:r>
            <a:endParaRPr lang="zh-CN" altLang="en-US" sz="1400"/>
          </a:p>
          <a:p>
            <a:r>
              <a:rPr lang="zh-CN" altLang="en-US" sz="1400"/>
              <a:t>Out[177]: array([ 0.,  1.,  2.,  3.])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[178]: arr - arr[0]</a:t>
            </a:r>
            <a:endParaRPr lang="zh-CN" altLang="en-US" sz="1400"/>
          </a:p>
          <a:p>
            <a:r>
              <a:rPr lang="zh-CN" altLang="en-US" sz="1400"/>
              <a:t>Out[178]: </a:t>
            </a:r>
            <a:endParaRPr lang="zh-CN" altLang="en-US" sz="1400"/>
          </a:p>
          <a:p>
            <a:r>
              <a:rPr lang="zh-CN" altLang="en-US" sz="1400"/>
              <a:t>array([[ 0.,  0.,  0.,  0.],</a:t>
            </a:r>
            <a:endParaRPr lang="zh-CN" altLang="en-US" sz="1400"/>
          </a:p>
          <a:p>
            <a:r>
              <a:rPr lang="zh-CN" altLang="en-US" sz="1400"/>
              <a:t>       [ 4.,  4.,  4.,  4.],</a:t>
            </a:r>
            <a:endParaRPr lang="zh-CN" altLang="en-US" sz="1400"/>
          </a:p>
          <a:p>
            <a:r>
              <a:rPr lang="zh-CN" altLang="en-US" sz="1400"/>
              <a:t>       [ 8.,  8.,  8.,  8.]])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5.2.5 </a:t>
            </a:r>
            <a:r>
              <a:rPr lang="zh-CN" dirty="0">
                <a:sym typeface="+mn-ea"/>
              </a:rPr>
              <a:t>算术和数据对齐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DataFrame和Series之间的运算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710055" y="1845310"/>
            <a:ext cx="8705850" cy="4184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[179]: frame = pd.DataFrame(np.arange(12.).reshape((4, 3)),</a:t>
            </a:r>
            <a:endParaRPr lang="zh-CN" altLang="en-US" sz="1400"/>
          </a:p>
          <a:p>
            <a:r>
              <a:rPr lang="zh-CN" altLang="en-US" sz="1400"/>
              <a:t>   .....:                      columns=list('bde'),</a:t>
            </a:r>
            <a:endParaRPr lang="zh-CN" altLang="en-US" sz="1400"/>
          </a:p>
          <a:p>
            <a:r>
              <a:rPr lang="zh-CN" altLang="en-US" sz="1400"/>
              <a:t>   .....:                      index=['Utah', 'Ohio', 'Texas', 'Oregon'])</a:t>
            </a:r>
            <a:endParaRPr lang="zh-CN" altLang="en-US" sz="1400"/>
          </a:p>
          <a:p>
            <a:r>
              <a:rPr lang="zh-CN" altLang="en-US" sz="1400"/>
              <a:t>In [180]: series = frame.iloc[0]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[181]: frame</a:t>
            </a:r>
            <a:endParaRPr lang="zh-CN" altLang="en-US" sz="1400"/>
          </a:p>
          <a:p>
            <a:r>
              <a:rPr lang="zh-CN" altLang="en-US" sz="1400"/>
              <a:t>Out[181]: </a:t>
            </a:r>
            <a:endParaRPr lang="zh-CN" altLang="en-US" sz="1400"/>
          </a:p>
          <a:p>
            <a:r>
              <a:rPr lang="zh-CN" altLang="en-US" sz="1400"/>
              <a:t>          b     d     e</a:t>
            </a:r>
            <a:endParaRPr lang="zh-CN" altLang="en-US" sz="1400"/>
          </a:p>
          <a:p>
            <a:r>
              <a:rPr lang="zh-CN" altLang="en-US" sz="1400"/>
              <a:t>Utah    0.0   1.0   2.0</a:t>
            </a:r>
            <a:endParaRPr lang="zh-CN" altLang="en-US" sz="1400"/>
          </a:p>
          <a:p>
            <a:r>
              <a:rPr lang="zh-CN" altLang="en-US" sz="1400"/>
              <a:t>Ohio    3.0   4.0   5.0</a:t>
            </a:r>
            <a:endParaRPr lang="zh-CN" altLang="en-US" sz="1400"/>
          </a:p>
          <a:p>
            <a:r>
              <a:rPr lang="zh-CN" altLang="en-US" sz="1400"/>
              <a:t>Texas   6.0   7.0   8.0</a:t>
            </a:r>
            <a:endParaRPr lang="zh-CN" altLang="en-US" sz="1400"/>
          </a:p>
          <a:p>
            <a:r>
              <a:rPr lang="zh-CN" altLang="en-US" sz="1400"/>
              <a:t>Oregon  9.0  10.0  11.0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[182]: series</a:t>
            </a:r>
            <a:endParaRPr lang="zh-CN" altLang="en-US" sz="1400"/>
          </a:p>
          <a:p>
            <a:r>
              <a:rPr lang="zh-CN" altLang="en-US" sz="1400"/>
              <a:t>Out[182]: </a:t>
            </a:r>
            <a:endParaRPr lang="zh-CN" altLang="en-US" sz="1400"/>
          </a:p>
          <a:p>
            <a:r>
              <a:rPr lang="zh-CN" altLang="en-US" sz="1400"/>
              <a:t>b    0.0</a:t>
            </a:r>
            <a:endParaRPr lang="zh-CN" altLang="en-US" sz="1400"/>
          </a:p>
          <a:p>
            <a:r>
              <a:rPr lang="zh-CN" altLang="en-US" sz="1400"/>
              <a:t>d    1.0</a:t>
            </a:r>
            <a:endParaRPr lang="zh-CN" altLang="en-US" sz="1400"/>
          </a:p>
          <a:p>
            <a:r>
              <a:rPr lang="zh-CN" altLang="en-US" sz="1400"/>
              <a:t>e    2.0</a:t>
            </a:r>
            <a:endParaRPr lang="zh-CN" altLang="en-US" sz="1400"/>
          </a:p>
          <a:p>
            <a:r>
              <a:rPr lang="zh-CN" altLang="en-US" sz="1400"/>
              <a:t>Name: Utah, dtype: float64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8838565" y="2205355"/>
            <a:ext cx="298767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[183]: frame - series</a:t>
            </a:r>
            <a:endParaRPr lang="zh-CN" altLang="en-US" sz="1400"/>
          </a:p>
          <a:p>
            <a:r>
              <a:rPr lang="zh-CN" altLang="en-US" sz="1400"/>
              <a:t>Out[183]: </a:t>
            </a:r>
            <a:endParaRPr lang="zh-CN" altLang="en-US" sz="1400"/>
          </a:p>
          <a:p>
            <a:r>
              <a:rPr lang="zh-CN" altLang="en-US" sz="1400"/>
              <a:t>          b    d    e</a:t>
            </a:r>
            <a:endParaRPr lang="zh-CN" altLang="en-US" sz="1400"/>
          </a:p>
          <a:p>
            <a:r>
              <a:rPr lang="zh-CN" altLang="en-US" sz="1400"/>
              <a:t>Utah    0.0  0.0  0.0</a:t>
            </a:r>
            <a:endParaRPr lang="zh-CN" altLang="en-US" sz="1400"/>
          </a:p>
          <a:p>
            <a:r>
              <a:rPr lang="zh-CN" altLang="en-US" sz="1400"/>
              <a:t>Ohio    3.0  3.0  3.0</a:t>
            </a:r>
            <a:endParaRPr lang="zh-CN" altLang="en-US" sz="1400"/>
          </a:p>
          <a:p>
            <a:r>
              <a:rPr lang="zh-CN" altLang="en-US" sz="1400"/>
              <a:t>Texas   6.0  6.0  6.0</a:t>
            </a:r>
            <a:endParaRPr lang="zh-CN" altLang="en-US" sz="1400"/>
          </a:p>
          <a:p>
            <a:r>
              <a:rPr lang="zh-CN" altLang="en-US" sz="1400"/>
              <a:t>Oregon  9.0  9.0  9.0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5.2.5 </a:t>
            </a:r>
            <a:r>
              <a:rPr lang="zh-CN" dirty="0">
                <a:sym typeface="+mn-ea"/>
              </a:rPr>
              <a:t>算术和数据对齐</a:t>
            </a:r>
            <a:endParaRPr lang="zh-CN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7320280" cy="5041265"/>
          </a:xfrm>
        </p:spPr>
        <p:txBody>
          <a:bodyPr/>
          <a:lstStyle/>
          <a:p>
            <a:r>
              <a:rPr lang="zh-CN" altLang="en-US"/>
              <a:t>DataFrame和Series之间的运算</a:t>
            </a:r>
            <a:endParaRPr lang="zh-CN" altLang="en-US"/>
          </a:p>
          <a:p>
            <a:pPr lvl="1"/>
            <a:r>
              <a:rPr lang="zh-CN" altLang="en-US"/>
              <a:t>如果某个索引值在DataFrame的列或Series的索引中找不到，则参与运算的两个对象就会被重新索引以形成并集</a:t>
            </a:r>
            <a:endParaRPr lang="zh-CN" altLang="en-US"/>
          </a:p>
          <a:p>
            <a:pPr lvl="1"/>
            <a:r>
              <a:rPr lang="zh-CN" altLang="en-US"/>
              <a:t>如果你希望匹配行且在列上广播，则必须使用算术运算方法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54200" y="3645535"/>
            <a:ext cx="520636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[184]: series2 = pd.Series(range(3), index=['b', 'e', 'f'])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[185]: frame + series2</a:t>
            </a:r>
            <a:endParaRPr lang="zh-CN" altLang="en-US" sz="1400"/>
          </a:p>
          <a:p>
            <a:r>
              <a:rPr lang="zh-CN" altLang="en-US" sz="1400"/>
              <a:t>Out[185]: </a:t>
            </a:r>
            <a:endParaRPr lang="zh-CN" altLang="en-US" sz="1400"/>
          </a:p>
          <a:p>
            <a:r>
              <a:rPr lang="zh-CN" altLang="en-US" sz="1400"/>
              <a:t>          b   d     e   f</a:t>
            </a:r>
            <a:endParaRPr lang="zh-CN" altLang="en-US" sz="1400"/>
          </a:p>
          <a:p>
            <a:r>
              <a:rPr lang="zh-CN" altLang="en-US" sz="1400"/>
              <a:t>Utah    0.0 NaN   3.0 NaN</a:t>
            </a:r>
            <a:endParaRPr lang="zh-CN" altLang="en-US" sz="1400"/>
          </a:p>
          <a:p>
            <a:r>
              <a:rPr lang="zh-CN" altLang="en-US" sz="1400"/>
              <a:t>Ohio    3.0 NaN   6.0 NaN</a:t>
            </a:r>
            <a:endParaRPr lang="zh-CN" altLang="en-US" sz="1400"/>
          </a:p>
          <a:p>
            <a:r>
              <a:rPr lang="zh-CN" altLang="en-US" sz="1400"/>
              <a:t>Texas   6.0 NaN   9.0 NaN</a:t>
            </a:r>
            <a:endParaRPr lang="zh-CN" altLang="en-US" sz="1400"/>
          </a:p>
          <a:p>
            <a:r>
              <a:rPr lang="zh-CN" altLang="en-US" sz="1400"/>
              <a:t>Oregon  9.0 NaN  12.0 NaN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8190230" y="1087120"/>
            <a:ext cx="3811905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[186]: series3 = frame['d']</a:t>
            </a:r>
            <a:endParaRPr lang="zh-CN" altLang="en-US" sz="1400"/>
          </a:p>
          <a:p>
            <a:r>
              <a:rPr lang="zh-CN" altLang="en-US" sz="1400"/>
              <a:t>In [187]: frame</a:t>
            </a:r>
            <a:endParaRPr lang="zh-CN" altLang="en-US" sz="1400"/>
          </a:p>
          <a:p>
            <a:r>
              <a:rPr lang="zh-CN" altLang="en-US" sz="1400"/>
              <a:t>Out[187]: </a:t>
            </a:r>
            <a:endParaRPr lang="zh-CN" altLang="en-US" sz="1400"/>
          </a:p>
          <a:p>
            <a:r>
              <a:rPr lang="zh-CN" altLang="en-US" sz="1400"/>
              <a:t>          b     d     e</a:t>
            </a:r>
            <a:endParaRPr lang="zh-CN" altLang="en-US" sz="1400"/>
          </a:p>
          <a:p>
            <a:r>
              <a:rPr lang="zh-CN" altLang="en-US" sz="1400"/>
              <a:t>Utah    0.0   1.0   2.0</a:t>
            </a:r>
            <a:endParaRPr lang="zh-CN" altLang="en-US" sz="1400"/>
          </a:p>
          <a:p>
            <a:r>
              <a:rPr lang="zh-CN" altLang="en-US" sz="1400"/>
              <a:t>Ohio    3.0   4.0   5.0</a:t>
            </a:r>
            <a:endParaRPr lang="zh-CN" altLang="en-US" sz="1400"/>
          </a:p>
          <a:p>
            <a:r>
              <a:rPr lang="zh-CN" altLang="en-US" sz="1400"/>
              <a:t>Texas   6.0   7.0   8.0</a:t>
            </a:r>
            <a:endParaRPr lang="zh-CN" altLang="en-US" sz="1400"/>
          </a:p>
          <a:p>
            <a:r>
              <a:rPr lang="zh-CN" altLang="en-US" sz="1400"/>
              <a:t>Oregon  9.0  10.0  11.0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[188]: series3</a:t>
            </a:r>
            <a:endParaRPr lang="zh-CN" altLang="en-US" sz="1400"/>
          </a:p>
          <a:p>
            <a:r>
              <a:rPr lang="zh-CN" altLang="en-US" sz="1400"/>
              <a:t>Out[188]: </a:t>
            </a:r>
            <a:endParaRPr lang="zh-CN" altLang="en-US" sz="1400"/>
          </a:p>
          <a:p>
            <a:r>
              <a:rPr lang="zh-CN" altLang="en-US" sz="1400"/>
              <a:t>Utah       1.0</a:t>
            </a:r>
            <a:endParaRPr lang="zh-CN" altLang="en-US" sz="1400"/>
          </a:p>
          <a:p>
            <a:r>
              <a:rPr lang="zh-CN" altLang="en-US" sz="1400"/>
              <a:t>Ohio       4.0</a:t>
            </a:r>
            <a:endParaRPr lang="zh-CN" altLang="en-US" sz="1400"/>
          </a:p>
          <a:p>
            <a:r>
              <a:rPr lang="zh-CN" altLang="en-US" sz="1400"/>
              <a:t>Texas      7.0</a:t>
            </a:r>
            <a:endParaRPr lang="zh-CN" altLang="en-US" sz="1400"/>
          </a:p>
          <a:p>
            <a:r>
              <a:rPr lang="zh-CN" altLang="en-US" sz="1400"/>
              <a:t>Oregon    10.0</a:t>
            </a:r>
            <a:endParaRPr lang="zh-CN" altLang="en-US" sz="1400"/>
          </a:p>
          <a:p>
            <a:r>
              <a:rPr lang="zh-CN" altLang="en-US" sz="1400"/>
              <a:t>Name: d, dtype: float64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[189]: frame.sub(series3, axis='index')</a:t>
            </a:r>
            <a:endParaRPr lang="zh-CN" altLang="en-US" sz="1400"/>
          </a:p>
          <a:p>
            <a:r>
              <a:rPr lang="zh-CN" altLang="en-US" sz="1400"/>
              <a:t>Out[189]: </a:t>
            </a:r>
            <a:endParaRPr lang="zh-CN" altLang="en-US" sz="1400"/>
          </a:p>
          <a:p>
            <a:r>
              <a:rPr lang="zh-CN" altLang="en-US" sz="1400"/>
              <a:t>          b    d    e</a:t>
            </a:r>
            <a:endParaRPr lang="zh-CN" altLang="en-US" sz="1400"/>
          </a:p>
          <a:p>
            <a:r>
              <a:rPr lang="zh-CN" altLang="en-US" sz="1400"/>
              <a:t>Utah   -1.0  0.0  1.0</a:t>
            </a:r>
            <a:endParaRPr lang="zh-CN" altLang="en-US" sz="1400"/>
          </a:p>
          <a:p>
            <a:r>
              <a:rPr lang="zh-CN" altLang="en-US" sz="1400"/>
              <a:t>Ohio   -1.0  0.0  1.0</a:t>
            </a:r>
            <a:endParaRPr lang="zh-CN" altLang="en-US" sz="1400"/>
          </a:p>
          <a:p>
            <a:r>
              <a:rPr lang="zh-CN" altLang="en-US" sz="1400"/>
              <a:t>Texas  -1.0  0.0  1.0</a:t>
            </a:r>
            <a:endParaRPr lang="zh-CN" altLang="en-US" sz="1400"/>
          </a:p>
          <a:p>
            <a:r>
              <a:rPr lang="zh-CN" altLang="en-US" sz="1400"/>
              <a:t>Oregon -1.0  0.0  1.0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5.2.6 函数应用和映射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en-US" altLang="zh-CN"/>
              <a:t>numpy</a:t>
            </a:r>
            <a:r>
              <a:rPr lang="zh-CN" altLang="en-US"/>
              <a:t>的通用函数对</a:t>
            </a:r>
            <a:r>
              <a:rPr lang="en-US" altLang="zh-CN"/>
              <a:t>pandas</a:t>
            </a:r>
            <a:r>
              <a:rPr lang="zh-CN" altLang="en-US"/>
              <a:t>对象也有效</a:t>
            </a:r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213610" y="2061210"/>
            <a:ext cx="725360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[190]: frame = pd.DataFrame(np.random.randn(4, 3), columns=list('bde'),</a:t>
            </a:r>
            <a:endParaRPr lang="zh-CN" altLang="en-US" sz="1400"/>
          </a:p>
          <a:p>
            <a:r>
              <a:rPr lang="zh-CN" altLang="en-US" sz="1400"/>
              <a:t>   .....:                      index=['Utah', 'Ohio', 'Texas', 'Oregon'])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[191]: frame</a:t>
            </a:r>
            <a:endParaRPr lang="zh-CN" altLang="en-US" sz="1400"/>
          </a:p>
          <a:p>
            <a:r>
              <a:rPr lang="zh-CN" altLang="en-US" sz="1400"/>
              <a:t>Out[191]: </a:t>
            </a:r>
            <a:endParaRPr lang="zh-CN" altLang="en-US" sz="1400"/>
          </a:p>
          <a:p>
            <a:r>
              <a:rPr lang="zh-CN" altLang="en-US" sz="1400"/>
              <a:t>               b         d         e</a:t>
            </a:r>
            <a:endParaRPr lang="zh-CN" altLang="en-US" sz="1400"/>
          </a:p>
          <a:p>
            <a:r>
              <a:rPr lang="zh-CN" altLang="en-US" sz="1400"/>
              <a:t>Utah   -0.204708  0.478943 -0.519439</a:t>
            </a:r>
            <a:endParaRPr lang="zh-CN" altLang="en-US" sz="1400"/>
          </a:p>
          <a:p>
            <a:r>
              <a:rPr lang="zh-CN" altLang="en-US" sz="1400"/>
              <a:t>Ohio   -0.555730  1.965781  1.393406</a:t>
            </a:r>
            <a:endParaRPr lang="zh-CN" altLang="en-US" sz="1400"/>
          </a:p>
          <a:p>
            <a:r>
              <a:rPr lang="zh-CN" altLang="en-US" sz="1400"/>
              <a:t>Texas   0.092908  0.281746  0.769023</a:t>
            </a:r>
            <a:endParaRPr lang="zh-CN" altLang="en-US" sz="1400"/>
          </a:p>
          <a:p>
            <a:r>
              <a:rPr lang="zh-CN" altLang="en-US" sz="1400"/>
              <a:t>Oregon  1.246435  1.007189 -1.296221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[192]: np.abs(frame)</a:t>
            </a:r>
            <a:endParaRPr lang="zh-CN" altLang="en-US" sz="1400"/>
          </a:p>
          <a:p>
            <a:r>
              <a:rPr lang="zh-CN" altLang="en-US" sz="1400"/>
              <a:t>Out[192]: </a:t>
            </a:r>
            <a:endParaRPr lang="zh-CN" altLang="en-US" sz="1400"/>
          </a:p>
          <a:p>
            <a:r>
              <a:rPr lang="zh-CN" altLang="en-US" sz="1400"/>
              <a:t>               b         d         e</a:t>
            </a:r>
            <a:endParaRPr lang="zh-CN" altLang="en-US" sz="1400"/>
          </a:p>
          <a:p>
            <a:r>
              <a:rPr lang="zh-CN" altLang="en-US" sz="1400"/>
              <a:t>Utah    0.204708  0.478943  0.519439</a:t>
            </a:r>
            <a:endParaRPr lang="zh-CN" altLang="en-US" sz="1400"/>
          </a:p>
          <a:p>
            <a:r>
              <a:rPr lang="zh-CN" altLang="en-US" sz="1400"/>
              <a:t>Ohio    0.555730  1.965781  1.393406</a:t>
            </a:r>
            <a:endParaRPr lang="zh-CN" altLang="en-US" sz="1400"/>
          </a:p>
          <a:p>
            <a:r>
              <a:rPr lang="zh-CN" altLang="en-US" sz="1400"/>
              <a:t>Texas   0.092908  0.281746  0.769023</a:t>
            </a:r>
            <a:endParaRPr lang="zh-CN" altLang="en-US" sz="1400"/>
          </a:p>
          <a:p>
            <a:r>
              <a:rPr lang="zh-CN" altLang="en-US" sz="1400"/>
              <a:t>Oregon  1.246435  1.007189  1.296221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5.2.6 函数应用和映射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en-US"/>
              <a:t>apply</a:t>
            </a:r>
            <a:r>
              <a:rPr lang="zh-CN" altLang="en-US"/>
              <a:t>：</a:t>
            </a:r>
            <a:r>
              <a:t>将函数应用到由各列或行所形成的一维数组上</a:t>
            </a:r>
          </a:p>
          <a:p/>
          <a:p/>
          <a:p/>
          <a:p/>
          <a:p>
            <a:r>
              <a:t>如果传递axis='columns'到apply，这个函数会在每行执行</a:t>
            </a:r>
          </a:p>
          <a:p>
            <a:pPr lvl="1"/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286000" y="1917065"/>
            <a:ext cx="725360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[193]: f = lambda x: x.max() - x.min()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[194]: frame.apply(f)</a:t>
            </a:r>
            <a:endParaRPr lang="zh-CN" altLang="en-US" sz="1400"/>
          </a:p>
          <a:p>
            <a:r>
              <a:rPr lang="zh-CN" altLang="en-US" sz="1400"/>
              <a:t>Out[194]: </a:t>
            </a:r>
            <a:endParaRPr lang="zh-CN" altLang="en-US" sz="1400"/>
          </a:p>
          <a:p>
            <a:r>
              <a:rPr lang="zh-CN" altLang="en-US" sz="1400"/>
              <a:t>b    1.802165</a:t>
            </a:r>
            <a:endParaRPr lang="zh-CN" altLang="en-US" sz="1400"/>
          </a:p>
          <a:p>
            <a:r>
              <a:rPr lang="zh-CN" altLang="en-US" sz="1400"/>
              <a:t>d    1.684034</a:t>
            </a:r>
            <a:endParaRPr lang="zh-CN" altLang="en-US" sz="1400"/>
          </a:p>
          <a:p>
            <a:r>
              <a:rPr lang="zh-CN" altLang="en-US" sz="1400"/>
              <a:t>e    2.689627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2357755" y="4365625"/>
            <a:ext cx="725360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[195]: frame.apply(f, axis='columns')</a:t>
            </a:r>
            <a:endParaRPr lang="zh-CN" altLang="en-US" sz="1400"/>
          </a:p>
          <a:p>
            <a:r>
              <a:rPr lang="zh-CN" altLang="en-US" sz="1400"/>
              <a:t>Out[195]:</a:t>
            </a:r>
            <a:endParaRPr lang="zh-CN" altLang="en-US" sz="1400"/>
          </a:p>
          <a:p>
            <a:r>
              <a:rPr lang="zh-CN" altLang="en-US" sz="1400"/>
              <a:t>Utah      0.998382</a:t>
            </a:r>
            <a:endParaRPr lang="zh-CN" altLang="en-US" sz="1400"/>
          </a:p>
          <a:p>
            <a:r>
              <a:rPr lang="zh-CN" altLang="en-US" sz="1400"/>
              <a:t>Ohio      2.521511</a:t>
            </a:r>
            <a:endParaRPr lang="zh-CN" altLang="en-US" sz="1400"/>
          </a:p>
          <a:p>
            <a:r>
              <a:rPr lang="zh-CN" altLang="en-US" sz="1400"/>
              <a:t>Texas     0.676115</a:t>
            </a:r>
            <a:endParaRPr lang="zh-CN" altLang="en-US" sz="1400"/>
          </a:p>
          <a:p>
            <a:r>
              <a:rPr lang="zh-CN" altLang="en-US" sz="1400"/>
              <a:t>Oregon    2.542656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5.2.6 函数应用和映射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许多最为常见的数组统计功能都被实现成DataFrame的方法（如sum和mean）</a:t>
            </a:r>
          </a:p>
          <a:p>
            <a:r>
              <a:t>传递到apply的函数不是必须返回一个标量，还可以返回由多个值组成的Series</a:t>
            </a:r>
          </a:p>
          <a:p/>
        </p:txBody>
      </p:sp>
      <p:sp>
        <p:nvSpPr>
          <p:cNvPr id="4" name="文本框 3"/>
          <p:cNvSpPr txBox="1"/>
          <p:nvPr/>
        </p:nvSpPr>
        <p:spPr>
          <a:xfrm>
            <a:off x="2357755" y="3069590"/>
            <a:ext cx="725360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[196]: def f(x):</a:t>
            </a:r>
            <a:endParaRPr lang="zh-CN" altLang="en-US" sz="1400"/>
          </a:p>
          <a:p>
            <a:r>
              <a:rPr lang="zh-CN" altLang="en-US" sz="1400"/>
              <a:t>   .....:     return pd.Series([x.min(), x.max()], index=['min', 'max'])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[197]: frame.apply(f)</a:t>
            </a:r>
            <a:endParaRPr lang="zh-CN" altLang="en-US" sz="1400"/>
          </a:p>
          <a:p>
            <a:r>
              <a:rPr lang="zh-CN" altLang="en-US" sz="1400"/>
              <a:t>Out[197]: </a:t>
            </a:r>
            <a:endParaRPr lang="zh-CN" altLang="en-US" sz="1400"/>
          </a:p>
          <a:p>
            <a:r>
              <a:rPr lang="zh-CN" altLang="en-US" sz="1400"/>
              <a:t>            b         d         e</a:t>
            </a:r>
            <a:endParaRPr lang="zh-CN" altLang="en-US" sz="1400"/>
          </a:p>
          <a:p>
            <a:r>
              <a:rPr lang="zh-CN" altLang="en-US" sz="1400"/>
              <a:t>min -0.555730  0.281746 -1.296221</a:t>
            </a:r>
            <a:endParaRPr lang="zh-CN" altLang="en-US" sz="1400"/>
          </a:p>
          <a:p>
            <a:r>
              <a:rPr lang="zh-CN" altLang="en-US" sz="1400"/>
              <a:t>max  1.246435  1.965781  1.393406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5.2.6 函数应用和映射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元素级的Python函数也是可以用的。假如你想得到frame中各个浮点值的格式化字符串，使用applymap</a:t>
            </a:r>
          </a:p>
          <a:p>
            <a:pPr lvl="1"/>
            <a:r>
              <a:t>Series有一个用于应用元素级函数的map方法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17800" y="2709545"/>
            <a:ext cx="725360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[198]: format = lambda x: '%.2f' % x</a:t>
            </a:r>
            <a:endParaRPr lang="zh-CN" altLang="en-US" sz="1400"/>
          </a:p>
          <a:p>
            <a:r>
              <a:rPr lang="zh-CN" altLang="en-US" sz="1400"/>
              <a:t>In [199]: frame.applymap(format)</a:t>
            </a:r>
            <a:endParaRPr lang="zh-CN" altLang="en-US" sz="1400"/>
          </a:p>
          <a:p>
            <a:r>
              <a:rPr lang="zh-CN" altLang="en-US" sz="1400"/>
              <a:t>Out[199]: </a:t>
            </a:r>
            <a:endParaRPr lang="zh-CN" altLang="en-US" sz="1400"/>
          </a:p>
          <a:p>
            <a:r>
              <a:rPr lang="zh-CN" altLang="en-US" sz="1400"/>
              <a:t>            b     d      e</a:t>
            </a:r>
            <a:endParaRPr lang="zh-CN" altLang="en-US" sz="1400"/>
          </a:p>
          <a:p>
            <a:r>
              <a:rPr lang="zh-CN" altLang="en-US" sz="1400"/>
              <a:t>Utah    -0.20  0.48  -0.52</a:t>
            </a:r>
            <a:endParaRPr lang="zh-CN" altLang="en-US" sz="1400"/>
          </a:p>
          <a:p>
            <a:r>
              <a:rPr lang="zh-CN" altLang="en-US" sz="1400"/>
              <a:t>Ohio    -0.56  1.97   1.39</a:t>
            </a:r>
            <a:endParaRPr lang="zh-CN" altLang="en-US" sz="1400"/>
          </a:p>
          <a:p>
            <a:r>
              <a:rPr lang="zh-CN" altLang="en-US" sz="1400"/>
              <a:t>Texas    0.09  0.28   0.77</a:t>
            </a:r>
            <a:endParaRPr lang="zh-CN" altLang="en-US" sz="1400"/>
          </a:p>
          <a:p>
            <a:r>
              <a:rPr lang="zh-CN" altLang="en-US" sz="1400"/>
              <a:t>Oregon   1.25  1.01  -1.30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[200]: frame['e'].map(format)</a:t>
            </a:r>
            <a:endParaRPr lang="zh-CN" altLang="en-US" sz="1400"/>
          </a:p>
          <a:p>
            <a:r>
              <a:rPr lang="zh-CN" altLang="en-US" sz="1400"/>
              <a:t>Out[200]: </a:t>
            </a:r>
            <a:endParaRPr lang="zh-CN" altLang="en-US" sz="1400"/>
          </a:p>
          <a:p>
            <a:r>
              <a:rPr lang="zh-CN" altLang="en-US" sz="1400"/>
              <a:t>Utah      -0.52</a:t>
            </a:r>
            <a:endParaRPr lang="zh-CN" altLang="en-US" sz="1400"/>
          </a:p>
          <a:p>
            <a:r>
              <a:rPr lang="zh-CN" altLang="en-US" sz="1400"/>
              <a:t>Ohio       1.39</a:t>
            </a:r>
            <a:endParaRPr lang="zh-CN" altLang="en-US" sz="1400"/>
          </a:p>
          <a:p>
            <a:r>
              <a:rPr lang="zh-CN" altLang="en-US" sz="1400"/>
              <a:t>Texas      0.77</a:t>
            </a:r>
            <a:endParaRPr lang="zh-CN" altLang="en-US" sz="1400"/>
          </a:p>
          <a:p>
            <a:r>
              <a:rPr lang="zh-CN" altLang="en-US" sz="1400"/>
              <a:t>Oregon    -1.30</a:t>
            </a:r>
            <a:endParaRPr lang="zh-CN" altLang="en-US" sz="1400"/>
          </a:p>
          <a:p>
            <a:r>
              <a:rPr lang="zh-CN" altLang="en-US" sz="1400"/>
              <a:t>Name: e, dtype: object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5.2.7 排序和排名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根据条件对数据集排序（sorting）也是一种重要的内置运算。</a:t>
            </a:r>
          </a:p>
          <a:p>
            <a:pPr lvl="1"/>
            <a:r>
              <a:t>对行或列索引进行排序（按字典顺序），可使用sort_index方法，它将返回一个已排序的新对象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65910" y="2205355"/>
            <a:ext cx="10250170" cy="4184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[201]: obj = pd.Series(range(4), index=['d', 'a', 'b', 'c'])</a:t>
            </a:r>
            <a:endParaRPr lang="zh-CN" altLang="en-US" sz="1400"/>
          </a:p>
          <a:p>
            <a:r>
              <a:rPr lang="zh-CN" altLang="en-US" sz="1400"/>
              <a:t>In [202]: obj.sort_index()</a:t>
            </a:r>
            <a:endParaRPr lang="zh-CN" altLang="en-US" sz="1400"/>
          </a:p>
          <a:p>
            <a:r>
              <a:rPr lang="zh-CN" altLang="en-US" sz="1400"/>
              <a:t>Out[202]:</a:t>
            </a:r>
            <a:endParaRPr lang="zh-CN" altLang="en-US" sz="1400"/>
          </a:p>
          <a:p>
            <a:r>
              <a:rPr lang="zh-CN" altLang="en-US" sz="1400"/>
              <a:t>a    1</a:t>
            </a:r>
            <a:endParaRPr lang="zh-CN" altLang="en-US" sz="1400"/>
          </a:p>
          <a:p>
            <a:r>
              <a:rPr lang="zh-CN" altLang="en-US" sz="1400"/>
              <a:t>b    2</a:t>
            </a:r>
            <a:endParaRPr lang="zh-CN" altLang="en-US" sz="1400"/>
          </a:p>
          <a:p>
            <a:r>
              <a:rPr lang="zh-CN" altLang="en-US" sz="1400"/>
              <a:t>c    3</a:t>
            </a:r>
            <a:endParaRPr lang="zh-CN" altLang="en-US" sz="1400"/>
          </a:p>
          <a:p>
            <a:r>
              <a:rPr lang="zh-CN" altLang="en-US" sz="1400"/>
              <a:t>d    0</a:t>
            </a:r>
            <a:endParaRPr lang="zh-CN" altLang="en-US" sz="1400"/>
          </a:p>
          <a:p>
            <a:r>
              <a:rPr lang="zh-CN" altLang="en-US" sz="1400"/>
              <a:t>dtype: int64</a:t>
            </a:r>
            <a:endParaRPr lang="zh-CN" altLang="en-US" sz="1400"/>
          </a:p>
          <a:p>
            <a:r>
              <a:rPr lang="zh-CN" altLang="en-US" sz="1400"/>
              <a:t>In [203]: frame = pd.DataFrame(np.arange(8).reshape((2, 4)), index=['three', 'one'],columns=['d', 'a', 'b', 'c'])</a:t>
            </a:r>
            <a:endParaRPr lang="zh-CN" altLang="en-US" sz="1400"/>
          </a:p>
          <a:p>
            <a:r>
              <a:rPr lang="zh-CN" altLang="en-US" sz="1400"/>
              <a:t>In [204]: frame.sort_index()</a:t>
            </a:r>
            <a:endParaRPr lang="zh-CN" altLang="en-US" sz="1400"/>
          </a:p>
          <a:p>
            <a:r>
              <a:rPr lang="zh-CN" altLang="en-US" sz="1400"/>
              <a:t>Out[204]: </a:t>
            </a:r>
            <a:endParaRPr lang="zh-CN" altLang="en-US" sz="1400"/>
          </a:p>
          <a:p>
            <a:r>
              <a:rPr lang="zh-CN" altLang="en-US" sz="1400"/>
              <a:t>       d  a  b  c</a:t>
            </a:r>
            <a:endParaRPr lang="zh-CN" altLang="en-US" sz="1400"/>
          </a:p>
          <a:p>
            <a:r>
              <a:rPr lang="zh-CN" altLang="en-US" sz="1400"/>
              <a:t>one    4  5  6  7</a:t>
            </a:r>
            <a:endParaRPr lang="zh-CN" altLang="en-US" sz="1400"/>
          </a:p>
          <a:p>
            <a:r>
              <a:rPr lang="zh-CN" altLang="en-US" sz="1400"/>
              <a:t>three  0  1  2  3</a:t>
            </a:r>
            <a:endParaRPr lang="zh-CN" altLang="en-US" sz="1400"/>
          </a:p>
          <a:p>
            <a:r>
              <a:rPr lang="zh-CN" altLang="en-US" sz="1400"/>
              <a:t>In [205]: frame.sort_index(axis=1)</a:t>
            </a:r>
            <a:endParaRPr lang="zh-CN" altLang="en-US" sz="1400"/>
          </a:p>
          <a:p>
            <a:r>
              <a:rPr lang="zh-CN" altLang="en-US" sz="1400"/>
              <a:t>Out[205]:</a:t>
            </a:r>
            <a:endParaRPr lang="zh-CN" altLang="en-US" sz="1400"/>
          </a:p>
          <a:p>
            <a:r>
              <a:rPr lang="zh-CN" altLang="en-US" sz="1400"/>
              <a:t>       a  b  c  d</a:t>
            </a:r>
            <a:endParaRPr lang="zh-CN" altLang="en-US" sz="1400"/>
          </a:p>
          <a:p>
            <a:r>
              <a:rPr lang="zh-CN" altLang="en-US" sz="1400"/>
              <a:t>three  1  2  3  0</a:t>
            </a:r>
            <a:endParaRPr lang="zh-CN" altLang="en-US" sz="1400"/>
          </a:p>
          <a:p>
            <a:r>
              <a:rPr lang="zh-CN" altLang="en-US" sz="1400"/>
              <a:t>one    5  6  7  4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5382260" y="5013960"/>
            <a:ext cx="669671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[206]: frame.sort_index(axis=1, ascending=False)</a:t>
            </a:r>
            <a:endParaRPr lang="zh-CN" altLang="en-US" sz="1400"/>
          </a:p>
          <a:p>
            <a:r>
              <a:rPr lang="zh-CN" altLang="en-US" sz="1400"/>
              <a:t>Out[206]: </a:t>
            </a:r>
            <a:endParaRPr lang="zh-CN" altLang="en-US" sz="1400"/>
          </a:p>
          <a:p>
            <a:r>
              <a:rPr lang="zh-CN" altLang="en-US" sz="1400"/>
              <a:t>       d  c  b  a</a:t>
            </a:r>
            <a:endParaRPr lang="zh-CN" altLang="en-US" sz="1400"/>
          </a:p>
          <a:p>
            <a:r>
              <a:rPr lang="zh-CN" altLang="en-US" sz="1400"/>
              <a:t>three  0  3  2  1</a:t>
            </a:r>
            <a:endParaRPr lang="zh-CN" altLang="en-US" sz="1400"/>
          </a:p>
          <a:p>
            <a:r>
              <a:rPr lang="zh-CN" altLang="en-US" sz="1400"/>
              <a:t>one    4  7  6  5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5.2.7 排序和排名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根据条件对数据集排序（sorting）也是一种重要的内置运算。</a:t>
            </a:r>
          </a:p>
          <a:p>
            <a:pPr lvl="1"/>
            <a:r>
              <a:t>按值对Series进行排序，可使用其sort_values方法</a:t>
            </a:r>
          </a:p>
          <a:p>
            <a:pPr lvl="1"/>
            <a:r>
              <a:t>在排序时，任何缺失值默认都会被放到Series的末尾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86675" y="1413510"/>
            <a:ext cx="436054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In [207]: obj = pd.Series([4, 7, -3, 2])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>
                <a:sym typeface="+mn-ea"/>
              </a:rPr>
              <a:t>In [208]: obj.sort_values()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Out[208]: 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2   -3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3    2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0    4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1    7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dtype: int64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 [209]: obj = pd.Series([4, np.nan, 7, np.nan, -3, 2])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>
                <a:sym typeface="+mn-ea"/>
              </a:rPr>
              <a:t>In [210]: obj.sort_values()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Out[210]: 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4   -3.0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5    2.0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0    4.0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2    7.0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1    NaN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3    NaN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dtype: float64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5.2.7 排序和排名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根据条件对数据集排序（sorting）也是一种重要的内置运算。</a:t>
            </a:r>
          </a:p>
          <a:p>
            <a:pPr lvl="1"/>
            <a:r>
              <a:t>根据一个或多个列中的值进行排序。将一个或多个列的名字传递给sort_values的by选项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65910" y="2349500"/>
            <a:ext cx="5441950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In [211]: frame = pd.DataFrame({'b': [4, 7, -3, 2], 'a': [0, 1, 0, 1]})</a:t>
            </a:r>
            <a:endParaRPr lang="zh-CN" altLang="en-US" sz="1400">
              <a:sym typeface="+mn-ea"/>
            </a:endParaRPr>
          </a:p>
          <a:p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 [212]: frame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Out[212]: 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   a  b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0  0  4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1  1  7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2  0 -3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3  1  2</a:t>
            </a:r>
            <a:endParaRPr lang="zh-CN" altLang="en-US" sz="1400">
              <a:sym typeface="+mn-ea"/>
            </a:endParaRPr>
          </a:p>
          <a:p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 [213]: frame.sort_values(by='b')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Out[213]: 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   a  b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2  0 -3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3  1  2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0  0  4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1  1  7</a:t>
            </a:r>
            <a:endParaRPr lang="zh-CN" altLang="en-US" sz="14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0095" y="2349500"/>
            <a:ext cx="471614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[214]: frame.sort_values(by=['a', 'b'])</a:t>
            </a:r>
            <a:endParaRPr lang="zh-CN" altLang="en-US" sz="1400"/>
          </a:p>
          <a:p>
            <a:r>
              <a:rPr lang="zh-CN" altLang="en-US" sz="1400"/>
              <a:t>Out[214]: </a:t>
            </a:r>
            <a:endParaRPr lang="zh-CN" altLang="en-US" sz="1400"/>
          </a:p>
          <a:p>
            <a:r>
              <a:rPr lang="zh-CN" altLang="en-US" sz="1400"/>
              <a:t>   a  b</a:t>
            </a:r>
            <a:endParaRPr lang="zh-CN" altLang="en-US" sz="1400"/>
          </a:p>
          <a:p>
            <a:r>
              <a:rPr lang="zh-CN" altLang="en-US" sz="1400"/>
              <a:t>2  0 -3</a:t>
            </a:r>
            <a:endParaRPr lang="zh-CN" altLang="en-US" sz="1400"/>
          </a:p>
          <a:p>
            <a:r>
              <a:rPr lang="zh-CN" altLang="en-US" sz="1400"/>
              <a:t>0  0  4</a:t>
            </a:r>
            <a:endParaRPr lang="zh-CN" altLang="en-US" sz="1400"/>
          </a:p>
          <a:p>
            <a:r>
              <a:rPr lang="zh-CN" altLang="en-US" sz="1400"/>
              <a:t>3  1  2</a:t>
            </a:r>
            <a:endParaRPr lang="zh-CN" altLang="en-US" sz="1400"/>
          </a:p>
          <a:p>
            <a:r>
              <a:rPr lang="zh-CN" altLang="en-US" sz="1400"/>
              <a:t>1  1  7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5.2.7 排序和排名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排名会从1开始一直到数组中有效数据的数量。</a:t>
            </a:r>
          </a:p>
          <a:p>
            <a:pPr lvl="1"/>
            <a:r>
              <a:t>默认情况下，rank是通过“为各组分配一个平均排名”的方式破坏平级关系的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65910" y="2349500"/>
            <a:ext cx="544195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In [215]: obj = pd.Series([7, -5, 7, 4, 2, 0, 4])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 [216]: obj.rank()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Out[216]: 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0    6.5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1    1.0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2    6.5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3    4.5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4    3.0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5    2.0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6    4.5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dtype: float64</a:t>
            </a:r>
            <a:endParaRPr lang="zh-CN" altLang="en-US" sz="14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34150" y="2349500"/>
            <a:ext cx="493014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[217]: obj.rank(method='first')</a:t>
            </a:r>
            <a:endParaRPr lang="zh-CN" altLang="en-US" sz="1400"/>
          </a:p>
          <a:p>
            <a:r>
              <a:rPr lang="zh-CN" altLang="en-US" sz="1400"/>
              <a:t>Out[217]: </a:t>
            </a:r>
            <a:endParaRPr lang="zh-CN" altLang="en-US" sz="1400"/>
          </a:p>
          <a:p>
            <a:r>
              <a:rPr lang="zh-CN" altLang="en-US" sz="1400"/>
              <a:t>0    6.0</a:t>
            </a:r>
            <a:endParaRPr lang="zh-CN" altLang="en-US" sz="1400"/>
          </a:p>
          <a:p>
            <a:r>
              <a:rPr lang="zh-CN" altLang="en-US" sz="1400"/>
              <a:t>1    1.0</a:t>
            </a:r>
            <a:endParaRPr lang="zh-CN" altLang="en-US" sz="1400"/>
          </a:p>
          <a:p>
            <a:r>
              <a:rPr lang="zh-CN" altLang="en-US" sz="1400"/>
              <a:t>2    7.0</a:t>
            </a:r>
            <a:endParaRPr lang="zh-CN" altLang="en-US" sz="1400"/>
          </a:p>
          <a:p>
            <a:r>
              <a:rPr lang="zh-CN" altLang="en-US" sz="1400"/>
              <a:t>3    4.0</a:t>
            </a:r>
            <a:endParaRPr lang="zh-CN" altLang="en-US" sz="1400"/>
          </a:p>
          <a:p>
            <a:r>
              <a:rPr lang="zh-CN" altLang="en-US" sz="1400"/>
              <a:t>4    3.0</a:t>
            </a:r>
            <a:endParaRPr lang="zh-CN" altLang="en-US" sz="1400"/>
          </a:p>
          <a:p>
            <a:r>
              <a:rPr lang="zh-CN" altLang="en-US" sz="1400"/>
              <a:t>5    2.0</a:t>
            </a:r>
            <a:endParaRPr lang="zh-CN" altLang="en-US" sz="1400"/>
          </a:p>
          <a:p>
            <a:r>
              <a:rPr lang="zh-CN" altLang="en-US" sz="1400"/>
              <a:t>6    5.0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5.2.7 排序和排名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排名会从1开始一直到数组中有效数据的数量。</a:t>
            </a:r>
          </a:p>
          <a:p>
            <a:pPr lvl="1"/>
            <a:r>
              <a:t>按降序进行排名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65910" y="2349500"/>
            <a:ext cx="544195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# Assign tie values the maximum rank in the group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 [218]: obj.rank(ascending=False, method='max')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Out[218]: 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0    2.0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1    7.0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2    2.0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3    4.0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4    5.0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5    6.0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6    4.0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dtype: float64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5.2.7 排序和排名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排名会从1开始一直到数组中有效数据的数量。</a:t>
            </a:r>
          </a:p>
          <a:p>
            <a:pPr lvl="1"/>
            <a:r>
              <a:t>DataFrame可以在行或列上计算排名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65910" y="2349500"/>
            <a:ext cx="8817610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In [219]: frame = pd.DataFrame({'b': [4.3, 7, -3, 2], 'a': [0, 1, 0, 1],</a:t>
            </a:r>
            <a:r>
              <a:rPr lang="en-US"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 'c': [-2, 5, 8, -2.5]})</a:t>
            </a:r>
            <a:endParaRPr lang="zh-CN" altLang="en-US" sz="1400">
              <a:sym typeface="+mn-ea"/>
            </a:endParaRPr>
          </a:p>
          <a:p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 [220]: frame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Out[220]: 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   a    b    c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0  0  4.3 -2.0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1  1  7.0  5.0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2  0 -3.0  8.0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3  1  2.0 -2.5</a:t>
            </a:r>
            <a:endParaRPr lang="zh-CN" altLang="en-US" sz="1400">
              <a:sym typeface="+mn-ea"/>
            </a:endParaRPr>
          </a:p>
          <a:p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 [221]: frame.rank(axis='columns')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Out[221]: 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     a    b    c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0  2.0  3.0  1.0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1  1.0  3.0  2.0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2  2.0  1.0  3.0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3  2.0  3.0  1.0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5.2.7 排序和排名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排名会从1开始一直到数组中有效数据的数量。</a:t>
            </a:r>
          </a:p>
          <a:p>
            <a:pPr lvl="1"/>
            <a:r>
              <a:t>所有用于破坏平级关系的method选项</a:t>
            </a:r>
          </a:p>
        </p:txBody>
      </p:sp>
      <p:pic>
        <p:nvPicPr>
          <p:cNvPr id="4" name="图片 3" descr="ran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0190" y="2637155"/>
            <a:ext cx="7535545" cy="2585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5.2.8 带有重复标签的轴索引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排名会从1开始一直到数组中有效数据的数量。</a:t>
            </a:r>
          </a:p>
          <a:p>
            <a:pPr lvl="1"/>
            <a:r>
              <a:t>所有用于破坏平级关系的method选项</a:t>
            </a:r>
          </a:p>
        </p:txBody>
      </p:sp>
      <p:pic>
        <p:nvPicPr>
          <p:cNvPr id="4" name="图片 3" descr="ran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0190" y="2637155"/>
            <a:ext cx="7535545" cy="2585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10801,&quot;width&quot;:18331}"/>
</p:tagLst>
</file>

<file path=ppt/theme/theme1.xml><?xml version="1.0" encoding="utf-8"?>
<a:theme xmlns:a="http://schemas.openxmlformats.org/drawingml/2006/main" name="Office 主题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25453</Words>
  <Application>WPS 演示</Application>
  <PresentationFormat>自定义</PresentationFormat>
  <Paragraphs>1590</Paragraphs>
  <Slides>69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8" baseType="lpstr">
      <vt:lpstr>Arial</vt:lpstr>
      <vt:lpstr>宋体</vt:lpstr>
      <vt:lpstr>Wingdings</vt:lpstr>
      <vt:lpstr>Arial Unicode MS</vt:lpstr>
      <vt:lpstr>微软雅黑</vt:lpstr>
      <vt:lpstr>Arial Black</vt:lpstr>
      <vt:lpstr>Arial Unicode MS</vt:lpstr>
      <vt:lpstr>Calibri</vt:lpstr>
      <vt:lpstr>Office 主题</vt:lpstr>
      <vt:lpstr>https://www.jianshu.com/p/04d180d90a3f</vt:lpstr>
      <vt:lpstr>Pandas入门大纲</vt:lpstr>
      <vt:lpstr>Pandas简介</vt:lpstr>
      <vt:lpstr>5.1 pandas数据结构介绍</vt:lpstr>
      <vt:lpstr>5.1.1 Series</vt:lpstr>
      <vt:lpstr>5.1.1 Series</vt:lpstr>
      <vt:lpstr>5.1.1 Series</vt:lpstr>
      <vt:lpstr>5.1.1 Series</vt:lpstr>
      <vt:lpstr>5.1.1 Series</vt:lpstr>
      <vt:lpstr>5.1.1 Series</vt:lpstr>
      <vt:lpstr>5.1.1 Series</vt:lpstr>
      <vt:lpstr>5.1.1 Series</vt:lpstr>
      <vt:lpstr>5.1.2 DataFrame</vt:lpstr>
      <vt:lpstr>5.1.2 DataFrame</vt:lpstr>
      <vt:lpstr>5.1.2 DataFrame</vt:lpstr>
      <vt:lpstr>5.1.2 DataFrame</vt:lpstr>
      <vt:lpstr>5.1.2 DataFrame</vt:lpstr>
      <vt:lpstr>5.1.2 DataFrame</vt:lpstr>
      <vt:lpstr>5.1.2 DataFrame</vt:lpstr>
      <vt:lpstr>5.1.2 DataFrame</vt:lpstr>
      <vt:lpstr>5.1.2 DataFrame</vt:lpstr>
      <vt:lpstr>5.1.2 DataFrame</vt:lpstr>
      <vt:lpstr>5.1.2 DataFrame</vt:lpstr>
      <vt:lpstr>5.1.2 DataFrame</vt:lpstr>
      <vt:lpstr>5.1.2 DataFrame</vt:lpstr>
      <vt:lpstr>5.1.3 索引对象</vt:lpstr>
      <vt:lpstr>5.1.3 索引对象</vt:lpstr>
      <vt:lpstr>5.1.3 索引对象</vt:lpstr>
      <vt:lpstr>5.1.3 索引对象</vt:lpstr>
      <vt:lpstr>5.2 基本功能</vt:lpstr>
      <vt:lpstr>5.2.1 重建索引</vt:lpstr>
      <vt:lpstr>5.2.1 重建索引</vt:lpstr>
      <vt:lpstr>5.2.1 重建索引</vt:lpstr>
      <vt:lpstr>5.2.1 重建索引</vt:lpstr>
      <vt:lpstr>5.2.2 轴向上删除条目</vt:lpstr>
      <vt:lpstr>5.2.2 轴向上删除条目</vt:lpstr>
      <vt:lpstr>5.2.2 轴向上删除条目</vt:lpstr>
      <vt:lpstr>5.2.3 索引、选取和过滤</vt:lpstr>
      <vt:lpstr>5.2.3 索引、选取和过滤</vt:lpstr>
      <vt:lpstr>5.2.3 索引、选取和过滤</vt:lpstr>
      <vt:lpstr>5.2.3 索引、选取和过滤</vt:lpstr>
      <vt:lpstr>5.2.3 索引、选取和过滤</vt:lpstr>
      <vt:lpstr>5.2.3 索引、选取和过滤</vt:lpstr>
      <vt:lpstr>5.2.3 索引、选取和过滤</vt:lpstr>
      <vt:lpstr>5.2.4 整数索引</vt:lpstr>
      <vt:lpstr>5.2.5 算术和数据对齐</vt:lpstr>
      <vt:lpstr>5.2.5 算术和数据对齐</vt:lpstr>
      <vt:lpstr>5.2.5 算术和数据对齐</vt:lpstr>
      <vt:lpstr>5.2.5 算术和数据对齐</vt:lpstr>
      <vt:lpstr>5.2.5 算术和数据对齐</vt:lpstr>
      <vt:lpstr>5.2.5 算术和数据对齐</vt:lpstr>
      <vt:lpstr>5.2.5 算术和数据对齐</vt:lpstr>
      <vt:lpstr>5.2.5 算术和数据对齐</vt:lpstr>
      <vt:lpstr>5.2.5 算术和数据对齐</vt:lpstr>
      <vt:lpstr>5.2.5 算术和数据对齐</vt:lpstr>
      <vt:lpstr>5.2.5 算术和数据对齐</vt:lpstr>
      <vt:lpstr>5.2.5 算术和数据对齐</vt:lpstr>
      <vt:lpstr>5.2.6 函数应用和映射</vt:lpstr>
      <vt:lpstr>5.2.6 函数应用和映射</vt:lpstr>
      <vt:lpstr>5.2.6 函数应用和映射</vt:lpstr>
      <vt:lpstr>5.2.6 函数应用和映射</vt:lpstr>
      <vt:lpstr>5.2.7 排序和排名</vt:lpstr>
      <vt:lpstr>5.2.7 排序和排名</vt:lpstr>
      <vt:lpstr>5.2.7 排序和排名</vt:lpstr>
      <vt:lpstr>5.2.7 排序和排名</vt:lpstr>
      <vt:lpstr>5.2.7 排序和排名</vt:lpstr>
      <vt:lpstr>5.2.7 排序和排名</vt:lpstr>
      <vt:lpstr>5.2.7 排序和排名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赵伟</dc:creator>
  <cp:lastModifiedBy>赵伟</cp:lastModifiedBy>
  <cp:revision>886</cp:revision>
  <cp:lastPrinted>2012-03-16T05:44:00Z</cp:lastPrinted>
  <dcterms:created xsi:type="dcterms:W3CDTF">2020-09-20T02:01:00Z</dcterms:created>
  <dcterms:modified xsi:type="dcterms:W3CDTF">2021-09-22T10:13:09Z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92449C1792324EFFB02AA4E7FE5BF20A</vt:lpwstr>
  </property>
</Properties>
</file>