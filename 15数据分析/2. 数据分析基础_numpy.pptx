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4"/>
  </p:notesMasterIdLst>
  <p:handoutMasterIdLst>
    <p:handoutMasterId r:id="rId75"/>
  </p:handoutMasterIdLst>
  <p:sldIdLst>
    <p:sldId id="256" r:id="rId3"/>
    <p:sldId id="368" r:id="rId4"/>
    <p:sldId id="401" r:id="rId5"/>
    <p:sldId id="402" r:id="rId6"/>
    <p:sldId id="391" r:id="rId7"/>
    <p:sldId id="392" r:id="rId8"/>
    <p:sldId id="414" r:id="rId9"/>
    <p:sldId id="393" r:id="rId10"/>
    <p:sldId id="394" r:id="rId11"/>
    <p:sldId id="395" r:id="rId12"/>
    <p:sldId id="396" r:id="rId13"/>
    <p:sldId id="397" r:id="rId14"/>
    <p:sldId id="419" r:id="rId15"/>
    <p:sldId id="420" r:id="rId16"/>
    <p:sldId id="421" r:id="rId17"/>
    <p:sldId id="415" r:id="rId18"/>
    <p:sldId id="422" r:id="rId19"/>
    <p:sldId id="423" r:id="rId20"/>
    <p:sldId id="416" r:id="rId21"/>
    <p:sldId id="424" r:id="rId22"/>
    <p:sldId id="425" r:id="rId23"/>
    <p:sldId id="426" r:id="rId24"/>
    <p:sldId id="427" r:id="rId25"/>
    <p:sldId id="428" r:id="rId26"/>
    <p:sldId id="429" r:id="rId27"/>
    <p:sldId id="430" r:id="rId28"/>
    <p:sldId id="417" r:id="rId29"/>
    <p:sldId id="431" r:id="rId30"/>
    <p:sldId id="432" r:id="rId31"/>
    <p:sldId id="433" r:id="rId32"/>
    <p:sldId id="440" r:id="rId33"/>
    <p:sldId id="434" r:id="rId34"/>
    <p:sldId id="441" r:id="rId35"/>
    <p:sldId id="442" r:id="rId36"/>
    <p:sldId id="443" r:id="rId37"/>
    <p:sldId id="444" r:id="rId38"/>
    <p:sldId id="445" r:id="rId39"/>
    <p:sldId id="446" r:id="rId40"/>
    <p:sldId id="447" r:id="rId41"/>
    <p:sldId id="448" r:id="rId42"/>
    <p:sldId id="449" r:id="rId43"/>
    <p:sldId id="450" r:id="rId44"/>
    <p:sldId id="451" r:id="rId45"/>
    <p:sldId id="452" r:id="rId46"/>
    <p:sldId id="453" r:id="rId47"/>
    <p:sldId id="455" r:id="rId48"/>
    <p:sldId id="457" r:id="rId49"/>
    <p:sldId id="459" r:id="rId50"/>
    <p:sldId id="458" r:id="rId51"/>
    <p:sldId id="460" r:id="rId52"/>
    <p:sldId id="461" r:id="rId53"/>
    <p:sldId id="462" r:id="rId54"/>
    <p:sldId id="463" r:id="rId55"/>
    <p:sldId id="464" r:id="rId56"/>
    <p:sldId id="465" r:id="rId57"/>
    <p:sldId id="466" r:id="rId58"/>
    <p:sldId id="467" r:id="rId59"/>
    <p:sldId id="468" r:id="rId60"/>
    <p:sldId id="469" r:id="rId61"/>
    <p:sldId id="470" r:id="rId62"/>
    <p:sldId id="471" r:id="rId63"/>
    <p:sldId id="472" r:id="rId64"/>
    <p:sldId id="473" r:id="rId65"/>
    <p:sldId id="474" r:id="rId66"/>
    <p:sldId id="475" r:id="rId67"/>
    <p:sldId id="476" r:id="rId68"/>
    <p:sldId id="477" r:id="rId69"/>
    <p:sldId id="478" r:id="rId70"/>
    <p:sldId id="479" r:id="rId71"/>
    <p:sldId id="480" r:id="rId72"/>
    <p:sldId id="265" r:id="rId73"/>
  </p:sldIdLst>
  <p:sldSz cx="12204700" cy="6859270"/>
  <p:notesSz cx="9144000" cy="6858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54483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1089025"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633855"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2178685"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723515" algn="l" defTabSz="1089025"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3267710" algn="l" defTabSz="1089025"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812540" algn="l" defTabSz="1089025"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4357370" algn="l" defTabSz="1089025"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33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50" autoAdjust="0"/>
    <p:restoredTop sz="96552" autoAdjust="0"/>
  </p:normalViewPr>
  <p:slideViewPr>
    <p:cSldViewPr>
      <p:cViewPr varScale="1">
        <p:scale>
          <a:sx n="81" d="100"/>
          <a:sy n="81" d="100"/>
        </p:scale>
        <p:origin x="96" y="834"/>
      </p:cViewPr>
      <p:guideLst>
        <p:guide orient="horz" pos="2160"/>
        <p:guide pos="3858"/>
      </p:guideLst>
    </p:cSldViewPr>
  </p:slideViewPr>
  <p:notesTextViewPr>
    <p:cViewPr>
      <p:scale>
        <a:sx n="100" d="100"/>
        <a:sy n="100" d="100"/>
      </p:scale>
      <p:origin x="0" y="0"/>
    </p:cViewPr>
  </p:notesTextViewPr>
  <p:sorterViewPr>
    <p:cViewPr>
      <p:scale>
        <a:sx n="100" d="100"/>
        <a:sy n="100" d="100"/>
      </p:scale>
      <p:origin x="0" y="-6126"/>
    </p:cViewPr>
  </p:sorterViewPr>
  <p:notesViewPr>
    <p:cSldViewPr>
      <p:cViewPr varScale="1">
        <p:scale>
          <a:sx n="87" d="100"/>
          <a:sy n="87" d="100"/>
        </p:scale>
        <p:origin x="2064" y="58"/>
      </p:cViewPr>
      <p:guideLst>
        <p:guide orient="horz" pos="2160"/>
        <p:guide pos="289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notesMaster" Target="notesMasters/notesMaster1.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E60E44AF-0D8D-4B66-BECC-4D5B9292E151}" type="datetimeFigureOut">
              <a:rPr lang="zh-CN" altLang="en-US"/>
            </a:fld>
            <a:endParaRPr lang="zh-CN" altLang="en-US"/>
          </a:p>
        </p:txBody>
      </p:sp>
      <p:sp>
        <p:nvSpPr>
          <p:cNvPr id="4" name="页脚占位符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C3C35A87-E971-49BF-8F02-A5CE2B85C743}"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180013" y="0"/>
            <a:ext cx="3962400" cy="3429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7119A08-1D2F-470C-8FD3-E69459F4B57D}" type="datetimeFigureOut">
              <a:rPr lang="zh-CN" altLang="en-US"/>
            </a:fld>
            <a:endParaRPr lang="zh-CN" altLang="en-US"/>
          </a:p>
        </p:txBody>
      </p:sp>
      <p:sp>
        <p:nvSpPr>
          <p:cNvPr id="4" name="幻灯片图像占位符 3"/>
          <p:cNvSpPr>
            <a:spLocks noGrp="1" noRot="1" noChangeAspect="1"/>
          </p:cNvSpPr>
          <p:nvPr>
            <p:ph type="sldImg" idx="2"/>
          </p:nvPr>
        </p:nvSpPr>
        <p:spPr>
          <a:xfrm>
            <a:off x="2284413" y="514350"/>
            <a:ext cx="4575175" cy="25717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06004EB-C740-4F3D-A864-243FCB14D11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mn-lt"/>
        <a:ea typeface="+mn-ea"/>
        <a:cs typeface="+mn-cs"/>
      </a:defRPr>
    </a:lvl1pPr>
    <a:lvl2pPr marL="544830" algn="l" rtl="0" eaLnBrk="0" fontAlgn="base" hangingPunct="0">
      <a:spcBef>
        <a:spcPct val="30000"/>
      </a:spcBef>
      <a:spcAft>
        <a:spcPct val="0"/>
      </a:spcAft>
      <a:defRPr sz="1400" kern="1200">
        <a:solidFill>
          <a:schemeClr val="tx1"/>
        </a:solidFill>
        <a:latin typeface="+mn-lt"/>
        <a:ea typeface="+mn-ea"/>
        <a:cs typeface="+mn-cs"/>
      </a:defRPr>
    </a:lvl2pPr>
    <a:lvl3pPr marL="1089025" algn="l" rtl="0" eaLnBrk="0" fontAlgn="base" hangingPunct="0">
      <a:spcBef>
        <a:spcPct val="30000"/>
      </a:spcBef>
      <a:spcAft>
        <a:spcPct val="0"/>
      </a:spcAft>
      <a:defRPr sz="1400" kern="1200">
        <a:solidFill>
          <a:schemeClr val="tx1"/>
        </a:solidFill>
        <a:latin typeface="+mn-lt"/>
        <a:ea typeface="+mn-ea"/>
        <a:cs typeface="+mn-cs"/>
      </a:defRPr>
    </a:lvl3pPr>
    <a:lvl4pPr marL="1633855" algn="l" rtl="0" eaLnBrk="0" fontAlgn="base" hangingPunct="0">
      <a:spcBef>
        <a:spcPct val="30000"/>
      </a:spcBef>
      <a:spcAft>
        <a:spcPct val="0"/>
      </a:spcAft>
      <a:defRPr sz="1400" kern="1200">
        <a:solidFill>
          <a:schemeClr val="tx1"/>
        </a:solidFill>
        <a:latin typeface="+mn-lt"/>
        <a:ea typeface="+mn-ea"/>
        <a:cs typeface="+mn-cs"/>
      </a:defRPr>
    </a:lvl4pPr>
    <a:lvl5pPr marL="2178685" algn="l" rtl="0" eaLnBrk="0" fontAlgn="base" hangingPunct="0">
      <a:spcBef>
        <a:spcPct val="30000"/>
      </a:spcBef>
      <a:spcAft>
        <a:spcPct val="0"/>
      </a:spcAft>
      <a:defRPr sz="1400" kern="1200">
        <a:solidFill>
          <a:schemeClr val="tx1"/>
        </a:solidFill>
        <a:latin typeface="+mn-lt"/>
        <a:ea typeface="+mn-ea"/>
        <a:cs typeface="+mn-cs"/>
      </a:defRPr>
    </a:lvl5pPr>
    <a:lvl6pPr marL="2723515" algn="l" defTabSz="1089025" rtl="0" eaLnBrk="1" latinLnBrk="0" hangingPunct="1">
      <a:defRPr sz="1400" kern="1200">
        <a:solidFill>
          <a:schemeClr val="tx1"/>
        </a:solidFill>
        <a:latin typeface="+mn-lt"/>
        <a:ea typeface="+mn-ea"/>
        <a:cs typeface="+mn-cs"/>
      </a:defRPr>
    </a:lvl6pPr>
    <a:lvl7pPr marL="3267710" algn="l" defTabSz="1089025" rtl="0" eaLnBrk="1" latinLnBrk="0" hangingPunct="1">
      <a:defRPr sz="1400" kern="1200">
        <a:solidFill>
          <a:schemeClr val="tx1"/>
        </a:solidFill>
        <a:latin typeface="+mn-lt"/>
        <a:ea typeface="+mn-ea"/>
        <a:cs typeface="+mn-cs"/>
      </a:defRPr>
    </a:lvl7pPr>
    <a:lvl8pPr marL="3812540" algn="l" defTabSz="1089025" rtl="0" eaLnBrk="1" latinLnBrk="0" hangingPunct="1">
      <a:defRPr sz="1400" kern="1200">
        <a:solidFill>
          <a:schemeClr val="tx1"/>
        </a:solidFill>
        <a:latin typeface="+mn-lt"/>
        <a:ea typeface="+mn-ea"/>
        <a:cs typeface="+mn-cs"/>
      </a:defRPr>
    </a:lvl8pPr>
    <a:lvl9pPr marL="4357370" algn="l" defTabSz="1089025"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4" name="页脚占位符 4"/>
          <p:cNvSpPr txBox="1"/>
          <p:nvPr userDrawn="1"/>
        </p:nvSpPr>
        <p:spPr>
          <a:xfrm>
            <a:off x="239599" y="6434041"/>
            <a:ext cx="4228870" cy="365210"/>
          </a:xfrm>
          <a:prstGeom prst="rect">
            <a:avLst/>
          </a:prstGeom>
        </p:spPr>
        <p:txBody>
          <a:bodyPr lIns="108932" tIns="54466" rIns="108932" bIns="54466" anchor="ctr"/>
          <a:lstStyle>
            <a:lvl1pPr algn="ctr">
              <a:defRPr sz="1200">
                <a:solidFill>
                  <a:schemeClr val="tx1">
                    <a:tint val="75000"/>
                  </a:schemeClr>
                </a:solidFill>
              </a:defRPr>
            </a:lvl1pPr>
          </a:lstStyle>
          <a:p>
            <a:pPr algn="l" fontAlgn="auto">
              <a:spcBef>
                <a:spcPts val="0"/>
              </a:spcBef>
              <a:spcAft>
                <a:spcPts val="0"/>
              </a:spcAft>
              <a:defRPr/>
            </a:pPr>
            <a:r>
              <a:rPr lang="zh-CN" altLang="en-US" sz="1300" dirty="0">
                <a:latin typeface="Arial Unicode MS" pitchFamily="34" charset="-122"/>
                <a:ea typeface="Arial Unicode MS" pitchFamily="34" charset="-122"/>
                <a:cs typeface="Arial Unicode MS" pitchFamily="34" charset="-122"/>
              </a:rPr>
              <a:t>数据分析基础</a:t>
            </a:r>
            <a:r>
              <a:rPr lang="en-US" altLang="zh-CN" sz="1300" dirty="0">
                <a:latin typeface="Arial Unicode MS" pitchFamily="34" charset="-122"/>
                <a:ea typeface="Arial Unicode MS" pitchFamily="34" charset="-122"/>
                <a:cs typeface="Arial Unicode MS" pitchFamily="34" charset="-122"/>
              </a:rPr>
              <a:t>        </a:t>
            </a:r>
            <a:r>
              <a:rPr lang="zh-CN" altLang="en-US" sz="1300" dirty="0">
                <a:latin typeface="Arial Unicode MS" pitchFamily="34" charset="-122"/>
                <a:ea typeface="Arial Unicode MS" pitchFamily="34" charset="-122"/>
                <a:cs typeface="Arial Unicode MS" pitchFamily="34" charset="-122"/>
              </a:rPr>
              <a:t>讲师    赵伟</a:t>
            </a:r>
            <a:endParaRPr lang="en-US" altLang="zh-CN" sz="1300" dirty="0">
              <a:latin typeface="Arial Unicode MS" pitchFamily="34" charset="-122"/>
              <a:ea typeface="Arial Unicode MS" pitchFamily="34" charset="-122"/>
              <a:cs typeface="Arial Unicode MS" pitchFamily="34" charset="-122"/>
            </a:endParaRPr>
          </a:p>
        </p:txBody>
      </p:sp>
      <p:grpSp>
        <p:nvGrpSpPr>
          <p:cNvPr id="5" name="组合 19"/>
          <p:cNvGrpSpPr/>
          <p:nvPr userDrawn="1"/>
        </p:nvGrpSpPr>
        <p:grpSpPr bwMode="auto">
          <a:xfrm>
            <a:off x="0" y="6238758"/>
            <a:ext cx="12204700" cy="273832"/>
            <a:chOff x="0" y="6237927"/>
            <a:chExt cx="9144000" cy="272911"/>
          </a:xfrm>
        </p:grpSpPr>
        <p:cxnSp>
          <p:nvCxnSpPr>
            <p:cNvPr id="6" name="直接连接符 5"/>
            <p:cNvCxnSpPr>
              <a:endCxn id="7" idx="1"/>
            </p:cNvCxnSpPr>
            <p:nvPr userDrawn="1"/>
          </p:nvCxnSpPr>
          <p:spPr>
            <a:xfrm flipV="1">
              <a:off x="0" y="6374383"/>
              <a:ext cx="3275856" cy="7109"/>
            </a:xfrm>
            <a:prstGeom prst="line">
              <a:avLst/>
            </a:prstGeom>
            <a:ln>
              <a:solidFill>
                <a:schemeClr val="accent4">
                  <a:lumMod val="50000"/>
                </a:schemeClr>
              </a:solidFill>
            </a:ln>
          </p:spPr>
          <p:style>
            <a:lnRef idx="1">
              <a:schemeClr val="dk1"/>
            </a:lnRef>
            <a:fillRef idx="0">
              <a:schemeClr val="dk1"/>
            </a:fillRef>
            <a:effectRef idx="0">
              <a:schemeClr val="dk1"/>
            </a:effectRef>
            <a:fontRef idx="minor">
              <a:schemeClr val="tx1"/>
            </a:fontRef>
          </p:style>
        </p:cxnSp>
        <p:cxnSp>
          <p:nvCxnSpPr>
            <p:cNvPr id="8" name="直接连接符 7"/>
            <p:cNvCxnSpPr>
              <a:stCxn id="7" idx="3"/>
            </p:cNvCxnSpPr>
            <p:nvPr userDrawn="1"/>
          </p:nvCxnSpPr>
          <p:spPr>
            <a:xfrm>
              <a:off x="5826944" y="6374383"/>
              <a:ext cx="3317056" cy="7109"/>
            </a:xfrm>
            <a:prstGeom prst="line">
              <a:avLst/>
            </a:prstGeom>
            <a:ln>
              <a:solidFill>
                <a:schemeClr val="accent4">
                  <a:lumMod val="50000"/>
                </a:schemeClr>
              </a:solidFill>
            </a:ln>
          </p:spPr>
          <p:style>
            <a:lnRef idx="1">
              <a:schemeClr val="dk1"/>
            </a:lnRef>
            <a:fillRef idx="0">
              <a:schemeClr val="dk1"/>
            </a:fillRef>
            <a:effectRef idx="0">
              <a:schemeClr val="dk1"/>
            </a:effectRef>
            <a:fontRef idx="minor">
              <a:schemeClr val="tx1"/>
            </a:fontRef>
          </p:style>
        </p:cxnSp>
        <p:sp>
          <p:nvSpPr>
            <p:cNvPr id="7" name="矩形 6"/>
            <p:cNvSpPr/>
            <p:nvPr userDrawn="1"/>
          </p:nvSpPr>
          <p:spPr>
            <a:xfrm>
              <a:off x="3275856" y="6237927"/>
              <a:ext cx="2551088" cy="272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1400" b="1" dirty="0">
                  <a:solidFill>
                    <a:schemeClr val="accent4">
                      <a:lumMod val="50000"/>
                    </a:schemeClr>
                  </a:solidFill>
                </a:rPr>
                <a:t>数据分析基础</a:t>
              </a:r>
              <a:endParaRPr lang="zh-CN" altLang="en-US" sz="1300" b="1" dirty="0">
                <a:solidFill>
                  <a:schemeClr val="accent4">
                    <a:lumMod val="50000"/>
                  </a:schemeClr>
                </a:solidFill>
              </a:endParaRPr>
            </a:p>
          </p:txBody>
        </p:sp>
      </p:grpSp>
      <p:sp>
        <p:nvSpPr>
          <p:cNvPr id="2" name="标题 1"/>
          <p:cNvSpPr>
            <a:spLocks noGrp="1"/>
          </p:cNvSpPr>
          <p:nvPr>
            <p:ph type="ctrTitle"/>
          </p:nvPr>
        </p:nvSpPr>
        <p:spPr>
          <a:xfrm>
            <a:off x="915353" y="2929613"/>
            <a:ext cx="10373995" cy="928910"/>
          </a:xfrm>
        </p:spPr>
        <p:txBody>
          <a:bodyPr>
            <a:normAutofit/>
          </a:bodyPr>
          <a:lstStyle>
            <a:lvl1pPr algn="l">
              <a:defRPr sz="43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915353" y="3887100"/>
            <a:ext cx="8543290" cy="685967"/>
          </a:xfrm>
        </p:spPr>
        <p:txBody>
          <a:bodyPr anchor="ctr">
            <a:normAutofit/>
          </a:bodyPr>
          <a:lstStyle>
            <a:lvl1pPr marL="0" indent="0" algn="l">
              <a:buNone/>
              <a:defRPr sz="1700" b="1">
                <a:solidFill>
                  <a:schemeClr val="tx1">
                    <a:tint val="75000"/>
                  </a:schemeClr>
                </a:solidFill>
                <a:latin typeface="+mn-ea"/>
                <a:ea typeface="+mn-ea"/>
                <a:sym typeface="Wingdings" panose="05000000000000000000" pitchFamily="2" charset="2"/>
              </a:defRPr>
            </a:lvl1pPr>
            <a:lvl2pPr marL="544830" indent="0" algn="ctr">
              <a:buNone/>
              <a:defRPr>
                <a:solidFill>
                  <a:schemeClr val="tx1">
                    <a:tint val="75000"/>
                  </a:schemeClr>
                </a:solidFill>
              </a:defRPr>
            </a:lvl2pPr>
            <a:lvl3pPr marL="1089025" indent="0" algn="ctr">
              <a:buNone/>
              <a:defRPr>
                <a:solidFill>
                  <a:schemeClr val="tx1">
                    <a:tint val="75000"/>
                  </a:schemeClr>
                </a:solidFill>
              </a:defRPr>
            </a:lvl3pPr>
            <a:lvl4pPr marL="1633855" indent="0" algn="ctr">
              <a:buNone/>
              <a:defRPr>
                <a:solidFill>
                  <a:schemeClr val="tx1">
                    <a:tint val="75000"/>
                  </a:schemeClr>
                </a:solidFill>
              </a:defRPr>
            </a:lvl4pPr>
            <a:lvl5pPr marL="2178685" indent="0" algn="ctr">
              <a:buNone/>
              <a:defRPr>
                <a:solidFill>
                  <a:schemeClr val="tx1">
                    <a:tint val="75000"/>
                  </a:schemeClr>
                </a:solidFill>
              </a:defRPr>
            </a:lvl5pPr>
            <a:lvl6pPr marL="2723515" indent="0" algn="ctr">
              <a:buNone/>
              <a:defRPr>
                <a:solidFill>
                  <a:schemeClr val="tx1">
                    <a:tint val="75000"/>
                  </a:schemeClr>
                </a:solidFill>
              </a:defRPr>
            </a:lvl6pPr>
            <a:lvl7pPr marL="3267710" indent="0" algn="ctr">
              <a:buNone/>
              <a:defRPr>
                <a:solidFill>
                  <a:schemeClr val="tx1">
                    <a:tint val="75000"/>
                  </a:schemeClr>
                </a:solidFill>
              </a:defRPr>
            </a:lvl7pPr>
            <a:lvl8pPr marL="3812540" indent="0" algn="ctr">
              <a:buNone/>
              <a:defRPr>
                <a:solidFill>
                  <a:schemeClr val="tx1">
                    <a:tint val="75000"/>
                  </a:schemeClr>
                </a:solidFill>
              </a:defRPr>
            </a:lvl8pPr>
            <a:lvl9pPr marL="4357370" indent="0" algn="ctr">
              <a:buNone/>
              <a:defRPr>
                <a:solidFill>
                  <a:schemeClr val="tx1">
                    <a:tint val="75000"/>
                  </a:schemeClr>
                </a:solidFill>
              </a:defRPr>
            </a:lvl9pPr>
          </a:lstStyle>
          <a:p>
            <a:r>
              <a:rPr lang="zh-CN" altLang="en-US"/>
              <a:t>单击此处编辑母版副标题样式</a:t>
            </a:r>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9742" y="405458"/>
            <a:ext cx="8279325" cy="576065"/>
          </a:xfrm>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buFont typeface="Wingdings" panose="05000000000000000000" pitchFamily="2" charset="2"/>
              <a:buChar char="n"/>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800"/>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a:buFont typeface="Wingdings" panose="05000000000000000000" pitchFamily="2" charset="2"/>
              <a:buChar char="n"/>
              <a:defRPr/>
            </a:lvl1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3" y="6357821"/>
            <a:ext cx="667445" cy="501767"/>
          </a:xfrm>
          <a:prstGeom prst="rect">
            <a:avLst/>
          </a:prstGeom>
        </p:spPr>
        <p:txBody>
          <a:bodyPr lIns="108932" tIns="54466" rIns="108932" bIns="54466"/>
          <a:lstStyle>
            <a:lvl1pPr>
              <a:defRPr/>
            </a:lvl1pPr>
          </a:lstStyle>
          <a:p>
            <a:pPr>
              <a:defRPr/>
            </a:pPr>
            <a:fld id="{FFADEFA4-4608-418A-84AC-D4C3F38BFDE0}" type="datetime1">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
        <p:nvSpPr>
          <p:cNvPr id="2" name="矩形 1"/>
          <p:cNvSpPr/>
          <p:nvPr userDrawn="1"/>
        </p:nvSpPr>
        <p:spPr>
          <a:xfrm>
            <a:off x="0" y="3669564"/>
            <a:ext cx="12204700" cy="60180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932" tIns="54466" rIns="108932" bIns="54466" anchor="ctr"/>
          <a:lstStyle/>
          <a:p>
            <a:pPr algn="ctr" fontAlgn="auto">
              <a:spcBef>
                <a:spcPts val="0"/>
              </a:spcBef>
              <a:spcAft>
                <a:spcPts val="0"/>
              </a:spcAft>
              <a:defRPr/>
            </a:pPr>
            <a:endParaRPr lang="zh-CN" altLang="en-US" dirty="0"/>
          </a:p>
        </p:txBody>
      </p:sp>
      <p:sp>
        <p:nvSpPr>
          <p:cNvPr id="3" name="矩形 2"/>
          <p:cNvSpPr/>
          <p:nvPr userDrawn="1"/>
        </p:nvSpPr>
        <p:spPr>
          <a:xfrm>
            <a:off x="1129363" y="1703784"/>
            <a:ext cx="652508" cy="611329"/>
          </a:xfrm>
          <a:prstGeom prst="rect">
            <a:avLst/>
          </a:prstGeom>
          <a:solidFill>
            <a:schemeClr val="accent4">
              <a:lumMod val="50000"/>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932" tIns="54466" rIns="108932" bIns="54466" anchor="ctr"/>
          <a:lstStyle/>
          <a:p>
            <a:pPr algn="ctr" fontAlgn="auto">
              <a:spcBef>
                <a:spcPts val="0"/>
              </a:spcBef>
              <a:spcAft>
                <a:spcPts val="0"/>
              </a:spcAft>
              <a:defRPr/>
            </a:pPr>
            <a:endParaRPr lang="zh-CN" altLang="en-US" dirty="0"/>
          </a:p>
        </p:txBody>
      </p:sp>
      <p:sp>
        <p:nvSpPr>
          <p:cNvPr id="4" name="页脚占位符 4"/>
          <p:cNvSpPr txBox="1"/>
          <p:nvPr userDrawn="1"/>
        </p:nvSpPr>
        <p:spPr>
          <a:xfrm>
            <a:off x="610235" y="6434041"/>
            <a:ext cx="4443274" cy="365210"/>
          </a:xfrm>
          <a:prstGeom prst="rect">
            <a:avLst/>
          </a:prstGeom>
        </p:spPr>
        <p:txBody>
          <a:bodyPr lIns="108932" tIns="54466" rIns="108932" bIns="54466" anchor="ctr"/>
          <a:lstStyle>
            <a:lvl1pPr algn="ctr">
              <a:defRPr sz="1200">
                <a:solidFill>
                  <a:schemeClr val="tx1">
                    <a:tint val="75000"/>
                  </a:schemeClr>
                </a:solidFill>
              </a:defRPr>
            </a:lvl1pPr>
          </a:lstStyle>
          <a:p>
            <a:pPr algn="l" fontAlgn="auto">
              <a:spcBef>
                <a:spcPts val="0"/>
              </a:spcBef>
              <a:spcAft>
                <a:spcPts val="0"/>
              </a:spcAft>
              <a:defRPr/>
            </a:pPr>
            <a:r>
              <a:rPr lang="zh-CN" altLang="en-US" sz="1300" dirty="0">
                <a:latin typeface="Arial Unicode MS" pitchFamily="34" charset="-122"/>
                <a:ea typeface="Arial Unicode MS" pitchFamily="34" charset="-122"/>
                <a:cs typeface="Arial Unicode MS" pitchFamily="34" charset="-122"/>
              </a:rPr>
              <a:t>集美大学诚毅学院 数据科学与大数据教研室</a:t>
            </a:r>
            <a:endParaRPr lang="zh-CN" altLang="en-US" sz="1300" dirty="0">
              <a:latin typeface="Arial Unicode MS" pitchFamily="34" charset="-122"/>
              <a:ea typeface="Arial Unicode MS" pitchFamily="34" charset="-122"/>
              <a:cs typeface="Arial Unicode MS" pitchFamily="34" charset="-122"/>
            </a:endParaRPr>
          </a:p>
        </p:txBody>
      </p:sp>
      <p:sp>
        <p:nvSpPr>
          <p:cNvPr id="5" name="矩形 4"/>
          <p:cNvSpPr/>
          <p:nvPr userDrawn="1"/>
        </p:nvSpPr>
        <p:spPr>
          <a:xfrm>
            <a:off x="557734" y="1197546"/>
            <a:ext cx="864096" cy="828867"/>
          </a:xfrm>
          <a:prstGeom prst="rect">
            <a:avLst/>
          </a:prstGeom>
          <a:solidFill>
            <a:schemeClr val="accent4">
              <a:lumMod val="5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932" tIns="54466" rIns="108932" bIns="54466" anchor="ctr"/>
          <a:lstStyle/>
          <a:p>
            <a:pPr algn="ctr" fontAlgn="auto">
              <a:spcBef>
                <a:spcPts val="0"/>
              </a:spcBef>
              <a:spcAft>
                <a:spcPts val="0"/>
              </a:spcAft>
              <a:defRPr/>
            </a:pPr>
            <a:endParaRPr lang="zh-CN" altLang="en-US" dirty="0"/>
          </a:p>
        </p:txBody>
      </p:sp>
      <p:sp>
        <p:nvSpPr>
          <p:cNvPr id="6" name="TextBox 5"/>
          <p:cNvSpPr txBox="1"/>
          <p:nvPr userDrawn="1"/>
        </p:nvSpPr>
        <p:spPr>
          <a:xfrm>
            <a:off x="1892153" y="2107102"/>
            <a:ext cx="5339556" cy="1541157"/>
          </a:xfrm>
          <a:prstGeom prst="rect">
            <a:avLst/>
          </a:prstGeom>
          <a:noFill/>
        </p:spPr>
        <p:txBody>
          <a:bodyPr lIns="108932" tIns="54466" rIns="108932" bIns="54466">
            <a:spAutoFit/>
          </a:bodyPr>
          <a:lstStyle/>
          <a:p>
            <a:pPr fontAlgn="auto">
              <a:spcBef>
                <a:spcPts val="0"/>
              </a:spcBef>
              <a:spcAft>
                <a:spcPts val="0"/>
              </a:spcAft>
              <a:defRPr/>
            </a:pPr>
            <a:r>
              <a:rPr lang="en-US" altLang="zh-CN" sz="9300" b="1" dirty="0">
                <a:ln w="18000">
                  <a:solidFill>
                    <a:schemeClr val="accent2">
                      <a:satMod val="140000"/>
                    </a:schemeClr>
                  </a:solidFill>
                  <a:prstDash val="solid"/>
                  <a:miter lim="800000"/>
                </a:ln>
                <a:solidFill>
                  <a:schemeClr val="accent4">
                    <a:lumMod val="50000"/>
                  </a:schemeClr>
                </a:solidFill>
                <a:effectLst>
                  <a:outerShdw blurRad="50800" dist="38100" dir="2700000" algn="tl" rotWithShape="0">
                    <a:prstClr val="black">
                      <a:alpha val="40000"/>
                    </a:prstClr>
                  </a:outerShdw>
                </a:effectLst>
                <a:latin typeface="+mn-lt"/>
                <a:ea typeface="+mn-ea"/>
              </a:rPr>
              <a:t>Thanks</a:t>
            </a:r>
            <a:endParaRPr lang="zh-CN" altLang="en-US" sz="9300" b="1" dirty="0">
              <a:ln w="18000">
                <a:solidFill>
                  <a:schemeClr val="accent2">
                    <a:satMod val="140000"/>
                  </a:schemeClr>
                </a:solidFill>
                <a:prstDash val="solid"/>
                <a:miter lim="800000"/>
              </a:ln>
              <a:solidFill>
                <a:schemeClr val="accent4">
                  <a:lumMod val="50000"/>
                </a:schemeClr>
              </a:solidFill>
              <a:effectLst>
                <a:outerShdw blurRad="50800" dist="38100" dir="2700000" algn="tl" rotWithShape="0">
                  <a:prstClr val="black">
                    <a:alpha val="40000"/>
                  </a:prstClr>
                </a:outerShdw>
              </a:effectLst>
              <a:latin typeface="+mn-lt"/>
              <a:ea typeface="+mn-ea"/>
            </a:endParaRPr>
          </a:p>
        </p:txBody>
      </p:sp>
      <p:sp>
        <p:nvSpPr>
          <p:cNvPr id="7" name="TextBox 6"/>
          <p:cNvSpPr txBox="1"/>
          <p:nvPr userDrawn="1"/>
        </p:nvSpPr>
        <p:spPr>
          <a:xfrm>
            <a:off x="9179012" y="3581432"/>
            <a:ext cx="2517159" cy="771715"/>
          </a:xfrm>
          <a:prstGeom prst="rect">
            <a:avLst/>
          </a:prstGeom>
          <a:noFill/>
        </p:spPr>
        <p:txBody>
          <a:bodyPr wrap="none" lIns="108932" tIns="54466" rIns="108932" bIns="54466" anchor="ctr">
            <a:spAutoFit/>
          </a:bodyPr>
          <a:lstStyle/>
          <a:p>
            <a:pPr algn="r" fontAlgn="auto">
              <a:spcBef>
                <a:spcPts val="0"/>
              </a:spcBef>
              <a:spcAft>
                <a:spcPts val="0"/>
              </a:spcAft>
              <a:defRPr/>
            </a:pPr>
            <a:r>
              <a:rPr lang="en-US" altLang="zh-CN" sz="4300" dirty="0">
                <a:solidFill>
                  <a:schemeClr val="bg1"/>
                </a:solidFill>
                <a:latin typeface="Arial Black" panose="020B0A04020102020204" pitchFamily="34" charset="0"/>
                <a:ea typeface="+mn-ea"/>
              </a:rPr>
              <a:t>FAQ</a:t>
            </a:r>
            <a:r>
              <a:rPr lang="zh-CN" altLang="en-US" sz="4300" dirty="0">
                <a:solidFill>
                  <a:schemeClr val="bg1"/>
                </a:solidFill>
                <a:latin typeface="Arial Black" panose="020B0A04020102020204" pitchFamily="34" charset="0"/>
                <a:ea typeface="+mn-ea"/>
              </a:rPr>
              <a:t>时间</a:t>
            </a:r>
            <a:endParaRPr lang="en-US" altLang="zh-CN" sz="4300" dirty="0">
              <a:solidFill>
                <a:schemeClr val="bg1"/>
              </a:solidFill>
              <a:latin typeface="Arial Black" panose="020B0A04020102020204" pitchFamily="34" charset="0"/>
              <a:ea typeface="+mn-ea"/>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1" name="标题占位符 1"/>
          <p:cNvSpPr>
            <a:spLocks noGrp="1"/>
          </p:cNvSpPr>
          <p:nvPr>
            <p:ph type="title"/>
          </p:nvPr>
        </p:nvSpPr>
        <p:spPr bwMode="auto">
          <a:xfrm>
            <a:off x="629742" y="405458"/>
            <a:ext cx="8279325" cy="576064"/>
          </a:xfrm>
          <a:prstGeom prst="rect">
            <a:avLst/>
          </a:prstGeom>
          <a:noFill/>
          <a:ln w="9525">
            <a:noFill/>
            <a:miter lim="800000"/>
          </a:ln>
        </p:spPr>
        <p:txBody>
          <a:bodyPr vert="horz" wrap="square" lIns="108932" tIns="54466" rIns="108932" bIns="54466" numCol="1" anchor="ctr" anchorCtr="0" compatLnSpc="1"/>
          <a:lstStyle/>
          <a:p>
            <a:pPr lvl="0"/>
            <a:r>
              <a:rPr lang="zh-CN" altLang="en-US" dirty="0"/>
              <a:t>单击此处编辑母版标题样式</a:t>
            </a:r>
            <a:endParaRPr lang="zh-CN" altLang="en-US" dirty="0"/>
          </a:p>
        </p:txBody>
      </p:sp>
      <p:sp>
        <p:nvSpPr>
          <p:cNvPr id="2052" name="文本占位符 2"/>
          <p:cNvSpPr>
            <a:spLocks noGrp="1"/>
          </p:cNvSpPr>
          <p:nvPr>
            <p:ph type="body" idx="1"/>
          </p:nvPr>
        </p:nvSpPr>
        <p:spPr bwMode="auto">
          <a:xfrm>
            <a:off x="610235" y="1197546"/>
            <a:ext cx="10984230" cy="5041187"/>
          </a:xfrm>
          <a:prstGeom prst="rect">
            <a:avLst/>
          </a:prstGeom>
          <a:noFill/>
          <a:ln w="9525">
            <a:noFill/>
            <a:miter lim="800000"/>
          </a:ln>
        </p:spPr>
        <p:txBody>
          <a:bodyPr vert="horz" wrap="square" lIns="108932" tIns="54466" rIns="108932" bIns="54466"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接连接符 8"/>
          <p:cNvCxnSpPr/>
          <p:nvPr/>
        </p:nvCxnSpPr>
        <p:spPr>
          <a:xfrm>
            <a:off x="413718" y="1053530"/>
            <a:ext cx="11251208" cy="1587"/>
          </a:xfrm>
          <a:prstGeom prst="line">
            <a:avLst/>
          </a:prstGeom>
          <a:ln w="12700">
            <a:solidFill>
              <a:schemeClr val="accent4">
                <a:lumMod val="50000"/>
              </a:schemeClr>
            </a:solidFill>
          </a:ln>
        </p:spPr>
        <p:style>
          <a:lnRef idx="3">
            <a:schemeClr val="accent2"/>
          </a:lnRef>
          <a:fillRef idx="0">
            <a:schemeClr val="accent2"/>
          </a:fillRef>
          <a:effectRef idx="2">
            <a:schemeClr val="accent2"/>
          </a:effectRef>
          <a:fontRef idx="minor">
            <a:schemeClr val="tx1"/>
          </a:fontRef>
        </p:style>
      </p:cxnSp>
      <p:sp>
        <p:nvSpPr>
          <p:cNvPr id="17" name="页脚占位符 4"/>
          <p:cNvSpPr txBox="1"/>
          <p:nvPr userDrawn="1"/>
        </p:nvSpPr>
        <p:spPr>
          <a:xfrm>
            <a:off x="239598" y="6434041"/>
            <a:ext cx="4324981" cy="365210"/>
          </a:xfrm>
          <a:prstGeom prst="rect">
            <a:avLst/>
          </a:prstGeom>
        </p:spPr>
        <p:txBody>
          <a:bodyPr lIns="108932" tIns="54466" rIns="108932" bIns="54466" anchor="ctr"/>
          <a:lstStyle>
            <a:lvl1pPr algn="ctr">
              <a:defRPr sz="1200">
                <a:solidFill>
                  <a:schemeClr val="tx1">
                    <a:tint val="75000"/>
                  </a:schemeClr>
                </a:solidFill>
              </a:defRPr>
            </a:lvl1pPr>
          </a:lstStyle>
          <a:p>
            <a:pPr algn="l" fontAlgn="auto">
              <a:spcBef>
                <a:spcPts val="0"/>
              </a:spcBef>
              <a:spcAft>
                <a:spcPts val="0"/>
              </a:spcAft>
              <a:defRPr/>
            </a:pPr>
            <a:r>
              <a:rPr lang="zh-CN" altLang="en-US" sz="1300" dirty="0">
                <a:latin typeface="Arial Unicode MS" pitchFamily="34" charset="-122"/>
                <a:ea typeface="Arial Unicode MS" pitchFamily="34" charset="-122"/>
                <a:cs typeface="Arial Unicode MS" pitchFamily="34" charset="-122"/>
              </a:rPr>
              <a:t>数据分析基础</a:t>
            </a:r>
            <a:r>
              <a:rPr lang="en-US" altLang="zh-CN" sz="1300" dirty="0">
                <a:latin typeface="Arial Unicode MS" pitchFamily="34" charset="-122"/>
                <a:ea typeface="Arial Unicode MS" pitchFamily="34" charset="-122"/>
                <a:cs typeface="Arial Unicode MS" pitchFamily="34" charset="-122"/>
              </a:rPr>
              <a:t>        </a:t>
            </a:r>
            <a:r>
              <a:rPr lang="zh-CN" altLang="en-US" sz="1300" dirty="0">
                <a:latin typeface="Arial Unicode MS" pitchFamily="34" charset="-122"/>
                <a:ea typeface="Arial Unicode MS" pitchFamily="34" charset="-122"/>
                <a:cs typeface="Arial Unicode MS" pitchFamily="34" charset="-122"/>
              </a:rPr>
              <a:t>讲师    赵伟</a:t>
            </a:r>
            <a:endParaRPr lang="en-US" altLang="zh-CN" sz="1300" dirty="0">
              <a:latin typeface="Arial Unicode MS" pitchFamily="34" charset="-122"/>
              <a:ea typeface="Arial Unicode MS" pitchFamily="34" charset="-122"/>
              <a:cs typeface="Arial Unicode MS" pitchFamily="34" charset="-122"/>
            </a:endParaRPr>
          </a:p>
        </p:txBody>
      </p:sp>
      <p:sp>
        <p:nvSpPr>
          <p:cNvPr id="16" name="矩形 15"/>
          <p:cNvSpPr/>
          <p:nvPr userDrawn="1"/>
        </p:nvSpPr>
        <p:spPr>
          <a:xfrm>
            <a:off x="485726" y="405458"/>
            <a:ext cx="118690" cy="499070"/>
          </a:xfrm>
          <a:prstGeom prst="rect">
            <a:avLst/>
          </a:prstGeom>
          <a:solidFill>
            <a:schemeClr val="accent4">
              <a:lumMod val="50000"/>
            </a:schemeClr>
          </a:solidFill>
          <a:ln>
            <a:noFill/>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lIns="108932" tIns="54466" rIns="108932" bIns="54466" anchor="ctr"/>
          <a:lstStyle/>
          <a:p>
            <a:pPr algn="ctr" fontAlgn="auto">
              <a:spcBef>
                <a:spcPts val="0"/>
              </a:spcBef>
              <a:spcAft>
                <a:spcPts val="0"/>
              </a:spcAft>
              <a:defRPr/>
            </a:pPr>
            <a:endParaRPr lang="zh-CN" altLang="en-US" dirty="0"/>
          </a:p>
        </p:txBody>
      </p:sp>
      <p:grpSp>
        <p:nvGrpSpPr>
          <p:cNvPr id="2059" name="组合 18"/>
          <p:cNvGrpSpPr/>
          <p:nvPr userDrawn="1"/>
        </p:nvGrpSpPr>
        <p:grpSpPr bwMode="auto">
          <a:xfrm>
            <a:off x="0" y="6238756"/>
            <a:ext cx="12204700" cy="288099"/>
            <a:chOff x="0" y="6237942"/>
            <a:chExt cx="9144000" cy="287130"/>
          </a:xfrm>
        </p:grpSpPr>
        <p:cxnSp>
          <p:nvCxnSpPr>
            <p:cNvPr id="20" name="直接连接符 19"/>
            <p:cNvCxnSpPr>
              <a:endCxn id="27" idx="1"/>
            </p:cNvCxnSpPr>
            <p:nvPr userDrawn="1"/>
          </p:nvCxnSpPr>
          <p:spPr>
            <a:xfrm>
              <a:off x="0" y="6381507"/>
              <a:ext cx="3347864" cy="0"/>
            </a:xfrm>
            <a:prstGeom prst="line">
              <a:avLst/>
            </a:prstGeom>
            <a:ln>
              <a:solidFill>
                <a:schemeClr val="accent4">
                  <a:lumMod val="50000"/>
                </a:schemeClr>
              </a:solidFill>
            </a:ln>
          </p:spPr>
          <p:style>
            <a:lnRef idx="1">
              <a:schemeClr val="dk1"/>
            </a:lnRef>
            <a:fillRef idx="0">
              <a:schemeClr val="dk1"/>
            </a:fillRef>
            <a:effectRef idx="0">
              <a:schemeClr val="dk1"/>
            </a:effectRef>
            <a:fontRef idx="minor">
              <a:schemeClr val="tx1"/>
            </a:fontRef>
          </p:style>
        </p:cxnSp>
        <p:sp>
          <p:nvSpPr>
            <p:cNvPr id="27" name="矩形 26"/>
            <p:cNvSpPr/>
            <p:nvPr userDrawn="1"/>
          </p:nvSpPr>
          <p:spPr>
            <a:xfrm>
              <a:off x="3347864" y="6237942"/>
              <a:ext cx="2448272" cy="287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1300" b="1" dirty="0">
                  <a:solidFill>
                    <a:schemeClr val="accent4">
                      <a:lumMod val="50000"/>
                    </a:schemeClr>
                  </a:solidFill>
                </a:rPr>
                <a:t>数据分析基础</a:t>
              </a:r>
              <a:endParaRPr lang="zh-CN" altLang="en-US" sz="1300" b="1" dirty="0">
                <a:solidFill>
                  <a:schemeClr val="accent4">
                    <a:lumMod val="50000"/>
                  </a:schemeClr>
                </a:solidFill>
              </a:endParaRPr>
            </a:p>
          </p:txBody>
        </p:sp>
        <p:cxnSp>
          <p:nvCxnSpPr>
            <p:cNvPr id="28" name="直接连接符 27"/>
            <p:cNvCxnSpPr>
              <a:stCxn id="27" idx="3"/>
            </p:cNvCxnSpPr>
            <p:nvPr userDrawn="1"/>
          </p:nvCxnSpPr>
          <p:spPr>
            <a:xfrm>
              <a:off x="5796136" y="6381507"/>
              <a:ext cx="3347864" cy="0"/>
            </a:xfrm>
            <a:prstGeom prst="line">
              <a:avLst/>
            </a:prstGeom>
            <a:ln>
              <a:solidFill>
                <a:schemeClr val="accent4">
                  <a:lumMod val="50000"/>
                </a:schemeClr>
              </a:solidFill>
            </a:ln>
          </p:spPr>
          <p:style>
            <a:lnRef idx="1">
              <a:schemeClr val="dk1"/>
            </a:lnRef>
            <a:fillRef idx="0">
              <a:schemeClr val="dk1"/>
            </a:fillRef>
            <a:effectRef idx="0">
              <a:schemeClr val="dk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0" fontAlgn="base" hangingPunct="0">
        <a:spcBef>
          <a:spcPct val="0"/>
        </a:spcBef>
        <a:spcAft>
          <a:spcPct val="0"/>
        </a:spcAft>
        <a:defRPr sz="2900" b="1" kern="1200">
          <a:solidFill>
            <a:schemeClr val="tx1"/>
          </a:solidFill>
          <a:latin typeface="+mj-lt"/>
          <a:ea typeface="+mj-ea"/>
          <a:cs typeface="+mj-cs"/>
        </a:defRPr>
      </a:lvl1pPr>
      <a:lvl2pPr algn="l" rtl="0" eaLnBrk="0" fontAlgn="base" hangingPunct="0">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5pPr>
      <a:lvl6pPr marL="544830" algn="l" rtl="0" fontAlgn="base">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6pPr>
      <a:lvl7pPr marL="1089025" algn="l" rtl="0" fontAlgn="base">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7pPr>
      <a:lvl8pPr marL="1633855" algn="l" rtl="0" fontAlgn="base">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8pPr>
      <a:lvl9pPr marL="2178685" algn="l" rtl="0" fontAlgn="base">
        <a:spcBef>
          <a:spcPct val="0"/>
        </a:spcBef>
        <a:spcAft>
          <a:spcPct val="0"/>
        </a:spcAft>
        <a:defRPr sz="2900" b="1">
          <a:solidFill>
            <a:schemeClr val="tx1"/>
          </a:solidFill>
          <a:latin typeface="微软雅黑" panose="020B0503020204020204" pitchFamily="34" charset="-122"/>
          <a:ea typeface="微软雅黑" panose="020B0503020204020204" pitchFamily="34" charset="-122"/>
        </a:defRPr>
      </a:lvl9pPr>
    </p:titleStyle>
    <p:bodyStyle>
      <a:lvl1pPr marL="408305" indent="-408305" algn="l" rtl="0" eaLnBrk="0" fontAlgn="base" hangingPunct="0">
        <a:lnSpc>
          <a:spcPct val="150000"/>
        </a:lnSpc>
        <a:spcBef>
          <a:spcPct val="20000"/>
        </a:spcBef>
        <a:spcAft>
          <a:spcPct val="0"/>
        </a:spcAft>
        <a:buClr>
          <a:schemeClr val="accent4">
            <a:lumMod val="50000"/>
          </a:schemeClr>
        </a:buClr>
        <a:buFont typeface="Wingdings" panose="05000000000000000000" pitchFamily="2" charset="2"/>
        <a:buChar char="u"/>
        <a:defRPr sz="1900" kern="1200">
          <a:solidFill>
            <a:schemeClr val="tx1"/>
          </a:solidFill>
          <a:latin typeface="+mn-lt"/>
          <a:ea typeface="+mn-ea"/>
          <a:cs typeface="+mn-cs"/>
        </a:defRPr>
      </a:lvl1pPr>
      <a:lvl2pPr marL="885190" indent="-340360" algn="l" rtl="0" eaLnBrk="0" fontAlgn="base" hangingPunct="0">
        <a:lnSpc>
          <a:spcPct val="150000"/>
        </a:lnSpc>
        <a:spcBef>
          <a:spcPct val="20000"/>
        </a:spcBef>
        <a:spcAft>
          <a:spcPct val="0"/>
        </a:spcAft>
        <a:buClr>
          <a:srgbClr val="2F6231"/>
        </a:buClr>
        <a:buFont typeface="Arial" panose="020B0604020202020204" pitchFamily="34" charset="0"/>
        <a:buChar char="–"/>
        <a:defRPr sz="1700" kern="1200">
          <a:solidFill>
            <a:schemeClr val="tx1"/>
          </a:solidFill>
          <a:latin typeface="+mn-lt"/>
          <a:ea typeface="+mn-ea"/>
          <a:cs typeface="+mn-cs"/>
        </a:defRPr>
      </a:lvl2pPr>
      <a:lvl3pPr marL="1361440" indent="-272415" algn="l" rtl="0" eaLnBrk="0" fontAlgn="base" hangingPunct="0">
        <a:lnSpc>
          <a:spcPct val="150000"/>
        </a:lnSpc>
        <a:spcBef>
          <a:spcPct val="20000"/>
        </a:spcBef>
        <a:spcAft>
          <a:spcPct val="0"/>
        </a:spcAft>
        <a:buClr>
          <a:srgbClr val="2F6231"/>
        </a:buClr>
        <a:buFont typeface="Arial" panose="020B0604020202020204" pitchFamily="34" charset="0"/>
        <a:buChar char="•"/>
        <a:defRPr sz="1400" kern="1200">
          <a:solidFill>
            <a:schemeClr val="tx1"/>
          </a:solidFill>
          <a:latin typeface="+mn-lt"/>
          <a:ea typeface="+mn-ea"/>
          <a:cs typeface="+mn-cs"/>
        </a:defRPr>
      </a:lvl3pPr>
      <a:lvl4pPr marL="1906270" indent="-272415" algn="l" rtl="0" eaLnBrk="0" fontAlgn="base" hangingPunct="0">
        <a:lnSpc>
          <a:spcPct val="150000"/>
        </a:lnSpc>
        <a:spcBef>
          <a:spcPct val="20000"/>
        </a:spcBef>
        <a:spcAft>
          <a:spcPct val="0"/>
        </a:spcAft>
        <a:buClr>
          <a:srgbClr val="2F6231"/>
        </a:buClr>
        <a:buFont typeface="Arial" panose="020B0604020202020204" pitchFamily="34" charset="0"/>
        <a:buChar char="–"/>
        <a:defRPr sz="1300" kern="1200">
          <a:solidFill>
            <a:schemeClr val="tx1"/>
          </a:solidFill>
          <a:latin typeface="+mn-lt"/>
          <a:ea typeface="+mn-ea"/>
          <a:cs typeface="+mn-cs"/>
        </a:defRPr>
      </a:lvl4pPr>
      <a:lvl5pPr marL="2451100" indent="-272415" algn="l" rtl="0" eaLnBrk="0" fontAlgn="base" hangingPunct="0">
        <a:lnSpc>
          <a:spcPct val="150000"/>
        </a:lnSpc>
        <a:spcBef>
          <a:spcPct val="20000"/>
        </a:spcBef>
        <a:spcAft>
          <a:spcPct val="0"/>
        </a:spcAft>
        <a:buClr>
          <a:srgbClr val="2F6231"/>
        </a:buClr>
        <a:buFont typeface="Arial" panose="020B0604020202020204" pitchFamily="34" charset="0"/>
        <a:buChar char="»"/>
        <a:defRPr sz="1300" kern="1200">
          <a:solidFill>
            <a:schemeClr val="tx1"/>
          </a:solidFill>
          <a:latin typeface="+mn-lt"/>
          <a:ea typeface="+mn-ea"/>
          <a:cs typeface="+mn-cs"/>
        </a:defRPr>
      </a:lvl5pPr>
      <a:lvl6pPr marL="2995930" indent="-272415" algn="l" defTabSz="108902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40125" indent="-272415" algn="l" defTabSz="108902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4955" indent="-272415" algn="l" defTabSz="108902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9785" indent="-272415" algn="l" defTabSz="108902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9025" rtl="0" eaLnBrk="1" latinLnBrk="0" hangingPunct="1">
        <a:defRPr sz="2100" kern="1200">
          <a:solidFill>
            <a:schemeClr val="tx1"/>
          </a:solidFill>
          <a:latin typeface="+mn-lt"/>
          <a:ea typeface="+mn-ea"/>
          <a:cs typeface="+mn-cs"/>
        </a:defRPr>
      </a:lvl1pPr>
      <a:lvl2pPr marL="544830" algn="l" defTabSz="1089025" rtl="0" eaLnBrk="1" latinLnBrk="0" hangingPunct="1">
        <a:defRPr sz="2100" kern="1200">
          <a:solidFill>
            <a:schemeClr val="tx1"/>
          </a:solidFill>
          <a:latin typeface="+mn-lt"/>
          <a:ea typeface="+mn-ea"/>
          <a:cs typeface="+mn-cs"/>
        </a:defRPr>
      </a:lvl2pPr>
      <a:lvl3pPr marL="1089025" algn="l" defTabSz="1089025" rtl="0" eaLnBrk="1" latinLnBrk="0" hangingPunct="1">
        <a:defRPr sz="2100" kern="1200">
          <a:solidFill>
            <a:schemeClr val="tx1"/>
          </a:solidFill>
          <a:latin typeface="+mn-lt"/>
          <a:ea typeface="+mn-ea"/>
          <a:cs typeface="+mn-cs"/>
        </a:defRPr>
      </a:lvl3pPr>
      <a:lvl4pPr marL="1633855" algn="l" defTabSz="1089025" rtl="0" eaLnBrk="1" latinLnBrk="0" hangingPunct="1">
        <a:defRPr sz="2100" kern="1200">
          <a:solidFill>
            <a:schemeClr val="tx1"/>
          </a:solidFill>
          <a:latin typeface="+mn-lt"/>
          <a:ea typeface="+mn-ea"/>
          <a:cs typeface="+mn-cs"/>
        </a:defRPr>
      </a:lvl4pPr>
      <a:lvl5pPr marL="2178685" algn="l" defTabSz="1089025" rtl="0" eaLnBrk="1" latinLnBrk="0" hangingPunct="1">
        <a:defRPr sz="2100" kern="1200">
          <a:solidFill>
            <a:schemeClr val="tx1"/>
          </a:solidFill>
          <a:latin typeface="+mn-lt"/>
          <a:ea typeface="+mn-ea"/>
          <a:cs typeface="+mn-cs"/>
        </a:defRPr>
      </a:lvl5pPr>
      <a:lvl6pPr marL="2723515" algn="l" defTabSz="1089025" rtl="0" eaLnBrk="1" latinLnBrk="0" hangingPunct="1">
        <a:defRPr sz="2100" kern="1200">
          <a:solidFill>
            <a:schemeClr val="tx1"/>
          </a:solidFill>
          <a:latin typeface="+mn-lt"/>
          <a:ea typeface="+mn-ea"/>
          <a:cs typeface="+mn-cs"/>
        </a:defRPr>
      </a:lvl6pPr>
      <a:lvl7pPr marL="3267710" algn="l" defTabSz="1089025" rtl="0" eaLnBrk="1" latinLnBrk="0" hangingPunct="1">
        <a:defRPr sz="2100" kern="1200">
          <a:solidFill>
            <a:schemeClr val="tx1"/>
          </a:solidFill>
          <a:latin typeface="+mn-lt"/>
          <a:ea typeface="+mn-ea"/>
          <a:cs typeface="+mn-cs"/>
        </a:defRPr>
      </a:lvl7pPr>
      <a:lvl8pPr marL="3812540" algn="l" defTabSz="1089025" rtl="0" eaLnBrk="1" latinLnBrk="0" hangingPunct="1">
        <a:defRPr sz="2100" kern="1200">
          <a:solidFill>
            <a:schemeClr val="tx1"/>
          </a:solidFill>
          <a:latin typeface="+mn-lt"/>
          <a:ea typeface="+mn-ea"/>
          <a:cs typeface="+mn-cs"/>
        </a:defRPr>
      </a:lvl8pPr>
      <a:lvl9pPr marL="4357370" algn="l" defTabSz="1089025"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a:xfrm>
            <a:off x="768207" y="5157986"/>
            <a:ext cx="10668285" cy="844324"/>
          </a:xfrm>
        </p:spPr>
        <p:txBody>
          <a:bodyPr>
            <a:normAutofit/>
          </a:bodyPr>
          <a:lstStyle/>
          <a:p>
            <a:pPr lvl="2"/>
            <a:r>
              <a:rPr lang="en-US" altLang="zh-CN" sz="1150" dirty="0"/>
              <a:t>https://www.jianshu.com/p/04d180d90a3f</a:t>
            </a:r>
            <a:endParaRPr lang="en-US" altLang="zh-CN" sz="1150"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5886" y="1413570"/>
            <a:ext cx="7920880" cy="31353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Numpy</a:t>
            </a:r>
            <a:endParaRPr lang="zh-CN" altLang="en-US" dirty="0"/>
          </a:p>
        </p:txBody>
      </p:sp>
      <p:sp>
        <p:nvSpPr>
          <p:cNvPr id="3" name="内容占位符 2"/>
          <p:cNvSpPr>
            <a:spLocks noGrp="1"/>
          </p:cNvSpPr>
          <p:nvPr>
            <p:ph idx="1"/>
          </p:nvPr>
        </p:nvSpPr>
        <p:spPr/>
        <p:txBody>
          <a:bodyPr/>
          <a:lstStyle/>
          <a:p>
            <a:r>
              <a:rPr lang="en-US" altLang="zh-CN" dirty="0">
                <a:sym typeface="+mn-ea"/>
              </a:rPr>
              <a:t>Numpy</a:t>
            </a:r>
            <a:r>
              <a:rPr lang="zh-CN" altLang="en-US" dirty="0">
                <a:sym typeface="+mn-ea"/>
              </a:rPr>
              <a:t>基础：数组与向量化计算</a:t>
            </a:r>
            <a:endParaRPr lang="zh-CN" altLang="en-US" dirty="0"/>
          </a:p>
          <a:p>
            <a:pPr marL="887730" lvl="1" indent="-342900">
              <a:buAutoNum type="arabicPeriod"/>
            </a:pPr>
            <a:r>
              <a:rPr lang="en-US" altLang="zh-CN" dirty="0"/>
              <a:t>NumPy ndarray: </a:t>
            </a:r>
            <a:r>
              <a:rPr lang="zh-CN" altLang="en-US" dirty="0"/>
              <a:t>多维数组对象</a:t>
            </a:r>
            <a:endParaRPr lang="zh-CN" altLang="en-US" dirty="0"/>
          </a:p>
          <a:p>
            <a:pPr marL="887730" lvl="1" indent="-342900">
              <a:buAutoNum type="arabicPeriod"/>
            </a:pPr>
            <a:r>
              <a:rPr lang="zh-CN" altLang="en-US" dirty="0"/>
              <a:t>通用函数：快速的逐元素数组函数</a:t>
            </a:r>
            <a:endParaRPr lang="zh-CN" altLang="en-US" dirty="0"/>
          </a:p>
          <a:p>
            <a:pPr marL="887730" lvl="1" indent="-342900">
              <a:buAutoNum type="arabicPeriod"/>
            </a:pPr>
            <a:r>
              <a:rPr lang="zh-CN" altLang="en-US" dirty="0"/>
              <a:t>使用数组进行面向数组编程</a:t>
            </a:r>
            <a:endParaRPr lang="zh-CN" altLang="en-US" dirty="0"/>
          </a:p>
          <a:p>
            <a:pPr marL="887730" lvl="1" indent="-342900">
              <a:buAutoNum type="arabicPeriod"/>
            </a:pPr>
            <a:r>
              <a:rPr lang="zh-CN" altLang="en-US" dirty="0"/>
              <a:t>使用数组进行文件输入和输出</a:t>
            </a:r>
            <a:endParaRPr lang="zh-CN" altLang="en-US" dirty="0"/>
          </a:p>
          <a:p>
            <a:pPr marL="887730" lvl="1" indent="-342900">
              <a:buAutoNum type="arabicPeriod"/>
            </a:pPr>
            <a:r>
              <a:rPr lang="zh-CN" altLang="en-US" dirty="0"/>
              <a:t>线性代数</a:t>
            </a:r>
            <a:endParaRPr lang="zh-CN" altLang="en-US" dirty="0"/>
          </a:p>
          <a:p>
            <a:pPr marL="887730" lvl="1" indent="-342900">
              <a:buAutoNum type="arabicPeriod"/>
            </a:pPr>
            <a:r>
              <a:rPr lang="zh-CN" altLang="en-US" dirty="0"/>
              <a:t>伪随机数生成</a:t>
            </a:r>
            <a:endParaRPr lang="zh-CN" altLang="en-US" dirty="0"/>
          </a:p>
          <a:p>
            <a:pPr marL="887730" lvl="1" indent="-342900">
              <a:buAutoNum type="arabicPeriod"/>
            </a:pPr>
            <a:r>
              <a:rPr lang="zh-CN" altLang="en-US" dirty="0"/>
              <a:t>示例：随机漫步</a:t>
            </a:r>
            <a:endParaRPr lang="zh-CN" altLang="en-US"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Numpy </a:t>
            </a:r>
            <a:r>
              <a:rPr lang="zh-CN" altLang="en-US" dirty="0"/>
              <a:t>概述</a:t>
            </a:r>
            <a:endParaRPr lang="zh-CN" altLang="en-US" dirty="0"/>
          </a:p>
        </p:txBody>
      </p:sp>
      <p:sp>
        <p:nvSpPr>
          <p:cNvPr id="3" name="内容占位符 2"/>
          <p:cNvSpPr>
            <a:spLocks noGrp="1"/>
          </p:cNvSpPr>
          <p:nvPr>
            <p:ph idx="1"/>
          </p:nvPr>
        </p:nvSpPr>
        <p:spPr/>
        <p:txBody>
          <a:bodyPr/>
          <a:lstStyle/>
          <a:p>
            <a:r>
              <a:rPr lang="en-US" dirty="0">
                <a:sym typeface="+mn-ea"/>
              </a:rPr>
              <a:t>NumPy</a:t>
            </a:r>
            <a:r>
              <a:rPr lang="zh-CN" altLang="en-US" dirty="0">
                <a:sym typeface="+mn-ea"/>
              </a:rPr>
              <a:t>：</a:t>
            </a:r>
            <a:r>
              <a:rPr lang="en-US" dirty="0">
                <a:sym typeface="+mn-ea"/>
              </a:rPr>
              <a:t>Numerical Python的简称</a:t>
            </a:r>
            <a:endParaRPr lang="en-US" dirty="0">
              <a:sym typeface="+mn-ea"/>
            </a:endParaRPr>
          </a:p>
          <a:p>
            <a:pPr lvl="1"/>
            <a:r>
              <a:rPr lang="zh-CN" altLang="en-US" dirty="0">
                <a:sym typeface="+mn-ea"/>
              </a:rPr>
              <a:t>目前</a:t>
            </a:r>
            <a:r>
              <a:rPr lang="en-US" altLang="zh-CN" dirty="0">
                <a:sym typeface="+mn-ea"/>
              </a:rPr>
              <a:t>Python</a:t>
            </a:r>
            <a:r>
              <a:rPr lang="zh-CN" altLang="en-US" dirty="0">
                <a:sym typeface="+mn-ea"/>
              </a:rPr>
              <a:t>数值计算中最重要的基础包。</a:t>
            </a:r>
            <a:endParaRPr lang="en-US" altLang="en-US" dirty="0">
              <a:sym typeface="+mn-ea"/>
            </a:endParaRPr>
          </a:p>
          <a:p>
            <a:r>
              <a:rPr lang="zh-CN" altLang="en-US" dirty="0">
                <a:sym typeface="+mn-ea"/>
              </a:rPr>
              <a:t>部分功能</a:t>
            </a:r>
            <a:endParaRPr lang="zh-CN" altLang="en-US" dirty="0">
              <a:sym typeface="+mn-ea"/>
            </a:endParaRPr>
          </a:p>
          <a:p>
            <a:pPr lvl="1"/>
            <a:r>
              <a:rPr lang="zh-CN" altLang="en-US" dirty="0">
                <a:sym typeface="+mn-ea"/>
              </a:rPr>
              <a:t>ndarray，一个具有矢量算术运算和复杂广播能力的快速且节省空间的多维数组。</a:t>
            </a:r>
            <a:endParaRPr lang="zh-CN" altLang="en-US" dirty="0">
              <a:sym typeface="+mn-ea"/>
            </a:endParaRPr>
          </a:p>
          <a:p>
            <a:pPr lvl="1"/>
            <a:r>
              <a:rPr lang="zh-CN" altLang="en-US" dirty="0">
                <a:sym typeface="+mn-ea"/>
              </a:rPr>
              <a:t>用于对整组数据进行快速运算的标准数学函数（无需编写循环）。</a:t>
            </a:r>
            <a:endParaRPr lang="zh-CN" altLang="en-US" dirty="0">
              <a:sym typeface="+mn-ea"/>
            </a:endParaRPr>
          </a:p>
          <a:p>
            <a:pPr lvl="1"/>
            <a:r>
              <a:rPr lang="zh-CN" altLang="en-US" dirty="0">
                <a:sym typeface="+mn-ea"/>
              </a:rPr>
              <a:t>用于读写磁盘数据的工具以及用于操作内存映射文件的工具。</a:t>
            </a:r>
            <a:endParaRPr lang="zh-CN" altLang="en-US" dirty="0">
              <a:sym typeface="+mn-ea"/>
            </a:endParaRPr>
          </a:p>
          <a:p>
            <a:pPr lvl="1"/>
            <a:r>
              <a:rPr lang="zh-CN" altLang="en-US" dirty="0">
                <a:sym typeface="+mn-ea"/>
              </a:rPr>
              <a:t>线性代数、随机数生成以及傅里叶变换功能。</a:t>
            </a:r>
            <a:endParaRPr lang="zh-CN" altLang="en-US" dirty="0">
              <a:sym typeface="+mn-ea"/>
            </a:endParaRPr>
          </a:p>
          <a:p>
            <a:pPr lvl="1"/>
            <a:r>
              <a:rPr lang="zh-CN" altLang="en-US" dirty="0">
                <a:sym typeface="+mn-ea"/>
              </a:rPr>
              <a:t>用于集成由C、C++、Fortran等语言编写的代码。</a:t>
            </a:r>
            <a:endParaRPr lang="zh-CN" altLang="en-US" dirty="0">
              <a:sym typeface="+mn-ea"/>
            </a:endParaRPr>
          </a:p>
          <a:p>
            <a:r>
              <a:rPr lang="zh-CN" altLang="en-US" dirty="0">
                <a:sym typeface="+mn-ea"/>
              </a:rPr>
              <a:t>NumPy本身并没有提供多么高级的数据分析功能</a:t>
            </a:r>
            <a:endParaRPr lang="zh-CN" altLang="en-US" dirty="0">
              <a:sym typeface="+mn-ea"/>
            </a:endParaRPr>
          </a:p>
          <a:p>
            <a:pPr lvl="1"/>
            <a:r>
              <a:rPr lang="zh-CN" altLang="en-US" dirty="0">
                <a:sym typeface="+mn-ea"/>
              </a:rPr>
              <a:t>理解NumPy数组以及面向数组的计算将有助于你更加高效地使用诸如pandas之类的工具</a:t>
            </a:r>
            <a:endParaRPr lang="zh-CN" altLang="en-US" dirty="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Numpy </a:t>
            </a:r>
            <a:r>
              <a:rPr lang="zh-CN" altLang="en-US" dirty="0"/>
              <a:t>概述</a:t>
            </a:r>
            <a:endParaRPr lang="zh-CN" altLang="en-US" dirty="0"/>
          </a:p>
        </p:txBody>
      </p:sp>
      <p:sp>
        <p:nvSpPr>
          <p:cNvPr id="3" name="内容占位符 2"/>
          <p:cNvSpPr>
            <a:spLocks noGrp="1"/>
          </p:cNvSpPr>
          <p:nvPr>
            <p:ph idx="1"/>
          </p:nvPr>
        </p:nvSpPr>
        <p:spPr/>
        <p:txBody>
          <a:bodyPr/>
          <a:lstStyle/>
          <a:p>
            <a:r>
              <a:rPr lang="zh-CN" altLang="en-US" dirty="0">
                <a:sym typeface="+mn-ea"/>
              </a:rPr>
              <a:t>数据分析应用</a:t>
            </a:r>
            <a:r>
              <a:rPr lang="zh-CN" dirty="0">
                <a:sym typeface="+mn-ea"/>
              </a:rPr>
              <a:t>关注点</a:t>
            </a:r>
            <a:endParaRPr lang="zh-CN" dirty="0">
              <a:sym typeface="+mn-ea"/>
            </a:endParaRPr>
          </a:p>
          <a:p>
            <a:pPr lvl="1"/>
            <a:r>
              <a:rPr lang="zh-CN" altLang="en-US" dirty="0">
                <a:sym typeface="+mn-ea"/>
              </a:rPr>
              <a:t>用于数据整理和清理、子集构造、过滤、转换等快速的矢量化数组运算</a:t>
            </a:r>
            <a:endParaRPr lang="zh-CN" altLang="en-US" dirty="0">
              <a:sym typeface="+mn-ea"/>
            </a:endParaRPr>
          </a:p>
          <a:p>
            <a:pPr lvl="1"/>
            <a:r>
              <a:rPr lang="zh-CN" altLang="en-US" dirty="0">
                <a:sym typeface="+mn-ea"/>
              </a:rPr>
              <a:t>常用的数组算法，如排序、唯一化、集合运算等</a:t>
            </a:r>
            <a:endParaRPr lang="zh-CN" altLang="en-US" dirty="0">
              <a:sym typeface="+mn-ea"/>
            </a:endParaRPr>
          </a:p>
          <a:p>
            <a:pPr lvl="1"/>
            <a:r>
              <a:rPr lang="zh-CN" altLang="en-US" dirty="0">
                <a:sym typeface="+mn-ea"/>
              </a:rPr>
              <a:t>高效的描述统计和数据聚合/概述数据</a:t>
            </a:r>
            <a:endParaRPr lang="zh-CN" altLang="en-US" dirty="0">
              <a:sym typeface="+mn-ea"/>
            </a:endParaRPr>
          </a:p>
          <a:p>
            <a:pPr lvl="1"/>
            <a:r>
              <a:rPr lang="zh-CN" altLang="en-US" dirty="0">
                <a:sym typeface="+mn-ea"/>
              </a:rPr>
              <a:t>用于异构数据集</a:t>
            </a:r>
            <a:r>
              <a:rPr lang="zh-CN" altLang="en-US" dirty="0" smtClean="0">
                <a:sym typeface="+mn-ea"/>
              </a:rPr>
              <a:t>的合并/连接运算</a:t>
            </a:r>
            <a:r>
              <a:rPr lang="zh-CN" altLang="en-US" dirty="0">
                <a:sym typeface="+mn-ea"/>
              </a:rPr>
              <a:t>的数据对齐和关系型数据运算</a:t>
            </a:r>
            <a:endParaRPr lang="zh-CN" altLang="en-US" dirty="0">
              <a:sym typeface="+mn-ea"/>
            </a:endParaRPr>
          </a:p>
          <a:p>
            <a:pPr lvl="1"/>
            <a:r>
              <a:rPr lang="zh-CN" altLang="en-US" dirty="0">
                <a:sym typeface="+mn-ea"/>
              </a:rPr>
              <a:t>将条件逻辑表述为数组表达式（而不是带有if-elif-else分支的循环）</a:t>
            </a:r>
            <a:endParaRPr lang="zh-CN" altLang="en-US" dirty="0">
              <a:sym typeface="+mn-ea"/>
            </a:endParaRPr>
          </a:p>
          <a:p>
            <a:pPr lvl="1"/>
            <a:r>
              <a:rPr lang="zh-CN" altLang="en-US" dirty="0">
                <a:sym typeface="+mn-ea"/>
              </a:rPr>
              <a:t>数据的分组运算（聚合、转换、函数应用等）</a:t>
            </a:r>
            <a:endParaRPr lang="zh-CN" altLang="en-US" dirty="0">
              <a:sym typeface="+mn-ea"/>
            </a:endParaRPr>
          </a:p>
          <a:p>
            <a:r>
              <a:rPr lang="en-US" altLang="zh-CN" dirty="0" err="1" smtClean="0">
                <a:sym typeface="+mn-ea"/>
              </a:rPr>
              <a:t>Numpy</a:t>
            </a:r>
            <a:r>
              <a:rPr lang="zh-CN" altLang="en-US" dirty="0"/>
              <a:t>可以高效处理大数组的</a:t>
            </a:r>
            <a:r>
              <a:rPr lang="zh-CN" altLang="en-US" dirty="0" smtClean="0"/>
              <a:t>数据</a:t>
            </a:r>
            <a:endParaRPr lang="en-US" altLang="zh-CN" dirty="0" smtClean="0"/>
          </a:p>
          <a:p>
            <a:pPr lvl="1"/>
            <a:r>
              <a:rPr lang="zh-CN" altLang="en-US" dirty="0"/>
              <a:t>可以高效处理大数组的数据</a:t>
            </a:r>
            <a:endParaRPr lang="en-US" altLang="zh-CN" dirty="0" smtClean="0"/>
          </a:p>
          <a:p>
            <a:pPr lvl="1"/>
            <a:r>
              <a:rPr lang="zh-CN" altLang="en-US" dirty="0"/>
              <a:t>在整个数组上执行复杂的计算，而不需要</a:t>
            </a:r>
            <a:r>
              <a:rPr lang="en-US" altLang="zh-CN" dirty="0"/>
              <a:t>Python</a:t>
            </a:r>
            <a:r>
              <a:rPr lang="zh-CN" altLang="en-US" dirty="0"/>
              <a:t>的</a:t>
            </a:r>
            <a:r>
              <a:rPr lang="en-US" altLang="zh-CN" dirty="0"/>
              <a:t>for</a:t>
            </a:r>
            <a:r>
              <a:rPr lang="zh-CN" altLang="en-US"/>
              <a:t>循环</a:t>
            </a:r>
            <a:endParaRPr lang="zh-CN" altLang="en-US" dirty="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Numpy</a:t>
            </a:r>
            <a:endParaRPr lang="zh-CN" altLang="en-US" dirty="0"/>
          </a:p>
        </p:txBody>
      </p:sp>
      <p:sp>
        <p:nvSpPr>
          <p:cNvPr id="3" name="内容占位符 2"/>
          <p:cNvSpPr>
            <a:spLocks noGrp="1"/>
          </p:cNvSpPr>
          <p:nvPr>
            <p:ph idx="1"/>
          </p:nvPr>
        </p:nvSpPr>
        <p:spPr/>
        <p:txBody>
          <a:bodyPr/>
          <a:lstStyle/>
          <a:p>
            <a:r>
              <a:rPr lang="en-US" altLang="zh-CN" dirty="0">
                <a:sym typeface="+mn-ea"/>
              </a:rPr>
              <a:t>Numpy</a:t>
            </a:r>
            <a:r>
              <a:rPr lang="zh-CN" altLang="en-US" dirty="0">
                <a:sym typeface="+mn-ea"/>
              </a:rPr>
              <a:t>基础：数组与向量化计算</a:t>
            </a:r>
            <a:endParaRPr lang="zh-CN" altLang="en-US" dirty="0">
              <a:sym typeface="+mn-ea"/>
            </a:endParaRPr>
          </a:p>
          <a:p>
            <a:pPr lvl="1"/>
            <a:r>
              <a:rPr lang="zh-CN" altLang="en-US" dirty="0"/>
              <a:t>示例</a:t>
            </a:r>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r>
              <a:rPr lang="zh-CN" altLang="en-US" dirty="0"/>
              <a:t>优势：速度更快、内存更省</a:t>
            </a:r>
            <a:endParaRPr lang="zh-CN" altLang="en-US" dirty="0"/>
          </a:p>
          <a:p>
            <a:pPr lvl="1"/>
            <a:endParaRPr lang="zh-CN" altLang="en-US" dirty="0"/>
          </a:p>
        </p:txBody>
      </p:sp>
      <p:sp>
        <p:nvSpPr>
          <p:cNvPr id="4" name="文本框 3"/>
          <p:cNvSpPr txBox="1"/>
          <p:nvPr/>
        </p:nvSpPr>
        <p:spPr>
          <a:xfrm>
            <a:off x="2213610" y="2133600"/>
            <a:ext cx="6710045" cy="1322070"/>
          </a:xfrm>
          <a:prstGeom prst="rect">
            <a:avLst/>
          </a:prstGeom>
          <a:noFill/>
        </p:spPr>
        <p:txBody>
          <a:bodyPr wrap="square" rtlCol="0" anchor="t">
            <a:spAutoFit/>
          </a:bodyPr>
          <a:lstStyle/>
          <a:p>
            <a:r>
              <a:rPr lang="zh-CN" altLang="en-US" sz="1600"/>
              <a:t>In [7]: import numpy as np</a:t>
            </a:r>
            <a:endParaRPr lang="zh-CN" altLang="en-US" sz="1600"/>
          </a:p>
          <a:p>
            <a:endParaRPr lang="zh-CN" altLang="en-US" sz="1600"/>
          </a:p>
          <a:p>
            <a:r>
              <a:rPr lang="zh-CN" altLang="en-US" sz="1600"/>
              <a:t>In [8]: my_arr = np.arange(1000000)</a:t>
            </a:r>
            <a:endParaRPr lang="zh-CN" altLang="en-US" sz="1600"/>
          </a:p>
          <a:p>
            <a:endParaRPr lang="zh-CN" altLang="en-US" sz="1600"/>
          </a:p>
          <a:p>
            <a:r>
              <a:rPr lang="zh-CN" altLang="en-US" sz="1600"/>
              <a:t>In [9]: my_list = list(range(1000000))</a:t>
            </a:r>
            <a:endParaRPr lang="zh-CN" altLang="en-US" sz="1600"/>
          </a:p>
        </p:txBody>
      </p:sp>
      <p:sp>
        <p:nvSpPr>
          <p:cNvPr id="5" name="文本框 4"/>
          <p:cNvSpPr txBox="1"/>
          <p:nvPr/>
        </p:nvSpPr>
        <p:spPr>
          <a:xfrm>
            <a:off x="2213610" y="3646170"/>
            <a:ext cx="8640445" cy="1814830"/>
          </a:xfrm>
          <a:prstGeom prst="rect">
            <a:avLst/>
          </a:prstGeom>
          <a:noFill/>
        </p:spPr>
        <p:txBody>
          <a:bodyPr wrap="square" rtlCol="0" anchor="t">
            <a:spAutoFit/>
          </a:bodyPr>
          <a:lstStyle/>
          <a:p>
            <a:r>
              <a:rPr lang="zh-CN" altLang="en-US" sz="1600"/>
              <a:t>In [10]: %time for _ in range(10): my_arr2 = my_arr * 2</a:t>
            </a:r>
            <a:endParaRPr lang="zh-CN" altLang="en-US" sz="1600"/>
          </a:p>
          <a:p>
            <a:r>
              <a:rPr lang="zh-CN" altLang="en-US" sz="1600"/>
              <a:t>CPU times: user 20 ms, sys: 50 ms, total: 70 ms</a:t>
            </a:r>
            <a:endParaRPr lang="zh-CN" altLang="en-US" sz="1600"/>
          </a:p>
          <a:p>
            <a:r>
              <a:rPr lang="zh-CN" altLang="en-US" sz="1600"/>
              <a:t>Wall time: 72.4 ms</a:t>
            </a:r>
            <a:endParaRPr lang="zh-CN" altLang="en-US" sz="1600"/>
          </a:p>
          <a:p>
            <a:endParaRPr lang="zh-CN" altLang="en-US" sz="1600"/>
          </a:p>
          <a:p>
            <a:r>
              <a:rPr lang="zh-CN" altLang="en-US" sz="1600"/>
              <a:t>In [11]: %time for _ in range(10): my_list2 = [x * 2 for x in my_list]</a:t>
            </a:r>
            <a:endParaRPr lang="zh-CN" altLang="en-US" sz="1600"/>
          </a:p>
          <a:p>
            <a:r>
              <a:rPr lang="zh-CN" altLang="en-US" sz="1600"/>
              <a:t>CPU times: user 760 ms, sys: 290 ms, total: 1.05 s</a:t>
            </a:r>
            <a:endParaRPr lang="zh-CN" altLang="en-US" sz="1600"/>
          </a:p>
          <a:p>
            <a:r>
              <a:rPr lang="zh-CN" altLang="en-US" sz="1600"/>
              <a:t>Wall time: 1.05 s</a:t>
            </a:r>
            <a:endParaRPr lang="zh-CN"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Numpy</a:t>
            </a:r>
            <a:r>
              <a:rPr lang="zh-CN" altLang="en-US" dirty="0">
                <a:sym typeface="+mn-ea"/>
              </a:rPr>
              <a:t>基础：数组与向量化计算</a:t>
            </a:r>
            <a:endParaRPr lang="en-US" altLang="zh-CN" dirty="0"/>
          </a:p>
        </p:txBody>
      </p:sp>
      <p:sp>
        <p:nvSpPr>
          <p:cNvPr id="3" name="内容占位符 2"/>
          <p:cNvSpPr>
            <a:spLocks noGrp="1"/>
          </p:cNvSpPr>
          <p:nvPr>
            <p:ph idx="1"/>
          </p:nvPr>
        </p:nvSpPr>
        <p:spPr/>
        <p:txBody>
          <a:bodyPr/>
          <a:lstStyle/>
          <a:p>
            <a:r>
              <a:rPr lang="en-US" altLang="zh-CN" dirty="0">
                <a:sym typeface="+mn-ea"/>
              </a:rPr>
              <a:t>4.1 NumPy的ndarray：一种多维数组对象</a:t>
            </a:r>
            <a:endParaRPr lang="en-US" altLang="zh-CN" dirty="0">
              <a:sym typeface="+mn-ea"/>
            </a:endParaRPr>
          </a:p>
          <a:p>
            <a:pPr lvl="1"/>
            <a:r>
              <a:rPr lang="zh-CN" altLang="en-US" dirty="0"/>
              <a:t>4.1.1 生成ndarray</a:t>
            </a:r>
            <a:endParaRPr lang="zh-CN" altLang="en-US" dirty="0"/>
          </a:p>
          <a:p>
            <a:pPr lvl="1"/>
            <a:r>
              <a:rPr lang="zh-CN" altLang="en-US" dirty="0"/>
              <a:t>4.1.2 ndarray的数据类型</a:t>
            </a:r>
            <a:endParaRPr lang="zh-CN" altLang="en-US" dirty="0"/>
          </a:p>
          <a:p>
            <a:pPr lvl="1"/>
            <a:r>
              <a:rPr lang="zh-CN" altLang="en-US" dirty="0"/>
              <a:t>4.1.3 NumPy数组算术</a:t>
            </a:r>
            <a:endParaRPr lang="zh-CN" altLang="en-US" dirty="0"/>
          </a:p>
          <a:p>
            <a:pPr lvl="1"/>
            <a:r>
              <a:rPr lang="zh-CN" altLang="en-US" dirty="0"/>
              <a:t>4.1.4 基础索引与切片</a:t>
            </a:r>
            <a:endParaRPr lang="zh-CN" altLang="en-US" dirty="0"/>
          </a:p>
          <a:p>
            <a:pPr lvl="1"/>
            <a:r>
              <a:rPr lang="zh-CN" altLang="en-US" dirty="0"/>
              <a:t>4.1.5 布尔索引</a:t>
            </a:r>
            <a:endParaRPr lang="zh-CN" altLang="en-US" dirty="0"/>
          </a:p>
          <a:p>
            <a:pPr lvl="1"/>
            <a:r>
              <a:rPr lang="zh-CN" altLang="en-US" dirty="0"/>
              <a:t>4.1.6 神奇索引</a:t>
            </a:r>
            <a:endParaRPr lang="zh-CN" altLang="en-US" dirty="0"/>
          </a:p>
          <a:p>
            <a:pPr lvl="1"/>
            <a:r>
              <a:rPr lang="zh-CN" altLang="en-US" dirty="0"/>
              <a:t>4.1.7 数组转置和换轴</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Numpy</a:t>
            </a:r>
            <a:r>
              <a:rPr lang="zh-CN" altLang="en-US" dirty="0">
                <a:sym typeface="+mn-ea"/>
              </a:rPr>
              <a:t>基础：数组与向量化计算</a:t>
            </a:r>
            <a:endParaRPr lang="en-US" altLang="zh-CN" dirty="0"/>
          </a:p>
        </p:txBody>
      </p:sp>
      <p:sp>
        <p:nvSpPr>
          <p:cNvPr id="3" name="内容占位符 2"/>
          <p:cNvSpPr>
            <a:spLocks noGrp="1"/>
          </p:cNvSpPr>
          <p:nvPr>
            <p:ph idx="1"/>
          </p:nvPr>
        </p:nvSpPr>
        <p:spPr/>
        <p:txBody>
          <a:bodyPr/>
          <a:lstStyle/>
          <a:p>
            <a:r>
              <a:rPr lang="en-US" altLang="zh-CN" dirty="0">
                <a:sym typeface="+mn-ea"/>
              </a:rPr>
              <a:t>4.1 NumPy的ndarray：一种多维数组对象</a:t>
            </a:r>
            <a:endParaRPr lang="en-US" altLang="zh-CN" dirty="0">
              <a:sym typeface="+mn-ea"/>
            </a:endParaRPr>
          </a:p>
          <a:p>
            <a:pPr lvl="1"/>
            <a:r>
              <a:rPr lang="en-US" altLang="zh-CN" dirty="0">
                <a:sym typeface="+mn-ea"/>
              </a:rPr>
              <a:t>ndarray</a:t>
            </a:r>
            <a:r>
              <a:rPr lang="zh-CN" altLang="en-US" dirty="0">
                <a:sym typeface="+mn-ea"/>
              </a:rPr>
              <a:t>：N维数组对象，一种快速而灵活的大数据集容器</a:t>
            </a:r>
            <a:endParaRPr lang="zh-CN" altLang="en-US" dirty="0">
              <a:sym typeface="+mn-ea"/>
            </a:endParaRPr>
          </a:p>
          <a:p>
            <a:pPr lvl="2"/>
            <a:r>
              <a:rPr lang="zh-CN" altLang="en-US" dirty="0">
                <a:sym typeface="+mn-ea"/>
              </a:rPr>
              <a:t>同构数据多维容器，属性：</a:t>
            </a:r>
            <a:r>
              <a:rPr lang="en-US" altLang="zh-CN" dirty="0">
                <a:sym typeface="+mn-ea"/>
              </a:rPr>
              <a:t>shape</a:t>
            </a:r>
            <a:r>
              <a:rPr lang="zh-CN" altLang="zh-CN" dirty="0">
                <a:sym typeface="+mn-ea"/>
              </a:rPr>
              <a:t>和</a:t>
            </a:r>
            <a:r>
              <a:rPr lang="en-US" altLang="zh-CN" dirty="0">
                <a:sym typeface="+mn-ea"/>
              </a:rPr>
              <a:t>dtype</a:t>
            </a:r>
            <a:endParaRPr lang="zh-CN" altLang="en-US" dirty="0">
              <a:sym typeface="+mn-ea"/>
            </a:endParaRPr>
          </a:p>
          <a:p>
            <a:pPr lvl="1"/>
            <a:r>
              <a:rPr lang="zh-CN" altLang="en-US" dirty="0">
                <a:sym typeface="+mn-ea"/>
              </a:rPr>
              <a:t>利用与标量值类似的语法进行批次计算</a:t>
            </a:r>
            <a:endParaRPr lang="zh-CN" altLang="en-US" dirty="0">
              <a:sym typeface="+mn-ea"/>
            </a:endParaRPr>
          </a:p>
          <a:p>
            <a:pPr lvl="1"/>
            <a:endParaRPr lang="zh-CN" altLang="en-US" dirty="0">
              <a:sym typeface="+mn-ea"/>
            </a:endParaRPr>
          </a:p>
          <a:p>
            <a:pPr lvl="1"/>
            <a:endParaRPr lang="zh-CN" altLang="en-US" dirty="0">
              <a:sym typeface="+mn-ea"/>
            </a:endParaRPr>
          </a:p>
          <a:p>
            <a:pPr lvl="1"/>
            <a:endParaRPr lang="zh-CN" altLang="en-US" dirty="0">
              <a:sym typeface="+mn-ea"/>
            </a:endParaRPr>
          </a:p>
          <a:p>
            <a:pPr lvl="1"/>
            <a:endParaRPr lang="zh-CN" altLang="en-US" dirty="0">
              <a:sym typeface="+mn-ea"/>
            </a:endParaRPr>
          </a:p>
          <a:p>
            <a:pPr lvl="1"/>
            <a:endParaRPr lang="zh-CN" altLang="en-US" dirty="0">
              <a:sym typeface="+mn-ea"/>
            </a:endParaRPr>
          </a:p>
          <a:p>
            <a:pPr lvl="1"/>
            <a:endParaRPr lang="zh-CN" altLang="en-US" dirty="0">
              <a:sym typeface="+mn-ea"/>
            </a:endParaRPr>
          </a:p>
          <a:p>
            <a:pPr lvl="1"/>
            <a:r>
              <a:rPr lang="en-US" altLang="zh-CN" dirty="0">
                <a:sym typeface="+mn-ea"/>
              </a:rPr>
              <a:t>Note:</a:t>
            </a:r>
            <a:r>
              <a:rPr lang="zh-CN" altLang="zh-CN" dirty="0">
                <a:sym typeface="+mn-ea"/>
              </a:rPr>
              <a:t> 虽然大多数数据分析工作不需要深入理解NumPy，但是精通面向数组的编程和思维方式是成为Python科学计算牛人的一大关键步骤。</a:t>
            </a:r>
            <a:endParaRPr lang="zh-CN" altLang="zh-CN" dirty="0">
              <a:sym typeface="+mn-ea"/>
            </a:endParaRPr>
          </a:p>
        </p:txBody>
      </p:sp>
      <p:sp>
        <p:nvSpPr>
          <p:cNvPr id="4" name="文本框 3"/>
          <p:cNvSpPr txBox="1"/>
          <p:nvPr/>
        </p:nvSpPr>
        <p:spPr>
          <a:xfrm>
            <a:off x="1133475" y="2997200"/>
            <a:ext cx="4443095" cy="2306955"/>
          </a:xfrm>
          <a:prstGeom prst="rect">
            <a:avLst/>
          </a:prstGeom>
          <a:noFill/>
        </p:spPr>
        <p:txBody>
          <a:bodyPr wrap="square" rtlCol="0" anchor="t">
            <a:spAutoFit/>
          </a:bodyPr>
          <a:lstStyle/>
          <a:p>
            <a:r>
              <a:rPr lang="zh-CN" altLang="en-US" sz="1600"/>
              <a:t>In [12]: import numpy as np</a:t>
            </a:r>
            <a:endParaRPr lang="zh-CN" altLang="en-US" sz="1600"/>
          </a:p>
          <a:p>
            <a:endParaRPr lang="zh-CN" altLang="en-US" sz="1600"/>
          </a:p>
          <a:p>
            <a:r>
              <a:rPr lang="zh-CN" altLang="en-US" sz="1600"/>
              <a:t># Generate some random data</a:t>
            </a:r>
            <a:endParaRPr lang="zh-CN" altLang="en-US" sz="1600"/>
          </a:p>
          <a:p>
            <a:r>
              <a:rPr lang="zh-CN" altLang="en-US" sz="1600"/>
              <a:t>In [13]: data = np.random.randn(2, 3)</a:t>
            </a:r>
            <a:endParaRPr lang="zh-CN" altLang="en-US" sz="1600"/>
          </a:p>
          <a:p>
            <a:endParaRPr lang="zh-CN" altLang="en-US" sz="1600"/>
          </a:p>
          <a:p>
            <a:r>
              <a:rPr lang="zh-CN" altLang="en-US" sz="1600"/>
              <a:t>In [14]: data</a:t>
            </a:r>
            <a:endParaRPr lang="zh-CN" altLang="en-US" sz="1600"/>
          </a:p>
          <a:p>
            <a:r>
              <a:rPr lang="zh-CN" altLang="en-US" sz="1600"/>
              <a:t>Out[14]: </a:t>
            </a:r>
            <a:endParaRPr lang="zh-CN" altLang="en-US" sz="1600"/>
          </a:p>
          <a:p>
            <a:r>
              <a:rPr lang="zh-CN" altLang="en-US" sz="1600"/>
              <a:t>array([[-0.2047,  0.4789, -0.5194],</a:t>
            </a:r>
            <a:endParaRPr lang="zh-CN" altLang="en-US" sz="1600"/>
          </a:p>
          <a:p>
            <a:r>
              <a:rPr lang="zh-CN" altLang="en-US" sz="1600"/>
              <a:t>       [-0.5557,  1.9658,  1.3934]])</a:t>
            </a:r>
            <a:endParaRPr lang="zh-CN" altLang="en-US" sz="1600"/>
          </a:p>
        </p:txBody>
      </p:sp>
      <p:sp>
        <p:nvSpPr>
          <p:cNvPr id="5" name="文本框 4"/>
          <p:cNvSpPr txBox="1"/>
          <p:nvPr/>
        </p:nvSpPr>
        <p:spPr>
          <a:xfrm>
            <a:off x="5958205" y="2997200"/>
            <a:ext cx="5898515" cy="2306955"/>
          </a:xfrm>
          <a:prstGeom prst="rect">
            <a:avLst/>
          </a:prstGeom>
          <a:noFill/>
        </p:spPr>
        <p:txBody>
          <a:bodyPr wrap="square" rtlCol="0" anchor="t">
            <a:spAutoFit/>
          </a:bodyPr>
          <a:lstStyle/>
          <a:p>
            <a:r>
              <a:rPr lang="zh-CN" altLang="en-US" sz="1600"/>
              <a:t>In [15]: data * 10</a:t>
            </a:r>
            <a:endParaRPr lang="zh-CN" altLang="en-US" sz="1600"/>
          </a:p>
          <a:p>
            <a:r>
              <a:rPr lang="zh-CN" altLang="en-US" sz="1600"/>
              <a:t>Out[15]: </a:t>
            </a:r>
            <a:endParaRPr lang="zh-CN" altLang="en-US" sz="1600"/>
          </a:p>
          <a:p>
            <a:r>
              <a:rPr lang="zh-CN" altLang="en-US" sz="1600"/>
              <a:t>array([[ -2.0471,   4.7894,  -5.1944],</a:t>
            </a:r>
            <a:endParaRPr lang="zh-CN" altLang="en-US" sz="1600"/>
          </a:p>
          <a:p>
            <a:r>
              <a:rPr lang="zh-CN" altLang="en-US" sz="1600"/>
              <a:t>       [ -5.5573,  19.6578,  13.9341]])</a:t>
            </a:r>
            <a:endParaRPr lang="zh-CN" altLang="en-US" sz="1600"/>
          </a:p>
          <a:p>
            <a:endParaRPr lang="zh-CN" altLang="en-US" sz="1600"/>
          </a:p>
          <a:p>
            <a:r>
              <a:rPr lang="zh-CN" altLang="en-US" sz="1600"/>
              <a:t>In [16]: data + data</a:t>
            </a:r>
            <a:endParaRPr lang="zh-CN" altLang="en-US" sz="1600"/>
          </a:p>
          <a:p>
            <a:r>
              <a:rPr lang="zh-CN" altLang="en-US" sz="1600"/>
              <a:t>Out[16]: </a:t>
            </a:r>
            <a:endParaRPr lang="zh-CN" altLang="en-US" sz="1600"/>
          </a:p>
          <a:p>
            <a:r>
              <a:rPr lang="zh-CN" altLang="en-US" sz="1600"/>
              <a:t>array([[-0.4094,  0.9579, -1.0389],</a:t>
            </a:r>
            <a:endParaRPr lang="zh-CN" altLang="en-US" sz="1600"/>
          </a:p>
          <a:p>
            <a:r>
              <a:rPr lang="zh-CN" altLang="en-US" sz="1600"/>
              <a:t>       [-1.1115,  3.9316,  2.7868]])</a:t>
            </a:r>
            <a:endParaRPr lang="zh-CN"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4.1.1 生成ndarray</a:t>
            </a:r>
            <a:endParaRPr lang="zh-CN" altLang="en-US" dirty="0"/>
          </a:p>
        </p:txBody>
      </p:sp>
      <p:sp>
        <p:nvSpPr>
          <p:cNvPr id="3" name="内容占位符 2"/>
          <p:cNvSpPr>
            <a:spLocks noGrp="1"/>
          </p:cNvSpPr>
          <p:nvPr>
            <p:ph idx="1"/>
          </p:nvPr>
        </p:nvSpPr>
        <p:spPr/>
        <p:txBody>
          <a:bodyPr/>
          <a:lstStyle/>
          <a:p>
            <a:r>
              <a:rPr lang="en-US" altLang="zh-CN" dirty="0"/>
              <a:t>array</a:t>
            </a:r>
            <a:r>
              <a:rPr lang="zh-CN" altLang="en-US" dirty="0"/>
              <a:t>函数：接收任意类型的序列对象</a:t>
            </a:r>
            <a:endParaRPr lang="zh-CN" altLang="en-US" dirty="0"/>
          </a:p>
          <a:p>
            <a:pPr lvl="1"/>
            <a:r>
              <a:rPr lang="zh-CN" altLang="en-US" dirty="0"/>
              <a:t>列表、包含列表的列表、包含字符串的列表、字符串</a:t>
            </a:r>
            <a:endParaRPr lang="zh-CN" altLang="en-US" dirty="0"/>
          </a:p>
          <a:p>
            <a:r>
              <a:rPr lang="zh-CN" altLang="en-US" dirty="0"/>
              <a:t>维度</a:t>
            </a:r>
            <a:r>
              <a:rPr lang="en-US" altLang="zh-CN" dirty="0"/>
              <a:t>ndim</a:t>
            </a:r>
            <a:endParaRPr lang="zh-CN" altLang="zh-CN" dirty="0"/>
          </a:p>
          <a:p>
            <a:r>
              <a:rPr lang="zh-CN" altLang="zh-CN" dirty="0"/>
              <a:t>形状</a:t>
            </a:r>
            <a:r>
              <a:rPr lang="en-US" altLang="zh-CN" dirty="0"/>
              <a:t>shape</a:t>
            </a:r>
            <a:endParaRPr lang="zh-CN" altLang="zh-CN" dirty="0"/>
          </a:p>
          <a:p>
            <a:r>
              <a:rPr lang="zh-CN" altLang="zh-CN" dirty="0"/>
              <a:t>类型</a:t>
            </a:r>
            <a:r>
              <a:rPr lang="en-US" altLang="zh-CN" dirty="0"/>
              <a:t>dtype</a:t>
            </a:r>
            <a:endParaRPr lang="en-US" altLang="zh-CN" dirty="0"/>
          </a:p>
          <a:p>
            <a:pPr lvl="1"/>
            <a:r>
              <a:rPr lang="zh-CN" altLang="en-US" dirty="0"/>
              <a:t>类型自动推断</a:t>
            </a:r>
            <a:endParaRPr lang="zh-CN" altLang="en-US" dirty="0"/>
          </a:p>
          <a:p>
            <a:pPr lvl="2"/>
            <a:r>
              <a:rPr lang="en-US" altLang="zh-CN" sz="1400" dirty="0"/>
              <a:t>float</a:t>
            </a:r>
            <a:r>
              <a:rPr lang="zh-CN" altLang="zh-CN" sz="1400" dirty="0"/>
              <a:t>、</a:t>
            </a:r>
            <a:r>
              <a:rPr lang="en-US" altLang="zh-CN" sz="1400" dirty="0"/>
              <a:t>int</a:t>
            </a:r>
            <a:r>
              <a:rPr lang="zh-CN" altLang="zh-CN" sz="1400" dirty="0"/>
              <a:t>、</a:t>
            </a:r>
            <a:r>
              <a:rPr lang="en-US" altLang="zh-CN" sz="1400" dirty="0"/>
              <a:t>str</a:t>
            </a:r>
            <a:endParaRPr lang="zh-CN" altLang="en-US" dirty="0"/>
          </a:p>
          <a:p>
            <a:pPr lvl="1"/>
            <a:r>
              <a:rPr lang="zh-CN" altLang="en-US" dirty="0"/>
              <a:t>同构</a:t>
            </a:r>
            <a:endParaRPr lang="zh-CN" altLang="en-US" dirty="0"/>
          </a:p>
          <a:p>
            <a:endParaRPr lang="zh-CN" altLang="en-US" dirty="0"/>
          </a:p>
        </p:txBody>
      </p:sp>
      <p:pic>
        <p:nvPicPr>
          <p:cNvPr id="2050" name="Picture 2" descr="https://gimg2.baidu.com/image_search/src=http%3A%2F%2Ftuku.vimsky.com%2Fimages%2F2018%2F02%2Fnumpy-array.jpg&amp;refer=http%3A%2F%2Ftuku.vimsky.com&amp;app=2002&amp;size=f9999,10000&amp;q=a80&amp;n=0&amp;g=0n&amp;fmt=jpeg?sec=1624008794&amp;t=8f78f72ba64a85865797f46a54535313"/>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5521368" y="2349674"/>
            <a:ext cx="6569277" cy="3672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4.1.1 生成ndarray</a:t>
            </a:r>
            <a:endParaRPr lang="zh-CN" altLang="en-US" dirty="0"/>
          </a:p>
        </p:txBody>
      </p:sp>
      <p:sp>
        <p:nvSpPr>
          <p:cNvPr id="3" name="内容占位符 2"/>
          <p:cNvSpPr>
            <a:spLocks noGrp="1"/>
          </p:cNvSpPr>
          <p:nvPr>
            <p:ph idx="1"/>
          </p:nvPr>
        </p:nvSpPr>
        <p:spPr/>
        <p:txBody>
          <a:bodyPr/>
          <a:lstStyle/>
          <a:p>
            <a:r>
              <a:rPr lang="zh-CN" altLang="en-US" dirty="0">
                <a:sym typeface="+mn-ea"/>
              </a:rPr>
              <a:t>数组生成函数</a:t>
            </a:r>
            <a:endParaRPr lang="zh-CN" altLang="en-US" dirty="0">
              <a:sym typeface="+mn-ea"/>
            </a:endParaRPr>
          </a:p>
          <a:p>
            <a:endParaRPr lang="en-US" altLang="zh-CN" dirty="0">
              <a:sym typeface="+mn-ea"/>
            </a:endParaRPr>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1830" y="1989634"/>
            <a:ext cx="8877300" cy="408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4.1.2 ndarray的数据类型</a:t>
            </a:r>
            <a:endParaRPr lang="en-US" altLang="zh-CN" dirty="0"/>
          </a:p>
        </p:txBody>
      </p:sp>
      <p:sp>
        <p:nvSpPr>
          <p:cNvPr id="3" name="内容占位符 2"/>
          <p:cNvSpPr>
            <a:spLocks noGrp="1"/>
          </p:cNvSpPr>
          <p:nvPr>
            <p:ph idx="1"/>
          </p:nvPr>
        </p:nvSpPr>
        <p:spPr/>
        <p:txBody>
          <a:bodyPr/>
          <a:lstStyle/>
          <a:p>
            <a:r>
              <a:rPr lang="en-US" altLang="zh-CN" dirty="0"/>
              <a:t>dtype</a:t>
            </a:r>
            <a:r>
              <a:rPr lang="zh-CN" altLang="zh-CN" dirty="0"/>
              <a:t>：</a:t>
            </a:r>
            <a:r>
              <a:rPr lang="en-US" altLang="zh-CN" dirty="0"/>
              <a:t> </a:t>
            </a:r>
            <a:r>
              <a:rPr lang="zh-CN" altLang="en-US" dirty="0"/>
              <a:t>数据类型</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r>
              <a:rPr lang="zh-CN" altLang="en-US" dirty="0"/>
              <a:t>通常只需要知道你所处理的数据的大致类型是浮点数、复数、整数、布尔值、字符串，还是普通的Python对象即可。</a:t>
            </a:r>
            <a:endParaRPr lang="zh-CN" altLang="en-US" dirty="0"/>
          </a:p>
          <a:p>
            <a:pPr lvl="1"/>
            <a:r>
              <a:rPr lang="zh-CN" altLang="en-US" dirty="0"/>
              <a:t>当需要控制数据在内存和磁盘中的存储方式时（尤其是对大数据集），那就得了解如何控制存储类型。</a:t>
            </a:r>
            <a:endParaRPr lang="zh-CN" altLang="en-US" dirty="0"/>
          </a:p>
        </p:txBody>
      </p:sp>
      <p:sp>
        <p:nvSpPr>
          <p:cNvPr id="4" name="文本框 3"/>
          <p:cNvSpPr txBox="1"/>
          <p:nvPr/>
        </p:nvSpPr>
        <p:spPr>
          <a:xfrm>
            <a:off x="1565910" y="1989455"/>
            <a:ext cx="7774940" cy="2306955"/>
          </a:xfrm>
          <a:prstGeom prst="rect">
            <a:avLst/>
          </a:prstGeom>
          <a:noFill/>
        </p:spPr>
        <p:txBody>
          <a:bodyPr wrap="square" rtlCol="0" anchor="t">
            <a:spAutoFit/>
          </a:bodyPr>
          <a:lstStyle/>
          <a:p>
            <a:r>
              <a:rPr lang="zh-CN" altLang="en-US" sz="1600"/>
              <a:t>In [33]: arr1 = np.array([1, 2, 3], dtype=np.float64)</a:t>
            </a:r>
            <a:endParaRPr lang="zh-CN" altLang="en-US" sz="1600"/>
          </a:p>
          <a:p>
            <a:endParaRPr lang="zh-CN" altLang="en-US" sz="1600"/>
          </a:p>
          <a:p>
            <a:r>
              <a:rPr lang="zh-CN" altLang="en-US" sz="1600"/>
              <a:t>In [34]: arr2 = np.array([1, 2, 3], dtype=np.int32)</a:t>
            </a:r>
            <a:endParaRPr lang="zh-CN" altLang="en-US" sz="1600"/>
          </a:p>
          <a:p>
            <a:endParaRPr lang="zh-CN" altLang="en-US" sz="1600"/>
          </a:p>
          <a:p>
            <a:r>
              <a:rPr lang="zh-CN" altLang="en-US" sz="1600"/>
              <a:t>In [35]: arr1.dtype</a:t>
            </a:r>
            <a:endParaRPr lang="zh-CN" altLang="en-US" sz="1600"/>
          </a:p>
          <a:p>
            <a:r>
              <a:rPr lang="zh-CN" altLang="en-US" sz="1600"/>
              <a:t>Out[35]: dtype('float64')</a:t>
            </a:r>
            <a:endParaRPr lang="zh-CN" altLang="en-US" sz="1600"/>
          </a:p>
          <a:p>
            <a:endParaRPr lang="zh-CN" altLang="en-US" sz="1600"/>
          </a:p>
          <a:p>
            <a:r>
              <a:rPr lang="zh-CN" altLang="en-US" sz="1600"/>
              <a:t>In [36]: arr2.dtype</a:t>
            </a:r>
            <a:endParaRPr lang="zh-CN" altLang="en-US" sz="1600"/>
          </a:p>
          <a:p>
            <a:r>
              <a:rPr lang="zh-CN" altLang="en-US" sz="1600"/>
              <a:t>Out[36]: dtype('int32')</a:t>
            </a:r>
            <a:endParaRPr lang="zh-CN"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4.1.2 ndarray的数据类型</a:t>
            </a:r>
            <a:endParaRPr lang="zh-CN" altLang="en-US" dirty="0"/>
          </a:p>
        </p:txBody>
      </p:sp>
      <p:sp>
        <p:nvSpPr>
          <p:cNvPr id="3" name="内容占位符 2"/>
          <p:cNvSpPr>
            <a:spLocks noGrp="1"/>
          </p:cNvSpPr>
          <p:nvPr>
            <p:ph idx="1"/>
          </p:nvPr>
        </p:nvSpPr>
        <p:spPr/>
        <p:txBody>
          <a:bodyPr/>
          <a:lstStyle/>
          <a:p>
            <a:r>
              <a:rPr lang="zh-CN" altLang="en-US" dirty="0">
                <a:sym typeface="+mn-ea"/>
              </a:rPr>
              <a:t>数据类型代码</a:t>
            </a:r>
            <a:r>
              <a:rPr lang="en-US" dirty="0">
                <a:sym typeface="+mn-ea"/>
              </a:rPr>
              <a:t> </a:t>
            </a:r>
            <a:endParaRPr lang="en-US"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8014" y="1485578"/>
            <a:ext cx="4986511" cy="4778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4.1.2 ndarray的数据类型</a:t>
            </a:r>
            <a:endParaRPr lang="zh-CN" altLang="en-US" dirty="0"/>
          </a:p>
        </p:txBody>
      </p:sp>
      <p:sp>
        <p:nvSpPr>
          <p:cNvPr id="3" name="内容占位符 2"/>
          <p:cNvSpPr>
            <a:spLocks noGrp="1"/>
          </p:cNvSpPr>
          <p:nvPr>
            <p:ph idx="1"/>
          </p:nvPr>
        </p:nvSpPr>
        <p:spPr/>
        <p:txBody>
          <a:bodyPr/>
          <a:lstStyle/>
          <a:p>
            <a:r>
              <a:rPr lang="zh-CN" altLang="en-US" dirty="0"/>
              <a:t>修改数据类型</a:t>
            </a:r>
            <a:endParaRPr lang="zh-CN" altLang="en-US" dirty="0"/>
          </a:p>
          <a:p>
            <a:pPr lvl="1"/>
            <a:r>
              <a:rPr lang="zh-CN" altLang="en-US" dirty="0"/>
              <a:t>低精度</a:t>
            </a:r>
            <a:r>
              <a:rPr lang="en-US" altLang="zh-CN" dirty="0"/>
              <a:t>-&gt;</a:t>
            </a:r>
            <a:r>
              <a:rPr lang="zh-CN" altLang="zh-CN" dirty="0"/>
              <a:t>高精度</a:t>
            </a:r>
            <a:endParaRPr lang="zh-CN" altLang="zh-CN" dirty="0"/>
          </a:p>
          <a:p>
            <a:pPr lvl="1"/>
            <a:endParaRPr lang="zh-CN" altLang="zh-CN" dirty="0"/>
          </a:p>
          <a:p>
            <a:pPr lvl="1"/>
            <a:endParaRPr lang="zh-CN" altLang="zh-CN" dirty="0"/>
          </a:p>
          <a:p>
            <a:pPr lvl="1"/>
            <a:endParaRPr lang="zh-CN" altLang="zh-CN" dirty="0"/>
          </a:p>
          <a:p>
            <a:pPr lvl="1"/>
            <a:endParaRPr lang="zh-CN" altLang="zh-CN" dirty="0"/>
          </a:p>
          <a:p>
            <a:pPr lvl="1"/>
            <a:endParaRPr lang="zh-CN" altLang="zh-CN" dirty="0"/>
          </a:p>
          <a:p>
            <a:pPr lvl="1"/>
            <a:endParaRPr lang="zh-CN" altLang="zh-CN" dirty="0"/>
          </a:p>
          <a:p>
            <a:pPr lvl="1"/>
            <a:r>
              <a:rPr lang="zh-CN" altLang="zh-CN" dirty="0"/>
              <a:t>高精度</a:t>
            </a:r>
            <a:r>
              <a:rPr lang="en-US" altLang="zh-CN" dirty="0"/>
              <a:t>-&gt;</a:t>
            </a:r>
            <a:r>
              <a:rPr lang="zh-CN" altLang="zh-CN" dirty="0"/>
              <a:t>低精度</a:t>
            </a:r>
            <a:endParaRPr lang="zh-CN" altLang="zh-CN" dirty="0"/>
          </a:p>
        </p:txBody>
      </p:sp>
      <p:sp>
        <p:nvSpPr>
          <p:cNvPr id="4" name="文本框 3"/>
          <p:cNvSpPr txBox="1"/>
          <p:nvPr/>
        </p:nvSpPr>
        <p:spPr>
          <a:xfrm>
            <a:off x="1565910" y="2205355"/>
            <a:ext cx="5268595" cy="2306955"/>
          </a:xfrm>
          <a:prstGeom prst="rect">
            <a:avLst/>
          </a:prstGeom>
          <a:noFill/>
        </p:spPr>
        <p:txBody>
          <a:bodyPr wrap="square" rtlCol="0" anchor="t">
            <a:spAutoFit/>
          </a:bodyPr>
          <a:lstStyle/>
          <a:p>
            <a:r>
              <a:rPr lang="zh-CN" altLang="en-US" sz="1600"/>
              <a:t>In [37]: arr = np.array([1, 2, 3, 4, 5])</a:t>
            </a:r>
            <a:endParaRPr lang="zh-CN" altLang="en-US" sz="1600"/>
          </a:p>
          <a:p>
            <a:endParaRPr lang="zh-CN" altLang="en-US" sz="1600"/>
          </a:p>
          <a:p>
            <a:r>
              <a:rPr lang="zh-CN" altLang="en-US" sz="1600"/>
              <a:t>In [38]: arr.dtype</a:t>
            </a:r>
            <a:endParaRPr lang="zh-CN" altLang="en-US" sz="1600"/>
          </a:p>
          <a:p>
            <a:r>
              <a:rPr lang="zh-CN" altLang="en-US" sz="1600"/>
              <a:t>Out[38]: dtype('int64')</a:t>
            </a:r>
            <a:endParaRPr lang="zh-CN" altLang="en-US" sz="1600"/>
          </a:p>
          <a:p>
            <a:endParaRPr lang="zh-CN" altLang="en-US" sz="1600"/>
          </a:p>
          <a:p>
            <a:r>
              <a:rPr lang="zh-CN" altLang="en-US" sz="1600"/>
              <a:t>In [39]: float_arr = arr.astype(np.float64)</a:t>
            </a:r>
            <a:endParaRPr lang="zh-CN" altLang="en-US" sz="1600"/>
          </a:p>
          <a:p>
            <a:endParaRPr lang="zh-CN" altLang="en-US" sz="1600"/>
          </a:p>
          <a:p>
            <a:r>
              <a:rPr lang="zh-CN" altLang="en-US" sz="1600"/>
              <a:t>In [40]: float_arr.dtype</a:t>
            </a:r>
            <a:endParaRPr lang="zh-CN" altLang="en-US" sz="1600"/>
          </a:p>
          <a:p>
            <a:r>
              <a:rPr lang="zh-CN" altLang="en-US" sz="1600"/>
              <a:t>Out[40]: dtype('float64')</a:t>
            </a:r>
            <a:endParaRPr lang="zh-CN" altLang="en-US" sz="1600"/>
          </a:p>
        </p:txBody>
      </p:sp>
      <p:sp>
        <p:nvSpPr>
          <p:cNvPr id="5" name="文本框 4"/>
          <p:cNvSpPr txBox="1"/>
          <p:nvPr/>
        </p:nvSpPr>
        <p:spPr>
          <a:xfrm>
            <a:off x="5526405" y="4365625"/>
            <a:ext cx="6127750" cy="1814830"/>
          </a:xfrm>
          <a:prstGeom prst="rect">
            <a:avLst/>
          </a:prstGeom>
          <a:noFill/>
        </p:spPr>
        <p:txBody>
          <a:bodyPr wrap="square" rtlCol="0" anchor="t">
            <a:spAutoFit/>
          </a:bodyPr>
          <a:lstStyle/>
          <a:p>
            <a:r>
              <a:rPr lang="zh-CN" altLang="en-US" sz="1600"/>
              <a:t>In [41]: arr = np.array([3.7, -1.2, -2.6, 0.5, 12.9, 10.1])</a:t>
            </a:r>
            <a:endParaRPr lang="zh-CN" altLang="en-US" sz="1600"/>
          </a:p>
          <a:p>
            <a:endParaRPr lang="zh-CN" altLang="en-US" sz="1600"/>
          </a:p>
          <a:p>
            <a:r>
              <a:rPr lang="zh-CN" altLang="en-US" sz="1600"/>
              <a:t>In [42]: arr</a:t>
            </a:r>
            <a:endParaRPr lang="zh-CN" altLang="en-US" sz="1600"/>
          </a:p>
          <a:p>
            <a:r>
              <a:rPr lang="zh-CN" altLang="en-US" sz="1600"/>
              <a:t>Out[42]: array([  3.7,  -1.2,  -2.6,   0.5,  12.9,  10.1])</a:t>
            </a:r>
            <a:endParaRPr lang="zh-CN" altLang="en-US" sz="1600"/>
          </a:p>
          <a:p>
            <a:endParaRPr lang="zh-CN" altLang="en-US" sz="1600"/>
          </a:p>
          <a:p>
            <a:r>
              <a:rPr lang="zh-CN" altLang="en-US" sz="1600"/>
              <a:t>In [43]: arr.astype(np.int32)</a:t>
            </a:r>
            <a:endParaRPr lang="zh-CN" altLang="en-US" sz="1600"/>
          </a:p>
          <a:p>
            <a:r>
              <a:rPr lang="zh-CN" altLang="en-US" sz="1600"/>
              <a:t>Out[43]: array([ 3, -1, -2,  0, 12, 10], dtype=int32)</a:t>
            </a:r>
            <a:endParaRPr lang="zh-CN" altLang="en-US"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4.1.2 ndarray的数据类型</a:t>
            </a:r>
            <a:endParaRPr lang="zh-CN" altLang="en-US" dirty="0"/>
          </a:p>
        </p:txBody>
      </p:sp>
      <p:sp>
        <p:nvSpPr>
          <p:cNvPr id="3" name="内容占位符 2"/>
          <p:cNvSpPr>
            <a:spLocks noGrp="1"/>
          </p:cNvSpPr>
          <p:nvPr>
            <p:ph idx="1"/>
          </p:nvPr>
        </p:nvSpPr>
        <p:spPr/>
        <p:txBody>
          <a:bodyPr/>
          <a:lstStyle/>
          <a:p>
            <a:r>
              <a:rPr lang="zh-CN" altLang="en-US" dirty="0"/>
              <a:t>修改数据类型</a:t>
            </a:r>
            <a:endParaRPr lang="zh-CN" altLang="en-US" dirty="0"/>
          </a:p>
          <a:p>
            <a:pPr lvl="1"/>
            <a:r>
              <a:rPr lang="zh-CN" altLang="en-US" dirty="0"/>
              <a:t>低精度</a:t>
            </a:r>
            <a:r>
              <a:rPr lang="en-US" altLang="zh-CN" dirty="0"/>
              <a:t>-&gt;</a:t>
            </a:r>
            <a:r>
              <a:rPr lang="zh-CN" altLang="zh-CN" dirty="0"/>
              <a:t>高精度</a:t>
            </a:r>
            <a:endParaRPr lang="zh-CN" altLang="zh-CN" dirty="0"/>
          </a:p>
          <a:p>
            <a:pPr lvl="1"/>
            <a:endParaRPr lang="zh-CN" altLang="zh-CN" dirty="0"/>
          </a:p>
          <a:p>
            <a:pPr lvl="1"/>
            <a:endParaRPr lang="zh-CN" altLang="zh-CN" dirty="0"/>
          </a:p>
          <a:p>
            <a:pPr lvl="1"/>
            <a:endParaRPr lang="zh-CN" altLang="zh-CN" dirty="0"/>
          </a:p>
          <a:p>
            <a:pPr lvl="1"/>
            <a:endParaRPr lang="zh-CN" altLang="zh-CN" dirty="0"/>
          </a:p>
          <a:p>
            <a:pPr lvl="1"/>
            <a:endParaRPr lang="zh-CN" altLang="zh-CN" dirty="0"/>
          </a:p>
          <a:p>
            <a:pPr lvl="1"/>
            <a:r>
              <a:rPr lang="zh-CN" altLang="zh-CN" dirty="0"/>
              <a:t>高精度</a:t>
            </a:r>
            <a:r>
              <a:rPr lang="en-US" altLang="zh-CN" dirty="0"/>
              <a:t>-&gt;</a:t>
            </a:r>
            <a:r>
              <a:rPr lang="zh-CN" altLang="zh-CN" dirty="0"/>
              <a:t>低精度</a:t>
            </a:r>
            <a:endParaRPr lang="zh-CN" altLang="zh-CN" dirty="0"/>
          </a:p>
        </p:txBody>
      </p:sp>
      <p:sp>
        <p:nvSpPr>
          <p:cNvPr id="4" name="文本框 3"/>
          <p:cNvSpPr txBox="1"/>
          <p:nvPr/>
        </p:nvSpPr>
        <p:spPr>
          <a:xfrm>
            <a:off x="2355215" y="2205355"/>
            <a:ext cx="5268595" cy="2030095"/>
          </a:xfrm>
          <a:prstGeom prst="rect">
            <a:avLst/>
          </a:prstGeom>
          <a:noFill/>
        </p:spPr>
        <p:txBody>
          <a:bodyPr wrap="square" rtlCol="0" anchor="t">
            <a:spAutoFit/>
          </a:bodyPr>
          <a:lstStyle/>
          <a:p>
            <a:r>
              <a:rPr lang="zh-CN" altLang="en-US" sz="1400"/>
              <a:t>In [37]: arr = np.array([1, 2, 3, 4, 5])</a:t>
            </a:r>
            <a:endParaRPr lang="zh-CN" altLang="en-US" sz="1400"/>
          </a:p>
          <a:p>
            <a:endParaRPr lang="zh-CN" altLang="en-US" sz="1400"/>
          </a:p>
          <a:p>
            <a:r>
              <a:rPr lang="zh-CN" altLang="en-US" sz="1400"/>
              <a:t>In [38]: arr.dtype</a:t>
            </a:r>
            <a:endParaRPr lang="zh-CN" altLang="en-US" sz="1400"/>
          </a:p>
          <a:p>
            <a:r>
              <a:rPr lang="zh-CN" altLang="en-US" sz="1400"/>
              <a:t>Out[38]: dtype('int64')</a:t>
            </a:r>
            <a:endParaRPr lang="zh-CN" altLang="en-US" sz="1400"/>
          </a:p>
          <a:p>
            <a:endParaRPr lang="zh-CN" altLang="en-US" sz="1400"/>
          </a:p>
          <a:p>
            <a:r>
              <a:rPr lang="zh-CN" altLang="en-US" sz="1400"/>
              <a:t>In [39]: float_arr = arr.astype(np.float64)</a:t>
            </a:r>
            <a:endParaRPr lang="zh-CN" altLang="en-US" sz="1400"/>
          </a:p>
          <a:p>
            <a:endParaRPr lang="zh-CN" altLang="en-US" sz="1400"/>
          </a:p>
          <a:p>
            <a:r>
              <a:rPr lang="zh-CN" altLang="en-US" sz="1400"/>
              <a:t>In [40]: float_arr.dtype</a:t>
            </a:r>
            <a:endParaRPr lang="zh-CN" altLang="en-US" sz="1400"/>
          </a:p>
          <a:p>
            <a:r>
              <a:rPr lang="zh-CN" altLang="en-US" sz="1400"/>
              <a:t>Out[40]: dtype('float64')</a:t>
            </a:r>
            <a:endParaRPr lang="zh-CN" altLang="en-US" sz="1400"/>
          </a:p>
        </p:txBody>
      </p:sp>
      <p:sp>
        <p:nvSpPr>
          <p:cNvPr id="5" name="文本框 4"/>
          <p:cNvSpPr txBox="1"/>
          <p:nvPr/>
        </p:nvSpPr>
        <p:spPr>
          <a:xfrm>
            <a:off x="2355215" y="4797425"/>
            <a:ext cx="6127750" cy="1599565"/>
          </a:xfrm>
          <a:prstGeom prst="rect">
            <a:avLst/>
          </a:prstGeom>
          <a:noFill/>
        </p:spPr>
        <p:txBody>
          <a:bodyPr wrap="square" rtlCol="0" anchor="t">
            <a:spAutoFit/>
          </a:bodyPr>
          <a:lstStyle/>
          <a:p>
            <a:r>
              <a:rPr lang="zh-CN" altLang="en-US" sz="1400"/>
              <a:t>In [41]: arr = np.array([3.7, -1.2, -2.6, 0.5, 12.9, 10.1])</a:t>
            </a:r>
            <a:endParaRPr lang="zh-CN" altLang="en-US" sz="1400"/>
          </a:p>
          <a:p>
            <a:endParaRPr lang="zh-CN" altLang="en-US" sz="1400"/>
          </a:p>
          <a:p>
            <a:r>
              <a:rPr lang="zh-CN" altLang="en-US" sz="1400"/>
              <a:t>In [42]: arr</a:t>
            </a:r>
            <a:endParaRPr lang="zh-CN" altLang="en-US" sz="1400"/>
          </a:p>
          <a:p>
            <a:r>
              <a:rPr lang="zh-CN" altLang="en-US" sz="1400"/>
              <a:t>Out[42]: array([  3.7,  -1.2,  -2.6,   0.5,  12.9,  10.1])</a:t>
            </a:r>
            <a:endParaRPr lang="zh-CN" altLang="en-US" sz="1400"/>
          </a:p>
          <a:p>
            <a:endParaRPr lang="zh-CN" altLang="en-US" sz="1400"/>
          </a:p>
          <a:p>
            <a:r>
              <a:rPr lang="zh-CN" altLang="en-US" sz="1400"/>
              <a:t>In [43]: arr.astype(np.int32)</a:t>
            </a:r>
            <a:endParaRPr lang="zh-CN" altLang="en-US" sz="1400"/>
          </a:p>
          <a:p>
            <a:r>
              <a:rPr lang="zh-CN" altLang="en-US" sz="1400"/>
              <a:t>Out[43]: array([ 3, -1, -2,  0, 12, 10], dtype=int32)</a:t>
            </a:r>
            <a:endParaRPr lang="zh-CN"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4.1.2 ndarray的数据类型</a:t>
            </a:r>
            <a:endParaRPr lang="zh-CN" altLang="en-US" dirty="0"/>
          </a:p>
        </p:txBody>
      </p:sp>
      <p:sp>
        <p:nvSpPr>
          <p:cNvPr id="3" name="内容占位符 2"/>
          <p:cNvSpPr>
            <a:spLocks noGrp="1"/>
          </p:cNvSpPr>
          <p:nvPr>
            <p:ph idx="1"/>
          </p:nvPr>
        </p:nvSpPr>
        <p:spPr/>
        <p:txBody>
          <a:bodyPr/>
          <a:lstStyle/>
          <a:p>
            <a:r>
              <a:rPr lang="zh-CN" altLang="en-US" dirty="0"/>
              <a:t>修改数据类型</a:t>
            </a:r>
            <a:endParaRPr lang="zh-CN" altLang="en-US" dirty="0"/>
          </a:p>
          <a:p>
            <a:pPr lvl="1"/>
            <a:r>
              <a:rPr lang="zh-CN" altLang="en-US" dirty="0"/>
              <a:t>字符串</a:t>
            </a:r>
            <a:r>
              <a:rPr lang="en-US" altLang="zh-CN" dirty="0"/>
              <a:t>-&gt;</a:t>
            </a:r>
            <a:r>
              <a:rPr lang="zh-CN" altLang="zh-CN" dirty="0"/>
              <a:t>数字</a:t>
            </a:r>
            <a:endParaRPr lang="zh-CN" altLang="zh-CN" dirty="0"/>
          </a:p>
          <a:p>
            <a:pPr lvl="1"/>
            <a:endParaRPr lang="zh-CN" altLang="zh-CN" dirty="0"/>
          </a:p>
          <a:p>
            <a:pPr lvl="1"/>
            <a:endParaRPr lang="zh-CN" altLang="zh-CN" dirty="0"/>
          </a:p>
          <a:p>
            <a:pPr lvl="1"/>
            <a:endParaRPr lang="zh-CN" altLang="zh-CN" dirty="0"/>
          </a:p>
          <a:p>
            <a:pPr lvl="2"/>
            <a:r>
              <a:rPr lang="zh-CN" altLang="zh-CN" dirty="0"/>
              <a:t>numpy.string_类型发生截取时，不会发出警告。</a:t>
            </a:r>
            <a:endParaRPr lang="zh-CN" altLang="zh-CN" dirty="0"/>
          </a:p>
          <a:p>
            <a:pPr lvl="2"/>
            <a:r>
              <a:rPr lang="zh-CN" altLang="zh-CN" dirty="0"/>
              <a:t>转换过程因为某种原因而失败，</a:t>
            </a:r>
            <a:r>
              <a:rPr lang="en-US" altLang="zh-CN" dirty="0"/>
              <a:t>引发一个ValueError</a:t>
            </a:r>
            <a:r>
              <a:rPr lang="zh-CN" altLang="en-US" dirty="0"/>
              <a:t>。</a:t>
            </a:r>
            <a:endParaRPr lang="zh-CN" altLang="en-US" dirty="0"/>
          </a:p>
          <a:p>
            <a:pPr lvl="2"/>
            <a:r>
              <a:rPr lang="en-US" altLang="zh-CN" dirty="0"/>
              <a:t>将Python类型映射到等价的dtype上。</a:t>
            </a:r>
            <a:endParaRPr lang="en-US" altLang="zh-CN" dirty="0"/>
          </a:p>
          <a:p>
            <a:pPr lvl="1"/>
            <a:endParaRPr lang="zh-CN" altLang="zh-CN" dirty="0"/>
          </a:p>
        </p:txBody>
      </p:sp>
      <p:sp>
        <p:nvSpPr>
          <p:cNvPr id="4" name="文本框 3"/>
          <p:cNvSpPr txBox="1"/>
          <p:nvPr/>
        </p:nvSpPr>
        <p:spPr>
          <a:xfrm>
            <a:off x="2355215" y="2205355"/>
            <a:ext cx="5268595" cy="1168400"/>
          </a:xfrm>
          <a:prstGeom prst="rect">
            <a:avLst/>
          </a:prstGeom>
          <a:noFill/>
        </p:spPr>
        <p:txBody>
          <a:bodyPr wrap="square" rtlCol="0" anchor="t">
            <a:spAutoFit/>
          </a:bodyPr>
          <a:lstStyle/>
          <a:p>
            <a:r>
              <a:rPr lang="zh-CN" altLang="en-US" sz="1400"/>
              <a:t>In [44]: numeric_strings = np.array(['1.25', '-9.6', '42'], dtype=np.string_)</a:t>
            </a:r>
            <a:endParaRPr lang="zh-CN" altLang="en-US" sz="1400"/>
          </a:p>
          <a:p>
            <a:endParaRPr lang="zh-CN" altLang="en-US" sz="1400"/>
          </a:p>
          <a:p>
            <a:r>
              <a:rPr lang="zh-CN" altLang="en-US" sz="1400"/>
              <a:t>In [45]: numeric_strings.astype(float)</a:t>
            </a:r>
            <a:endParaRPr lang="zh-CN" altLang="en-US" sz="1400"/>
          </a:p>
          <a:p>
            <a:r>
              <a:rPr lang="zh-CN" altLang="en-US" sz="1400"/>
              <a:t>Out[45]: array([  1.25,  -9.6 ,  42.  ])</a:t>
            </a:r>
            <a:endParaRPr lang="zh-CN"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4.1.2 ndarray的数据类型</a:t>
            </a:r>
            <a:endParaRPr lang="zh-CN" altLang="en-US" dirty="0"/>
          </a:p>
        </p:txBody>
      </p:sp>
      <p:sp>
        <p:nvSpPr>
          <p:cNvPr id="3" name="内容占位符 2"/>
          <p:cNvSpPr>
            <a:spLocks noGrp="1"/>
          </p:cNvSpPr>
          <p:nvPr>
            <p:ph idx="1"/>
          </p:nvPr>
        </p:nvSpPr>
        <p:spPr/>
        <p:txBody>
          <a:bodyPr/>
          <a:lstStyle/>
          <a:p>
            <a:r>
              <a:rPr lang="zh-CN" altLang="en-US" dirty="0"/>
              <a:t>数组的dtype</a:t>
            </a:r>
            <a:endParaRPr lang="zh-CN" altLang="en-US" dirty="0"/>
          </a:p>
          <a:p>
            <a:pPr lvl="1"/>
            <a:r>
              <a:rPr lang="zh-CN" altLang="zh-CN" dirty="0">
                <a:sym typeface="+mn-ea"/>
              </a:rPr>
              <a:t>astype总会创建一个新的数组</a:t>
            </a:r>
            <a:endParaRPr lang="zh-CN" altLang="en-US" dirty="0"/>
          </a:p>
          <a:p>
            <a:endParaRPr lang="zh-CN" altLang="en-US" dirty="0"/>
          </a:p>
          <a:p>
            <a:endParaRPr lang="zh-CN" altLang="en-US" dirty="0"/>
          </a:p>
          <a:p>
            <a:endParaRPr lang="zh-CN" altLang="en-US" dirty="0"/>
          </a:p>
          <a:p>
            <a:endParaRPr lang="zh-CN" altLang="en-US" dirty="0"/>
          </a:p>
          <a:p>
            <a:r>
              <a:rPr lang="zh-CN" altLang="en-US" dirty="0"/>
              <a:t>类型简洁表示</a:t>
            </a:r>
            <a:endParaRPr lang="zh-CN" altLang="en-US" dirty="0"/>
          </a:p>
          <a:p>
            <a:endParaRPr lang="zh-CN" altLang="en-US" dirty="0"/>
          </a:p>
          <a:p>
            <a:endParaRPr lang="zh-CN" altLang="zh-CN" dirty="0"/>
          </a:p>
        </p:txBody>
      </p:sp>
      <p:sp>
        <p:nvSpPr>
          <p:cNvPr id="4" name="文本框 3"/>
          <p:cNvSpPr txBox="1"/>
          <p:nvPr/>
        </p:nvSpPr>
        <p:spPr>
          <a:xfrm>
            <a:off x="1566545" y="2348230"/>
            <a:ext cx="5268595" cy="1599565"/>
          </a:xfrm>
          <a:prstGeom prst="rect">
            <a:avLst/>
          </a:prstGeom>
          <a:noFill/>
        </p:spPr>
        <p:txBody>
          <a:bodyPr wrap="square" rtlCol="0" anchor="t">
            <a:spAutoFit/>
          </a:bodyPr>
          <a:lstStyle/>
          <a:p>
            <a:r>
              <a:rPr lang="zh-CN" altLang="en-US" sz="1400"/>
              <a:t>In [46]: int_array = np.arange(10)</a:t>
            </a:r>
            <a:endParaRPr lang="zh-CN" altLang="en-US" sz="1400"/>
          </a:p>
          <a:p>
            <a:endParaRPr lang="zh-CN" altLang="en-US" sz="1400"/>
          </a:p>
          <a:p>
            <a:r>
              <a:rPr lang="zh-CN" altLang="en-US" sz="1400"/>
              <a:t>In [47]: calibers = np.array([.22, .270, .357, .380, .44, .50], dtype=np.float64)</a:t>
            </a:r>
            <a:endParaRPr lang="zh-CN" altLang="en-US" sz="1400"/>
          </a:p>
          <a:p>
            <a:endParaRPr lang="zh-CN" altLang="en-US" sz="1400"/>
          </a:p>
          <a:p>
            <a:r>
              <a:rPr lang="zh-CN" altLang="en-US" sz="1400"/>
              <a:t>In [48]: int_array.astype(calibers.dtype)</a:t>
            </a:r>
            <a:endParaRPr lang="zh-CN" altLang="en-US" sz="1400"/>
          </a:p>
          <a:p>
            <a:r>
              <a:rPr lang="zh-CN" altLang="en-US" sz="1400"/>
              <a:t>Out[48]: array([ 0.,  1.,  2.,  3.,  4.,  5.,  6.,  7.,  8.,  9.])</a:t>
            </a:r>
            <a:endParaRPr lang="zh-CN" altLang="en-US" sz="1400"/>
          </a:p>
        </p:txBody>
      </p:sp>
      <p:sp>
        <p:nvSpPr>
          <p:cNvPr id="5" name="文本框 4"/>
          <p:cNvSpPr txBox="1"/>
          <p:nvPr/>
        </p:nvSpPr>
        <p:spPr>
          <a:xfrm>
            <a:off x="1638300" y="4796155"/>
            <a:ext cx="6888480" cy="1383665"/>
          </a:xfrm>
          <a:prstGeom prst="rect">
            <a:avLst/>
          </a:prstGeom>
          <a:noFill/>
        </p:spPr>
        <p:txBody>
          <a:bodyPr wrap="square" rtlCol="0" anchor="t">
            <a:spAutoFit/>
          </a:bodyPr>
          <a:lstStyle/>
          <a:p>
            <a:r>
              <a:rPr lang="zh-CN" altLang="en-US" sz="1400"/>
              <a:t>In [49]: empty_uint32 = np.empty(8, dtype='u4')</a:t>
            </a:r>
            <a:endParaRPr lang="zh-CN" altLang="en-US" sz="1400"/>
          </a:p>
          <a:p>
            <a:endParaRPr lang="zh-CN" altLang="en-US" sz="1400"/>
          </a:p>
          <a:p>
            <a:r>
              <a:rPr lang="zh-CN" altLang="en-US" sz="1400"/>
              <a:t>In [50]: empty_uint32</a:t>
            </a:r>
            <a:endParaRPr lang="zh-CN" altLang="en-US" sz="1400"/>
          </a:p>
          <a:p>
            <a:r>
              <a:rPr lang="zh-CN" altLang="en-US" sz="1400"/>
              <a:t>Out[50]: </a:t>
            </a:r>
            <a:endParaRPr lang="zh-CN" altLang="en-US" sz="1400"/>
          </a:p>
          <a:p>
            <a:r>
              <a:rPr lang="zh-CN" altLang="en-US" sz="1400"/>
              <a:t>array([         0, 1075314688,          0, 1075707904,          0,</a:t>
            </a:r>
            <a:endParaRPr lang="zh-CN" altLang="en-US" sz="1400"/>
          </a:p>
          <a:p>
            <a:r>
              <a:rPr lang="zh-CN" altLang="en-US" sz="1400"/>
              <a:t>       1075838976,          0, 1072693248], dtype=uint32)</a:t>
            </a:r>
            <a:endParaRPr lang="zh-CN"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NumPy数组的运算</a:t>
            </a:r>
            <a:endParaRPr lang="en-US" altLang="zh-CN" dirty="0"/>
          </a:p>
        </p:txBody>
      </p:sp>
      <p:sp>
        <p:nvSpPr>
          <p:cNvPr id="3" name="内容占位符 2"/>
          <p:cNvSpPr>
            <a:spLocks noGrp="1"/>
          </p:cNvSpPr>
          <p:nvPr>
            <p:ph idx="1"/>
          </p:nvPr>
        </p:nvSpPr>
        <p:spPr/>
        <p:txBody>
          <a:bodyPr/>
          <a:lstStyle/>
          <a:p>
            <a:r>
              <a:rPr dirty="0">
                <a:sym typeface="+mn-ea"/>
              </a:rPr>
              <a:t>矢量化（vectorization）</a:t>
            </a:r>
            <a:r>
              <a:rPr lang="zh-CN" dirty="0">
                <a:sym typeface="+mn-ea"/>
              </a:rPr>
              <a:t>：不用编写循环即可对数据执行批量运算。</a:t>
            </a:r>
            <a:endParaRPr lang="zh-CN" dirty="0">
              <a:sym typeface="+mn-ea"/>
            </a:endParaRPr>
          </a:p>
          <a:p>
            <a:pPr lvl="1"/>
            <a:r>
              <a:rPr lang="zh-CN" dirty="0">
                <a:sym typeface="+mn-ea"/>
              </a:rPr>
              <a:t>大小相等的数组之间的任何算术运算都会将运算应用到元素级</a:t>
            </a:r>
            <a:endParaRPr lang="zh-CN" dirty="0">
              <a:sym typeface="+mn-ea"/>
            </a:endParaRPr>
          </a:p>
          <a:p>
            <a:endParaRPr lang="zh-CN" dirty="0">
              <a:sym typeface="+mn-ea"/>
            </a:endParaRPr>
          </a:p>
        </p:txBody>
      </p:sp>
      <p:sp>
        <p:nvSpPr>
          <p:cNvPr id="4" name="文本框 3"/>
          <p:cNvSpPr txBox="1"/>
          <p:nvPr/>
        </p:nvSpPr>
        <p:spPr>
          <a:xfrm>
            <a:off x="2646045" y="2421890"/>
            <a:ext cx="7189470" cy="3538220"/>
          </a:xfrm>
          <a:prstGeom prst="rect">
            <a:avLst/>
          </a:prstGeom>
          <a:noFill/>
        </p:spPr>
        <p:txBody>
          <a:bodyPr wrap="square" rtlCol="0" anchor="t">
            <a:spAutoFit/>
          </a:bodyPr>
          <a:lstStyle/>
          <a:p>
            <a:r>
              <a:rPr lang="zh-CN" altLang="en-US" sz="1400"/>
              <a:t>In [51]: arr = np.array([[1., 2., 3.], [4., 5., 6.]])</a:t>
            </a:r>
            <a:endParaRPr lang="zh-CN" altLang="en-US" sz="1400"/>
          </a:p>
          <a:p>
            <a:endParaRPr lang="zh-CN" altLang="en-US" sz="1400"/>
          </a:p>
          <a:p>
            <a:r>
              <a:rPr lang="zh-CN" altLang="en-US" sz="1400"/>
              <a:t>In [52]: arr</a:t>
            </a:r>
            <a:endParaRPr lang="zh-CN" altLang="en-US" sz="1400"/>
          </a:p>
          <a:p>
            <a:r>
              <a:rPr lang="zh-CN" altLang="en-US" sz="1400"/>
              <a:t>Out[52]: </a:t>
            </a:r>
            <a:endParaRPr lang="zh-CN" altLang="en-US" sz="1400"/>
          </a:p>
          <a:p>
            <a:r>
              <a:rPr lang="zh-CN" altLang="en-US" sz="1400"/>
              <a:t>array([[ 1.,  2.,  3.],</a:t>
            </a:r>
            <a:endParaRPr lang="zh-CN" altLang="en-US" sz="1400"/>
          </a:p>
          <a:p>
            <a:r>
              <a:rPr lang="zh-CN" altLang="en-US" sz="1400"/>
              <a:t>       [ 4.,  5.,  6.]])</a:t>
            </a:r>
            <a:endParaRPr lang="zh-CN" altLang="en-US" sz="1400"/>
          </a:p>
          <a:p>
            <a:endParaRPr lang="zh-CN" altLang="en-US" sz="1400"/>
          </a:p>
          <a:p>
            <a:r>
              <a:rPr lang="zh-CN" altLang="en-US" sz="1400"/>
              <a:t>In [53]: arr * arr</a:t>
            </a:r>
            <a:endParaRPr lang="zh-CN" altLang="en-US" sz="1400"/>
          </a:p>
          <a:p>
            <a:r>
              <a:rPr lang="zh-CN" altLang="en-US" sz="1400"/>
              <a:t>Out[53]: </a:t>
            </a:r>
            <a:endParaRPr lang="zh-CN" altLang="en-US" sz="1400"/>
          </a:p>
          <a:p>
            <a:r>
              <a:rPr lang="zh-CN" altLang="en-US" sz="1400"/>
              <a:t>array([[  1.,   4.,   9.],</a:t>
            </a:r>
            <a:endParaRPr lang="zh-CN" altLang="en-US" sz="1400"/>
          </a:p>
          <a:p>
            <a:r>
              <a:rPr lang="zh-CN" altLang="en-US" sz="1400"/>
              <a:t>       [ 16.,  25.,  36.]])</a:t>
            </a:r>
            <a:endParaRPr lang="zh-CN" altLang="en-US" sz="1400"/>
          </a:p>
          <a:p>
            <a:endParaRPr lang="zh-CN" altLang="en-US" sz="1400"/>
          </a:p>
          <a:p>
            <a:r>
              <a:rPr lang="zh-CN" altLang="en-US" sz="1400"/>
              <a:t>In [54]: arr - arr</a:t>
            </a:r>
            <a:endParaRPr lang="zh-CN" altLang="en-US" sz="1400"/>
          </a:p>
          <a:p>
            <a:r>
              <a:rPr lang="zh-CN" altLang="en-US" sz="1400"/>
              <a:t>Out[54]: </a:t>
            </a:r>
            <a:endParaRPr lang="zh-CN" altLang="en-US" sz="1400"/>
          </a:p>
          <a:p>
            <a:r>
              <a:rPr lang="zh-CN" altLang="en-US" sz="1400"/>
              <a:t>array([[ 0.,  0.,  0.],</a:t>
            </a:r>
            <a:endParaRPr lang="zh-CN" altLang="en-US" sz="1400"/>
          </a:p>
          <a:p>
            <a:r>
              <a:rPr lang="zh-CN" altLang="en-US" sz="1400"/>
              <a:t>       [ 0.,  0.,  0.]])</a:t>
            </a:r>
            <a:endParaRPr lang="zh-CN"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NumPy数组的运算</a:t>
            </a:r>
            <a:endParaRPr lang="en-US" altLang="zh-CN" dirty="0"/>
          </a:p>
        </p:txBody>
      </p:sp>
      <p:sp>
        <p:nvSpPr>
          <p:cNvPr id="3" name="内容占位符 2"/>
          <p:cNvSpPr>
            <a:spLocks noGrp="1"/>
          </p:cNvSpPr>
          <p:nvPr>
            <p:ph idx="1"/>
          </p:nvPr>
        </p:nvSpPr>
        <p:spPr/>
        <p:txBody>
          <a:bodyPr/>
          <a:lstStyle/>
          <a:p>
            <a:r>
              <a:rPr dirty="0">
                <a:sym typeface="+mn-ea"/>
              </a:rPr>
              <a:t>矢量化（vectorization）</a:t>
            </a:r>
            <a:r>
              <a:rPr lang="zh-CN" dirty="0">
                <a:sym typeface="+mn-ea"/>
              </a:rPr>
              <a:t>：不用编写循环即可对数据执行批量运算。</a:t>
            </a:r>
            <a:endParaRPr lang="zh-CN" dirty="0">
              <a:sym typeface="+mn-ea"/>
            </a:endParaRPr>
          </a:p>
          <a:p>
            <a:pPr lvl="1"/>
            <a:r>
              <a:rPr lang="zh-CN" dirty="0">
                <a:sym typeface="+mn-ea"/>
              </a:rPr>
              <a:t>数组与标量的算术运算会将标量值传播到各个元素</a:t>
            </a:r>
            <a:endParaRPr lang="zh-CN" dirty="0">
              <a:sym typeface="+mn-ea"/>
            </a:endParaRPr>
          </a:p>
          <a:p>
            <a:endParaRPr lang="zh-CN" dirty="0">
              <a:sym typeface="+mn-ea"/>
            </a:endParaRPr>
          </a:p>
        </p:txBody>
      </p:sp>
      <p:sp>
        <p:nvSpPr>
          <p:cNvPr id="4" name="文本框 3"/>
          <p:cNvSpPr txBox="1"/>
          <p:nvPr/>
        </p:nvSpPr>
        <p:spPr>
          <a:xfrm>
            <a:off x="2646045" y="2421890"/>
            <a:ext cx="7189470" cy="2030095"/>
          </a:xfrm>
          <a:prstGeom prst="rect">
            <a:avLst/>
          </a:prstGeom>
          <a:noFill/>
        </p:spPr>
        <p:txBody>
          <a:bodyPr wrap="square" rtlCol="0" anchor="t">
            <a:spAutoFit/>
          </a:bodyPr>
          <a:lstStyle/>
          <a:p>
            <a:r>
              <a:rPr lang="zh-CN" altLang="en-US" sz="1400"/>
              <a:t>In [55]: 1 / arr</a:t>
            </a:r>
            <a:endParaRPr lang="zh-CN" altLang="en-US" sz="1400"/>
          </a:p>
          <a:p>
            <a:r>
              <a:rPr lang="zh-CN" altLang="en-US" sz="1400"/>
              <a:t>Out[55]: </a:t>
            </a:r>
            <a:endParaRPr lang="zh-CN" altLang="en-US" sz="1400"/>
          </a:p>
          <a:p>
            <a:r>
              <a:rPr lang="zh-CN" altLang="en-US" sz="1400"/>
              <a:t>array([[ 1.    ,  0.5   ,  0.3333],</a:t>
            </a:r>
            <a:endParaRPr lang="zh-CN" altLang="en-US" sz="1400"/>
          </a:p>
          <a:p>
            <a:r>
              <a:rPr lang="zh-CN" altLang="en-US" sz="1400"/>
              <a:t>       [ 0.25  ,  0.2   ,  0.1667]])</a:t>
            </a:r>
            <a:endParaRPr lang="zh-CN" altLang="en-US" sz="1400"/>
          </a:p>
          <a:p>
            <a:endParaRPr lang="zh-CN" altLang="en-US" sz="1400"/>
          </a:p>
          <a:p>
            <a:r>
              <a:rPr lang="zh-CN" altLang="en-US" sz="1400"/>
              <a:t>In [56]: arr ** 0.5</a:t>
            </a:r>
            <a:endParaRPr lang="zh-CN" altLang="en-US" sz="1400"/>
          </a:p>
          <a:p>
            <a:r>
              <a:rPr lang="zh-CN" altLang="en-US" sz="1400"/>
              <a:t>Out[56]: </a:t>
            </a:r>
            <a:endParaRPr lang="zh-CN" altLang="en-US" sz="1400"/>
          </a:p>
          <a:p>
            <a:r>
              <a:rPr lang="zh-CN" altLang="en-US" sz="1400"/>
              <a:t>array([[ 1.    ,  1.4142,  1.7321],</a:t>
            </a:r>
            <a:endParaRPr lang="zh-CN" altLang="en-US" sz="1400"/>
          </a:p>
          <a:p>
            <a:r>
              <a:rPr lang="zh-CN" altLang="en-US" sz="1400"/>
              <a:t>       [ 2.    ,  2.2361,  2.4495]])</a:t>
            </a:r>
            <a:endParaRPr lang="zh-CN"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NumPy数组的运算</a:t>
            </a:r>
            <a:endParaRPr lang="en-US" altLang="zh-CN" dirty="0"/>
          </a:p>
        </p:txBody>
      </p:sp>
      <p:sp>
        <p:nvSpPr>
          <p:cNvPr id="3" name="内容占位符 2"/>
          <p:cNvSpPr>
            <a:spLocks noGrp="1"/>
          </p:cNvSpPr>
          <p:nvPr>
            <p:ph idx="1"/>
          </p:nvPr>
        </p:nvSpPr>
        <p:spPr/>
        <p:txBody>
          <a:bodyPr/>
          <a:lstStyle/>
          <a:p>
            <a:r>
              <a:rPr dirty="0">
                <a:sym typeface="+mn-ea"/>
              </a:rPr>
              <a:t>矢量化（vectorization）</a:t>
            </a:r>
            <a:r>
              <a:rPr lang="zh-CN" dirty="0">
                <a:sym typeface="+mn-ea"/>
              </a:rPr>
              <a:t>：不用编写循环即可对数据执行批量运算。</a:t>
            </a:r>
            <a:endParaRPr lang="zh-CN" dirty="0">
              <a:sym typeface="+mn-ea"/>
            </a:endParaRPr>
          </a:p>
          <a:p>
            <a:pPr lvl="1"/>
            <a:r>
              <a:rPr lang="zh-CN" dirty="0">
                <a:sym typeface="+mn-ea"/>
              </a:rPr>
              <a:t>大小相同的数组之间的比较运算会生成布尔值数组</a:t>
            </a:r>
            <a:endParaRPr lang="zh-CN" dirty="0">
              <a:sym typeface="+mn-ea"/>
            </a:endParaRPr>
          </a:p>
          <a:p>
            <a:endParaRPr lang="zh-CN" dirty="0">
              <a:sym typeface="+mn-ea"/>
            </a:endParaRPr>
          </a:p>
          <a:p>
            <a:endParaRPr lang="zh-CN" dirty="0">
              <a:sym typeface="+mn-ea"/>
            </a:endParaRPr>
          </a:p>
          <a:p>
            <a:endParaRPr lang="zh-CN" dirty="0">
              <a:sym typeface="+mn-ea"/>
            </a:endParaRPr>
          </a:p>
          <a:p>
            <a:endParaRPr lang="zh-CN" dirty="0">
              <a:sym typeface="+mn-ea"/>
            </a:endParaRPr>
          </a:p>
          <a:p>
            <a:endParaRPr lang="zh-CN" dirty="0">
              <a:sym typeface="+mn-ea"/>
            </a:endParaRPr>
          </a:p>
          <a:p>
            <a:endParaRPr lang="zh-CN" dirty="0">
              <a:sym typeface="+mn-ea"/>
            </a:endParaRPr>
          </a:p>
          <a:p>
            <a:r>
              <a:rPr lang="zh-CN" dirty="0">
                <a:sym typeface="+mn-ea"/>
              </a:rPr>
              <a:t>不同大小的数组之间的运算叫做广播（broadcasting），参考附录A</a:t>
            </a:r>
            <a:endParaRPr lang="zh-CN" dirty="0">
              <a:sym typeface="+mn-ea"/>
            </a:endParaRPr>
          </a:p>
        </p:txBody>
      </p:sp>
      <p:sp>
        <p:nvSpPr>
          <p:cNvPr id="4" name="文本框 3"/>
          <p:cNvSpPr txBox="1"/>
          <p:nvPr/>
        </p:nvSpPr>
        <p:spPr>
          <a:xfrm>
            <a:off x="2646045" y="2421890"/>
            <a:ext cx="7189470" cy="2461260"/>
          </a:xfrm>
          <a:prstGeom prst="rect">
            <a:avLst/>
          </a:prstGeom>
          <a:noFill/>
        </p:spPr>
        <p:txBody>
          <a:bodyPr wrap="square" rtlCol="0" anchor="t">
            <a:spAutoFit/>
          </a:bodyPr>
          <a:lstStyle/>
          <a:p>
            <a:r>
              <a:rPr lang="zh-CN" altLang="en-US" sz="1400"/>
              <a:t>In [57]: arr2 = np.array([[0., 4., 1.], [7., 2., 12.]])</a:t>
            </a:r>
            <a:endParaRPr lang="zh-CN" altLang="en-US" sz="1400"/>
          </a:p>
          <a:p>
            <a:endParaRPr lang="zh-CN" altLang="en-US" sz="1400"/>
          </a:p>
          <a:p>
            <a:r>
              <a:rPr lang="zh-CN" altLang="en-US" sz="1400"/>
              <a:t>In [58]: arr2</a:t>
            </a:r>
            <a:endParaRPr lang="zh-CN" altLang="en-US" sz="1400"/>
          </a:p>
          <a:p>
            <a:r>
              <a:rPr lang="zh-CN" altLang="en-US" sz="1400"/>
              <a:t>Out[58]: </a:t>
            </a:r>
            <a:endParaRPr lang="zh-CN" altLang="en-US" sz="1400"/>
          </a:p>
          <a:p>
            <a:r>
              <a:rPr lang="zh-CN" altLang="en-US" sz="1400"/>
              <a:t>array([[  0.,   4.,   1.],</a:t>
            </a:r>
            <a:endParaRPr lang="zh-CN" altLang="en-US" sz="1400"/>
          </a:p>
          <a:p>
            <a:r>
              <a:rPr lang="zh-CN" altLang="en-US" sz="1400"/>
              <a:t>       [  7.,   2.,  12.]])</a:t>
            </a:r>
            <a:endParaRPr lang="zh-CN" altLang="en-US" sz="1400"/>
          </a:p>
          <a:p>
            <a:endParaRPr lang="zh-CN" altLang="en-US" sz="1400"/>
          </a:p>
          <a:p>
            <a:r>
              <a:rPr lang="zh-CN" altLang="en-US" sz="1400"/>
              <a:t>In [59]: arr2 &gt; arr</a:t>
            </a:r>
            <a:endParaRPr lang="zh-CN" altLang="en-US" sz="1400"/>
          </a:p>
          <a:p>
            <a:r>
              <a:rPr lang="zh-CN" altLang="en-US" sz="1400"/>
              <a:t>Out[59]:</a:t>
            </a:r>
            <a:endParaRPr lang="zh-CN" altLang="en-US" sz="1400"/>
          </a:p>
          <a:p>
            <a:r>
              <a:rPr lang="zh-CN" altLang="en-US" sz="1400"/>
              <a:t>array([[False,  True, False],</a:t>
            </a:r>
            <a:endParaRPr lang="zh-CN" altLang="en-US" sz="1400"/>
          </a:p>
          <a:p>
            <a:r>
              <a:rPr lang="zh-CN" altLang="en-US" sz="1400"/>
              <a:t>       [ True, False,  True]], dtype=bool)</a:t>
            </a:r>
            <a:endParaRPr lang="zh-CN"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 基本的索引和切片</a:t>
            </a:r>
            <a:endParaRPr lang="en-US" altLang="zh-CN" dirty="0"/>
          </a:p>
        </p:txBody>
      </p:sp>
      <p:sp>
        <p:nvSpPr>
          <p:cNvPr id="3" name="内容占位符 2"/>
          <p:cNvSpPr>
            <a:spLocks noGrp="1"/>
          </p:cNvSpPr>
          <p:nvPr>
            <p:ph idx="1"/>
          </p:nvPr>
        </p:nvSpPr>
        <p:spPr/>
        <p:txBody>
          <a:bodyPr/>
          <a:lstStyle/>
          <a:p>
            <a:r>
              <a:rPr lang="zh-CN" altLang="en-US" dirty="0"/>
              <a:t>一维数组的访问和赋值</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r>
              <a:rPr lang="zh-CN" altLang="en-US" dirty="0"/>
              <a:t>列表不会广播</a:t>
            </a:r>
            <a:endParaRPr lang="zh-CN" altLang="en-US" dirty="0"/>
          </a:p>
        </p:txBody>
      </p:sp>
      <p:sp>
        <p:nvSpPr>
          <p:cNvPr id="4" name="文本框 3"/>
          <p:cNvSpPr txBox="1"/>
          <p:nvPr/>
        </p:nvSpPr>
        <p:spPr>
          <a:xfrm>
            <a:off x="1637665" y="1845310"/>
            <a:ext cx="7731125" cy="3322955"/>
          </a:xfrm>
          <a:prstGeom prst="rect">
            <a:avLst/>
          </a:prstGeom>
          <a:noFill/>
        </p:spPr>
        <p:txBody>
          <a:bodyPr wrap="square" rtlCol="0" anchor="t">
            <a:spAutoFit/>
          </a:bodyPr>
          <a:lstStyle/>
          <a:p>
            <a:r>
              <a:rPr lang="zh-CN" altLang="en-US" sz="1400"/>
              <a:t>In [60]: arr = np.arange(10)</a:t>
            </a:r>
            <a:endParaRPr lang="zh-CN" altLang="en-US" sz="1400"/>
          </a:p>
          <a:p>
            <a:endParaRPr lang="zh-CN" altLang="en-US" sz="1400"/>
          </a:p>
          <a:p>
            <a:r>
              <a:rPr lang="zh-CN" altLang="en-US" sz="1400"/>
              <a:t>In [61]: arr</a:t>
            </a:r>
            <a:endParaRPr lang="zh-CN" altLang="en-US" sz="1400"/>
          </a:p>
          <a:p>
            <a:r>
              <a:rPr lang="zh-CN" altLang="en-US" sz="1400"/>
              <a:t>Out[61]: array([0, 1, 2, 3, 4, 5, 6, 7, 8, 9])</a:t>
            </a:r>
            <a:endParaRPr lang="zh-CN" altLang="en-US" sz="1400"/>
          </a:p>
          <a:p>
            <a:endParaRPr lang="zh-CN" altLang="en-US" sz="1400"/>
          </a:p>
          <a:p>
            <a:r>
              <a:rPr lang="zh-CN" altLang="en-US" sz="1400"/>
              <a:t>In [62]: arr[5]</a:t>
            </a:r>
            <a:endParaRPr lang="zh-CN" altLang="en-US" sz="1400"/>
          </a:p>
          <a:p>
            <a:r>
              <a:rPr lang="zh-CN" altLang="en-US" sz="1400"/>
              <a:t>Out[62]: 5</a:t>
            </a:r>
            <a:endParaRPr lang="zh-CN" altLang="en-US" sz="1400"/>
          </a:p>
          <a:p>
            <a:endParaRPr lang="zh-CN" altLang="en-US" sz="1400"/>
          </a:p>
          <a:p>
            <a:r>
              <a:rPr lang="zh-CN" altLang="en-US" sz="1400"/>
              <a:t>In [63]: arr[5:8]</a:t>
            </a:r>
            <a:endParaRPr lang="zh-CN" altLang="en-US" sz="1400"/>
          </a:p>
          <a:p>
            <a:r>
              <a:rPr lang="zh-CN" altLang="en-US" sz="1400"/>
              <a:t>Out[63]: array([5, 6, 7])</a:t>
            </a:r>
            <a:endParaRPr lang="zh-CN" altLang="en-US" sz="1400"/>
          </a:p>
          <a:p>
            <a:endParaRPr lang="zh-CN" altLang="en-US" sz="1400"/>
          </a:p>
          <a:p>
            <a:r>
              <a:rPr lang="zh-CN" altLang="en-US" sz="1400"/>
              <a:t>In [64]: arr[5:8] = 12</a:t>
            </a:r>
            <a:endParaRPr lang="zh-CN" altLang="en-US" sz="1400"/>
          </a:p>
          <a:p>
            <a:endParaRPr lang="zh-CN" altLang="en-US" sz="1400"/>
          </a:p>
          <a:p>
            <a:r>
              <a:rPr lang="zh-CN" altLang="en-US" sz="1400"/>
              <a:t>In [65]: arr</a:t>
            </a:r>
            <a:endParaRPr lang="zh-CN" altLang="en-US" sz="1400"/>
          </a:p>
          <a:p>
            <a:r>
              <a:rPr lang="zh-CN" altLang="en-US" sz="1400"/>
              <a:t>Out[65]: array([ 0,  1,  2,  3,  4, 12, 12, 12,  8,  9])</a:t>
            </a:r>
            <a:endParaRPr lang="zh-CN" alt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 基本的索引和切片</a:t>
            </a:r>
            <a:endParaRPr lang="en-US" altLang="zh-CN" dirty="0"/>
          </a:p>
        </p:txBody>
      </p:sp>
      <p:sp>
        <p:nvSpPr>
          <p:cNvPr id="3" name="内容占位符 2"/>
          <p:cNvSpPr>
            <a:spLocks noGrp="1"/>
          </p:cNvSpPr>
          <p:nvPr>
            <p:ph idx="1"/>
          </p:nvPr>
        </p:nvSpPr>
        <p:spPr/>
        <p:txBody>
          <a:bodyPr/>
          <a:lstStyle/>
          <a:p>
            <a:r>
              <a:rPr lang="zh-CN" altLang="en-US" dirty="0"/>
              <a:t>数组切片上值的修改会直接反映到源数组上</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r>
              <a:rPr lang="zh-CN" altLang="en-US" dirty="0"/>
              <a:t>数组切片不会复制</a:t>
            </a:r>
            <a:endParaRPr lang="zh-CN" altLang="en-US" dirty="0"/>
          </a:p>
          <a:p>
            <a:pPr lvl="2"/>
            <a:r>
              <a:rPr lang="zh-CN" altLang="en-US" dirty="0"/>
              <a:t>NumPy的设计目的是处理大数据</a:t>
            </a:r>
            <a:endParaRPr lang="zh-CN" altLang="en-US" dirty="0"/>
          </a:p>
          <a:p>
            <a:pPr lvl="2"/>
            <a:r>
              <a:rPr lang="zh-CN" altLang="en-US" dirty="0"/>
              <a:t>复制：arr[5:8].copy()</a:t>
            </a:r>
            <a:endParaRPr lang="zh-CN" altLang="en-US" dirty="0"/>
          </a:p>
        </p:txBody>
      </p:sp>
      <p:sp>
        <p:nvSpPr>
          <p:cNvPr id="4" name="文本框 3"/>
          <p:cNvSpPr txBox="1"/>
          <p:nvPr/>
        </p:nvSpPr>
        <p:spPr>
          <a:xfrm>
            <a:off x="1637665" y="1845310"/>
            <a:ext cx="7731125" cy="3107690"/>
          </a:xfrm>
          <a:prstGeom prst="rect">
            <a:avLst/>
          </a:prstGeom>
          <a:noFill/>
        </p:spPr>
        <p:txBody>
          <a:bodyPr wrap="square" rtlCol="0" anchor="t">
            <a:spAutoFit/>
          </a:bodyPr>
          <a:lstStyle/>
          <a:p>
            <a:r>
              <a:rPr lang="zh-CN" altLang="en-US" sz="1400"/>
              <a:t>In [66]: arr_slice = arr[5:8]</a:t>
            </a:r>
            <a:endParaRPr lang="zh-CN" altLang="en-US" sz="1400"/>
          </a:p>
          <a:p>
            <a:endParaRPr lang="zh-CN" altLang="en-US" sz="1400"/>
          </a:p>
          <a:p>
            <a:r>
              <a:rPr lang="zh-CN" altLang="en-US" sz="1400"/>
              <a:t>In [67]: arr_slice</a:t>
            </a:r>
            <a:endParaRPr lang="zh-CN" altLang="en-US" sz="1400"/>
          </a:p>
          <a:p>
            <a:r>
              <a:rPr lang="zh-CN" altLang="en-US" sz="1400"/>
              <a:t>Out[67]: array([12, 12, 12])</a:t>
            </a:r>
            <a:endParaRPr lang="zh-CN" altLang="en-US" sz="1400"/>
          </a:p>
          <a:p>
            <a:endParaRPr lang="zh-CN" altLang="en-US" sz="1400"/>
          </a:p>
          <a:p>
            <a:r>
              <a:rPr lang="zh-CN" altLang="en-US" sz="1400"/>
              <a:t>In [68]: arr_slice[1] = 12345</a:t>
            </a:r>
            <a:endParaRPr lang="zh-CN" altLang="en-US" sz="1400"/>
          </a:p>
          <a:p>
            <a:endParaRPr lang="zh-CN" altLang="en-US" sz="1400"/>
          </a:p>
          <a:p>
            <a:r>
              <a:rPr lang="zh-CN" altLang="en-US" sz="1400"/>
              <a:t>In [69]: arr</a:t>
            </a:r>
            <a:endParaRPr lang="zh-CN" altLang="en-US" sz="1400"/>
          </a:p>
          <a:p>
            <a:r>
              <a:rPr lang="zh-CN" altLang="en-US" sz="1400"/>
              <a:t>Out[69]: array([    0,     1,     2,     3,     4,    12, 12345,    12,     8,   9])</a:t>
            </a:r>
            <a:endParaRPr lang="zh-CN" altLang="en-US" sz="1400"/>
          </a:p>
          <a:p>
            <a:endParaRPr lang="zh-CN" altLang="en-US" sz="1400"/>
          </a:p>
          <a:p>
            <a:r>
              <a:rPr lang="zh-CN" altLang="en-US" sz="1400"/>
              <a:t>In [70]: arr_slice[:] = 64</a:t>
            </a:r>
            <a:endParaRPr lang="zh-CN" altLang="en-US" sz="1400"/>
          </a:p>
          <a:p>
            <a:endParaRPr lang="zh-CN" altLang="en-US" sz="1400"/>
          </a:p>
          <a:p>
            <a:r>
              <a:rPr lang="zh-CN" altLang="en-US" sz="1400"/>
              <a:t>In [71]: arr</a:t>
            </a:r>
            <a:endParaRPr lang="zh-CN" altLang="en-US" sz="1400"/>
          </a:p>
          <a:p>
            <a:r>
              <a:rPr lang="zh-CN" altLang="en-US" sz="1400"/>
              <a:t>Out[71]: array([ 0,  1,  2,  3,  4, 64, 64, 64,  8,  9])</a:t>
            </a:r>
            <a:endParaRPr lang="zh-CN" alt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 基本的索引和切片</a:t>
            </a:r>
            <a:endParaRPr lang="en-US" altLang="zh-CN" dirty="0"/>
          </a:p>
        </p:txBody>
      </p:sp>
      <p:sp>
        <p:nvSpPr>
          <p:cNvPr id="3" name="内容占位符 2"/>
          <p:cNvSpPr>
            <a:spLocks noGrp="1"/>
          </p:cNvSpPr>
          <p:nvPr>
            <p:ph idx="1"/>
          </p:nvPr>
        </p:nvSpPr>
        <p:spPr/>
        <p:txBody>
          <a:bodyPr/>
          <a:lstStyle/>
          <a:p>
            <a:r>
              <a:rPr lang="zh-CN" altLang="en-US" dirty="0"/>
              <a:t>索引访问</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r>
              <a:rPr lang="zh-CN" altLang="en-US" dirty="0"/>
              <a:t>二维数组的索引方式</a:t>
            </a:r>
            <a:endParaRPr lang="zh-CN" altLang="en-US" dirty="0"/>
          </a:p>
          <a:p>
            <a:pPr lvl="2"/>
            <a:r>
              <a:rPr lang="zh-CN" altLang="en-US" dirty="0"/>
              <a:t>轴0作为行，轴1作为列</a:t>
            </a:r>
            <a:endParaRPr lang="zh-CN" altLang="en-US" dirty="0"/>
          </a:p>
        </p:txBody>
      </p:sp>
      <p:sp>
        <p:nvSpPr>
          <p:cNvPr id="4" name="文本框 3"/>
          <p:cNvSpPr txBox="1"/>
          <p:nvPr/>
        </p:nvSpPr>
        <p:spPr>
          <a:xfrm>
            <a:off x="1637665" y="1845310"/>
            <a:ext cx="7731125" cy="2245360"/>
          </a:xfrm>
          <a:prstGeom prst="rect">
            <a:avLst/>
          </a:prstGeom>
          <a:noFill/>
        </p:spPr>
        <p:txBody>
          <a:bodyPr wrap="square" rtlCol="0" anchor="t">
            <a:spAutoFit/>
          </a:bodyPr>
          <a:lstStyle/>
          <a:p>
            <a:r>
              <a:rPr lang="zh-CN" altLang="en-US" sz="1400"/>
              <a:t>In [72]: arr2d = np.array([[1, 2, 3], [4, 5, 6], [7, 8, 9]])</a:t>
            </a:r>
            <a:endParaRPr lang="zh-CN" altLang="en-US" sz="1400"/>
          </a:p>
          <a:p>
            <a:endParaRPr lang="zh-CN" altLang="en-US" sz="1400"/>
          </a:p>
          <a:p>
            <a:r>
              <a:rPr lang="zh-CN" altLang="en-US" sz="1400"/>
              <a:t>In [73]: arr2d[2]</a:t>
            </a:r>
            <a:endParaRPr lang="zh-CN" altLang="en-US" sz="1400"/>
          </a:p>
          <a:p>
            <a:r>
              <a:rPr lang="zh-CN" altLang="en-US" sz="1400"/>
              <a:t>Out[73]: array([7, 8, 9])</a:t>
            </a:r>
            <a:endParaRPr lang="zh-CN" altLang="en-US" sz="1400"/>
          </a:p>
          <a:p>
            <a:endParaRPr lang="zh-CN" altLang="en-US" sz="1400"/>
          </a:p>
          <a:p>
            <a:r>
              <a:rPr lang="zh-CN" altLang="en-US" sz="1400"/>
              <a:t>In [74]: arr2d[0][2]</a:t>
            </a:r>
            <a:endParaRPr lang="zh-CN" altLang="en-US" sz="1400"/>
          </a:p>
          <a:p>
            <a:r>
              <a:rPr lang="zh-CN" altLang="en-US" sz="1400"/>
              <a:t>Out[74]: 3</a:t>
            </a:r>
            <a:endParaRPr lang="zh-CN" altLang="en-US" sz="1400"/>
          </a:p>
          <a:p>
            <a:endParaRPr lang="zh-CN" altLang="en-US" sz="1400"/>
          </a:p>
          <a:p>
            <a:r>
              <a:rPr lang="zh-CN" altLang="en-US" sz="1400"/>
              <a:t>In [75]: arr2d[0, 2]</a:t>
            </a:r>
            <a:endParaRPr lang="zh-CN" altLang="en-US" sz="1400"/>
          </a:p>
          <a:p>
            <a:r>
              <a:rPr lang="zh-CN" altLang="en-US" sz="1400"/>
              <a:t>Out[75]: 3</a:t>
            </a:r>
            <a:endParaRPr lang="zh-CN" altLang="en-US" sz="1400"/>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74558" y="2502009"/>
            <a:ext cx="3662586" cy="3177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 基本的索引和切片</a:t>
            </a:r>
            <a:endParaRPr lang="en-US" altLang="zh-CN" dirty="0"/>
          </a:p>
        </p:txBody>
      </p:sp>
      <p:sp>
        <p:nvSpPr>
          <p:cNvPr id="3" name="内容占位符 2"/>
          <p:cNvSpPr>
            <a:spLocks noGrp="1"/>
          </p:cNvSpPr>
          <p:nvPr>
            <p:ph idx="1"/>
          </p:nvPr>
        </p:nvSpPr>
        <p:spPr/>
        <p:txBody>
          <a:bodyPr/>
          <a:lstStyle/>
          <a:p>
            <a:r>
              <a:rPr lang="zh-CN" altLang="en-US" dirty="0"/>
              <a:t>多维度数组，如果省略了后面的索引，则返回对象会是一个维度低一点的ndarray</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r>
              <a:rPr lang="zh-CN" altLang="en-US" dirty="0"/>
              <a:t>标量值和数组都可以被赋值给arr3d[0]</a:t>
            </a:r>
            <a:endParaRPr lang="zh-CN" altLang="en-US" dirty="0"/>
          </a:p>
          <a:p>
            <a:pPr lvl="2"/>
            <a:r>
              <a:rPr lang="zh-CN" altLang="en-US" dirty="0"/>
              <a:t>任意形状的数组？</a:t>
            </a:r>
            <a:endParaRPr lang="zh-CN" altLang="en-US" dirty="0"/>
          </a:p>
        </p:txBody>
      </p:sp>
      <p:sp>
        <p:nvSpPr>
          <p:cNvPr id="4" name="文本框 3"/>
          <p:cNvSpPr txBox="1"/>
          <p:nvPr/>
        </p:nvSpPr>
        <p:spPr>
          <a:xfrm>
            <a:off x="1637665" y="1773555"/>
            <a:ext cx="7731125" cy="2891790"/>
          </a:xfrm>
          <a:prstGeom prst="rect">
            <a:avLst/>
          </a:prstGeom>
          <a:noFill/>
        </p:spPr>
        <p:txBody>
          <a:bodyPr wrap="square" rtlCol="0" anchor="t">
            <a:spAutoFit/>
          </a:bodyPr>
          <a:lstStyle/>
          <a:p>
            <a:r>
              <a:rPr lang="zh-CN" altLang="en-US" sz="1400"/>
              <a:t>In [76]: arr3d = np.array([[[1, 2, 3], [4, 5, 6]], [[7, 8, 9], [10, 11, 12]]])</a:t>
            </a:r>
            <a:endParaRPr lang="zh-CN" altLang="en-US" sz="1400"/>
          </a:p>
          <a:p>
            <a:endParaRPr lang="zh-CN" altLang="en-US" sz="1400"/>
          </a:p>
          <a:p>
            <a:r>
              <a:rPr lang="zh-CN" altLang="en-US" sz="1400"/>
              <a:t>In [77]: arr3d</a:t>
            </a:r>
            <a:endParaRPr lang="zh-CN" altLang="en-US" sz="1400"/>
          </a:p>
          <a:p>
            <a:r>
              <a:rPr lang="zh-CN" altLang="en-US" sz="1400"/>
              <a:t>Out[77]: </a:t>
            </a:r>
            <a:endParaRPr lang="zh-CN" altLang="en-US" sz="1400"/>
          </a:p>
          <a:p>
            <a:r>
              <a:rPr lang="zh-CN" altLang="en-US" sz="1400"/>
              <a:t>array([[[ 1,  2,  3],</a:t>
            </a:r>
            <a:endParaRPr lang="zh-CN" altLang="en-US" sz="1400"/>
          </a:p>
          <a:p>
            <a:r>
              <a:rPr lang="zh-CN" altLang="en-US" sz="1400"/>
              <a:t>        [ 4,  5,  6]],</a:t>
            </a:r>
            <a:endParaRPr lang="zh-CN" altLang="en-US" sz="1400"/>
          </a:p>
          <a:p>
            <a:r>
              <a:rPr lang="zh-CN" altLang="en-US" sz="1400"/>
              <a:t>       [[ 7,  8,  9],</a:t>
            </a:r>
            <a:endParaRPr lang="zh-CN" altLang="en-US" sz="1400"/>
          </a:p>
          <a:p>
            <a:r>
              <a:rPr lang="zh-CN" altLang="en-US" sz="1400"/>
              <a:t>        [10, 11, 12]]])</a:t>
            </a:r>
            <a:endParaRPr lang="zh-CN" altLang="en-US" sz="1400"/>
          </a:p>
          <a:p>
            <a:endParaRPr lang="zh-CN" altLang="en-US" sz="1400"/>
          </a:p>
          <a:p>
            <a:r>
              <a:rPr lang="zh-CN" altLang="en-US" sz="1400"/>
              <a:t>In [78]: arr3d[0]</a:t>
            </a:r>
            <a:endParaRPr lang="zh-CN" altLang="en-US" sz="1400"/>
          </a:p>
          <a:p>
            <a:r>
              <a:rPr lang="zh-CN" altLang="en-US" sz="1400"/>
              <a:t>Out[78]: </a:t>
            </a:r>
            <a:endParaRPr lang="zh-CN" altLang="en-US" sz="1400"/>
          </a:p>
          <a:p>
            <a:r>
              <a:rPr lang="zh-CN" altLang="en-US" sz="1400"/>
              <a:t>array([[1, 2, 3],</a:t>
            </a:r>
            <a:endParaRPr lang="zh-CN" altLang="en-US" sz="1400"/>
          </a:p>
          <a:p>
            <a:r>
              <a:rPr lang="zh-CN" altLang="en-US" sz="1400"/>
              <a:t>       [4, 5, 6]])</a:t>
            </a:r>
            <a:endParaRPr lang="zh-CN" altLang="en-US" sz="1400"/>
          </a:p>
        </p:txBody>
      </p:sp>
      <p:sp>
        <p:nvSpPr>
          <p:cNvPr id="5" name="文本框 4"/>
          <p:cNvSpPr txBox="1"/>
          <p:nvPr/>
        </p:nvSpPr>
        <p:spPr>
          <a:xfrm>
            <a:off x="7902575" y="2205355"/>
            <a:ext cx="4006215" cy="4184650"/>
          </a:xfrm>
          <a:prstGeom prst="rect">
            <a:avLst/>
          </a:prstGeom>
          <a:noFill/>
        </p:spPr>
        <p:txBody>
          <a:bodyPr wrap="square" rtlCol="0" anchor="t">
            <a:spAutoFit/>
          </a:bodyPr>
          <a:lstStyle/>
          <a:p>
            <a:r>
              <a:rPr lang="zh-CN" altLang="en-US" sz="1400"/>
              <a:t>In [79]: old_values = arr3d[0].copy()</a:t>
            </a:r>
            <a:endParaRPr lang="zh-CN" altLang="en-US" sz="1400"/>
          </a:p>
          <a:p>
            <a:endParaRPr lang="zh-CN" altLang="en-US" sz="1400"/>
          </a:p>
          <a:p>
            <a:r>
              <a:rPr lang="zh-CN" altLang="en-US" sz="1400"/>
              <a:t>In [80]: arr3d[0] = 42</a:t>
            </a:r>
            <a:endParaRPr lang="zh-CN" altLang="en-US" sz="1400"/>
          </a:p>
          <a:p>
            <a:endParaRPr lang="zh-CN" altLang="en-US" sz="1400"/>
          </a:p>
          <a:p>
            <a:r>
              <a:rPr lang="zh-CN" altLang="en-US" sz="1400"/>
              <a:t>In [81]: arr3d</a:t>
            </a:r>
            <a:endParaRPr lang="zh-CN" altLang="en-US" sz="1400"/>
          </a:p>
          <a:p>
            <a:r>
              <a:rPr lang="zh-CN" altLang="en-US" sz="1400"/>
              <a:t>Out[81]: </a:t>
            </a:r>
            <a:endParaRPr lang="zh-CN" altLang="en-US" sz="1400"/>
          </a:p>
          <a:p>
            <a:r>
              <a:rPr lang="zh-CN" altLang="en-US" sz="1400"/>
              <a:t>array([[[42, 42, 42],</a:t>
            </a:r>
            <a:endParaRPr lang="zh-CN" altLang="en-US" sz="1400"/>
          </a:p>
          <a:p>
            <a:r>
              <a:rPr lang="zh-CN" altLang="en-US" sz="1400"/>
              <a:t>        [42, 42, 42]],</a:t>
            </a:r>
            <a:endParaRPr lang="zh-CN" altLang="en-US" sz="1400"/>
          </a:p>
          <a:p>
            <a:r>
              <a:rPr lang="zh-CN" altLang="en-US" sz="1400"/>
              <a:t>       [[ 7,  8,  9],</a:t>
            </a:r>
            <a:endParaRPr lang="zh-CN" altLang="en-US" sz="1400"/>
          </a:p>
          <a:p>
            <a:r>
              <a:rPr lang="zh-CN" altLang="en-US" sz="1400"/>
              <a:t>        [10, 11, 12]]])</a:t>
            </a:r>
            <a:endParaRPr lang="zh-CN" altLang="en-US" sz="1400"/>
          </a:p>
          <a:p>
            <a:endParaRPr lang="zh-CN" altLang="en-US" sz="1400"/>
          </a:p>
          <a:p>
            <a:r>
              <a:rPr lang="zh-CN" altLang="en-US" sz="1400"/>
              <a:t>In [82]: arr3d[0] = old_values</a:t>
            </a:r>
            <a:endParaRPr lang="zh-CN" altLang="en-US" sz="1400"/>
          </a:p>
          <a:p>
            <a:endParaRPr lang="zh-CN" altLang="en-US" sz="1400"/>
          </a:p>
          <a:p>
            <a:r>
              <a:rPr lang="zh-CN" altLang="en-US" sz="1400"/>
              <a:t>In [83]: arr3d</a:t>
            </a:r>
            <a:endParaRPr lang="zh-CN" altLang="en-US" sz="1400"/>
          </a:p>
          <a:p>
            <a:r>
              <a:rPr lang="zh-CN" altLang="en-US" sz="1400"/>
              <a:t>Out[83]: </a:t>
            </a:r>
            <a:endParaRPr lang="zh-CN" altLang="en-US" sz="1400"/>
          </a:p>
          <a:p>
            <a:r>
              <a:rPr lang="zh-CN" altLang="en-US" sz="1400"/>
              <a:t>array([[[ 1,  2,  3],</a:t>
            </a:r>
            <a:endParaRPr lang="zh-CN" altLang="en-US" sz="1400"/>
          </a:p>
          <a:p>
            <a:r>
              <a:rPr lang="zh-CN" altLang="en-US" sz="1400"/>
              <a:t>        [ 4,  5,  6]],</a:t>
            </a:r>
            <a:endParaRPr lang="zh-CN" altLang="en-US" sz="1400"/>
          </a:p>
          <a:p>
            <a:r>
              <a:rPr lang="zh-CN" altLang="en-US" sz="1400"/>
              <a:t>       [[ 7,  8,  9],</a:t>
            </a:r>
            <a:endParaRPr lang="zh-CN" altLang="en-US" sz="1400"/>
          </a:p>
          <a:p>
            <a:r>
              <a:rPr lang="zh-CN" altLang="en-US" sz="1400"/>
              <a:t>        [10, 11, 12]]])</a:t>
            </a:r>
            <a:endParaRPr lang="zh-CN" altLang="en-US"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 基本的索引和切片</a:t>
            </a:r>
            <a:endParaRPr lang="en-US" altLang="zh-CN" dirty="0"/>
          </a:p>
        </p:txBody>
      </p:sp>
      <p:sp>
        <p:nvSpPr>
          <p:cNvPr id="3" name="内容占位符 2"/>
          <p:cNvSpPr>
            <a:spLocks noGrp="1"/>
          </p:cNvSpPr>
          <p:nvPr>
            <p:ph idx="1"/>
          </p:nvPr>
        </p:nvSpPr>
        <p:spPr/>
        <p:txBody>
          <a:bodyPr/>
          <a:lstStyle/>
          <a:p>
            <a:r>
              <a:rPr lang="zh-CN" altLang="en-US" dirty="0"/>
              <a:t>多维度数组，如果省略了后面的索引，则返回对象会是一个维度低一点的ndarray</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endParaRPr lang="zh-CN" altLang="en-US" dirty="0"/>
          </a:p>
        </p:txBody>
      </p:sp>
      <p:sp>
        <p:nvSpPr>
          <p:cNvPr id="4" name="文本框 3"/>
          <p:cNvSpPr txBox="1"/>
          <p:nvPr/>
        </p:nvSpPr>
        <p:spPr>
          <a:xfrm>
            <a:off x="1637665" y="1773555"/>
            <a:ext cx="7731125" cy="2676525"/>
          </a:xfrm>
          <a:prstGeom prst="rect">
            <a:avLst/>
          </a:prstGeom>
          <a:noFill/>
        </p:spPr>
        <p:txBody>
          <a:bodyPr wrap="square" rtlCol="0" anchor="t">
            <a:spAutoFit/>
          </a:bodyPr>
          <a:lstStyle/>
          <a:p>
            <a:r>
              <a:rPr lang="zh-CN" altLang="en-US" sz="1400"/>
              <a:t>In [84]: arr3d[1, 0]</a:t>
            </a:r>
            <a:endParaRPr lang="zh-CN" altLang="en-US" sz="1400"/>
          </a:p>
          <a:p>
            <a:r>
              <a:rPr lang="zh-CN" altLang="en-US" sz="1400"/>
              <a:t>Out[84]: array([7, 8, 9])</a:t>
            </a:r>
            <a:endParaRPr lang="zh-CN" altLang="en-US" sz="1400"/>
          </a:p>
          <a:p>
            <a:endParaRPr lang="zh-CN" altLang="en-US" sz="1400"/>
          </a:p>
          <a:p>
            <a:r>
              <a:rPr lang="zh-CN" altLang="en-US" sz="1400"/>
              <a:t>In [85]: x = arr3d[1]</a:t>
            </a:r>
            <a:endParaRPr lang="zh-CN" altLang="en-US" sz="1400"/>
          </a:p>
          <a:p>
            <a:endParaRPr lang="zh-CN" altLang="en-US" sz="1400"/>
          </a:p>
          <a:p>
            <a:r>
              <a:rPr lang="zh-CN" altLang="en-US" sz="1400"/>
              <a:t>In [86]: x</a:t>
            </a:r>
            <a:endParaRPr lang="zh-CN" altLang="en-US" sz="1400"/>
          </a:p>
          <a:p>
            <a:r>
              <a:rPr lang="zh-CN" altLang="en-US" sz="1400"/>
              <a:t>Out[86]: </a:t>
            </a:r>
            <a:endParaRPr lang="zh-CN" altLang="en-US" sz="1400"/>
          </a:p>
          <a:p>
            <a:r>
              <a:rPr lang="zh-CN" altLang="en-US" sz="1400"/>
              <a:t>array([[ 7,  8,  9],</a:t>
            </a:r>
            <a:endParaRPr lang="zh-CN" altLang="en-US" sz="1400"/>
          </a:p>
          <a:p>
            <a:r>
              <a:rPr lang="zh-CN" altLang="en-US" sz="1400"/>
              <a:t>       [10, 11, 12]])</a:t>
            </a:r>
            <a:endParaRPr lang="zh-CN" altLang="en-US" sz="1400"/>
          </a:p>
          <a:p>
            <a:endParaRPr lang="zh-CN" altLang="en-US" sz="1400"/>
          </a:p>
          <a:p>
            <a:r>
              <a:rPr lang="zh-CN" altLang="en-US" sz="1400"/>
              <a:t>In [87]: x[0]</a:t>
            </a:r>
            <a:endParaRPr lang="zh-CN" altLang="en-US" sz="1400"/>
          </a:p>
          <a:p>
            <a:r>
              <a:rPr lang="zh-CN" altLang="en-US" sz="1400"/>
              <a:t>Out[87]: array([7, 8, 9])</a:t>
            </a:r>
            <a:endParaRPr lang="zh-CN" altLang="en-US" sz="1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4.1.4.1 切片索引</a:t>
            </a:r>
            <a:endParaRPr lang="en-US" altLang="zh-CN" dirty="0"/>
          </a:p>
        </p:txBody>
      </p:sp>
      <p:sp>
        <p:nvSpPr>
          <p:cNvPr id="3" name="内容占位符 2"/>
          <p:cNvSpPr>
            <a:spLocks noGrp="1"/>
          </p:cNvSpPr>
          <p:nvPr>
            <p:ph idx="1"/>
          </p:nvPr>
        </p:nvSpPr>
        <p:spPr/>
        <p:txBody>
          <a:bodyPr/>
          <a:lstStyle/>
          <a:p>
            <a:r>
              <a:rPr lang="zh-CN" altLang="en-US" dirty="0"/>
              <a:t>语法：跟Python列表这样的一维对象差不多</a:t>
            </a:r>
            <a:endParaRPr lang="zh-CN" altLang="en-US" dirty="0"/>
          </a:p>
          <a:p>
            <a:endParaRPr lang="zh-CN" altLang="en-US" dirty="0"/>
          </a:p>
          <a:p>
            <a:endParaRPr lang="zh-CN" altLang="en-US" dirty="0"/>
          </a:p>
          <a:p>
            <a:endParaRPr lang="zh-CN" altLang="en-US" dirty="0"/>
          </a:p>
          <a:p>
            <a:pPr lvl="1"/>
            <a:r>
              <a:rPr lang="zh-CN" altLang="en-US" sz="1700" dirty="0"/>
              <a:t>二维数组切片：沿着第0轴切片（切片是沿着一个轴向选取元素的</a:t>
            </a:r>
            <a:r>
              <a:rPr lang="en-US" altLang="zh-CN" sz="1700" dirty="0"/>
              <a:t>)</a:t>
            </a:r>
            <a:endParaRPr lang="zh-CN" altLang="en-US" sz="1700" dirty="0"/>
          </a:p>
          <a:p>
            <a:pPr lvl="1"/>
            <a:endParaRPr lang="zh-CN" altLang="en-US" dirty="0"/>
          </a:p>
          <a:p>
            <a:pPr lvl="1"/>
            <a:endParaRPr lang="zh-CN" altLang="en-US" dirty="0"/>
          </a:p>
        </p:txBody>
      </p:sp>
      <p:sp>
        <p:nvSpPr>
          <p:cNvPr id="4" name="文本框 3"/>
          <p:cNvSpPr txBox="1"/>
          <p:nvPr/>
        </p:nvSpPr>
        <p:spPr>
          <a:xfrm>
            <a:off x="1637665" y="1773555"/>
            <a:ext cx="7731125" cy="1383665"/>
          </a:xfrm>
          <a:prstGeom prst="rect">
            <a:avLst/>
          </a:prstGeom>
          <a:noFill/>
        </p:spPr>
        <p:txBody>
          <a:bodyPr wrap="square" rtlCol="0" anchor="t">
            <a:spAutoFit/>
          </a:bodyPr>
          <a:lstStyle/>
          <a:p>
            <a:r>
              <a:rPr lang="zh-CN" altLang="en-US" sz="1400"/>
              <a:t>In [88]: arr</a:t>
            </a:r>
            <a:endParaRPr lang="zh-CN" altLang="en-US" sz="1400"/>
          </a:p>
          <a:p>
            <a:r>
              <a:rPr lang="zh-CN" altLang="en-US" sz="1400"/>
              <a:t>Out[88]: array([ 0,  1,  2,  3,  4, 64, 64, 64,  8,  9])</a:t>
            </a:r>
            <a:endParaRPr lang="zh-CN" altLang="en-US" sz="1400"/>
          </a:p>
          <a:p>
            <a:endParaRPr lang="zh-CN" altLang="en-US" sz="1400"/>
          </a:p>
          <a:p>
            <a:r>
              <a:rPr lang="zh-CN" altLang="en-US" sz="1400"/>
              <a:t>In [89]: arr[1:6]</a:t>
            </a:r>
            <a:endParaRPr lang="zh-CN" altLang="en-US" sz="1400"/>
          </a:p>
          <a:p>
            <a:r>
              <a:rPr lang="zh-CN" altLang="en-US" sz="1400"/>
              <a:t>Out[89]: array([ 1,  2,  3,  4, 64])</a:t>
            </a:r>
            <a:endParaRPr lang="zh-CN" altLang="en-US" sz="1400"/>
          </a:p>
          <a:p>
            <a:endParaRPr lang="zh-CN" altLang="en-US" sz="1400"/>
          </a:p>
        </p:txBody>
      </p:sp>
      <p:sp>
        <p:nvSpPr>
          <p:cNvPr id="5" name="文本框 4"/>
          <p:cNvSpPr txBox="1"/>
          <p:nvPr/>
        </p:nvSpPr>
        <p:spPr>
          <a:xfrm>
            <a:off x="1709420" y="3717925"/>
            <a:ext cx="4582795" cy="2245360"/>
          </a:xfrm>
          <a:prstGeom prst="rect">
            <a:avLst/>
          </a:prstGeom>
          <a:noFill/>
        </p:spPr>
        <p:txBody>
          <a:bodyPr wrap="square" rtlCol="0" anchor="t">
            <a:spAutoFit/>
          </a:bodyPr>
          <a:lstStyle/>
          <a:p>
            <a:r>
              <a:rPr lang="zh-CN" altLang="en-US" sz="1400">
                <a:sym typeface="+mn-ea"/>
              </a:rPr>
              <a:t>In [90]: arr2d</a:t>
            </a:r>
            <a:endParaRPr lang="zh-CN" altLang="en-US" sz="1400"/>
          </a:p>
          <a:p>
            <a:r>
              <a:rPr lang="zh-CN" altLang="en-US" sz="1400">
                <a:sym typeface="+mn-ea"/>
              </a:rPr>
              <a:t>Out[90]: </a:t>
            </a:r>
            <a:endParaRPr lang="zh-CN" altLang="en-US" sz="1400"/>
          </a:p>
          <a:p>
            <a:r>
              <a:rPr lang="zh-CN" altLang="en-US" sz="1400">
                <a:sym typeface="+mn-ea"/>
              </a:rPr>
              <a:t>array([[1, 2, 3],</a:t>
            </a:r>
            <a:endParaRPr lang="zh-CN" altLang="en-US" sz="1400"/>
          </a:p>
          <a:p>
            <a:r>
              <a:rPr lang="zh-CN" altLang="en-US" sz="1400">
                <a:sym typeface="+mn-ea"/>
              </a:rPr>
              <a:t>       [4, 5, 6],</a:t>
            </a:r>
            <a:endParaRPr lang="zh-CN" altLang="en-US" sz="1400"/>
          </a:p>
          <a:p>
            <a:r>
              <a:rPr lang="zh-CN" altLang="en-US" sz="1400">
                <a:sym typeface="+mn-ea"/>
              </a:rPr>
              <a:t>       [7, 8, 9]])</a:t>
            </a:r>
            <a:endParaRPr lang="zh-CN" altLang="en-US" sz="1400"/>
          </a:p>
          <a:p>
            <a:endParaRPr lang="zh-CN" altLang="en-US" sz="1400"/>
          </a:p>
          <a:p>
            <a:r>
              <a:rPr lang="zh-CN" altLang="en-US" sz="1400">
                <a:sym typeface="+mn-ea"/>
              </a:rPr>
              <a:t>In [91]: arr2d[:2]</a:t>
            </a:r>
            <a:endParaRPr lang="zh-CN" altLang="en-US" sz="1400"/>
          </a:p>
          <a:p>
            <a:r>
              <a:rPr lang="zh-CN" altLang="en-US" sz="1400">
                <a:sym typeface="+mn-ea"/>
              </a:rPr>
              <a:t>Out[91]: </a:t>
            </a:r>
            <a:endParaRPr lang="zh-CN" altLang="en-US" sz="1400"/>
          </a:p>
          <a:p>
            <a:r>
              <a:rPr lang="zh-CN" altLang="en-US" sz="1400">
                <a:sym typeface="+mn-ea"/>
              </a:rPr>
              <a:t>array([[1, 2, 3],</a:t>
            </a:r>
            <a:endParaRPr lang="zh-CN" altLang="en-US" sz="1400"/>
          </a:p>
          <a:p>
            <a:r>
              <a:rPr lang="zh-CN" altLang="en-US" sz="1400">
                <a:sym typeface="+mn-ea"/>
              </a:rPr>
              <a:t>       [4, 5, 6]])</a:t>
            </a:r>
            <a:endParaRPr lang="zh-CN" altLang="en-US" sz="140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4.1.4.1 切片索引</a:t>
            </a:r>
            <a:endParaRPr lang="en-US" altLang="zh-CN" dirty="0"/>
          </a:p>
        </p:txBody>
      </p:sp>
      <p:sp>
        <p:nvSpPr>
          <p:cNvPr id="3" name="内容占位符 2"/>
          <p:cNvSpPr>
            <a:spLocks noGrp="1"/>
          </p:cNvSpPr>
          <p:nvPr>
            <p:ph idx="1"/>
          </p:nvPr>
        </p:nvSpPr>
        <p:spPr/>
        <p:txBody>
          <a:bodyPr/>
          <a:lstStyle/>
          <a:p>
            <a:r>
              <a:rPr lang="zh-CN" altLang="en-US" dirty="0"/>
              <a:t>语法：</a:t>
            </a:r>
            <a:endParaRPr lang="zh-CN" altLang="en-US" dirty="0"/>
          </a:p>
          <a:p>
            <a:pPr lvl="1"/>
            <a:r>
              <a:rPr lang="zh-CN" altLang="en-US" dirty="0"/>
              <a:t>一次传入多个切片，就像传入多个索引那样</a:t>
            </a:r>
            <a:endParaRPr lang="zh-CN" altLang="en-US" dirty="0"/>
          </a:p>
          <a:p>
            <a:endParaRPr lang="zh-CN" altLang="en-US" dirty="0"/>
          </a:p>
          <a:p>
            <a:endParaRPr lang="zh-CN" altLang="en-US" dirty="0"/>
          </a:p>
          <a:p>
            <a:pPr lvl="1"/>
            <a:r>
              <a:rPr sz="1520" dirty="0"/>
              <a:t>将整数索引和切片混合，可以得到低维度的切片</a:t>
            </a:r>
            <a:endParaRPr sz="1520" dirty="0"/>
          </a:p>
          <a:p>
            <a:pPr lvl="2"/>
            <a:r>
              <a:rPr lang="zh-CN" altLang="en-US" sz="1250" dirty="0">
                <a:sym typeface="+mn-ea"/>
              </a:rPr>
              <a:t>选取第二行的前两列</a:t>
            </a:r>
            <a:endParaRPr lang="zh-CN" altLang="en-US" sz="1250" dirty="0"/>
          </a:p>
          <a:p>
            <a:pPr lvl="2"/>
            <a:r>
              <a:rPr lang="zh-CN" altLang="en-US" sz="1250" dirty="0">
                <a:sym typeface="+mn-ea"/>
              </a:rPr>
              <a:t>选择第三列的前两行</a:t>
            </a:r>
            <a:endParaRPr sz="1250" dirty="0"/>
          </a:p>
          <a:p>
            <a:pPr lvl="1"/>
            <a:r>
              <a:rPr sz="1520" dirty="0"/>
              <a:t>冒号表示选取整个轴</a:t>
            </a:r>
            <a:endParaRPr sz="1520" dirty="0"/>
          </a:p>
          <a:p>
            <a:pPr lvl="1"/>
            <a:r>
              <a:rPr sz="1520" dirty="0"/>
              <a:t>对切片表达式的赋值操作也会被扩散到整个选区</a:t>
            </a:r>
            <a:endParaRPr lang="en-US" altLang="zh-CN" dirty="0"/>
          </a:p>
        </p:txBody>
      </p:sp>
      <p:sp>
        <p:nvSpPr>
          <p:cNvPr id="4" name="文本框 3"/>
          <p:cNvSpPr txBox="1"/>
          <p:nvPr/>
        </p:nvSpPr>
        <p:spPr>
          <a:xfrm>
            <a:off x="1781810" y="2134235"/>
            <a:ext cx="7731125" cy="953135"/>
          </a:xfrm>
          <a:prstGeom prst="rect">
            <a:avLst/>
          </a:prstGeom>
          <a:noFill/>
        </p:spPr>
        <p:txBody>
          <a:bodyPr wrap="square" rtlCol="0" anchor="t">
            <a:spAutoFit/>
          </a:bodyPr>
          <a:lstStyle/>
          <a:p>
            <a:r>
              <a:rPr lang="zh-CN" altLang="en-US" sz="1400"/>
              <a:t>In [92]: arr2d[:2, 1:]</a:t>
            </a:r>
            <a:endParaRPr lang="zh-CN" altLang="en-US" sz="1400"/>
          </a:p>
          <a:p>
            <a:r>
              <a:rPr lang="zh-CN" altLang="en-US" sz="1400"/>
              <a:t>Out[92]: </a:t>
            </a:r>
            <a:endParaRPr lang="zh-CN" altLang="en-US" sz="1400"/>
          </a:p>
          <a:p>
            <a:r>
              <a:rPr lang="zh-CN" altLang="en-US" sz="1400"/>
              <a:t>array([[2, 3],</a:t>
            </a:r>
            <a:endParaRPr lang="zh-CN" altLang="en-US" sz="1400"/>
          </a:p>
          <a:p>
            <a:r>
              <a:rPr lang="zh-CN" altLang="en-US" sz="1400"/>
              <a:t>       [5, 6]])</a:t>
            </a:r>
            <a:endParaRPr lang="zh-CN" altLang="en-US" sz="1400"/>
          </a:p>
        </p:txBody>
      </p:sp>
      <p:sp>
        <p:nvSpPr>
          <p:cNvPr id="5" name="文本框 4"/>
          <p:cNvSpPr txBox="1"/>
          <p:nvPr/>
        </p:nvSpPr>
        <p:spPr>
          <a:xfrm>
            <a:off x="8839200" y="1557020"/>
            <a:ext cx="2016125" cy="4399915"/>
          </a:xfrm>
          <a:prstGeom prst="rect">
            <a:avLst/>
          </a:prstGeom>
          <a:noFill/>
        </p:spPr>
        <p:txBody>
          <a:bodyPr wrap="square" rtlCol="0" anchor="t">
            <a:spAutoFit/>
          </a:bodyPr>
          <a:lstStyle/>
          <a:p>
            <a:r>
              <a:rPr lang="zh-CN" altLang="en-US" sz="1400">
                <a:sym typeface="+mn-ea"/>
              </a:rPr>
              <a:t>In [93]: arr2d[1, :2]</a:t>
            </a:r>
            <a:endParaRPr lang="zh-CN" altLang="en-US" sz="1400">
              <a:sym typeface="+mn-ea"/>
            </a:endParaRPr>
          </a:p>
          <a:p>
            <a:r>
              <a:rPr lang="zh-CN" altLang="en-US" sz="1400">
                <a:sym typeface="+mn-ea"/>
              </a:rPr>
              <a:t>Out[93]: array([4, 5])</a:t>
            </a:r>
            <a:endParaRPr lang="zh-CN" altLang="en-US" sz="1400">
              <a:sym typeface="+mn-ea"/>
            </a:endParaRPr>
          </a:p>
          <a:p>
            <a:endParaRPr lang="zh-CN" altLang="en-US" sz="1400">
              <a:sym typeface="+mn-ea"/>
            </a:endParaRPr>
          </a:p>
          <a:p>
            <a:r>
              <a:rPr lang="zh-CN" altLang="en-US" sz="1400">
                <a:sym typeface="+mn-ea"/>
              </a:rPr>
              <a:t>In [94]: arr2d[:2, 2]</a:t>
            </a:r>
            <a:endParaRPr lang="zh-CN" altLang="en-US" sz="1400">
              <a:sym typeface="+mn-ea"/>
            </a:endParaRPr>
          </a:p>
          <a:p>
            <a:r>
              <a:rPr lang="zh-CN" altLang="en-US" sz="1400">
                <a:sym typeface="+mn-ea"/>
              </a:rPr>
              <a:t>Out[94]: array([3, 6])</a:t>
            </a:r>
            <a:endParaRPr lang="zh-CN" altLang="en-US" sz="1400">
              <a:sym typeface="+mn-ea"/>
            </a:endParaRPr>
          </a:p>
          <a:p>
            <a:endParaRPr lang="zh-CN" altLang="en-US" sz="1400">
              <a:sym typeface="+mn-ea"/>
            </a:endParaRPr>
          </a:p>
          <a:p>
            <a:r>
              <a:rPr lang="zh-CN" altLang="en-US" sz="1400">
                <a:sym typeface="+mn-ea"/>
              </a:rPr>
              <a:t>In [95]: arr2d[:, :1]</a:t>
            </a:r>
            <a:endParaRPr lang="zh-CN" altLang="en-US" sz="1400"/>
          </a:p>
          <a:p>
            <a:r>
              <a:rPr lang="zh-CN" altLang="en-US" sz="1400">
                <a:sym typeface="+mn-ea"/>
              </a:rPr>
              <a:t>Out[95]: </a:t>
            </a:r>
            <a:endParaRPr lang="zh-CN" altLang="en-US" sz="1400"/>
          </a:p>
          <a:p>
            <a:r>
              <a:rPr lang="zh-CN" altLang="en-US" sz="1400">
                <a:sym typeface="+mn-ea"/>
              </a:rPr>
              <a:t>array([[1],</a:t>
            </a:r>
            <a:endParaRPr lang="zh-CN" altLang="en-US" sz="1400"/>
          </a:p>
          <a:p>
            <a:r>
              <a:rPr lang="zh-CN" altLang="en-US" sz="1400">
                <a:sym typeface="+mn-ea"/>
              </a:rPr>
              <a:t>       [4],</a:t>
            </a:r>
            <a:endParaRPr lang="zh-CN" altLang="en-US" sz="1400"/>
          </a:p>
          <a:p>
            <a:r>
              <a:rPr lang="zh-CN" altLang="en-US" sz="1400">
                <a:sym typeface="+mn-ea"/>
              </a:rPr>
              <a:t>       [7]])</a:t>
            </a:r>
            <a:endParaRPr lang="zh-CN" altLang="en-US" sz="1400"/>
          </a:p>
          <a:p>
            <a:endParaRPr lang="zh-CN" altLang="en-US" sz="1400">
              <a:sym typeface="+mn-ea"/>
            </a:endParaRPr>
          </a:p>
          <a:p>
            <a:r>
              <a:rPr lang="zh-CN" altLang="en-US" sz="1400">
                <a:sym typeface="+mn-ea"/>
              </a:rPr>
              <a:t>In [96]: arr2d[:2, 1:] = 0</a:t>
            </a:r>
            <a:endParaRPr lang="zh-CN" altLang="en-US" sz="1400"/>
          </a:p>
          <a:p>
            <a:endParaRPr lang="zh-CN" altLang="en-US" sz="1400"/>
          </a:p>
          <a:p>
            <a:r>
              <a:rPr lang="zh-CN" altLang="en-US" sz="1400">
                <a:sym typeface="+mn-ea"/>
              </a:rPr>
              <a:t>In [97]: arr2d</a:t>
            </a:r>
            <a:endParaRPr lang="zh-CN" altLang="en-US" sz="1400"/>
          </a:p>
          <a:p>
            <a:r>
              <a:rPr lang="zh-CN" altLang="en-US" sz="1400">
                <a:sym typeface="+mn-ea"/>
              </a:rPr>
              <a:t>Out[97]: </a:t>
            </a:r>
            <a:endParaRPr lang="zh-CN" altLang="en-US" sz="1400"/>
          </a:p>
          <a:p>
            <a:r>
              <a:rPr lang="zh-CN" altLang="en-US" sz="1400">
                <a:sym typeface="+mn-ea"/>
              </a:rPr>
              <a:t>array([[1, 0, 0],</a:t>
            </a:r>
            <a:endParaRPr lang="zh-CN" altLang="en-US" sz="1400"/>
          </a:p>
          <a:p>
            <a:r>
              <a:rPr lang="zh-CN" altLang="en-US" sz="1400">
                <a:sym typeface="+mn-ea"/>
              </a:rPr>
              <a:t>       [4, 0, 0],</a:t>
            </a:r>
            <a:endParaRPr lang="zh-CN" altLang="en-US" sz="1400"/>
          </a:p>
          <a:p>
            <a:r>
              <a:rPr lang="zh-CN" altLang="en-US" sz="1400">
                <a:sym typeface="+mn-ea"/>
              </a:rPr>
              <a:t>       [7, 8, 9]])</a:t>
            </a:r>
            <a:endParaRPr lang="zh-CN" altLang="en-US" sz="1400"/>
          </a:p>
          <a:p>
            <a:endParaRPr lang="zh-CN" altLang="en-US" sz="140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4.1.4.1 切片索引</a:t>
            </a:r>
            <a:endParaRPr lang="en-US" altLang="zh-CN" dirty="0"/>
          </a:p>
        </p:txBody>
      </p:sp>
      <p:sp>
        <p:nvSpPr>
          <p:cNvPr id="3" name="内容占位符 2"/>
          <p:cNvSpPr>
            <a:spLocks noGrp="1"/>
          </p:cNvSpPr>
          <p:nvPr>
            <p:ph idx="1"/>
          </p:nvPr>
        </p:nvSpPr>
        <p:spPr/>
        <p:txBody>
          <a:bodyPr/>
          <a:lstStyle/>
          <a:p>
            <a:r>
              <a:rPr lang="zh-CN" altLang="en-US" dirty="0"/>
              <a:t>语法：</a:t>
            </a:r>
            <a:endParaRPr lang="zh-CN" altLang="en-US" dirty="0"/>
          </a:p>
          <a:p>
            <a:pPr lvl="1"/>
            <a:r>
              <a:rPr lang="zh-CN" altLang="zh-CN" dirty="0"/>
              <a:t>总结：</a:t>
            </a:r>
            <a:endParaRPr lang="zh-CN" altLang="zh-CN" dirty="0"/>
          </a:p>
          <a:p>
            <a:pPr lvl="2"/>
            <a:r>
              <a:rPr lang="zh-CN" altLang="zh-CN" dirty="0"/>
              <a:t>切片后的维度</a:t>
            </a:r>
            <a:endParaRPr lang="en-US" altLang="zh-C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58134" y="1269554"/>
            <a:ext cx="3893418" cy="48823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4.1.5 </a:t>
            </a:r>
            <a:r>
              <a:rPr lang="zh-CN" altLang="en-US" dirty="0"/>
              <a:t>布尔索引</a:t>
            </a:r>
            <a:endParaRPr lang="zh-CN" altLang="en-US" dirty="0"/>
          </a:p>
        </p:txBody>
      </p:sp>
      <p:sp>
        <p:nvSpPr>
          <p:cNvPr id="3" name="内容占位符 2"/>
          <p:cNvSpPr>
            <a:spLocks noGrp="1"/>
          </p:cNvSpPr>
          <p:nvPr>
            <p:ph idx="1"/>
          </p:nvPr>
        </p:nvSpPr>
        <p:spPr/>
        <p:txBody>
          <a:bodyPr/>
          <a:lstStyle/>
          <a:p>
            <a:r>
              <a:rPr lang="zh-CN" altLang="zh-CN" dirty="0"/>
              <a:t>布尔索引：使用</a:t>
            </a:r>
            <a:r>
              <a:rPr lang="en-US" altLang="zh-CN" dirty="0"/>
              <a:t>Bool</a:t>
            </a:r>
            <a:r>
              <a:rPr lang="zh-CN" altLang="en-US" dirty="0"/>
              <a:t>数组进行索引</a:t>
            </a:r>
            <a:endParaRPr lang="zh-CN" altLang="zh-CN" dirty="0"/>
          </a:p>
          <a:p>
            <a:pPr lvl="1"/>
            <a:r>
              <a:rPr lang="zh-CN" altLang="zh-CN" dirty="0"/>
              <a:t>一个用于存储数据的数组以及一个存储姓名的数组</a:t>
            </a:r>
            <a:endParaRPr lang="zh-CN" altLang="zh-CN" dirty="0"/>
          </a:p>
        </p:txBody>
      </p:sp>
      <p:sp>
        <p:nvSpPr>
          <p:cNvPr id="4" name="文本框 3"/>
          <p:cNvSpPr txBox="1"/>
          <p:nvPr/>
        </p:nvSpPr>
        <p:spPr>
          <a:xfrm>
            <a:off x="1565910" y="2205355"/>
            <a:ext cx="7608570" cy="3969385"/>
          </a:xfrm>
          <a:prstGeom prst="rect">
            <a:avLst/>
          </a:prstGeom>
          <a:noFill/>
        </p:spPr>
        <p:txBody>
          <a:bodyPr wrap="square" rtlCol="0" anchor="t">
            <a:spAutoFit/>
          </a:bodyPr>
          <a:lstStyle/>
          <a:p>
            <a:r>
              <a:rPr lang="zh-CN" altLang="en-US" sz="1400"/>
              <a:t>In [98]: names = np.array(['Bob', 'Joe', 'Will', 'Bob', 'Will', 'Joe', 'Joe'])</a:t>
            </a:r>
            <a:endParaRPr lang="zh-CN" altLang="en-US" sz="1400"/>
          </a:p>
          <a:p>
            <a:endParaRPr lang="zh-CN" altLang="en-US" sz="1400"/>
          </a:p>
          <a:p>
            <a:r>
              <a:rPr lang="zh-CN" altLang="en-US" sz="1400"/>
              <a:t>In [99]: data = np.random.randn(7, 4)</a:t>
            </a:r>
            <a:endParaRPr lang="zh-CN" altLang="en-US" sz="1400"/>
          </a:p>
          <a:p>
            <a:endParaRPr lang="zh-CN" altLang="en-US" sz="1400"/>
          </a:p>
          <a:p>
            <a:r>
              <a:rPr lang="zh-CN" altLang="en-US" sz="1400"/>
              <a:t>In [100]: names</a:t>
            </a:r>
            <a:endParaRPr lang="zh-CN" altLang="en-US" sz="1400"/>
          </a:p>
          <a:p>
            <a:r>
              <a:rPr lang="zh-CN" altLang="en-US" sz="1400"/>
              <a:t>Out[100]: </a:t>
            </a:r>
            <a:endParaRPr lang="zh-CN" altLang="en-US" sz="1400"/>
          </a:p>
          <a:p>
            <a:r>
              <a:rPr lang="zh-CN" altLang="en-US" sz="1400"/>
              <a:t>array(['Bob', 'Joe', 'Will', 'Bob', 'Will', 'Joe', 'Joe'],</a:t>
            </a:r>
            <a:endParaRPr lang="zh-CN" altLang="en-US" sz="1400"/>
          </a:p>
          <a:p>
            <a:r>
              <a:rPr lang="zh-CN" altLang="en-US" sz="1400"/>
              <a:t>      dtype='&lt;U4')</a:t>
            </a:r>
            <a:endParaRPr lang="zh-CN" altLang="en-US" sz="1400"/>
          </a:p>
          <a:p>
            <a:endParaRPr lang="zh-CN" altLang="en-US" sz="1400"/>
          </a:p>
          <a:p>
            <a:r>
              <a:rPr lang="zh-CN" altLang="en-US" sz="1400"/>
              <a:t>In [101]: data</a:t>
            </a:r>
            <a:endParaRPr lang="zh-CN" altLang="en-US" sz="1400"/>
          </a:p>
          <a:p>
            <a:r>
              <a:rPr lang="zh-CN" altLang="en-US" sz="1400"/>
              <a:t>Out[101]: </a:t>
            </a:r>
            <a:endParaRPr lang="zh-CN" altLang="en-US" sz="1400"/>
          </a:p>
          <a:p>
            <a:r>
              <a:rPr lang="zh-CN" altLang="en-US" sz="1400"/>
              <a:t>array([[ 0.0929,  0.2817,  0.769 ,  1.2464],</a:t>
            </a:r>
            <a:endParaRPr lang="zh-CN" altLang="en-US" sz="1400"/>
          </a:p>
          <a:p>
            <a:r>
              <a:rPr lang="zh-CN" altLang="en-US" sz="1400"/>
              <a:t>       [ 1.0072, -1.2962,  0.275 ,  0.2289],</a:t>
            </a:r>
            <a:endParaRPr lang="zh-CN" altLang="en-US" sz="1400"/>
          </a:p>
          <a:p>
            <a:r>
              <a:rPr lang="zh-CN" altLang="en-US" sz="1400"/>
              <a:t>       [ 1.3529,  0.8864, -2.0016, -0.3718],</a:t>
            </a:r>
            <a:endParaRPr lang="zh-CN" altLang="en-US" sz="1400"/>
          </a:p>
          <a:p>
            <a:r>
              <a:rPr lang="zh-CN" altLang="en-US" sz="1400"/>
              <a:t>       [ 1.669 , -0.4386, -0.5397,  0.477 ],</a:t>
            </a:r>
            <a:endParaRPr lang="zh-CN" altLang="en-US" sz="1400"/>
          </a:p>
          <a:p>
            <a:r>
              <a:rPr lang="zh-CN" altLang="en-US" sz="1400"/>
              <a:t>       [ 3.2489, -1.0212, -0.5771,  0.1241],</a:t>
            </a:r>
            <a:endParaRPr lang="zh-CN" altLang="en-US" sz="1400"/>
          </a:p>
          <a:p>
            <a:r>
              <a:rPr lang="zh-CN" altLang="en-US" sz="1400"/>
              <a:t>       [ 0.3026,  0.5238,  0.0009,  1.3438],</a:t>
            </a:r>
            <a:endParaRPr lang="zh-CN" altLang="en-US" sz="1400"/>
          </a:p>
          <a:p>
            <a:r>
              <a:rPr lang="zh-CN" altLang="en-US" sz="1400"/>
              <a:t>       [-0.7135, -0.8312, -2.3702, -1.8608]])</a:t>
            </a:r>
            <a:endParaRPr lang="zh-CN" alt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4.1.5 </a:t>
            </a:r>
            <a:r>
              <a:rPr lang="zh-CN" altLang="en-US" dirty="0"/>
              <a:t>布尔索引</a:t>
            </a:r>
            <a:endParaRPr lang="zh-CN" altLang="en-US" dirty="0"/>
          </a:p>
        </p:txBody>
      </p:sp>
      <p:sp>
        <p:nvSpPr>
          <p:cNvPr id="3" name="内容占位符 2"/>
          <p:cNvSpPr>
            <a:spLocks noGrp="1"/>
          </p:cNvSpPr>
          <p:nvPr>
            <p:ph idx="1"/>
          </p:nvPr>
        </p:nvSpPr>
        <p:spPr/>
        <p:txBody>
          <a:bodyPr/>
          <a:lstStyle/>
          <a:p>
            <a:r>
              <a:rPr lang="zh-CN" altLang="zh-CN" dirty="0">
                <a:sym typeface="+mn-ea"/>
              </a:rPr>
              <a:t>布尔索引：使用</a:t>
            </a:r>
            <a:r>
              <a:rPr lang="en-US" altLang="zh-CN" dirty="0">
                <a:sym typeface="+mn-ea"/>
              </a:rPr>
              <a:t>Bool</a:t>
            </a:r>
            <a:r>
              <a:rPr lang="zh-CN" altLang="en-US" dirty="0">
                <a:sym typeface="+mn-ea"/>
              </a:rPr>
              <a:t>数组进行索引</a:t>
            </a:r>
            <a:endParaRPr lang="zh-CN" altLang="zh-CN" dirty="0"/>
          </a:p>
          <a:p>
            <a:pPr lvl="1"/>
            <a:r>
              <a:rPr lang="zh-CN" altLang="zh-CN" dirty="0"/>
              <a:t>生成布尔型</a:t>
            </a:r>
            <a:r>
              <a:rPr lang="zh-CN" altLang="zh-CN" dirty="0" smtClean="0"/>
              <a:t>数组</a:t>
            </a:r>
            <a:endParaRPr lang="en-US" altLang="zh-CN" dirty="0" smtClean="0"/>
          </a:p>
          <a:p>
            <a:pPr lvl="2"/>
            <a:r>
              <a:rPr lang="zh-CN" altLang="en-US" dirty="0"/>
              <a:t>数组的比较运算（如</a:t>
            </a:r>
            <a:r>
              <a:rPr lang="en-US" altLang="zh-CN" dirty="0"/>
              <a:t>==</a:t>
            </a:r>
            <a:r>
              <a:rPr lang="zh-CN" altLang="en-US" dirty="0"/>
              <a:t>）也是矢量化</a:t>
            </a:r>
            <a:r>
              <a:rPr lang="zh-CN" altLang="en-US" dirty="0" smtClean="0"/>
              <a:t>的</a:t>
            </a:r>
            <a:endParaRPr lang="en-US" altLang="zh-CN" dirty="0" smtClean="0"/>
          </a:p>
          <a:p>
            <a:pPr lvl="2"/>
            <a:endParaRPr lang="en-US" altLang="zh-CN" dirty="0"/>
          </a:p>
          <a:p>
            <a:pPr lvl="2"/>
            <a:endParaRPr lang="en-US" altLang="zh-CN" dirty="0" smtClean="0"/>
          </a:p>
          <a:p>
            <a:pPr lvl="2"/>
            <a:r>
              <a:rPr lang="zh-CN" altLang="en-US" dirty="0"/>
              <a:t>布尔型数组可用于数组</a:t>
            </a:r>
            <a:r>
              <a:rPr lang="zh-CN" altLang="en-US" dirty="0" smtClean="0"/>
              <a:t>索引</a:t>
            </a:r>
            <a:endParaRPr lang="en-US" altLang="zh-CN" dirty="0" smtClean="0"/>
          </a:p>
          <a:p>
            <a:pPr lvl="2"/>
            <a:endParaRPr lang="en-US" altLang="zh-CN" dirty="0"/>
          </a:p>
          <a:p>
            <a:pPr lvl="2"/>
            <a:endParaRPr lang="en-US" altLang="zh-CN" dirty="0" smtClean="0"/>
          </a:p>
          <a:p>
            <a:pPr lvl="2"/>
            <a:r>
              <a:rPr lang="zh-CN" altLang="en-US" dirty="0"/>
              <a:t>布尔型数组的长度</a:t>
            </a:r>
            <a:r>
              <a:rPr lang="zh-CN" altLang="en-US" dirty="0" smtClean="0"/>
              <a:t>必须</a:t>
            </a:r>
            <a:r>
              <a:rPr lang="zh-CN" altLang="en-US" dirty="0"/>
              <a:t>跟被索引的轴长度</a:t>
            </a:r>
            <a:r>
              <a:rPr lang="zh-CN" altLang="en-US" dirty="0" smtClean="0"/>
              <a:t>一致</a:t>
            </a:r>
            <a:endParaRPr lang="en-US" altLang="zh-CN" dirty="0" smtClean="0"/>
          </a:p>
          <a:p>
            <a:pPr lvl="2"/>
            <a:r>
              <a:rPr lang="zh-CN" altLang="en-US" dirty="0"/>
              <a:t>布尔型数组跟切片、整数（或整数序列，稍后将对此进行详细讲解）混合使用</a:t>
            </a:r>
            <a:endParaRPr lang="zh-CN" altLang="zh-CN" dirty="0"/>
          </a:p>
        </p:txBody>
      </p:sp>
      <p:sp>
        <p:nvSpPr>
          <p:cNvPr id="4" name="文本框 3"/>
          <p:cNvSpPr txBox="1"/>
          <p:nvPr/>
        </p:nvSpPr>
        <p:spPr>
          <a:xfrm>
            <a:off x="2022172" y="2547784"/>
            <a:ext cx="7608570" cy="521970"/>
          </a:xfrm>
          <a:prstGeom prst="rect">
            <a:avLst/>
          </a:prstGeom>
          <a:noFill/>
        </p:spPr>
        <p:txBody>
          <a:bodyPr wrap="square" rtlCol="0" anchor="t">
            <a:spAutoFit/>
          </a:bodyPr>
          <a:lstStyle/>
          <a:p>
            <a:r>
              <a:rPr lang="zh-CN" altLang="en-US" sz="1400" dirty="0"/>
              <a:t>In [102]: names == 'Bob'</a:t>
            </a:r>
            <a:endParaRPr lang="zh-CN" altLang="en-US" sz="1400" dirty="0"/>
          </a:p>
          <a:p>
            <a:r>
              <a:rPr lang="zh-CN" altLang="en-US" sz="1400" dirty="0"/>
              <a:t>Out[102]: array([ True, False, False,  True, False, False, False], dtype=bool)</a:t>
            </a:r>
            <a:endParaRPr lang="zh-CN" altLang="en-US" sz="1400" dirty="0"/>
          </a:p>
        </p:txBody>
      </p:sp>
      <p:sp>
        <p:nvSpPr>
          <p:cNvPr id="6" name="Rectangle 3"/>
          <p:cNvSpPr>
            <a:spLocks noChangeArrowheads="1"/>
          </p:cNvSpPr>
          <p:nvPr/>
        </p:nvSpPr>
        <p:spPr bwMode="auto">
          <a:xfrm>
            <a:off x="2069902" y="3578637"/>
            <a:ext cx="8712968" cy="435976"/>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103</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103</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0.0929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0.2817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0.769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1.2464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1.669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0.4386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0.5397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0.477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Rectangle 4"/>
          <p:cNvSpPr>
            <a:spLocks noChangeArrowheads="1"/>
          </p:cNvSpPr>
          <p:nvPr/>
        </p:nvSpPr>
        <p:spPr bwMode="auto">
          <a:xfrm>
            <a:off x="2069902" y="5085978"/>
            <a:ext cx="3949799" cy="743753"/>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0.769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1.2464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0.5397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0.477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3</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1.2464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0.477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4.1.5 </a:t>
            </a:r>
            <a:r>
              <a:rPr lang="zh-CN" altLang="en-US" dirty="0"/>
              <a:t>布尔索引</a:t>
            </a:r>
            <a:endParaRPr lang="zh-CN" altLang="en-US" dirty="0"/>
          </a:p>
        </p:txBody>
      </p:sp>
      <p:sp>
        <p:nvSpPr>
          <p:cNvPr id="3" name="内容占位符 2"/>
          <p:cNvSpPr>
            <a:spLocks noGrp="1"/>
          </p:cNvSpPr>
          <p:nvPr>
            <p:ph idx="1"/>
          </p:nvPr>
        </p:nvSpPr>
        <p:spPr/>
        <p:txBody>
          <a:bodyPr/>
          <a:lstStyle/>
          <a:p>
            <a:r>
              <a:rPr lang="zh-CN" altLang="zh-CN" dirty="0">
                <a:sym typeface="+mn-ea"/>
              </a:rPr>
              <a:t>布尔索引：使用</a:t>
            </a:r>
            <a:r>
              <a:rPr lang="en-US" altLang="zh-CN" dirty="0">
                <a:sym typeface="+mn-ea"/>
              </a:rPr>
              <a:t>Bool</a:t>
            </a:r>
            <a:r>
              <a:rPr lang="zh-CN" altLang="en-US" dirty="0">
                <a:sym typeface="+mn-ea"/>
              </a:rPr>
              <a:t>数组进行索引</a:t>
            </a:r>
            <a:endParaRPr lang="zh-CN" altLang="zh-CN" dirty="0"/>
          </a:p>
          <a:p>
            <a:pPr lvl="1"/>
            <a:r>
              <a:rPr lang="zh-CN" altLang="zh-CN" dirty="0"/>
              <a:t>生成布尔型</a:t>
            </a:r>
            <a:r>
              <a:rPr lang="zh-CN" altLang="zh-CN" dirty="0" smtClean="0"/>
              <a:t>数组</a:t>
            </a:r>
            <a:endParaRPr lang="en-US" altLang="zh-CN" dirty="0" smtClean="0"/>
          </a:p>
          <a:p>
            <a:pPr lvl="2"/>
            <a:r>
              <a:rPr lang="zh-CN" altLang="en-US" dirty="0"/>
              <a:t>要选择除</a:t>
            </a:r>
            <a:r>
              <a:rPr lang="en-US" altLang="zh-CN" dirty="0"/>
              <a:t>"Bob"</a:t>
            </a:r>
            <a:r>
              <a:rPr lang="zh-CN" altLang="en-US" dirty="0"/>
              <a:t>以外的其他值，既可以使用不等于符号（</a:t>
            </a:r>
            <a:r>
              <a:rPr lang="en-US" altLang="zh-CN" dirty="0"/>
              <a:t>!=</a:t>
            </a:r>
            <a:r>
              <a:rPr lang="zh-CN" altLang="en-US" dirty="0" smtClean="0"/>
              <a:t>）</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a:p>
          <a:p>
            <a:pPr lvl="2"/>
            <a:r>
              <a:rPr lang="zh-CN" altLang="en-US" dirty="0"/>
              <a:t>也可以通过</a:t>
            </a:r>
            <a:r>
              <a:rPr lang="en-US" altLang="zh-CN" dirty="0"/>
              <a:t>~</a:t>
            </a:r>
            <a:r>
              <a:rPr lang="zh-CN" altLang="en-US" dirty="0"/>
              <a:t>对条件进行否定</a:t>
            </a:r>
            <a:endParaRPr lang="en-US" altLang="zh-CN" dirty="0"/>
          </a:p>
          <a:p>
            <a:pPr lvl="2"/>
            <a:endParaRPr lang="en-US" altLang="zh-CN" dirty="0"/>
          </a:p>
        </p:txBody>
      </p:sp>
      <p:sp>
        <p:nvSpPr>
          <p:cNvPr id="5" name="Rectangle 2"/>
          <p:cNvSpPr>
            <a:spLocks noChangeArrowheads="1"/>
          </p:cNvSpPr>
          <p:nvPr/>
        </p:nvSpPr>
        <p:spPr bwMode="auto">
          <a:xfrm>
            <a:off x="2069902" y="2493690"/>
            <a:ext cx="5219378" cy="1359306"/>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False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False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dtype</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99CD"/>
                </a:solidFill>
                <a:effectLst/>
                <a:latin typeface="Consolas" panose="020B0609020204030204" pitchFamily="49" charset="0"/>
                <a:ea typeface="宋体" panose="02010600030101010101" pitchFamily="2" charset="-122"/>
                <a:cs typeface="Consolas" panose="020B0609020204030204" pitchFamily="49" charset="0"/>
              </a:rPr>
              <a:t>bool</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1.0072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1.2962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0.275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0.2289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1.3529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0.8864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2.0016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0.3718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3.2489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1.0212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0.5771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0.1241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0.3026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0.5238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0.0009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1.3438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0.7135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0.8312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2.3702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1.8608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8" name="Rectangle 3"/>
          <p:cNvSpPr>
            <a:spLocks noChangeArrowheads="1"/>
          </p:cNvSpPr>
          <p:nvPr/>
        </p:nvSpPr>
        <p:spPr bwMode="auto">
          <a:xfrm>
            <a:off x="2069902" y="4437906"/>
            <a:ext cx="3808735" cy="1205418"/>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cond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cond]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1.0072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1.2962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0.275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0.2289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1.3529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0.8864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2.0016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0.3718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3.2489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1.0212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0.5771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0.1241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0.3026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0.5238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0.0009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1.3438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0.7135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0.8312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2.3702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1.8608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4.1.5 </a:t>
            </a:r>
            <a:r>
              <a:rPr lang="zh-CN" altLang="en-US" dirty="0"/>
              <a:t>布尔索引</a:t>
            </a:r>
            <a:endParaRPr lang="zh-CN" altLang="en-US" dirty="0"/>
          </a:p>
        </p:txBody>
      </p:sp>
      <p:sp>
        <p:nvSpPr>
          <p:cNvPr id="3" name="内容占位符 2"/>
          <p:cNvSpPr>
            <a:spLocks noGrp="1"/>
          </p:cNvSpPr>
          <p:nvPr>
            <p:ph idx="1"/>
          </p:nvPr>
        </p:nvSpPr>
        <p:spPr/>
        <p:txBody>
          <a:bodyPr/>
          <a:lstStyle/>
          <a:p>
            <a:r>
              <a:rPr lang="zh-CN" altLang="zh-CN" dirty="0"/>
              <a:t>布尔索引的使用</a:t>
            </a:r>
            <a:endParaRPr lang="zh-CN" altLang="zh-CN" dirty="0"/>
          </a:p>
          <a:p>
            <a:pPr lvl="1"/>
            <a:r>
              <a:rPr lang="zh-CN" altLang="zh-CN" dirty="0"/>
              <a:t>生成布尔型</a:t>
            </a:r>
            <a:r>
              <a:rPr lang="zh-CN" altLang="zh-CN" dirty="0" smtClean="0"/>
              <a:t>数组</a:t>
            </a:r>
            <a:endParaRPr lang="en-US" altLang="zh-CN" dirty="0" smtClean="0"/>
          </a:p>
          <a:p>
            <a:pPr lvl="2"/>
            <a:r>
              <a:rPr lang="zh-CN" altLang="en-US" dirty="0"/>
              <a:t>组合应用多个布尔</a:t>
            </a:r>
            <a:r>
              <a:rPr lang="zh-CN" altLang="en-US" dirty="0" smtClean="0"/>
              <a:t>条件：</a:t>
            </a:r>
            <a:r>
              <a:rPr lang="zh-CN" altLang="en-US" dirty="0"/>
              <a:t>使用</a:t>
            </a:r>
            <a:r>
              <a:rPr lang="en-US" altLang="zh-CN" dirty="0"/>
              <a:t>&amp;</a:t>
            </a:r>
            <a:r>
              <a:rPr lang="zh-CN" altLang="en-US" dirty="0"/>
              <a:t>（和）、</a:t>
            </a:r>
            <a:r>
              <a:rPr lang="en-US" altLang="zh-CN" dirty="0"/>
              <a:t>|</a:t>
            </a:r>
            <a:r>
              <a:rPr lang="zh-CN" altLang="en-US" dirty="0"/>
              <a:t>（或）之类的布尔算术运算符即</a:t>
            </a:r>
            <a:r>
              <a:rPr lang="zh-CN" altLang="en-US" dirty="0" smtClean="0"/>
              <a:t>可</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a:p>
          <a:p>
            <a:pPr lvl="2"/>
            <a:r>
              <a:rPr lang="zh-CN" altLang="en-US" dirty="0"/>
              <a:t>通过布尔型索引选取数组中的数据，将总是创建数据的副本，即使返回一模一样的</a:t>
            </a:r>
            <a:r>
              <a:rPr lang="zh-CN" altLang="en-US" dirty="0" smtClean="0"/>
              <a:t>数组</a:t>
            </a:r>
            <a:endParaRPr lang="en-US" altLang="zh-CN" dirty="0" smtClean="0"/>
          </a:p>
          <a:p>
            <a:pPr lvl="2"/>
            <a:r>
              <a:rPr lang="zh-CN" altLang="en-US" dirty="0"/>
              <a:t>注意：</a:t>
            </a:r>
            <a:r>
              <a:rPr lang="en-US" altLang="zh-CN" dirty="0"/>
              <a:t>Python</a:t>
            </a:r>
            <a:r>
              <a:rPr lang="zh-CN" altLang="en-US" dirty="0"/>
              <a:t>关键字</a:t>
            </a:r>
            <a:r>
              <a:rPr lang="en-US" altLang="zh-CN" dirty="0"/>
              <a:t>and</a:t>
            </a:r>
            <a:r>
              <a:rPr lang="zh-CN" altLang="en-US" dirty="0"/>
              <a:t>和</a:t>
            </a:r>
            <a:r>
              <a:rPr lang="en-US" altLang="zh-CN" dirty="0"/>
              <a:t>or</a:t>
            </a:r>
            <a:r>
              <a:rPr lang="zh-CN" altLang="en-US" dirty="0"/>
              <a:t>在布尔型数组中无效。要使用</a:t>
            </a:r>
            <a:r>
              <a:rPr lang="en-US" altLang="zh-CN" dirty="0"/>
              <a:t>&amp;</a:t>
            </a:r>
            <a:r>
              <a:rPr lang="zh-CN" altLang="en-US" dirty="0"/>
              <a:t>与</a:t>
            </a:r>
            <a:r>
              <a:rPr lang="en-US" altLang="zh-CN" dirty="0"/>
              <a:t>|</a:t>
            </a:r>
            <a:r>
              <a:rPr lang="zh-CN" altLang="en-US" dirty="0"/>
              <a:t>。</a:t>
            </a:r>
            <a:endParaRPr lang="en-US" altLang="zh-CN" dirty="0"/>
          </a:p>
        </p:txBody>
      </p:sp>
      <p:sp>
        <p:nvSpPr>
          <p:cNvPr id="4" name="Rectangle 2"/>
          <p:cNvSpPr>
            <a:spLocks noChangeArrowheads="1"/>
          </p:cNvSpPr>
          <p:nvPr/>
        </p:nvSpPr>
        <p:spPr bwMode="auto">
          <a:xfrm>
            <a:off x="2069902" y="2493690"/>
            <a:ext cx="5360442" cy="1359306"/>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mask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'Bob'</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'Will'</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mask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False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True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False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False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dtype</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99CD"/>
                </a:solidFill>
                <a:effectLst/>
                <a:latin typeface="Consolas" panose="020B0609020204030204" pitchFamily="49" charset="0"/>
                <a:ea typeface="宋体" panose="02010600030101010101" pitchFamily="2" charset="-122"/>
                <a:cs typeface="Consolas" panose="020B0609020204030204" pitchFamily="49" charset="0"/>
              </a:rPr>
              <a:t>bool</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data[mask]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0.0929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0.2817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0.769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1.2464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1.3529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0.8864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2.0016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0.3718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1.669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0.4386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0.5397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0.477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3.2489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1.0212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0.5771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0.1241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4.1.5 </a:t>
            </a:r>
            <a:r>
              <a:rPr lang="zh-CN" altLang="en-US" dirty="0"/>
              <a:t>布尔索引</a:t>
            </a:r>
            <a:endParaRPr lang="zh-CN" altLang="en-US" dirty="0"/>
          </a:p>
        </p:txBody>
      </p:sp>
      <p:sp>
        <p:nvSpPr>
          <p:cNvPr id="3" name="内容占位符 2"/>
          <p:cNvSpPr>
            <a:spLocks noGrp="1"/>
          </p:cNvSpPr>
          <p:nvPr>
            <p:ph idx="1"/>
          </p:nvPr>
        </p:nvSpPr>
        <p:spPr/>
        <p:txBody>
          <a:bodyPr/>
          <a:lstStyle/>
          <a:p>
            <a:r>
              <a:rPr lang="zh-CN" altLang="zh-CN" dirty="0"/>
              <a:t>布尔索引的使用</a:t>
            </a:r>
            <a:endParaRPr lang="zh-CN" altLang="zh-CN" dirty="0"/>
          </a:p>
          <a:p>
            <a:pPr lvl="1"/>
            <a:r>
              <a:rPr lang="zh-CN" altLang="zh-CN" dirty="0"/>
              <a:t>生成布尔型</a:t>
            </a:r>
            <a:r>
              <a:rPr lang="zh-CN" altLang="zh-CN" dirty="0" smtClean="0"/>
              <a:t>数组</a:t>
            </a:r>
            <a:endParaRPr lang="en-US" altLang="zh-CN" dirty="0" smtClean="0"/>
          </a:p>
          <a:p>
            <a:pPr lvl="2"/>
            <a:r>
              <a:rPr lang="zh-CN" altLang="en-US" dirty="0"/>
              <a:t>通过布尔型数组设置值是一种经常用到的手段：将</a:t>
            </a:r>
            <a:r>
              <a:rPr lang="en-US" altLang="zh-CN" dirty="0"/>
              <a:t>data</a:t>
            </a:r>
            <a:r>
              <a:rPr lang="zh-CN" altLang="en-US" dirty="0"/>
              <a:t>中的所有负值都设置为</a:t>
            </a:r>
            <a:r>
              <a:rPr lang="en-US" altLang="zh-CN" dirty="0" smtClean="0"/>
              <a:t>0</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r>
              <a:rPr lang="zh-CN" altLang="en-US" dirty="0"/>
              <a:t>通过一维布尔数组设置整行</a:t>
            </a:r>
            <a:endParaRPr lang="en-US" altLang="zh-CN" dirty="0"/>
          </a:p>
          <a:p>
            <a:pPr lvl="2"/>
            <a:endParaRPr lang="zh-CN" altLang="en-US" dirty="0"/>
          </a:p>
          <a:p>
            <a:pPr lvl="2"/>
            <a:endParaRPr lang="zh-CN" altLang="en-US" dirty="0"/>
          </a:p>
          <a:p>
            <a:pPr lvl="2"/>
            <a:endParaRPr lang="zh-CN" altLang="en-US" dirty="0"/>
          </a:p>
          <a:p>
            <a:pPr lvl="2"/>
            <a:endParaRPr lang="zh-CN" altLang="en-US" dirty="0"/>
          </a:p>
          <a:p>
            <a:pPr lvl="2"/>
            <a:r>
              <a:rPr lang="zh-CN" altLang="en-US" dirty="0"/>
              <a:t>思考：第一列和最后一列设置为</a:t>
            </a:r>
            <a:r>
              <a:rPr lang="en-US" altLang="zh-CN" dirty="0"/>
              <a:t>0 </a:t>
            </a:r>
            <a:r>
              <a:rPr lang="zh-CN" altLang="en-US" dirty="0"/>
              <a:t>；</a:t>
            </a:r>
            <a:r>
              <a:rPr lang="en-US" altLang="zh-CN" dirty="0"/>
              <a:t>          Name=‘Joe’ </a:t>
            </a:r>
            <a:r>
              <a:rPr lang="zh-CN" altLang="en-US" dirty="0"/>
              <a:t>的行，奇数列设置为</a:t>
            </a:r>
            <a:r>
              <a:rPr lang="en-US" altLang="zh-CN" dirty="0"/>
              <a:t>1</a:t>
            </a:r>
            <a:endParaRPr lang="en-US" altLang="zh-CN" dirty="0"/>
          </a:p>
        </p:txBody>
      </p:sp>
      <p:sp>
        <p:nvSpPr>
          <p:cNvPr id="5" name="Rectangle 2"/>
          <p:cNvSpPr>
            <a:spLocks noChangeArrowheads="1"/>
          </p:cNvSpPr>
          <p:nvPr/>
        </p:nvSpPr>
        <p:spPr bwMode="auto">
          <a:xfrm>
            <a:off x="2069902" y="2493943"/>
            <a:ext cx="3667671" cy="1513194"/>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113</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data[data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&lt;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0.0929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0.2817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0.769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1.2464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1.0072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0.275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0.2289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1.3529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0.8864</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1.669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0.477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3.2489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0.1241</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0.3026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0.5238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0.0009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1.3438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lvl="2"/>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Rectangle 3"/>
          <p:cNvSpPr>
            <a:spLocks noChangeArrowheads="1"/>
          </p:cNvSpPr>
          <p:nvPr/>
        </p:nvSpPr>
        <p:spPr bwMode="auto">
          <a:xfrm>
            <a:off x="2069902" y="4293503"/>
            <a:ext cx="2821285" cy="1513194"/>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data[names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7EC699"/>
                </a:solidFill>
                <a:effectLst/>
                <a:latin typeface="Consolas" panose="020B0609020204030204" pitchFamily="49" charset="0"/>
                <a:ea typeface="宋体" panose="02010600030101010101" pitchFamily="2" charset="-122"/>
                <a:cs typeface="Consolas" panose="020B0609020204030204" pitchFamily="49" charset="0"/>
              </a:rPr>
              <a:t>'Joe'</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data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116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1.0072</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0.275</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0.2289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0.3026</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0.5238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0.0009</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1.3438</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ea typeface="宋体" panose="02010600030101010101" pitchFamily="2" charset="-122"/>
                <a:cs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ea typeface="宋体" panose="02010600030101010101" pitchFamily="2" charset="-122"/>
                <a:cs typeface="Consolas" panose="020B0609020204030204" pitchFamily="49" charset="0"/>
              </a:rPr>
              <a:t>. ]])</a:t>
            </a:r>
            <a:r>
              <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4.1.6 </a:t>
            </a:r>
            <a:r>
              <a:rPr lang="zh-CN" altLang="en-US" dirty="0"/>
              <a:t>花式索引</a:t>
            </a:r>
            <a:endParaRPr lang="zh-CN" altLang="en-US" dirty="0"/>
          </a:p>
        </p:txBody>
      </p:sp>
      <p:sp>
        <p:nvSpPr>
          <p:cNvPr id="3" name="内容占位符 2"/>
          <p:cNvSpPr>
            <a:spLocks noGrp="1"/>
          </p:cNvSpPr>
          <p:nvPr>
            <p:ph idx="1"/>
          </p:nvPr>
        </p:nvSpPr>
        <p:spPr/>
        <p:txBody>
          <a:bodyPr/>
          <a:lstStyle/>
          <a:p>
            <a:r>
              <a:rPr lang="zh-CN" altLang="en-US" dirty="0">
                <a:sym typeface="+mn-ea"/>
              </a:rPr>
              <a:t>花式索引（神奇</a:t>
            </a:r>
            <a:r>
              <a:rPr lang="zh-CN" altLang="zh-CN" dirty="0"/>
              <a:t>索引</a:t>
            </a:r>
            <a:r>
              <a:rPr lang="zh-CN" altLang="zh-CN" dirty="0">
                <a:sym typeface="+mn-ea"/>
              </a:rPr>
              <a:t>Fancy indexing</a:t>
            </a:r>
            <a:r>
              <a:rPr lang="zh-CN" altLang="zh-CN" dirty="0"/>
              <a:t>）：利用整数数组进行索引</a:t>
            </a:r>
            <a:endParaRPr lang="zh-CN" altLang="zh-CN" dirty="0"/>
          </a:p>
          <a:p>
            <a:pPr lvl="1"/>
            <a:r>
              <a:rPr lang="zh-CN" altLang="zh-CN" dirty="0"/>
              <a:t>示例</a:t>
            </a:r>
            <a:endParaRPr lang="zh-CN" altLang="zh-CN" dirty="0"/>
          </a:p>
          <a:p>
            <a:pPr lvl="2"/>
            <a:r>
              <a:rPr lang="zh-CN" altLang="en-US" dirty="0"/>
              <a:t>先生成</a:t>
            </a:r>
            <a:r>
              <a:rPr lang="en-US" altLang="zh-CN" dirty="0"/>
              <a:t>8*4</a:t>
            </a:r>
            <a:r>
              <a:rPr lang="zh-CN" altLang="en-US" dirty="0"/>
              <a:t>的数组</a:t>
            </a:r>
            <a:endParaRPr lang="zh-CN" altLang="en-US" dirty="0"/>
          </a:p>
          <a:p>
            <a:pPr lvl="2"/>
            <a:r>
              <a:rPr lang="zh-CN" altLang="en-US" dirty="0"/>
              <a:t>按索引号赋值</a:t>
            </a:r>
            <a:r>
              <a:rPr lang="en-US" altLang="zh-CN" dirty="0"/>
              <a:t>0-7</a:t>
            </a:r>
            <a:endParaRPr lang="en-US" altLang="zh-CN" dirty="0"/>
          </a:p>
          <a:p>
            <a:pPr lvl="2"/>
            <a:r>
              <a:rPr lang="zh-CN" altLang="en-US" dirty="0"/>
              <a:t>按指定的行顺序取出数组，组成新数组</a:t>
            </a:r>
            <a:endParaRPr lang="zh-CN" altLang="en-US" dirty="0"/>
          </a:p>
          <a:p>
            <a:pPr lvl="1"/>
            <a:r>
              <a:rPr lang="zh-CN" altLang="zh-CN" sz="1400" dirty="0"/>
              <a:t>支持负索引（类似列表）</a:t>
            </a:r>
            <a:endParaRPr lang="zh-CN" altLang="zh-CN" sz="1400" dirty="0"/>
          </a:p>
          <a:p>
            <a:pPr lvl="2"/>
            <a:endParaRPr lang="zh-CN" altLang="en-US" dirty="0"/>
          </a:p>
        </p:txBody>
      </p:sp>
      <p:sp>
        <p:nvSpPr>
          <p:cNvPr id="4" name="文本框 3"/>
          <p:cNvSpPr txBox="1"/>
          <p:nvPr/>
        </p:nvSpPr>
        <p:spPr>
          <a:xfrm>
            <a:off x="7038340" y="1845310"/>
            <a:ext cx="3148965" cy="4184650"/>
          </a:xfrm>
          <a:prstGeom prst="rect">
            <a:avLst/>
          </a:prstGeom>
          <a:noFill/>
        </p:spPr>
        <p:txBody>
          <a:bodyPr wrap="square" rtlCol="0" anchor="t">
            <a:spAutoFit/>
          </a:bodyPr>
          <a:lstStyle/>
          <a:p>
            <a:r>
              <a:rPr lang="zh-CN" altLang="en-US" sz="1400"/>
              <a:t>In [117]: arr = np.empty((8, 4))</a:t>
            </a:r>
            <a:endParaRPr lang="zh-CN" altLang="en-US" sz="1400"/>
          </a:p>
          <a:p>
            <a:r>
              <a:rPr lang="zh-CN" altLang="en-US" sz="1400"/>
              <a:t>In [118]: for i in range(8):</a:t>
            </a:r>
            <a:endParaRPr lang="zh-CN" altLang="en-US" sz="1400"/>
          </a:p>
          <a:p>
            <a:r>
              <a:rPr lang="zh-CN" altLang="en-US" sz="1400"/>
              <a:t>   .....:     arr[i] = i</a:t>
            </a:r>
            <a:endParaRPr lang="zh-CN" altLang="en-US" sz="1400"/>
          </a:p>
          <a:p>
            <a:r>
              <a:rPr lang="zh-CN" altLang="en-US" sz="1400"/>
              <a:t>In [119]: arr</a:t>
            </a:r>
            <a:endParaRPr lang="zh-CN" altLang="en-US" sz="1400"/>
          </a:p>
          <a:p>
            <a:r>
              <a:rPr lang="zh-CN" altLang="en-US" sz="1400"/>
              <a:t>Out[119]: </a:t>
            </a:r>
            <a:endParaRPr lang="zh-CN" altLang="en-US" sz="1400"/>
          </a:p>
          <a:p>
            <a:r>
              <a:rPr lang="zh-CN" altLang="en-US" sz="1400"/>
              <a:t>array([[ 0.,  0.,  0.,  0.],</a:t>
            </a:r>
            <a:endParaRPr lang="zh-CN" altLang="en-US" sz="1400"/>
          </a:p>
          <a:p>
            <a:r>
              <a:rPr lang="zh-CN" altLang="en-US" sz="1400"/>
              <a:t>       [ 1.,  1.,  1.,  1.],</a:t>
            </a:r>
            <a:endParaRPr lang="zh-CN" altLang="en-US" sz="1400"/>
          </a:p>
          <a:p>
            <a:r>
              <a:rPr lang="zh-CN" altLang="en-US" sz="1400"/>
              <a:t>       [ 2.,  2.,  2.,  2.],</a:t>
            </a:r>
            <a:endParaRPr lang="zh-CN" altLang="en-US" sz="1400"/>
          </a:p>
          <a:p>
            <a:r>
              <a:rPr lang="zh-CN" altLang="en-US" sz="1400"/>
              <a:t>       [ 3.,  3.,  3.,  3.],</a:t>
            </a:r>
            <a:endParaRPr lang="zh-CN" altLang="en-US" sz="1400"/>
          </a:p>
          <a:p>
            <a:r>
              <a:rPr lang="zh-CN" altLang="en-US" sz="1400"/>
              <a:t>       [ 4.,  4.,  4.,  4.],</a:t>
            </a:r>
            <a:endParaRPr lang="zh-CN" altLang="en-US" sz="1400"/>
          </a:p>
          <a:p>
            <a:r>
              <a:rPr lang="zh-CN" altLang="en-US" sz="1400"/>
              <a:t>       [ 5.,  5.,  5.,  5.],</a:t>
            </a:r>
            <a:endParaRPr lang="zh-CN" altLang="en-US" sz="1400"/>
          </a:p>
          <a:p>
            <a:r>
              <a:rPr lang="zh-CN" altLang="en-US" sz="1400"/>
              <a:t>       [ 6.,  6.,  6.,  6.],</a:t>
            </a:r>
            <a:endParaRPr lang="zh-CN" altLang="en-US" sz="1400"/>
          </a:p>
          <a:p>
            <a:r>
              <a:rPr lang="zh-CN" altLang="en-US" sz="1400"/>
              <a:t>       [ 7.,  7.,  7.,  7.]])</a:t>
            </a:r>
            <a:endParaRPr lang="zh-CN" altLang="en-US" sz="1400"/>
          </a:p>
          <a:p>
            <a:r>
              <a:rPr lang="zh-CN" altLang="en-US" sz="1400"/>
              <a:t>In [120]: arr[[4, 3, 0, 6]]</a:t>
            </a:r>
            <a:endParaRPr lang="zh-CN" altLang="en-US" sz="1400"/>
          </a:p>
          <a:p>
            <a:r>
              <a:rPr lang="zh-CN" altLang="en-US" sz="1400"/>
              <a:t>Out[120]: </a:t>
            </a:r>
            <a:endParaRPr lang="zh-CN" altLang="en-US" sz="1400"/>
          </a:p>
          <a:p>
            <a:r>
              <a:rPr lang="zh-CN" altLang="en-US" sz="1400"/>
              <a:t>array([[ 4.,  4.,  4.,  4.],</a:t>
            </a:r>
            <a:endParaRPr lang="zh-CN" altLang="en-US" sz="1400"/>
          </a:p>
          <a:p>
            <a:r>
              <a:rPr lang="zh-CN" altLang="en-US" sz="1400"/>
              <a:t>       [ 3.,  3.,  3.,  3.],</a:t>
            </a:r>
            <a:endParaRPr lang="zh-CN" altLang="en-US" sz="1400"/>
          </a:p>
          <a:p>
            <a:r>
              <a:rPr lang="zh-CN" altLang="en-US" sz="1400"/>
              <a:t>       [ 0.,  0.,  0.,  0.],</a:t>
            </a:r>
            <a:endParaRPr lang="zh-CN" altLang="en-US" sz="1400"/>
          </a:p>
          <a:p>
            <a:r>
              <a:rPr lang="zh-CN" altLang="en-US" sz="1400"/>
              <a:t>       [ 6.,  6.,  6.,  6.]])</a:t>
            </a:r>
            <a:endParaRPr lang="zh-CN" altLang="en-US" sz="1400"/>
          </a:p>
        </p:txBody>
      </p:sp>
      <p:sp>
        <p:nvSpPr>
          <p:cNvPr id="7" name="文本框 6"/>
          <p:cNvSpPr txBox="1"/>
          <p:nvPr/>
        </p:nvSpPr>
        <p:spPr>
          <a:xfrm>
            <a:off x="1998345" y="3933190"/>
            <a:ext cx="2540000" cy="1168400"/>
          </a:xfrm>
          <a:prstGeom prst="rect">
            <a:avLst/>
          </a:prstGeom>
          <a:noFill/>
        </p:spPr>
        <p:txBody>
          <a:bodyPr wrap="square" rtlCol="0" anchor="t">
            <a:spAutoFit/>
          </a:bodyPr>
          <a:lstStyle/>
          <a:p>
            <a:r>
              <a:rPr lang="zh-CN" altLang="en-US" sz="1400"/>
              <a:t>In [121]: arr[[-3, -5, -7]]</a:t>
            </a:r>
            <a:endParaRPr lang="zh-CN" altLang="en-US" sz="1400"/>
          </a:p>
          <a:p>
            <a:r>
              <a:rPr lang="zh-CN" altLang="en-US" sz="1400"/>
              <a:t>Out[121]: </a:t>
            </a:r>
            <a:endParaRPr lang="zh-CN" altLang="en-US" sz="1400"/>
          </a:p>
          <a:p>
            <a:r>
              <a:rPr lang="zh-CN" altLang="en-US" sz="1400"/>
              <a:t>array([[ 5.,  5.,  5.,  5.],</a:t>
            </a:r>
            <a:endParaRPr lang="zh-CN" altLang="en-US" sz="1400"/>
          </a:p>
          <a:p>
            <a:r>
              <a:rPr lang="zh-CN" altLang="en-US" sz="1400"/>
              <a:t>       [ 3.,  3.,  3.,  3.],</a:t>
            </a:r>
            <a:endParaRPr lang="zh-CN" altLang="en-US" sz="1400"/>
          </a:p>
          <a:p>
            <a:r>
              <a:rPr lang="zh-CN" altLang="en-US" sz="1400"/>
              <a:t>       [ 1.,  1.,  1.,  1.]])</a:t>
            </a:r>
            <a:endParaRPr lang="zh-CN" alt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4.1.6 </a:t>
            </a:r>
            <a:r>
              <a:rPr lang="zh-CN" altLang="en-US" dirty="0"/>
              <a:t>花式索引</a:t>
            </a:r>
            <a:endParaRPr lang="zh-CN" altLang="en-US" dirty="0"/>
          </a:p>
        </p:txBody>
      </p:sp>
      <p:sp>
        <p:nvSpPr>
          <p:cNvPr id="3" name="内容占位符 2"/>
          <p:cNvSpPr>
            <a:spLocks noGrp="1"/>
          </p:cNvSpPr>
          <p:nvPr>
            <p:ph idx="1"/>
          </p:nvPr>
        </p:nvSpPr>
        <p:spPr/>
        <p:txBody>
          <a:bodyPr/>
          <a:lstStyle/>
          <a:p>
            <a:r>
              <a:rPr lang="zh-CN" altLang="en-US" dirty="0">
                <a:sym typeface="+mn-ea"/>
              </a:rPr>
              <a:t>花式索引（神奇</a:t>
            </a:r>
            <a:r>
              <a:rPr lang="zh-CN" altLang="zh-CN" dirty="0"/>
              <a:t>索引</a:t>
            </a:r>
            <a:r>
              <a:rPr lang="zh-CN" altLang="zh-CN" dirty="0">
                <a:sym typeface="+mn-ea"/>
              </a:rPr>
              <a:t>Fancy indexing</a:t>
            </a:r>
            <a:r>
              <a:rPr lang="zh-CN" altLang="zh-CN" dirty="0"/>
              <a:t>）：利用整数数组进行索引</a:t>
            </a:r>
            <a:endParaRPr lang="zh-CN" altLang="zh-CN" dirty="0"/>
          </a:p>
          <a:p>
            <a:pPr lvl="1"/>
            <a:r>
              <a:rPr lang="zh-CN" altLang="zh-CN" dirty="0"/>
              <a:t>获取指定行，指定列的数据</a:t>
            </a:r>
            <a:endParaRPr lang="zh-CN" altLang="zh-CN" dirty="0"/>
          </a:p>
          <a:p>
            <a:pPr lvl="2"/>
            <a:r>
              <a:rPr lang="zh-CN" altLang="en-US" dirty="0"/>
              <a:t>先生成</a:t>
            </a:r>
            <a:r>
              <a:rPr lang="en-US" altLang="zh-CN" dirty="0"/>
              <a:t>32</a:t>
            </a:r>
            <a:r>
              <a:rPr lang="zh-CN" altLang="en-US" dirty="0"/>
              <a:t>个数组成的一维数组</a:t>
            </a:r>
            <a:endParaRPr lang="zh-CN" altLang="en-US" dirty="0"/>
          </a:p>
          <a:p>
            <a:pPr lvl="2"/>
            <a:r>
              <a:rPr lang="zh-CN" altLang="en-US" dirty="0"/>
              <a:t>使用重塑</a:t>
            </a:r>
            <a:r>
              <a:rPr lang="en-US" altLang="zh-CN" dirty="0"/>
              <a:t>reshape</a:t>
            </a:r>
            <a:r>
              <a:rPr lang="zh-CN" altLang="en-US" dirty="0"/>
              <a:t>变形为</a:t>
            </a:r>
            <a:r>
              <a:rPr lang="en-US" altLang="zh-CN" dirty="0"/>
              <a:t>8*4</a:t>
            </a:r>
            <a:r>
              <a:rPr lang="zh-CN" altLang="en-US" dirty="0"/>
              <a:t>的二维数组</a:t>
            </a:r>
            <a:endParaRPr lang="zh-CN" altLang="en-US" dirty="0"/>
          </a:p>
          <a:p>
            <a:pPr lvl="2"/>
            <a:r>
              <a:rPr lang="zh-CN" altLang="en-US" dirty="0"/>
              <a:t>分别指定行索引和列索引</a:t>
            </a:r>
            <a:endParaRPr lang="zh-CN" altLang="en-US" dirty="0"/>
          </a:p>
          <a:p>
            <a:pPr lvl="3"/>
            <a:r>
              <a:rPr lang="zh-CN" altLang="en-US" sz="1300" dirty="0"/>
              <a:t>结果是一维数组</a:t>
            </a:r>
            <a:endParaRPr lang="zh-CN" altLang="en-US" dirty="0"/>
          </a:p>
          <a:p>
            <a:pPr lvl="1"/>
            <a:r>
              <a:rPr lang="zh-CN" dirty="0"/>
              <a:t>获取指定行和列索引的二维数组</a:t>
            </a:r>
            <a:endParaRPr lang="zh-CN" dirty="0"/>
          </a:p>
          <a:p>
            <a:pPr lvl="1"/>
            <a:endParaRPr lang="zh-CN" altLang="zh-CN" sz="1400" dirty="0"/>
          </a:p>
          <a:p>
            <a:pPr lvl="1"/>
            <a:endParaRPr lang="zh-CN" altLang="zh-CN" sz="1400" dirty="0"/>
          </a:p>
          <a:p>
            <a:pPr lvl="1"/>
            <a:endParaRPr lang="zh-CN" altLang="zh-CN" sz="1400" dirty="0"/>
          </a:p>
          <a:p>
            <a:pPr lvl="1"/>
            <a:endParaRPr lang="zh-CN" altLang="zh-CN" sz="1400" dirty="0"/>
          </a:p>
          <a:p>
            <a:pPr lvl="1"/>
            <a:r>
              <a:rPr lang="zh-CN" dirty="0"/>
              <a:t>花式索引总是会生成新的数组</a:t>
            </a:r>
            <a:endParaRPr lang="zh-CN" altLang="zh-CN" sz="1400" dirty="0"/>
          </a:p>
          <a:p>
            <a:pPr lvl="2"/>
            <a:endParaRPr lang="zh-CN" altLang="en-US" dirty="0"/>
          </a:p>
        </p:txBody>
      </p:sp>
      <p:sp>
        <p:nvSpPr>
          <p:cNvPr id="7" name="文本框 6"/>
          <p:cNvSpPr txBox="1"/>
          <p:nvPr/>
        </p:nvSpPr>
        <p:spPr>
          <a:xfrm>
            <a:off x="1945640" y="4149725"/>
            <a:ext cx="4084955" cy="1383665"/>
          </a:xfrm>
          <a:prstGeom prst="rect">
            <a:avLst/>
          </a:prstGeom>
          <a:noFill/>
        </p:spPr>
        <p:txBody>
          <a:bodyPr wrap="square" rtlCol="0" anchor="t">
            <a:spAutoFit/>
          </a:bodyPr>
          <a:lstStyle/>
          <a:p>
            <a:r>
              <a:rPr lang="zh-CN" altLang="en-US" sz="1400"/>
              <a:t>In [125]: arr[[1, 5, 7, 2]][:, [0, 3, 1, 2]]</a:t>
            </a:r>
            <a:endParaRPr lang="zh-CN" altLang="en-US" sz="1400"/>
          </a:p>
          <a:p>
            <a:r>
              <a:rPr lang="zh-CN" altLang="en-US" sz="1400"/>
              <a:t>Out[125]: </a:t>
            </a:r>
            <a:endParaRPr lang="zh-CN" altLang="en-US" sz="1400"/>
          </a:p>
          <a:p>
            <a:r>
              <a:rPr lang="zh-CN" altLang="en-US" sz="1400"/>
              <a:t>array([[ 4,  7,  5,  6],</a:t>
            </a:r>
            <a:endParaRPr lang="zh-CN" altLang="en-US" sz="1400"/>
          </a:p>
          <a:p>
            <a:r>
              <a:rPr lang="zh-CN" altLang="en-US" sz="1400"/>
              <a:t>       [20, 23, 21, 22],</a:t>
            </a:r>
            <a:endParaRPr lang="zh-CN" altLang="en-US" sz="1400"/>
          </a:p>
          <a:p>
            <a:r>
              <a:rPr lang="zh-CN" altLang="en-US" sz="1400"/>
              <a:t>       [28, 31, 29, 30],</a:t>
            </a:r>
            <a:endParaRPr lang="zh-CN" altLang="en-US" sz="1400"/>
          </a:p>
          <a:p>
            <a:r>
              <a:rPr lang="zh-CN" altLang="en-US" sz="1400"/>
              <a:t>       [ 8, 11,  9, 10]])</a:t>
            </a:r>
            <a:endParaRPr lang="zh-CN" altLang="en-US" sz="1400"/>
          </a:p>
        </p:txBody>
      </p:sp>
      <p:sp>
        <p:nvSpPr>
          <p:cNvPr id="5" name="文本框 4"/>
          <p:cNvSpPr txBox="1"/>
          <p:nvPr/>
        </p:nvSpPr>
        <p:spPr>
          <a:xfrm>
            <a:off x="6030595" y="1989455"/>
            <a:ext cx="4442460" cy="3322955"/>
          </a:xfrm>
          <a:prstGeom prst="rect">
            <a:avLst/>
          </a:prstGeom>
          <a:noFill/>
        </p:spPr>
        <p:txBody>
          <a:bodyPr wrap="square" rtlCol="0" anchor="t">
            <a:spAutoFit/>
          </a:bodyPr>
          <a:lstStyle/>
          <a:p>
            <a:r>
              <a:rPr lang="zh-CN" altLang="en-US" sz="1400"/>
              <a:t>In [122]: arr = np.arange(32).reshape((8, 4))</a:t>
            </a:r>
            <a:endParaRPr lang="zh-CN" altLang="en-US" sz="1400"/>
          </a:p>
          <a:p>
            <a:endParaRPr lang="zh-CN" altLang="en-US" sz="1400"/>
          </a:p>
          <a:p>
            <a:r>
              <a:rPr lang="zh-CN" altLang="en-US" sz="1400"/>
              <a:t>In [123]: arr</a:t>
            </a:r>
            <a:endParaRPr lang="zh-CN" altLang="en-US" sz="1400"/>
          </a:p>
          <a:p>
            <a:r>
              <a:rPr lang="zh-CN" altLang="en-US" sz="1400"/>
              <a:t>Out[123]: </a:t>
            </a:r>
            <a:endParaRPr lang="zh-CN" altLang="en-US" sz="1400"/>
          </a:p>
          <a:p>
            <a:r>
              <a:rPr lang="zh-CN" altLang="en-US" sz="1400"/>
              <a:t>array([[ 0,  1,  2,  3],</a:t>
            </a:r>
            <a:endParaRPr lang="zh-CN" altLang="en-US" sz="1400"/>
          </a:p>
          <a:p>
            <a:r>
              <a:rPr lang="zh-CN" altLang="en-US" sz="1400"/>
              <a:t>       [ 4,  5,  6,  7],</a:t>
            </a:r>
            <a:endParaRPr lang="zh-CN" altLang="en-US" sz="1400"/>
          </a:p>
          <a:p>
            <a:r>
              <a:rPr lang="zh-CN" altLang="en-US" sz="1400"/>
              <a:t>       [ 8,  9, 10, 11],</a:t>
            </a:r>
            <a:endParaRPr lang="zh-CN" altLang="en-US" sz="1400"/>
          </a:p>
          <a:p>
            <a:r>
              <a:rPr lang="zh-CN" altLang="en-US" sz="1400"/>
              <a:t>       [12, 13, 14, 15],</a:t>
            </a:r>
            <a:endParaRPr lang="zh-CN" altLang="en-US" sz="1400"/>
          </a:p>
          <a:p>
            <a:r>
              <a:rPr lang="zh-CN" altLang="en-US" sz="1400"/>
              <a:t>       [16, 17, 18, 19],</a:t>
            </a:r>
            <a:endParaRPr lang="zh-CN" altLang="en-US" sz="1400"/>
          </a:p>
          <a:p>
            <a:r>
              <a:rPr lang="zh-CN" altLang="en-US" sz="1400"/>
              <a:t>       [20, 21, 22, 23],</a:t>
            </a:r>
            <a:endParaRPr lang="zh-CN" altLang="en-US" sz="1400"/>
          </a:p>
          <a:p>
            <a:r>
              <a:rPr lang="zh-CN" altLang="en-US" sz="1400"/>
              <a:t>       [24, 25, 26, 27],</a:t>
            </a:r>
            <a:endParaRPr lang="zh-CN" altLang="en-US" sz="1400"/>
          </a:p>
          <a:p>
            <a:r>
              <a:rPr lang="zh-CN" altLang="en-US" sz="1400"/>
              <a:t>       [28, 29, 30, 31]])</a:t>
            </a:r>
            <a:endParaRPr lang="zh-CN" altLang="en-US" sz="1400"/>
          </a:p>
          <a:p>
            <a:endParaRPr lang="zh-CN" altLang="en-US" sz="1400"/>
          </a:p>
          <a:p>
            <a:r>
              <a:rPr lang="zh-CN" altLang="en-US" sz="1400"/>
              <a:t>In [124]: arr[[1, 5, 7, 2], [0, 3, 1, 2]]</a:t>
            </a:r>
            <a:endParaRPr lang="zh-CN" altLang="en-US" sz="1400"/>
          </a:p>
          <a:p>
            <a:r>
              <a:rPr lang="zh-CN" altLang="en-US" sz="1400"/>
              <a:t>Out[124]: array([ 4, 23, 29, 10])</a:t>
            </a:r>
            <a:endParaRPr lang="zh-CN" altLang="en-US"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4.1.7 </a:t>
            </a:r>
            <a:r>
              <a:rPr lang="zh-CN" altLang="en-US" dirty="0"/>
              <a:t>数组转置和换轴</a:t>
            </a:r>
            <a:endParaRPr lang="zh-CN" altLang="en-US" dirty="0"/>
          </a:p>
        </p:txBody>
      </p:sp>
      <p:sp>
        <p:nvSpPr>
          <p:cNvPr id="3" name="内容占位符 2"/>
          <p:cNvSpPr>
            <a:spLocks noGrp="1"/>
          </p:cNvSpPr>
          <p:nvPr>
            <p:ph idx="1"/>
          </p:nvPr>
        </p:nvSpPr>
        <p:spPr/>
        <p:txBody>
          <a:bodyPr/>
          <a:lstStyle/>
          <a:p>
            <a:r>
              <a:rPr lang="zh-CN" altLang="en-US" sz="1900" dirty="0">
                <a:sym typeface="+mn-ea"/>
              </a:rPr>
              <a:t>转置是重塑的一种特殊形式，它返回的是源数据的视图</a:t>
            </a:r>
            <a:endParaRPr lang="zh-CN" altLang="zh-CN" sz="1900" dirty="0">
              <a:sym typeface="+mn-ea"/>
            </a:endParaRPr>
          </a:p>
          <a:p>
            <a:pPr lvl="1"/>
            <a:r>
              <a:rPr lang="zh-CN" altLang="en-US" sz="1900" dirty="0">
                <a:sym typeface="+mn-ea"/>
              </a:rPr>
              <a:t>数组的transpose方法</a:t>
            </a:r>
            <a:endParaRPr lang="zh-CN" altLang="en-US" sz="1900" dirty="0"/>
          </a:p>
          <a:p>
            <a:pPr lvl="1"/>
            <a:r>
              <a:rPr lang="zh-CN" altLang="en-US" sz="1900" dirty="0">
                <a:sym typeface="+mn-ea"/>
              </a:rPr>
              <a:t>特殊的T属性</a:t>
            </a:r>
            <a:endParaRPr lang="zh-CN" altLang="en-US" sz="1900" dirty="0"/>
          </a:p>
          <a:p>
            <a:pPr lvl="1"/>
            <a:r>
              <a:rPr lang="zh-CN" altLang="en-US" sz="1900" dirty="0">
                <a:sym typeface="+mn-ea"/>
              </a:rPr>
              <a:t>不会进行任何复制操作</a:t>
            </a:r>
            <a:endParaRPr lang="zh-CN" altLang="en-US" dirty="0">
              <a:sym typeface="+mn-ea"/>
            </a:endParaRPr>
          </a:p>
          <a:p>
            <a:r>
              <a:rPr lang="en-US" altLang="zh-CN" dirty="0">
                <a:sym typeface="+mn-ea"/>
              </a:rPr>
              <a:t>reshape</a:t>
            </a:r>
            <a:endParaRPr lang="en-US" altLang="zh-CN" dirty="0">
              <a:sym typeface="+mn-ea"/>
            </a:endParaRPr>
          </a:p>
          <a:p>
            <a:pPr lvl="1"/>
            <a:r>
              <a:rPr lang="zh-CN" altLang="en-US" dirty="0">
                <a:sym typeface="+mn-ea"/>
              </a:rPr>
              <a:t>按列重塑</a:t>
            </a:r>
            <a:endParaRPr lang="zh-CN" altLang="en-US" dirty="0">
              <a:sym typeface="+mn-ea"/>
            </a:endParaRPr>
          </a:p>
          <a:p>
            <a:pPr lvl="1"/>
            <a:endParaRPr lang="zh-CN" altLang="en-US" dirty="0"/>
          </a:p>
        </p:txBody>
      </p:sp>
      <p:sp>
        <p:nvSpPr>
          <p:cNvPr id="4" name="文本框 3"/>
          <p:cNvSpPr txBox="1"/>
          <p:nvPr/>
        </p:nvSpPr>
        <p:spPr>
          <a:xfrm>
            <a:off x="5886450" y="1989455"/>
            <a:ext cx="4691380" cy="3322955"/>
          </a:xfrm>
          <a:prstGeom prst="rect">
            <a:avLst/>
          </a:prstGeom>
          <a:noFill/>
        </p:spPr>
        <p:txBody>
          <a:bodyPr wrap="square" rtlCol="0" anchor="t">
            <a:spAutoFit/>
          </a:bodyPr>
          <a:lstStyle/>
          <a:p>
            <a:r>
              <a:rPr lang="zh-CN" altLang="en-US" sz="1400"/>
              <a:t>In [126]: arr = np.arange(15).reshape((3, 5))</a:t>
            </a:r>
            <a:endParaRPr lang="zh-CN" altLang="en-US" sz="1400"/>
          </a:p>
          <a:p>
            <a:endParaRPr lang="zh-CN" altLang="en-US" sz="1400"/>
          </a:p>
          <a:p>
            <a:r>
              <a:rPr lang="zh-CN" altLang="en-US" sz="1400"/>
              <a:t>In [127]: arr</a:t>
            </a:r>
            <a:endParaRPr lang="zh-CN" altLang="en-US" sz="1400"/>
          </a:p>
          <a:p>
            <a:r>
              <a:rPr lang="zh-CN" altLang="en-US" sz="1400"/>
              <a:t>Out[127]: </a:t>
            </a:r>
            <a:endParaRPr lang="zh-CN" altLang="en-US" sz="1400"/>
          </a:p>
          <a:p>
            <a:r>
              <a:rPr lang="zh-CN" altLang="en-US" sz="1400"/>
              <a:t>array([[ 0,  1,  2,  3,  4],</a:t>
            </a:r>
            <a:endParaRPr lang="zh-CN" altLang="en-US" sz="1400"/>
          </a:p>
          <a:p>
            <a:r>
              <a:rPr lang="zh-CN" altLang="en-US" sz="1400"/>
              <a:t>       [ 5,  6,  7,  8,  9],</a:t>
            </a:r>
            <a:endParaRPr lang="zh-CN" altLang="en-US" sz="1400"/>
          </a:p>
          <a:p>
            <a:r>
              <a:rPr lang="zh-CN" altLang="en-US" sz="1400"/>
              <a:t>       [10, 11, 12, 13, 14]])</a:t>
            </a:r>
            <a:endParaRPr lang="zh-CN" altLang="en-US" sz="1400"/>
          </a:p>
          <a:p>
            <a:endParaRPr lang="zh-CN" altLang="en-US" sz="1400"/>
          </a:p>
          <a:p>
            <a:r>
              <a:rPr lang="zh-CN" altLang="en-US" sz="1400"/>
              <a:t>In [128]: arr.T</a:t>
            </a:r>
            <a:endParaRPr lang="zh-CN" altLang="en-US" sz="1400"/>
          </a:p>
          <a:p>
            <a:r>
              <a:rPr lang="zh-CN" altLang="en-US" sz="1400"/>
              <a:t>Out[128]: </a:t>
            </a:r>
            <a:endParaRPr lang="zh-CN" altLang="en-US" sz="1400"/>
          </a:p>
          <a:p>
            <a:r>
              <a:rPr lang="zh-CN" altLang="en-US" sz="1400"/>
              <a:t>array([[ 0,  5, 10],</a:t>
            </a:r>
            <a:endParaRPr lang="zh-CN" altLang="en-US" sz="1400"/>
          </a:p>
          <a:p>
            <a:r>
              <a:rPr lang="zh-CN" altLang="en-US" sz="1400"/>
              <a:t>       [ 1,  6, 11],</a:t>
            </a:r>
            <a:endParaRPr lang="zh-CN" altLang="en-US" sz="1400"/>
          </a:p>
          <a:p>
            <a:r>
              <a:rPr lang="zh-CN" altLang="en-US" sz="1400"/>
              <a:t>       [ 2,  7, 12],</a:t>
            </a:r>
            <a:endParaRPr lang="zh-CN" altLang="en-US" sz="1400"/>
          </a:p>
          <a:p>
            <a:r>
              <a:rPr lang="zh-CN" altLang="en-US" sz="1400"/>
              <a:t>       [ 3,  8, 13],</a:t>
            </a:r>
            <a:endParaRPr lang="zh-CN" altLang="en-US" sz="1400"/>
          </a:p>
          <a:p>
            <a:r>
              <a:rPr lang="zh-CN" altLang="en-US" sz="1400"/>
              <a:t>       [ 4,  9, 14]])</a:t>
            </a:r>
            <a:endParaRPr lang="zh-CN" altLang="en-US"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4.1.7 </a:t>
            </a:r>
            <a:r>
              <a:rPr lang="zh-CN" altLang="en-US" dirty="0"/>
              <a:t>数组转置和换轴</a:t>
            </a:r>
            <a:endParaRPr lang="zh-CN" altLang="en-US" dirty="0"/>
          </a:p>
        </p:txBody>
      </p:sp>
      <p:sp>
        <p:nvSpPr>
          <p:cNvPr id="3" name="内容占位符 2"/>
          <p:cNvSpPr>
            <a:spLocks noGrp="1"/>
          </p:cNvSpPr>
          <p:nvPr>
            <p:ph idx="1"/>
          </p:nvPr>
        </p:nvSpPr>
        <p:spPr/>
        <p:txBody>
          <a:bodyPr/>
          <a:lstStyle/>
          <a:p>
            <a:r>
              <a:rPr lang="zh-CN" altLang="zh-CN" sz="1900" dirty="0">
                <a:sym typeface="+mn-ea"/>
              </a:rPr>
              <a:t>矩阵乘法（矩阵内积）</a:t>
            </a:r>
            <a:endParaRPr lang="zh-CN" altLang="zh-CN" sz="1900" dirty="0">
              <a:sym typeface="+mn-ea"/>
            </a:endParaRPr>
          </a:p>
          <a:p>
            <a:pPr lvl="1"/>
            <a:endParaRPr lang="zh-CN" altLang="en-US" dirty="0"/>
          </a:p>
        </p:txBody>
      </p:sp>
      <p:sp>
        <p:nvSpPr>
          <p:cNvPr id="5" name="文本框 4"/>
          <p:cNvSpPr txBox="1"/>
          <p:nvPr/>
        </p:nvSpPr>
        <p:spPr>
          <a:xfrm>
            <a:off x="3006090" y="1917065"/>
            <a:ext cx="5915025" cy="3538220"/>
          </a:xfrm>
          <a:prstGeom prst="rect">
            <a:avLst/>
          </a:prstGeom>
          <a:noFill/>
        </p:spPr>
        <p:txBody>
          <a:bodyPr wrap="square" rtlCol="0" anchor="t">
            <a:spAutoFit/>
          </a:bodyPr>
          <a:lstStyle/>
          <a:p>
            <a:r>
              <a:rPr lang="zh-CN" altLang="en-US" sz="1400"/>
              <a:t>In [129]: arr = np.random.randn(6, 3)</a:t>
            </a:r>
            <a:endParaRPr lang="zh-CN" altLang="en-US" sz="1400"/>
          </a:p>
          <a:p>
            <a:endParaRPr lang="zh-CN" altLang="en-US" sz="1400"/>
          </a:p>
          <a:p>
            <a:r>
              <a:rPr lang="zh-CN" altLang="en-US" sz="1400"/>
              <a:t>In [130]: arr</a:t>
            </a:r>
            <a:endParaRPr lang="zh-CN" altLang="en-US" sz="1400"/>
          </a:p>
          <a:p>
            <a:r>
              <a:rPr lang="zh-CN" altLang="en-US" sz="1400"/>
              <a:t>Out[130]: </a:t>
            </a:r>
            <a:endParaRPr lang="zh-CN" altLang="en-US" sz="1400"/>
          </a:p>
          <a:p>
            <a:r>
              <a:rPr lang="zh-CN" altLang="en-US" sz="1400"/>
              <a:t>array([[-0.8608,  0.5601, -1.2659],</a:t>
            </a:r>
            <a:endParaRPr lang="zh-CN" altLang="en-US" sz="1400"/>
          </a:p>
          <a:p>
            <a:r>
              <a:rPr lang="zh-CN" altLang="en-US" sz="1400"/>
              <a:t>       [ 0.1198, -1.0635,  0.3329],</a:t>
            </a:r>
            <a:endParaRPr lang="zh-CN" altLang="en-US" sz="1400"/>
          </a:p>
          <a:p>
            <a:r>
              <a:rPr lang="zh-CN" altLang="en-US" sz="1400"/>
              <a:t>       [-2.3594, -0.1995, -1.542 ],</a:t>
            </a:r>
            <a:endParaRPr lang="zh-CN" altLang="en-US" sz="1400"/>
          </a:p>
          <a:p>
            <a:r>
              <a:rPr lang="zh-CN" altLang="en-US" sz="1400"/>
              <a:t>       [-0.9707, -1.307 ,  0.2863],</a:t>
            </a:r>
            <a:endParaRPr lang="zh-CN" altLang="en-US" sz="1400"/>
          </a:p>
          <a:p>
            <a:r>
              <a:rPr lang="zh-CN" altLang="en-US" sz="1400"/>
              <a:t>       [ 0.378 , -0.7539,  0.3313],</a:t>
            </a:r>
            <a:endParaRPr lang="zh-CN" altLang="en-US" sz="1400"/>
          </a:p>
          <a:p>
            <a:r>
              <a:rPr lang="zh-CN" altLang="en-US" sz="1400"/>
              <a:t>       [ 1.3497,  0.0699,  0.2467]])</a:t>
            </a:r>
            <a:endParaRPr lang="zh-CN" altLang="en-US" sz="1400"/>
          </a:p>
          <a:p>
            <a:endParaRPr lang="zh-CN" altLang="en-US" sz="1400"/>
          </a:p>
          <a:p>
            <a:r>
              <a:rPr lang="zh-CN" altLang="en-US" sz="1400"/>
              <a:t>In [131]: np.dot(arr.T, arr)</a:t>
            </a:r>
            <a:endParaRPr lang="zh-CN" altLang="en-US" sz="1400"/>
          </a:p>
          <a:p>
            <a:r>
              <a:rPr lang="zh-CN" altLang="en-US" sz="1400"/>
              <a:t>Out[131]:</a:t>
            </a:r>
            <a:endParaRPr lang="zh-CN" altLang="en-US" sz="1400"/>
          </a:p>
          <a:p>
            <a:r>
              <a:rPr lang="zh-CN" altLang="en-US" sz="1400"/>
              <a:t>array([[ 9.2291,  0.9394,  4.948 ],</a:t>
            </a:r>
            <a:endParaRPr lang="zh-CN" altLang="en-US" sz="1400"/>
          </a:p>
          <a:p>
            <a:r>
              <a:rPr lang="zh-CN" altLang="en-US" sz="1400"/>
              <a:t>       [ 0.9394,  3.7662, -1.3622],</a:t>
            </a:r>
            <a:endParaRPr lang="zh-CN" altLang="en-US" sz="1400"/>
          </a:p>
          <a:p>
            <a:r>
              <a:rPr lang="zh-CN" altLang="en-US" sz="1400"/>
              <a:t>       [ 4.948 , -1.3622,  4.3437]])</a:t>
            </a:r>
            <a:endParaRPr lang="zh-CN"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4.1.7 </a:t>
            </a:r>
            <a:r>
              <a:rPr lang="zh-CN" altLang="en-US" dirty="0"/>
              <a:t>数组转置和换轴</a:t>
            </a:r>
            <a:endParaRPr lang="zh-CN" altLang="en-US" dirty="0"/>
          </a:p>
        </p:txBody>
      </p:sp>
      <p:sp>
        <p:nvSpPr>
          <p:cNvPr id="3" name="内容占位符 2"/>
          <p:cNvSpPr>
            <a:spLocks noGrp="1"/>
          </p:cNvSpPr>
          <p:nvPr>
            <p:ph idx="1"/>
          </p:nvPr>
        </p:nvSpPr>
        <p:spPr/>
        <p:txBody>
          <a:bodyPr/>
          <a:lstStyle/>
          <a:p>
            <a:r>
              <a:rPr lang="zh-CN" altLang="zh-CN" sz="1900" dirty="0">
                <a:sym typeface="+mn-ea"/>
              </a:rPr>
              <a:t>高维数组</a:t>
            </a:r>
            <a:r>
              <a:rPr lang="zh-CN" altLang="zh-CN" dirty="0">
                <a:sym typeface="+mn-ea"/>
              </a:rPr>
              <a:t>转置</a:t>
            </a:r>
            <a:endParaRPr lang="zh-CN" altLang="zh-CN" dirty="0">
              <a:sym typeface="+mn-ea"/>
            </a:endParaRPr>
          </a:p>
          <a:p>
            <a:pPr lvl="1"/>
            <a:r>
              <a:rPr lang="zh-CN" altLang="zh-CN" sz="1700" dirty="0">
                <a:sym typeface="+mn-ea"/>
              </a:rPr>
              <a:t>transpose换轴</a:t>
            </a:r>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r>
              <a:rPr lang="zh-CN" altLang="zh-CN" sz="1700" dirty="0">
                <a:sym typeface="+mn-ea"/>
              </a:rPr>
              <a:t>第一个轴被换成了第二个，第二个轴被换成了第一个，最后一个轴不变。</a:t>
            </a:r>
            <a:endParaRPr lang="zh-CN" altLang="zh-CN" sz="1700" dirty="0">
              <a:sym typeface="+mn-ea"/>
            </a:endParaRPr>
          </a:p>
          <a:p>
            <a:pPr lvl="1"/>
            <a:endParaRPr lang="zh-CN" altLang="en-US" dirty="0"/>
          </a:p>
        </p:txBody>
      </p:sp>
      <p:sp>
        <p:nvSpPr>
          <p:cNvPr id="5" name="文本框 4"/>
          <p:cNvSpPr txBox="1"/>
          <p:nvPr/>
        </p:nvSpPr>
        <p:spPr>
          <a:xfrm>
            <a:off x="2790190" y="2205355"/>
            <a:ext cx="5915025" cy="3322955"/>
          </a:xfrm>
          <a:prstGeom prst="rect">
            <a:avLst/>
          </a:prstGeom>
          <a:noFill/>
        </p:spPr>
        <p:txBody>
          <a:bodyPr wrap="square" rtlCol="0" anchor="t">
            <a:spAutoFit/>
          </a:bodyPr>
          <a:lstStyle/>
          <a:p>
            <a:r>
              <a:rPr lang="zh-CN" altLang="en-US" sz="1400"/>
              <a:t>In [132]: arr = np.arange(16).reshape((2, 2, 4))</a:t>
            </a:r>
            <a:endParaRPr lang="zh-CN" altLang="en-US" sz="1400"/>
          </a:p>
          <a:p>
            <a:endParaRPr lang="zh-CN" altLang="en-US" sz="1400"/>
          </a:p>
          <a:p>
            <a:r>
              <a:rPr lang="zh-CN" altLang="en-US" sz="1400"/>
              <a:t>In [133]: arr</a:t>
            </a:r>
            <a:endParaRPr lang="zh-CN" altLang="en-US" sz="1400"/>
          </a:p>
          <a:p>
            <a:r>
              <a:rPr lang="zh-CN" altLang="en-US" sz="1400"/>
              <a:t>Out[133]: </a:t>
            </a:r>
            <a:endParaRPr lang="zh-CN" altLang="en-US" sz="1400"/>
          </a:p>
          <a:p>
            <a:r>
              <a:rPr lang="zh-CN" altLang="en-US" sz="1400"/>
              <a:t>array([[[ 0,  1,  2,  3],</a:t>
            </a:r>
            <a:endParaRPr lang="zh-CN" altLang="en-US" sz="1400"/>
          </a:p>
          <a:p>
            <a:r>
              <a:rPr lang="zh-CN" altLang="en-US" sz="1400"/>
              <a:t>        [ 4,  5,  6,  7]],</a:t>
            </a:r>
            <a:endParaRPr lang="zh-CN" altLang="en-US" sz="1400"/>
          </a:p>
          <a:p>
            <a:r>
              <a:rPr lang="zh-CN" altLang="en-US" sz="1400"/>
              <a:t>       [[ 8,  9, 10, 11],</a:t>
            </a:r>
            <a:endParaRPr lang="zh-CN" altLang="en-US" sz="1400"/>
          </a:p>
          <a:p>
            <a:r>
              <a:rPr lang="zh-CN" altLang="en-US" sz="1400"/>
              <a:t>        [12, 13, 14, 15]]])</a:t>
            </a:r>
            <a:endParaRPr lang="zh-CN" altLang="en-US" sz="1400"/>
          </a:p>
          <a:p>
            <a:endParaRPr lang="zh-CN" altLang="en-US" sz="1400"/>
          </a:p>
          <a:p>
            <a:r>
              <a:rPr lang="zh-CN" altLang="en-US" sz="1400"/>
              <a:t>In [134]: arr.transpose((1, 0, 2))</a:t>
            </a:r>
            <a:endParaRPr lang="zh-CN" altLang="en-US" sz="1400"/>
          </a:p>
          <a:p>
            <a:r>
              <a:rPr lang="zh-CN" altLang="en-US" sz="1400"/>
              <a:t>Out[134]: </a:t>
            </a:r>
            <a:endParaRPr lang="zh-CN" altLang="en-US" sz="1400"/>
          </a:p>
          <a:p>
            <a:r>
              <a:rPr lang="zh-CN" altLang="en-US" sz="1400"/>
              <a:t>array([[[ 0,  1,  2,  3],</a:t>
            </a:r>
            <a:endParaRPr lang="zh-CN" altLang="en-US" sz="1400"/>
          </a:p>
          <a:p>
            <a:r>
              <a:rPr lang="zh-CN" altLang="en-US" sz="1400"/>
              <a:t>        [ 8,  9, 10, 11]],</a:t>
            </a:r>
            <a:endParaRPr lang="zh-CN" altLang="en-US" sz="1400"/>
          </a:p>
          <a:p>
            <a:r>
              <a:rPr lang="zh-CN" altLang="en-US" sz="1400"/>
              <a:t>       [[ 4,  5,  6,  7],</a:t>
            </a:r>
            <a:endParaRPr lang="zh-CN" altLang="en-US" sz="1400"/>
          </a:p>
          <a:p>
            <a:r>
              <a:rPr lang="zh-CN" altLang="en-US" sz="1400"/>
              <a:t>        [12, 13, 14, 15]]])</a:t>
            </a:r>
            <a:endParaRPr lang="zh-CN" altLang="en-US"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4.1.7 </a:t>
            </a:r>
            <a:r>
              <a:rPr lang="zh-CN" altLang="en-US" dirty="0"/>
              <a:t>数组转置和换轴</a:t>
            </a:r>
            <a:endParaRPr lang="zh-CN" altLang="en-US" dirty="0"/>
          </a:p>
        </p:txBody>
      </p:sp>
      <p:sp>
        <p:nvSpPr>
          <p:cNvPr id="3" name="内容占位符 2"/>
          <p:cNvSpPr>
            <a:spLocks noGrp="1"/>
          </p:cNvSpPr>
          <p:nvPr>
            <p:ph idx="1"/>
          </p:nvPr>
        </p:nvSpPr>
        <p:spPr/>
        <p:txBody>
          <a:bodyPr/>
          <a:lstStyle/>
          <a:p>
            <a:r>
              <a:rPr lang="zh-CN" altLang="zh-CN" sz="1900" dirty="0">
                <a:sym typeface="+mn-ea"/>
              </a:rPr>
              <a:t>高维数组</a:t>
            </a:r>
            <a:r>
              <a:rPr lang="zh-CN" altLang="zh-CN" dirty="0">
                <a:sym typeface="+mn-ea"/>
              </a:rPr>
              <a:t>转置</a:t>
            </a:r>
            <a:endParaRPr lang="zh-CN" altLang="zh-CN" dirty="0">
              <a:sym typeface="+mn-ea"/>
            </a:endParaRPr>
          </a:p>
          <a:p>
            <a:pPr lvl="1"/>
            <a:r>
              <a:rPr lang="zh-CN" altLang="zh-CN" sz="1700" dirty="0">
                <a:sym typeface="+mn-ea"/>
              </a:rPr>
              <a:t>swapaxes换轴</a:t>
            </a:r>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endParaRPr lang="zh-CN" altLang="en-US" dirty="0"/>
          </a:p>
        </p:txBody>
      </p:sp>
      <p:sp>
        <p:nvSpPr>
          <p:cNvPr id="5" name="文本框 4"/>
          <p:cNvSpPr txBox="1"/>
          <p:nvPr/>
        </p:nvSpPr>
        <p:spPr>
          <a:xfrm>
            <a:off x="2790190" y="2205355"/>
            <a:ext cx="5915025" cy="3753485"/>
          </a:xfrm>
          <a:prstGeom prst="rect">
            <a:avLst/>
          </a:prstGeom>
          <a:noFill/>
        </p:spPr>
        <p:txBody>
          <a:bodyPr wrap="square" rtlCol="0" anchor="t">
            <a:spAutoFit/>
          </a:bodyPr>
          <a:lstStyle/>
          <a:p>
            <a:r>
              <a:rPr lang="zh-CN" altLang="en-US" sz="1400"/>
              <a:t>In [135]: arr</a:t>
            </a:r>
            <a:endParaRPr lang="zh-CN" altLang="en-US" sz="1400"/>
          </a:p>
          <a:p>
            <a:r>
              <a:rPr lang="zh-CN" altLang="en-US" sz="1400"/>
              <a:t>Out[135]: </a:t>
            </a:r>
            <a:endParaRPr lang="zh-CN" altLang="en-US" sz="1400"/>
          </a:p>
          <a:p>
            <a:r>
              <a:rPr lang="zh-CN" altLang="en-US" sz="1400"/>
              <a:t>array([[[ 0,  1,  2,  3],</a:t>
            </a:r>
            <a:endParaRPr lang="zh-CN" altLang="en-US" sz="1400"/>
          </a:p>
          <a:p>
            <a:r>
              <a:rPr lang="zh-CN" altLang="en-US" sz="1400"/>
              <a:t>        [ 4,  5,  6,  7]],</a:t>
            </a:r>
            <a:endParaRPr lang="zh-CN" altLang="en-US" sz="1400"/>
          </a:p>
          <a:p>
            <a:r>
              <a:rPr lang="zh-CN" altLang="en-US" sz="1400"/>
              <a:t>       [[ 8,  9, 10, 11],</a:t>
            </a:r>
            <a:endParaRPr lang="zh-CN" altLang="en-US" sz="1400"/>
          </a:p>
          <a:p>
            <a:r>
              <a:rPr lang="zh-CN" altLang="en-US" sz="1400"/>
              <a:t>        [12, 13, 14, 15]]])</a:t>
            </a:r>
            <a:endParaRPr lang="zh-CN" altLang="en-US" sz="1400"/>
          </a:p>
          <a:p>
            <a:endParaRPr lang="zh-CN" altLang="en-US" sz="1400"/>
          </a:p>
          <a:p>
            <a:r>
              <a:rPr lang="zh-CN" altLang="en-US" sz="1400"/>
              <a:t>In [136]: arr.swapaxes(1, 2)</a:t>
            </a:r>
            <a:endParaRPr lang="zh-CN" altLang="en-US" sz="1400"/>
          </a:p>
          <a:p>
            <a:r>
              <a:rPr lang="zh-CN" altLang="en-US" sz="1400"/>
              <a:t>Out[136]: </a:t>
            </a:r>
            <a:endParaRPr lang="zh-CN" altLang="en-US" sz="1400"/>
          </a:p>
          <a:p>
            <a:r>
              <a:rPr lang="zh-CN" altLang="en-US" sz="1400"/>
              <a:t>array([[[ 0,  4],</a:t>
            </a:r>
            <a:endParaRPr lang="zh-CN" altLang="en-US" sz="1400"/>
          </a:p>
          <a:p>
            <a:r>
              <a:rPr lang="zh-CN" altLang="en-US" sz="1400"/>
              <a:t>        [ 1,  5],</a:t>
            </a:r>
            <a:endParaRPr lang="zh-CN" altLang="en-US" sz="1400"/>
          </a:p>
          <a:p>
            <a:r>
              <a:rPr lang="zh-CN" altLang="en-US" sz="1400"/>
              <a:t>        [ 2,  6],</a:t>
            </a:r>
            <a:endParaRPr lang="zh-CN" altLang="en-US" sz="1400"/>
          </a:p>
          <a:p>
            <a:r>
              <a:rPr lang="zh-CN" altLang="en-US" sz="1400"/>
              <a:t>        [ 3,  7]],</a:t>
            </a:r>
            <a:endParaRPr lang="zh-CN" altLang="en-US" sz="1400"/>
          </a:p>
          <a:p>
            <a:r>
              <a:rPr lang="zh-CN" altLang="en-US" sz="1400"/>
              <a:t>       [[ 8, 12],</a:t>
            </a:r>
            <a:endParaRPr lang="zh-CN" altLang="en-US" sz="1400"/>
          </a:p>
          <a:p>
            <a:r>
              <a:rPr lang="zh-CN" altLang="en-US" sz="1400"/>
              <a:t>        [ 9, 13],</a:t>
            </a:r>
            <a:endParaRPr lang="zh-CN" altLang="en-US" sz="1400"/>
          </a:p>
          <a:p>
            <a:r>
              <a:rPr lang="zh-CN" altLang="en-US" sz="1400"/>
              <a:t>        [10, 14],</a:t>
            </a:r>
            <a:endParaRPr lang="zh-CN" altLang="en-US" sz="1400"/>
          </a:p>
          <a:p>
            <a:r>
              <a:rPr lang="zh-CN" altLang="en-US" sz="1400"/>
              <a:t>        [11, 15]]])</a:t>
            </a:r>
            <a:endParaRPr lang="zh-CN" altLang="en-US" sz="140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通用函数：快速的逐元素数组函数</a:t>
            </a:r>
            <a:endParaRPr lang="zh-CN" altLang="en-US" dirty="0"/>
          </a:p>
        </p:txBody>
      </p:sp>
      <p:sp>
        <p:nvSpPr>
          <p:cNvPr id="3" name="内容占位符 2"/>
          <p:cNvSpPr>
            <a:spLocks noGrp="1"/>
          </p:cNvSpPr>
          <p:nvPr>
            <p:ph idx="1"/>
          </p:nvPr>
        </p:nvSpPr>
        <p:spPr/>
        <p:txBody>
          <a:bodyPr/>
          <a:lstStyle/>
          <a:p>
            <a:r>
              <a:rPr lang="zh-CN" altLang="en-US" dirty="0" smtClean="0"/>
              <a:t>通用函数</a:t>
            </a:r>
            <a:r>
              <a:rPr lang="zh-CN" altLang="en-US" dirty="0"/>
              <a:t>（即</a:t>
            </a:r>
            <a:r>
              <a:rPr lang="en-US" altLang="zh-CN" dirty="0" err="1"/>
              <a:t>ufunc</a:t>
            </a:r>
            <a:r>
              <a:rPr lang="zh-CN" altLang="en-US" dirty="0"/>
              <a:t>）是一种对</a:t>
            </a:r>
            <a:r>
              <a:rPr lang="en-US" altLang="zh-CN" dirty="0" err="1"/>
              <a:t>ndarray</a:t>
            </a:r>
            <a:r>
              <a:rPr lang="zh-CN" altLang="en-US" dirty="0"/>
              <a:t>中的数据执行元素级运算的函数</a:t>
            </a:r>
            <a:endParaRPr lang="zh-CN" altLang="zh-CN" dirty="0">
              <a:sym typeface="+mn-ea"/>
            </a:endParaRPr>
          </a:p>
          <a:p>
            <a:pPr lvl="1"/>
            <a:r>
              <a:rPr lang="zh-CN" altLang="en-US" dirty="0"/>
              <a:t>简单函数（接受一个或多个标量值，并产生一个或多个标量值）的矢量化包装器</a:t>
            </a:r>
            <a:endParaRPr lang="zh-CN" altLang="zh-CN" sz="1700" dirty="0">
              <a:sym typeface="+mn-ea"/>
            </a:endParaRPr>
          </a:p>
          <a:p>
            <a:pPr lvl="2"/>
            <a:r>
              <a:rPr lang="zh-CN" altLang="en-US" dirty="0"/>
              <a:t>许多</a:t>
            </a:r>
            <a:r>
              <a:rPr lang="en-US" altLang="zh-CN" dirty="0" err="1"/>
              <a:t>ufunc</a:t>
            </a:r>
            <a:r>
              <a:rPr lang="zh-CN" altLang="en-US" dirty="0"/>
              <a:t>都是简单的元素级变体，如</a:t>
            </a:r>
            <a:r>
              <a:rPr lang="en-US" altLang="zh-CN" dirty="0" err="1"/>
              <a:t>sqrt</a:t>
            </a:r>
            <a:r>
              <a:rPr lang="zh-CN" altLang="en-US" dirty="0"/>
              <a:t>和</a:t>
            </a:r>
            <a:r>
              <a:rPr lang="en-US" altLang="zh-CN" dirty="0" err="1"/>
              <a:t>exp</a:t>
            </a:r>
            <a:r>
              <a:rPr lang="zh-CN" altLang="en-US" dirty="0"/>
              <a:t>：</a:t>
            </a:r>
            <a:endParaRPr lang="zh-CN" altLang="zh-CN" dirty="0">
              <a:sym typeface="+mn-ea"/>
            </a:endParaRPr>
          </a:p>
          <a:p>
            <a:pPr lvl="1"/>
            <a:endParaRPr lang="zh-CN" altLang="zh-CN" sz="1700" dirty="0">
              <a:sym typeface="+mn-ea"/>
            </a:endParaRPr>
          </a:p>
          <a:p>
            <a:pPr lvl="1"/>
            <a:endParaRPr lang="zh-CN" altLang="zh-CN" sz="1700" dirty="0">
              <a:sym typeface="+mn-ea"/>
            </a:endParaRPr>
          </a:p>
          <a:p>
            <a:pPr lvl="1"/>
            <a:endParaRPr lang="zh-CN" altLang="zh-CN" sz="1700" dirty="0">
              <a:sym typeface="+mn-ea"/>
            </a:endParaRPr>
          </a:p>
          <a:p>
            <a:pPr lvl="1"/>
            <a:r>
              <a:rPr lang="zh-CN" altLang="en-US" dirty="0" smtClean="0">
                <a:sym typeface="+mn-ea"/>
              </a:rPr>
              <a:t>接收</a:t>
            </a:r>
            <a:r>
              <a:rPr lang="en-US" altLang="zh-CN" dirty="0" smtClean="0">
                <a:sym typeface="+mn-ea"/>
              </a:rPr>
              <a:t>2</a:t>
            </a:r>
            <a:r>
              <a:rPr lang="zh-CN" altLang="en-US" dirty="0" smtClean="0">
                <a:sym typeface="+mn-ea"/>
              </a:rPr>
              <a:t>个数组的二元通用函数</a:t>
            </a:r>
            <a:endParaRPr lang="zh-CN" altLang="zh-CN" sz="1700" dirty="0">
              <a:sym typeface="+mn-ea"/>
            </a:endParaRPr>
          </a:p>
        </p:txBody>
      </p:sp>
      <p:sp>
        <p:nvSpPr>
          <p:cNvPr id="6" name="Rectangle 3"/>
          <p:cNvSpPr>
            <a:spLocks noChangeArrowheads="1"/>
          </p:cNvSpPr>
          <p:nvPr/>
        </p:nvSpPr>
        <p:spPr bwMode="auto">
          <a:xfrm>
            <a:off x="2069902" y="2637706"/>
            <a:ext cx="7787388" cy="1205418"/>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137</a:t>
            </a:r>
            <a:r>
              <a:rPr kumimoji="0" lang="zh-CN" altLang="zh-CN" sz="1000" b="0" i="0" u="none" strike="noStrike" cap="none" normalizeH="0" baseline="0" dirty="0" smtClean="0">
                <a:ln>
                  <a:noFill/>
                </a:ln>
                <a:solidFill>
                  <a:srgbClr val="CCCCCC"/>
                </a:solidFill>
                <a:effectLst/>
                <a:latin typeface="Consolas" panose="020B0609020204030204" pitchFamily="49" charset="0"/>
              </a:rPr>
              <a:t>]: arr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np.arange(</a:t>
            </a:r>
            <a:r>
              <a:rPr kumimoji="0" lang="zh-CN" altLang="zh-CN" sz="1000" b="0" i="0" u="none" strike="noStrike" cap="none" normalizeH="0" baseline="0" dirty="0" smtClean="0">
                <a:ln>
                  <a:noFill/>
                </a:ln>
                <a:solidFill>
                  <a:srgbClr val="F08D49"/>
                </a:solidFill>
                <a:effectLst/>
                <a:latin typeface="Consolas" panose="020B0609020204030204" pitchFamily="49" charset="0"/>
              </a:rPr>
              <a:t>10</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138</a:t>
            </a:r>
            <a:r>
              <a:rPr kumimoji="0" lang="zh-CN" altLang="zh-CN" sz="1000" b="0" i="0" u="none" strike="noStrike" cap="none" normalizeH="0" baseline="0" dirty="0" smtClean="0">
                <a:ln>
                  <a:noFill/>
                </a:ln>
                <a:solidFill>
                  <a:srgbClr val="CCCCCC"/>
                </a:solidFill>
                <a:effectLst/>
                <a:latin typeface="Consolas" panose="020B0609020204030204" pitchFamily="49" charset="0"/>
              </a:rPr>
              <a:t>]: 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138</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F08D49"/>
                </a:solidFill>
                <a:effectLst/>
                <a:latin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6</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139</a:t>
            </a:r>
            <a:r>
              <a:rPr kumimoji="0" lang="zh-CN" altLang="zh-CN" sz="1000" b="0" i="0" u="none" strike="noStrike" cap="none" normalizeH="0" baseline="0" dirty="0" smtClean="0">
                <a:ln>
                  <a:noFill/>
                </a:ln>
                <a:solidFill>
                  <a:srgbClr val="CCCCCC"/>
                </a:solidFill>
                <a:effectLst/>
                <a:latin typeface="Consolas" panose="020B0609020204030204" pitchFamily="49" charset="0"/>
              </a:rPr>
              <a:t>]: np.sqrt(arr)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139</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rPr>
              <a:t>0</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1</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1.4142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1.7321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2.2361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2.4495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2.6458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2.8284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140</a:t>
            </a:r>
            <a:r>
              <a:rPr kumimoji="0" lang="zh-CN" altLang="zh-CN" sz="1000" b="0" i="0" u="none" strike="noStrike" cap="none" normalizeH="0" baseline="0" dirty="0" smtClean="0">
                <a:ln>
                  <a:noFill/>
                </a:ln>
                <a:solidFill>
                  <a:srgbClr val="CCCCCC"/>
                </a:solidFill>
                <a:effectLst/>
                <a:latin typeface="Consolas" panose="020B0609020204030204" pitchFamily="49" charset="0"/>
              </a:rPr>
              <a:t>]: np.exp(arr)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140</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rPr>
              <a:t>1</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2.7183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7.3891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20.0855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54.5982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148.4132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403.4288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1096.6332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2980.958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8103.0839</a:t>
            </a:r>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800" b="0" i="0" u="none" strike="noStrike" cap="none" normalizeH="0" baseline="0" dirty="0" smtClean="0">
                <a:ln>
                  <a:noFill/>
                </a:ln>
                <a:solidFill>
                  <a:schemeClr val="tx1"/>
                </a:solidFill>
                <a:effectLst/>
              </a:rPr>
              <a:t> </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2102480" y="4365898"/>
            <a:ext cx="7754810" cy="1051530"/>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141</a:t>
            </a:r>
            <a:r>
              <a:rPr kumimoji="0" lang="zh-CN" altLang="zh-CN" sz="1000" b="0" i="0" u="none" strike="noStrike" cap="none" normalizeH="0" baseline="0" dirty="0" smtClean="0">
                <a:ln>
                  <a:noFill/>
                </a:ln>
                <a:solidFill>
                  <a:srgbClr val="CCCCCC"/>
                </a:solidFill>
                <a:effectLst/>
                <a:latin typeface="Consolas" panose="020B0609020204030204" pitchFamily="49" charset="0"/>
              </a:rPr>
              <a:t>]: x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np.random.randn(</a:t>
            </a:r>
            <a:r>
              <a:rPr kumimoji="0" lang="zh-CN" altLang="zh-CN" sz="1000" b="0" i="0" u="none" strike="noStrike" cap="none" normalizeH="0" baseline="0" dirty="0" smtClean="0">
                <a:ln>
                  <a:noFill/>
                </a:ln>
                <a:solidFill>
                  <a:srgbClr val="F08D49"/>
                </a:solidFill>
                <a:effectLst/>
                <a:latin typeface="Consolas" panose="020B0609020204030204" pitchFamily="49" charset="0"/>
              </a:rPr>
              <a:t>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142</a:t>
            </a:r>
            <a:r>
              <a:rPr kumimoji="0" lang="zh-CN" altLang="zh-CN" sz="1000" b="0" i="0" u="none" strike="noStrike" cap="none" normalizeH="0" baseline="0" dirty="0" smtClean="0">
                <a:ln>
                  <a:noFill/>
                </a:ln>
                <a:solidFill>
                  <a:srgbClr val="CCCCCC"/>
                </a:solidFill>
                <a:effectLst/>
                <a:latin typeface="Consolas" panose="020B0609020204030204" pitchFamily="49" charset="0"/>
              </a:rPr>
              <a:t>]: y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np.random.randn(</a:t>
            </a:r>
            <a:r>
              <a:rPr kumimoji="0" lang="zh-CN" altLang="zh-CN" sz="1000" b="0" i="0" u="none" strike="noStrike" cap="none" normalizeH="0" baseline="0" dirty="0" smtClean="0">
                <a:ln>
                  <a:noFill/>
                </a:ln>
                <a:solidFill>
                  <a:srgbClr val="F08D49"/>
                </a:solidFill>
                <a:effectLst/>
                <a:latin typeface="Consolas" panose="020B0609020204030204" pitchFamily="49" charset="0"/>
              </a:rPr>
              <a:t>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143</a:t>
            </a:r>
            <a:r>
              <a:rPr kumimoji="0" lang="zh-CN" altLang="zh-CN" sz="1000" b="0" i="0" u="none" strike="noStrike" cap="none" normalizeH="0" baseline="0" dirty="0" smtClean="0">
                <a:ln>
                  <a:noFill/>
                </a:ln>
                <a:solidFill>
                  <a:srgbClr val="CCCCCC"/>
                </a:solidFill>
                <a:effectLst/>
                <a:latin typeface="Consolas" panose="020B0609020204030204" pitchFamily="49" charset="0"/>
              </a:rPr>
              <a:t>]: x Out[</a:t>
            </a:r>
            <a:r>
              <a:rPr kumimoji="0" lang="zh-CN" altLang="zh-CN" sz="1000" b="0" i="0" u="none" strike="noStrike" cap="none" normalizeH="0" baseline="0" dirty="0" smtClean="0">
                <a:ln>
                  <a:noFill/>
                </a:ln>
                <a:solidFill>
                  <a:srgbClr val="F08D49"/>
                </a:solidFill>
                <a:effectLst/>
                <a:latin typeface="Consolas" panose="020B0609020204030204" pitchFamily="49" charset="0"/>
              </a:rPr>
              <a:t>143</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0.0119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1.0048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1.3272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0.9193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1.5491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0.0222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0.7584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0.6605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144</a:t>
            </a:r>
            <a:r>
              <a:rPr kumimoji="0" lang="zh-CN" altLang="zh-CN" sz="1000" b="0" i="0" u="none" strike="noStrike" cap="none" normalizeH="0" baseline="0" dirty="0" smtClean="0">
                <a:ln>
                  <a:noFill/>
                </a:ln>
                <a:solidFill>
                  <a:srgbClr val="CCCCCC"/>
                </a:solidFill>
                <a:effectLst/>
                <a:latin typeface="Consolas" panose="020B0609020204030204" pitchFamily="49" charset="0"/>
              </a:rPr>
              <a:t>]: y Out[</a:t>
            </a:r>
            <a:r>
              <a:rPr kumimoji="0" lang="zh-CN" altLang="zh-CN" sz="1000" b="0" i="0" u="none" strike="noStrike" cap="none" normalizeH="0" baseline="0" dirty="0" smtClean="0">
                <a:ln>
                  <a:noFill/>
                </a:ln>
                <a:solidFill>
                  <a:srgbClr val="F08D49"/>
                </a:solidFill>
                <a:effectLst/>
                <a:latin typeface="Consolas" panose="020B0609020204030204" pitchFamily="49" charset="0"/>
              </a:rPr>
              <a:t>144</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rPr>
              <a:t>0.8626</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0.01</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0.05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0.6702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0.853</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0.9559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0.0235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2.3042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145</a:t>
            </a:r>
            <a:r>
              <a:rPr kumimoji="0" lang="zh-CN" altLang="zh-CN" sz="1000" b="0" i="0" u="none" strike="noStrike" cap="none" normalizeH="0" baseline="0" dirty="0" smtClean="0">
                <a:ln>
                  <a:noFill/>
                </a:ln>
                <a:solidFill>
                  <a:srgbClr val="CCCCCC"/>
                </a:solidFill>
                <a:effectLst/>
                <a:latin typeface="Consolas" panose="020B0609020204030204" pitchFamily="49" charset="0"/>
              </a:rPr>
              <a:t>]: np.maximum(x, y)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145</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rPr>
              <a:t>0.8626</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1.0048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1.3272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0.6702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0.853</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0.0222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0.7584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0.6605</a:t>
            </a:r>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800" b="0" i="0" u="none" strike="noStrike" cap="none" normalizeH="0" baseline="0" dirty="0" smtClean="0">
                <a:ln>
                  <a:noFill/>
                </a:ln>
                <a:solidFill>
                  <a:schemeClr val="tx1"/>
                </a:solidFill>
                <a:effectLst/>
              </a:rPr>
              <a:t> </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通用函数：快速的逐元素数组函数</a:t>
            </a:r>
            <a:endParaRPr lang="zh-CN" altLang="en-US" dirty="0"/>
          </a:p>
        </p:txBody>
      </p:sp>
      <p:sp>
        <p:nvSpPr>
          <p:cNvPr id="3" name="内容占位符 2"/>
          <p:cNvSpPr>
            <a:spLocks noGrp="1"/>
          </p:cNvSpPr>
          <p:nvPr>
            <p:ph idx="1"/>
          </p:nvPr>
        </p:nvSpPr>
        <p:spPr/>
        <p:txBody>
          <a:bodyPr/>
          <a:lstStyle/>
          <a:p>
            <a:r>
              <a:rPr lang="zh-CN" altLang="en-US" dirty="0" smtClean="0"/>
              <a:t>通用函数</a:t>
            </a:r>
            <a:r>
              <a:rPr lang="zh-CN" altLang="en-US" dirty="0"/>
              <a:t>（即</a:t>
            </a:r>
            <a:r>
              <a:rPr lang="en-US" altLang="zh-CN" dirty="0" err="1"/>
              <a:t>ufunc</a:t>
            </a:r>
            <a:r>
              <a:rPr lang="zh-CN" altLang="en-US" dirty="0"/>
              <a:t>）是一种对</a:t>
            </a:r>
            <a:r>
              <a:rPr lang="en-US" altLang="zh-CN" dirty="0" err="1"/>
              <a:t>ndarray</a:t>
            </a:r>
            <a:r>
              <a:rPr lang="zh-CN" altLang="en-US" dirty="0"/>
              <a:t>中的数据执行元素级运算的函数</a:t>
            </a:r>
            <a:endParaRPr lang="zh-CN" altLang="zh-CN" dirty="0">
              <a:sym typeface="+mn-ea"/>
            </a:endParaRPr>
          </a:p>
          <a:p>
            <a:pPr lvl="1"/>
            <a:r>
              <a:rPr lang="zh-CN" altLang="en-US" dirty="0"/>
              <a:t>有些</a:t>
            </a:r>
            <a:r>
              <a:rPr lang="en-US" altLang="zh-CN" dirty="0" err="1"/>
              <a:t>ufunc</a:t>
            </a:r>
            <a:r>
              <a:rPr lang="zh-CN" altLang="en-US" dirty="0"/>
              <a:t>的确可以返回多个</a:t>
            </a:r>
            <a:r>
              <a:rPr lang="zh-CN" altLang="en-US" dirty="0" smtClean="0"/>
              <a:t>数组</a:t>
            </a:r>
            <a:endParaRPr lang="en-US" altLang="zh-CN" dirty="0" smtClean="0"/>
          </a:p>
          <a:p>
            <a:pPr lvl="2"/>
            <a:r>
              <a:rPr lang="en-US" altLang="zh-CN" dirty="0" err="1" smtClean="0">
                <a:sym typeface="+mn-ea"/>
              </a:rPr>
              <a:t>modf</a:t>
            </a:r>
            <a:r>
              <a:rPr lang="en-US" altLang="zh-CN" dirty="0" smtClean="0">
                <a:sym typeface="+mn-ea"/>
              </a:rPr>
              <a:t>:</a:t>
            </a:r>
            <a:r>
              <a:rPr lang="zh-CN" altLang="en-US" dirty="0"/>
              <a:t>浮点数数组的小数和整数部分</a:t>
            </a:r>
            <a:endParaRPr lang="zh-CN" altLang="zh-CN" dirty="0">
              <a:sym typeface="+mn-ea"/>
            </a:endParaRPr>
          </a:p>
          <a:p>
            <a:pPr lvl="1"/>
            <a:endParaRPr lang="zh-CN" altLang="zh-CN" sz="1700" dirty="0">
              <a:sym typeface="+mn-ea"/>
            </a:endParaRPr>
          </a:p>
          <a:p>
            <a:pPr lvl="1"/>
            <a:endParaRPr lang="zh-CN" altLang="zh-CN" sz="1700" dirty="0">
              <a:sym typeface="+mn-ea"/>
            </a:endParaRPr>
          </a:p>
          <a:p>
            <a:pPr marL="544830" lvl="1" indent="0">
              <a:buNone/>
            </a:pPr>
            <a:endParaRPr lang="en-US" altLang="zh-CN" dirty="0" smtClean="0">
              <a:sym typeface="+mn-ea"/>
            </a:endParaRPr>
          </a:p>
          <a:p>
            <a:pPr lvl="1"/>
            <a:r>
              <a:rPr lang="en-US" altLang="zh-CN" dirty="0" err="1"/>
              <a:t>Ufuncs</a:t>
            </a:r>
            <a:r>
              <a:rPr lang="zh-CN" altLang="en-US" dirty="0"/>
              <a:t>可以接受一个</a:t>
            </a:r>
            <a:r>
              <a:rPr lang="en-US" altLang="zh-CN" dirty="0"/>
              <a:t>out</a:t>
            </a:r>
            <a:r>
              <a:rPr lang="zh-CN" altLang="en-US" dirty="0"/>
              <a:t>可选参数，这样就能在数组原地进行</a:t>
            </a:r>
            <a:r>
              <a:rPr lang="zh-CN" altLang="en-US" dirty="0" smtClean="0"/>
              <a:t>操作</a:t>
            </a:r>
            <a:endParaRPr lang="en-US" altLang="zh-CN" dirty="0" smtClean="0"/>
          </a:p>
          <a:p>
            <a:pPr lvl="1"/>
            <a:endParaRPr lang="en-US" altLang="zh-CN" sz="1700" dirty="0">
              <a:sym typeface="+mn-ea"/>
            </a:endParaRPr>
          </a:p>
          <a:p>
            <a:pPr lvl="1"/>
            <a:endParaRPr lang="en-US" altLang="zh-CN" dirty="0" smtClean="0">
              <a:sym typeface="+mn-ea"/>
            </a:endParaRPr>
          </a:p>
          <a:p>
            <a:pPr marL="544830" lvl="1" indent="0">
              <a:buNone/>
            </a:pPr>
            <a:endParaRPr lang="en-US" altLang="zh-CN" sz="1700" dirty="0">
              <a:sym typeface="+mn-ea"/>
            </a:endParaRPr>
          </a:p>
          <a:p>
            <a:pPr lvl="1"/>
            <a:r>
              <a:rPr lang="zh-CN" altLang="en-US" sz="1700" dirty="0" smtClean="0">
                <a:sym typeface="+mn-ea"/>
              </a:rPr>
              <a:t>这些通用函数是</a:t>
            </a:r>
            <a:r>
              <a:rPr lang="en-US" altLang="zh-CN" dirty="0" smtClean="0"/>
              <a:t>Python</a:t>
            </a:r>
            <a:r>
              <a:rPr lang="zh-CN" altLang="en-US" dirty="0"/>
              <a:t>内置</a:t>
            </a:r>
            <a:r>
              <a:rPr lang="zh-CN" altLang="en-US" dirty="0" smtClean="0"/>
              <a:t>函数的</a:t>
            </a:r>
            <a:r>
              <a:rPr lang="zh-CN" altLang="en-US" dirty="0"/>
              <a:t>矢量化版本</a:t>
            </a:r>
            <a:endParaRPr lang="zh-CN" altLang="zh-CN" sz="1700" dirty="0">
              <a:sym typeface="+mn-ea"/>
            </a:endParaRPr>
          </a:p>
        </p:txBody>
      </p:sp>
      <p:sp>
        <p:nvSpPr>
          <p:cNvPr id="4" name="Rectangle 2"/>
          <p:cNvSpPr>
            <a:spLocks noChangeArrowheads="1"/>
          </p:cNvSpPr>
          <p:nvPr/>
        </p:nvSpPr>
        <p:spPr bwMode="auto">
          <a:xfrm>
            <a:off x="2069902" y="2536343"/>
            <a:ext cx="6347892" cy="1205418"/>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146</a:t>
            </a:r>
            <a:r>
              <a:rPr kumimoji="0" lang="zh-CN" altLang="zh-CN" sz="1000" b="0" i="0" u="none" strike="noStrike" cap="none" normalizeH="0" baseline="0" dirty="0" smtClean="0">
                <a:ln>
                  <a:noFill/>
                </a:ln>
                <a:solidFill>
                  <a:srgbClr val="CCCCCC"/>
                </a:solidFill>
                <a:effectLst/>
                <a:latin typeface="Consolas" panose="020B0609020204030204" pitchFamily="49" charset="0"/>
              </a:rPr>
              <a:t>]: arr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np.random.randn(</a:t>
            </a:r>
            <a:r>
              <a:rPr kumimoji="0" lang="zh-CN" altLang="zh-CN" sz="1000" b="0" i="0" u="none" strike="noStrike" cap="none" normalizeH="0" baseline="0" dirty="0" smtClean="0">
                <a:ln>
                  <a:noFill/>
                </a:ln>
                <a:solidFill>
                  <a:srgbClr val="F08D49"/>
                </a:solidFill>
                <a:effectLst/>
                <a:latin typeface="Consolas" panose="020B0609020204030204" pitchFamily="49" charset="0"/>
              </a:rPr>
              <a:t>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147</a:t>
            </a:r>
            <a:r>
              <a:rPr kumimoji="0" lang="zh-CN" altLang="zh-CN" sz="1000" b="0" i="0" u="none" strike="noStrike" cap="none" normalizeH="0" baseline="0" dirty="0" smtClean="0">
                <a:ln>
                  <a:noFill/>
                </a:ln>
                <a:solidFill>
                  <a:srgbClr val="CCCCCC"/>
                </a:solidFill>
                <a:effectLst/>
                <a:latin typeface="Consolas" panose="020B0609020204030204" pitchFamily="49" charset="0"/>
              </a:rPr>
              <a:t>]: arr Out[</a:t>
            </a:r>
            <a:r>
              <a:rPr kumimoji="0" lang="zh-CN" altLang="zh-CN" sz="1000" b="0" i="0" u="none" strike="noStrike" cap="none" normalizeH="0" baseline="0" dirty="0" smtClean="0">
                <a:ln>
                  <a:noFill/>
                </a:ln>
                <a:solidFill>
                  <a:srgbClr val="F08D49"/>
                </a:solidFill>
                <a:effectLst/>
                <a:latin typeface="Consolas" panose="020B0609020204030204" pitchFamily="49" charset="0"/>
              </a:rPr>
              <a:t>147</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3.2623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6.0915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6.663</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5.3731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3.6182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3.45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5.0077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148</a:t>
            </a:r>
            <a:r>
              <a:rPr kumimoji="0" lang="zh-CN" altLang="zh-CN" sz="1000" b="0" i="0" u="none" strike="noStrike" cap="none" normalizeH="0" baseline="0" dirty="0" smtClean="0">
                <a:ln>
                  <a:noFill/>
                </a:ln>
                <a:solidFill>
                  <a:srgbClr val="CCCCCC"/>
                </a:solidFill>
                <a:effectLst/>
                <a:latin typeface="Consolas" panose="020B0609020204030204" pitchFamily="49" charset="0"/>
              </a:rPr>
              <a:t>]: remainder, whole_part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np.modf(arr)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149</a:t>
            </a:r>
            <a:r>
              <a:rPr kumimoji="0" lang="zh-CN" altLang="zh-CN" sz="1000" b="0" i="0" u="none" strike="noStrike" cap="none" normalizeH="0" baseline="0" dirty="0" smtClean="0">
                <a:ln>
                  <a:noFill/>
                </a:ln>
                <a:solidFill>
                  <a:srgbClr val="CCCCCC"/>
                </a:solidFill>
                <a:effectLst/>
                <a:latin typeface="Consolas" panose="020B0609020204030204" pitchFamily="49" charset="0"/>
              </a:rPr>
              <a:t>]: remainder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149</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0.2623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0.0915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0.663</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0.3731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0.6182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0.45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0.0077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150</a:t>
            </a:r>
            <a:r>
              <a:rPr kumimoji="0" lang="zh-CN" altLang="zh-CN" sz="1000" b="0" i="0" u="none" strike="noStrike" cap="none" normalizeH="0" baseline="0" dirty="0" smtClean="0">
                <a:ln>
                  <a:noFill/>
                </a:ln>
                <a:solidFill>
                  <a:srgbClr val="CCCCCC"/>
                </a:solidFill>
                <a:effectLst/>
                <a:latin typeface="Consolas" panose="020B0609020204030204" pitchFamily="49" charset="0"/>
              </a:rPr>
              <a:t>]: whole_part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150</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6</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6</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800" b="0" i="0" u="none" strike="noStrike" cap="none" normalizeH="0" baseline="0" dirty="0" smtClean="0">
                <a:ln>
                  <a:noFill/>
                </a:ln>
                <a:solidFill>
                  <a:schemeClr val="tx1"/>
                </a:solidFill>
                <a:effectLst/>
              </a:rPr>
              <a:t> </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2069902" y="4418186"/>
            <a:ext cx="6347892" cy="1205418"/>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151</a:t>
            </a:r>
            <a:r>
              <a:rPr kumimoji="0" lang="zh-CN" altLang="zh-CN" sz="1000" b="0" i="0" u="none" strike="noStrike" cap="none" normalizeH="0" baseline="0" dirty="0" smtClean="0">
                <a:ln>
                  <a:noFill/>
                </a:ln>
                <a:solidFill>
                  <a:srgbClr val="CCCCCC"/>
                </a:solidFill>
                <a:effectLst/>
                <a:latin typeface="Consolas" panose="020B0609020204030204" pitchFamily="49" charset="0"/>
              </a:rPr>
              <a:t>]: 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151</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3.2623</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6.0915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6.663</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5.3731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3.6182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3.45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5.0077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152</a:t>
            </a:r>
            <a:r>
              <a:rPr kumimoji="0" lang="zh-CN" altLang="zh-CN" sz="1000" b="0" i="0" u="none" strike="noStrike" cap="none" normalizeH="0" baseline="0" dirty="0" smtClean="0">
                <a:ln>
                  <a:noFill/>
                </a:ln>
                <a:solidFill>
                  <a:srgbClr val="CCCCCC"/>
                </a:solidFill>
                <a:effectLst/>
                <a:latin typeface="Consolas" panose="020B0609020204030204" pitchFamily="49" charset="0"/>
              </a:rPr>
              <a:t>]: np.sqrt(arr)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152</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nan, nan, nan, </a:t>
            </a:r>
            <a:r>
              <a:rPr kumimoji="0" lang="zh-CN" altLang="zh-CN" sz="1000" b="0" i="0" u="none" strike="noStrike" cap="none" normalizeH="0" baseline="0" dirty="0" smtClean="0">
                <a:ln>
                  <a:noFill/>
                </a:ln>
                <a:solidFill>
                  <a:srgbClr val="F08D49"/>
                </a:solidFill>
                <a:effectLst/>
                <a:latin typeface="Consolas" panose="020B0609020204030204" pitchFamily="49" charset="0"/>
              </a:rPr>
              <a:t>2.318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1.9022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1.8574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2.2378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153</a:t>
            </a:r>
            <a:r>
              <a:rPr kumimoji="0" lang="zh-CN" altLang="zh-CN" sz="1000" b="0" i="0" u="none" strike="noStrike" cap="none" normalizeH="0" baseline="0" dirty="0" smtClean="0">
                <a:ln>
                  <a:noFill/>
                </a:ln>
                <a:solidFill>
                  <a:srgbClr val="CCCCCC"/>
                </a:solidFill>
                <a:effectLst/>
                <a:latin typeface="Consolas" panose="020B0609020204030204" pitchFamily="49" charset="0"/>
              </a:rPr>
              <a:t>]: np.sqrt(arr, arr)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153</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nan, nan, nan, </a:t>
            </a:r>
            <a:r>
              <a:rPr kumimoji="0" lang="zh-CN" altLang="zh-CN" sz="1000" b="0" i="0" u="none" strike="noStrike" cap="none" normalizeH="0" baseline="0" dirty="0" smtClean="0">
                <a:ln>
                  <a:noFill/>
                </a:ln>
                <a:solidFill>
                  <a:srgbClr val="F08D49"/>
                </a:solidFill>
                <a:effectLst/>
                <a:latin typeface="Consolas" panose="020B0609020204030204" pitchFamily="49" charset="0"/>
              </a:rPr>
              <a:t>2.318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1.9022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1.8574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2.2378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154</a:t>
            </a:r>
            <a:r>
              <a:rPr kumimoji="0" lang="zh-CN" altLang="zh-CN" sz="1000" b="0" i="0" u="none" strike="noStrike" cap="none" normalizeH="0" baseline="0" dirty="0" smtClean="0">
                <a:ln>
                  <a:noFill/>
                </a:ln>
                <a:solidFill>
                  <a:srgbClr val="CCCCCC"/>
                </a:solidFill>
                <a:effectLst/>
                <a:latin typeface="Consolas" panose="020B0609020204030204" pitchFamily="49" charset="0"/>
              </a:rPr>
              <a:t>]: arr 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154</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nan, nan, nan, </a:t>
            </a:r>
            <a:r>
              <a:rPr kumimoji="0" lang="zh-CN" altLang="zh-CN" sz="1000" b="0" i="0" u="none" strike="noStrike" cap="none" normalizeH="0" baseline="0" dirty="0" smtClean="0">
                <a:ln>
                  <a:noFill/>
                </a:ln>
                <a:solidFill>
                  <a:srgbClr val="F08D49"/>
                </a:solidFill>
                <a:effectLst/>
                <a:latin typeface="Consolas" panose="020B0609020204030204" pitchFamily="49" charset="0"/>
              </a:rPr>
              <a:t>2.318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1.9022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1.8574</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2.2378</a:t>
            </a:r>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800" b="0" i="0" u="none" strike="noStrike" cap="none" normalizeH="0" baseline="0" dirty="0" smtClean="0">
                <a:ln>
                  <a:noFill/>
                </a:ln>
                <a:solidFill>
                  <a:schemeClr val="tx1"/>
                </a:solidFill>
                <a:effectLst/>
              </a:rPr>
              <a:t> </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通用函数：快速的逐元素数组函数</a:t>
            </a:r>
            <a:endParaRPr lang="zh-CN" altLang="en-US" dirty="0"/>
          </a:p>
        </p:txBody>
      </p:sp>
      <p:sp>
        <p:nvSpPr>
          <p:cNvPr id="3" name="内容占位符 2"/>
          <p:cNvSpPr>
            <a:spLocks noGrp="1"/>
          </p:cNvSpPr>
          <p:nvPr>
            <p:ph idx="1"/>
          </p:nvPr>
        </p:nvSpPr>
        <p:spPr/>
        <p:txBody>
          <a:bodyPr/>
          <a:lstStyle/>
          <a:p>
            <a:r>
              <a:rPr lang="zh-CN" altLang="en-US" dirty="0" smtClean="0">
                <a:sym typeface="+mn-ea"/>
              </a:rPr>
              <a:t>常用的一元通用函数</a:t>
            </a:r>
            <a:endParaRPr lang="en-US" altLang="zh-CN" dirty="0" smtClean="0">
              <a:sym typeface="+mn-ea"/>
            </a:endParaRPr>
          </a:p>
          <a:p>
            <a:endParaRPr lang="zh-CN" altLang="zh-CN" dirty="0">
              <a:sym typeface="+mn-e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078014" y="1736143"/>
            <a:ext cx="5112568" cy="2701763"/>
          </a:xfrm>
          <a:prstGeom prst="rect">
            <a:avLst/>
          </a:prstGeom>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8014" y="4406796"/>
            <a:ext cx="5112568" cy="1715525"/>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通用函数：快速的逐元素数组函数</a:t>
            </a:r>
            <a:endParaRPr lang="zh-CN" altLang="en-US" dirty="0"/>
          </a:p>
        </p:txBody>
      </p:sp>
      <p:sp>
        <p:nvSpPr>
          <p:cNvPr id="3" name="内容占位符 2"/>
          <p:cNvSpPr>
            <a:spLocks noGrp="1"/>
          </p:cNvSpPr>
          <p:nvPr>
            <p:ph idx="1"/>
          </p:nvPr>
        </p:nvSpPr>
        <p:spPr/>
        <p:txBody>
          <a:bodyPr/>
          <a:lstStyle/>
          <a:p>
            <a:r>
              <a:rPr lang="zh-CN" altLang="en-US" dirty="0" smtClean="0">
                <a:sym typeface="+mn-ea"/>
              </a:rPr>
              <a:t>常用的一元通用函数</a:t>
            </a:r>
            <a:endParaRPr lang="en-US" altLang="zh-CN" dirty="0" smtClean="0">
              <a:sym typeface="+mn-ea"/>
            </a:endParaRPr>
          </a:p>
          <a:p>
            <a:endParaRPr lang="zh-CN" altLang="zh-CN" dirty="0">
              <a:sym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5886" y="2061642"/>
            <a:ext cx="7416824" cy="1639046"/>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通用函数：快速的逐元素数组函数</a:t>
            </a:r>
            <a:endParaRPr lang="zh-CN" altLang="en-US" dirty="0"/>
          </a:p>
        </p:txBody>
      </p:sp>
      <p:sp>
        <p:nvSpPr>
          <p:cNvPr id="3" name="内容占位符 2"/>
          <p:cNvSpPr>
            <a:spLocks noGrp="1"/>
          </p:cNvSpPr>
          <p:nvPr>
            <p:ph idx="1"/>
          </p:nvPr>
        </p:nvSpPr>
        <p:spPr/>
        <p:txBody>
          <a:bodyPr/>
          <a:lstStyle/>
          <a:p>
            <a:r>
              <a:rPr lang="zh-CN" altLang="en-US" dirty="0" smtClean="0">
                <a:sym typeface="+mn-ea"/>
              </a:rPr>
              <a:t>常用的二元通用函数</a:t>
            </a:r>
            <a:endParaRPr lang="en-US" altLang="zh-CN" dirty="0" smtClean="0">
              <a:sym typeface="+mn-ea"/>
            </a:endParaRPr>
          </a:p>
          <a:p>
            <a:endParaRPr lang="zh-CN" altLang="zh-CN" dirty="0">
              <a:sym typeface="+mn-ea"/>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69902" y="1845618"/>
            <a:ext cx="7592942" cy="4086342"/>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通用函数：快速的逐元素数组函数</a:t>
            </a:r>
            <a:endParaRPr lang="zh-CN" altLang="en-US" dirty="0"/>
          </a:p>
        </p:txBody>
      </p:sp>
      <p:sp>
        <p:nvSpPr>
          <p:cNvPr id="3" name="内容占位符 2"/>
          <p:cNvSpPr>
            <a:spLocks noGrp="1"/>
          </p:cNvSpPr>
          <p:nvPr>
            <p:ph idx="1"/>
          </p:nvPr>
        </p:nvSpPr>
        <p:spPr/>
        <p:txBody>
          <a:bodyPr/>
          <a:lstStyle/>
          <a:p>
            <a:r>
              <a:rPr lang="zh-CN" altLang="en-US" dirty="0" smtClean="0">
                <a:sym typeface="+mn-ea"/>
              </a:rPr>
              <a:t>常用的二元通用函数</a:t>
            </a:r>
            <a:endParaRPr lang="en-US" altLang="zh-CN" dirty="0" smtClean="0">
              <a:sym typeface="+mn-ea"/>
            </a:endParaRPr>
          </a:p>
          <a:p>
            <a:endParaRPr lang="zh-CN" altLang="zh-CN" dirty="0">
              <a:sym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65846" y="2061642"/>
            <a:ext cx="8053536" cy="160593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利用数组进行数据处理</a:t>
            </a:r>
            <a:endParaRPr lang="zh-CN" altLang="en-US" dirty="0"/>
          </a:p>
        </p:txBody>
      </p:sp>
      <p:sp>
        <p:nvSpPr>
          <p:cNvPr id="3" name="内容占位符 2"/>
          <p:cNvSpPr>
            <a:spLocks noGrp="1"/>
          </p:cNvSpPr>
          <p:nvPr>
            <p:ph idx="1"/>
          </p:nvPr>
        </p:nvSpPr>
        <p:spPr/>
        <p:txBody>
          <a:bodyPr/>
          <a:lstStyle/>
          <a:p>
            <a:r>
              <a:rPr lang="en-US" altLang="zh-CN" dirty="0" err="1"/>
              <a:t>NumPy</a:t>
            </a:r>
            <a:r>
              <a:rPr lang="zh-CN" altLang="en-US" dirty="0" smtClean="0"/>
              <a:t>数组可以</a:t>
            </a:r>
            <a:r>
              <a:rPr lang="zh-CN" altLang="en-US" dirty="0"/>
              <a:t>将许多种数据处理任务表述为简洁的数组表达式（否则需要编写循环</a:t>
            </a:r>
            <a:r>
              <a:rPr lang="zh-CN" altLang="en-US" dirty="0" smtClean="0"/>
              <a:t>）</a:t>
            </a:r>
            <a:endParaRPr lang="en-US" altLang="zh-CN" dirty="0" smtClean="0"/>
          </a:p>
          <a:p>
            <a:pPr lvl="1"/>
            <a:r>
              <a:rPr lang="zh-CN" altLang="en-US" dirty="0"/>
              <a:t>用数组表达式代替循环的做法，通常被称为</a:t>
            </a:r>
            <a:r>
              <a:rPr lang="zh-CN" altLang="en-US" dirty="0" smtClean="0"/>
              <a:t>矢量化</a:t>
            </a:r>
            <a:endParaRPr lang="en-US" altLang="zh-CN" dirty="0" smtClean="0"/>
          </a:p>
          <a:p>
            <a:pPr lvl="2"/>
            <a:r>
              <a:rPr lang="zh-CN" altLang="en-US" dirty="0"/>
              <a:t>矢量化数组运算要比等价的纯</a:t>
            </a:r>
            <a:r>
              <a:rPr lang="en-US" altLang="zh-CN" dirty="0"/>
              <a:t>Python</a:t>
            </a:r>
            <a:r>
              <a:rPr lang="zh-CN" altLang="en-US" dirty="0"/>
              <a:t>方式快上一两个数量级（甚至更多）</a:t>
            </a:r>
            <a:endParaRPr lang="en-US" altLang="zh-CN" dirty="0">
              <a:sym typeface="+mn-ea"/>
            </a:endParaRPr>
          </a:p>
          <a:p>
            <a:pPr lvl="1"/>
            <a:r>
              <a:rPr lang="zh-CN" altLang="en-US" dirty="0" smtClean="0">
                <a:sym typeface="+mn-ea"/>
              </a:rPr>
              <a:t>示例：画一个渐变色的图</a:t>
            </a:r>
            <a:endParaRPr lang="en-US" altLang="zh-CN" dirty="0" smtClean="0">
              <a:sym typeface="+mn-ea"/>
            </a:endParaRPr>
          </a:p>
          <a:p>
            <a:pPr lvl="2"/>
            <a:r>
              <a:rPr lang="zh-CN" altLang="en-US" dirty="0" smtClean="0">
                <a:sym typeface="+mn-ea"/>
              </a:rPr>
              <a:t>生成</a:t>
            </a:r>
            <a:r>
              <a:rPr lang="en-US" altLang="zh-CN" dirty="0" smtClean="0">
                <a:sym typeface="+mn-ea"/>
              </a:rPr>
              <a:t>1</a:t>
            </a:r>
            <a:r>
              <a:rPr lang="zh-CN" altLang="en-US" dirty="0" smtClean="0">
                <a:sym typeface="+mn-ea"/>
              </a:rPr>
              <a:t>维渐变的数组</a:t>
            </a:r>
            <a:endParaRPr lang="en-US" altLang="zh-CN" dirty="0" smtClean="0">
              <a:sym typeface="+mn-ea"/>
            </a:endParaRPr>
          </a:p>
          <a:p>
            <a:pPr lvl="2"/>
            <a:r>
              <a:rPr lang="zh-CN" altLang="en-US" dirty="0" smtClean="0">
                <a:sym typeface="+mn-ea"/>
              </a:rPr>
              <a:t>生成</a:t>
            </a:r>
            <a:r>
              <a:rPr lang="en-US" altLang="zh-CN" dirty="0" smtClean="0">
                <a:sym typeface="+mn-ea"/>
              </a:rPr>
              <a:t>2</a:t>
            </a:r>
            <a:r>
              <a:rPr lang="zh-CN" altLang="en-US" dirty="0" smtClean="0">
                <a:sym typeface="+mn-ea"/>
              </a:rPr>
              <a:t>维网格</a:t>
            </a:r>
            <a:endParaRPr lang="en-US" altLang="zh-CN" dirty="0" smtClean="0">
              <a:sym typeface="+mn-ea"/>
            </a:endParaRPr>
          </a:p>
          <a:p>
            <a:pPr lvl="2"/>
            <a:r>
              <a:rPr lang="zh-CN" altLang="en-US" dirty="0" smtClean="0">
                <a:sym typeface="+mn-ea"/>
              </a:rPr>
              <a:t>生成</a:t>
            </a:r>
            <a:r>
              <a:rPr lang="en-US" altLang="zh-CN" dirty="0" smtClean="0">
                <a:sym typeface="+mn-ea"/>
              </a:rPr>
              <a:t>2</a:t>
            </a:r>
            <a:r>
              <a:rPr lang="zh-CN" altLang="en-US" dirty="0" smtClean="0">
                <a:sym typeface="+mn-ea"/>
              </a:rPr>
              <a:t>维大小渐变的数组</a:t>
            </a:r>
            <a:endParaRPr lang="en-US" altLang="zh-CN" dirty="0" smtClean="0">
              <a:sym typeface="+mn-ea"/>
            </a:endParaRPr>
          </a:p>
          <a:p>
            <a:pPr lvl="2"/>
            <a:r>
              <a:rPr lang="zh-CN" altLang="en-US" dirty="0">
                <a:sym typeface="+mn-ea"/>
              </a:rPr>
              <a:t>画图</a:t>
            </a:r>
            <a:endParaRPr lang="zh-CN" altLang="zh-CN" dirty="0">
              <a:sym typeface="+mn-ea"/>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894438" y="2709714"/>
            <a:ext cx="3600400" cy="3181473"/>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利用数组进行数据处理</a:t>
            </a:r>
            <a:endParaRPr lang="zh-CN" altLang="en-US" dirty="0"/>
          </a:p>
        </p:txBody>
      </p:sp>
      <p:sp>
        <p:nvSpPr>
          <p:cNvPr id="3" name="内容占位符 2"/>
          <p:cNvSpPr>
            <a:spLocks noGrp="1"/>
          </p:cNvSpPr>
          <p:nvPr>
            <p:ph idx="1"/>
          </p:nvPr>
        </p:nvSpPr>
        <p:spPr/>
        <p:txBody>
          <a:bodyPr/>
          <a:lstStyle/>
          <a:p>
            <a:pPr lvl="1"/>
            <a:r>
              <a:rPr lang="zh-CN" altLang="en-US" dirty="0" smtClean="0">
                <a:sym typeface="+mn-ea"/>
              </a:rPr>
              <a:t>示例：画一个渐变色的图</a:t>
            </a:r>
            <a:endParaRPr lang="en-US" altLang="zh-CN" dirty="0" smtClean="0">
              <a:sym typeface="+mn-ea"/>
            </a:endParaRPr>
          </a:p>
          <a:p>
            <a:pPr lvl="2"/>
            <a:r>
              <a:rPr lang="zh-CN" altLang="en-US" dirty="0" smtClean="0">
                <a:sym typeface="+mn-ea"/>
              </a:rPr>
              <a:t>生成</a:t>
            </a:r>
            <a:r>
              <a:rPr lang="en-US" altLang="zh-CN" dirty="0" smtClean="0">
                <a:sym typeface="+mn-ea"/>
              </a:rPr>
              <a:t>1</a:t>
            </a:r>
            <a:r>
              <a:rPr lang="zh-CN" altLang="en-US" dirty="0" smtClean="0">
                <a:sym typeface="+mn-ea"/>
              </a:rPr>
              <a:t>维渐变的数组</a:t>
            </a:r>
            <a:endParaRPr lang="en-US" altLang="zh-CN" dirty="0" smtClean="0">
              <a:sym typeface="+mn-ea"/>
            </a:endParaRPr>
          </a:p>
          <a:p>
            <a:pPr lvl="2"/>
            <a:r>
              <a:rPr lang="zh-CN" altLang="en-US" dirty="0" smtClean="0">
                <a:sym typeface="+mn-ea"/>
              </a:rPr>
              <a:t>生成</a:t>
            </a:r>
            <a:r>
              <a:rPr lang="en-US" altLang="zh-CN" dirty="0" smtClean="0">
                <a:sym typeface="+mn-ea"/>
              </a:rPr>
              <a:t>2</a:t>
            </a:r>
            <a:r>
              <a:rPr lang="zh-CN" altLang="en-US" dirty="0" smtClean="0">
                <a:sym typeface="+mn-ea"/>
              </a:rPr>
              <a:t>维网格</a:t>
            </a:r>
            <a:endParaRPr lang="en-US" altLang="zh-CN" dirty="0" smtClean="0">
              <a:sym typeface="+mn-ea"/>
            </a:endParaRPr>
          </a:p>
          <a:p>
            <a:pPr lvl="2"/>
            <a:r>
              <a:rPr lang="zh-CN" altLang="en-US" dirty="0" smtClean="0">
                <a:sym typeface="+mn-ea"/>
              </a:rPr>
              <a:t>生成</a:t>
            </a:r>
            <a:r>
              <a:rPr lang="en-US" altLang="zh-CN" dirty="0" smtClean="0">
                <a:sym typeface="+mn-ea"/>
              </a:rPr>
              <a:t>2</a:t>
            </a:r>
            <a:r>
              <a:rPr lang="zh-CN" altLang="en-US" dirty="0" smtClean="0">
                <a:sym typeface="+mn-ea"/>
              </a:rPr>
              <a:t>维大小渐变的数组</a:t>
            </a:r>
            <a:endParaRPr lang="en-US" altLang="zh-CN" dirty="0" smtClean="0">
              <a:sym typeface="+mn-ea"/>
            </a:endParaRPr>
          </a:p>
          <a:p>
            <a:pPr lvl="2"/>
            <a:r>
              <a:rPr lang="zh-CN" altLang="en-US" dirty="0" smtClean="0">
                <a:sym typeface="+mn-ea"/>
              </a:rPr>
              <a:t>画图</a:t>
            </a:r>
            <a:endParaRPr lang="en-US" altLang="zh-CN" dirty="0" smtClean="0">
              <a:sym typeface="+mn-ea"/>
            </a:endParaRPr>
          </a:p>
          <a:p>
            <a:pPr lvl="2"/>
            <a:r>
              <a:rPr lang="zh-CN" altLang="en-US" dirty="0" smtClean="0">
                <a:sym typeface="+mn-ea"/>
              </a:rPr>
              <a:t>思考题：中心亮，越靠边越暗</a:t>
            </a:r>
            <a:endParaRPr lang="zh-CN" altLang="zh-CN" dirty="0">
              <a:sym typeface="+mn-ea"/>
            </a:endParaRPr>
          </a:p>
        </p:txBody>
      </p:sp>
      <p:grpSp>
        <p:nvGrpSpPr>
          <p:cNvPr id="9" name="组合 8"/>
          <p:cNvGrpSpPr/>
          <p:nvPr/>
        </p:nvGrpSpPr>
        <p:grpSpPr>
          <a:xfrm>
            <a:off x="6132790" y="1629594"/>
            <a:ext cx="5430974" cy="3923359"/>
            <a:chOff x="6791503" y="2204276"/>
            <a:chExt cx="5430974" cy="3923359"/>
          </a:xfrm>
        </p:grpSpPr>
        <p:sp>
          <p:nvSpPr>
            <p:cNvPr id="4" name="Rectangle 2"/>
            <p:cNvSpPr>
              <a:spLocks noChangeArrowheads="1"/>
            </p:cNvSpPr>
            <p:nvPr/>
          </p:nvSpPr>
          <p:spPr bwMode="auto">
            <a:xfrm>
              <a:off x="6791503" y="2204276"/>
              <a:ext cx="5428949" cy="1513194"/>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155</a:t>
              </a:r>
              <a:r>
                <a:rPr kumimoji="0" lang="zh-CN" altLang="zh-CN" sz="1000" b="0" i="0" u="none" strike="noStrike" cap="none" normalizeH="0" baseline="0" dirty="0" smtClean="0">
                  <a:ln>
                    <a:noFill/>
                  </a:ln>
                  <a:solidFill>
                    <a:srgbClr val="CCCCCC"/>
                  </a:solidFill>
                  <a:effectLst/>
                  <a:latin typeface="Consolas" panose="020B0609020204030204" pitchFamily="49" charset="0"/>
                </a:rPr>
                <a:t>]: points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np.arange(</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0.01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999999"/>
                  </a:solidFill>
                  <a:effectLst/>
                  <a:latin typeface="Consolas" panose="020B0609020204030204" pitchFamily="49" charset="0"/>
                </a:rPr>
                <a:t># 1000 equally spaced points</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156</a:t>
              </a:r>
              <a:r>
                <a:rPr kumimoji="0" lang="zh-CN" altLang="zh-CN" sz="1000" b="0" i="0" u="none" strike="noStrike" cap="none" normalizeH="0" baseline="0" dirty="0" smtClean="0">
                  <a:ln>
                    <a:noFill/>
                  </a:ln>
                  <a:solidFill>
                    <a:srgbClr val="CCCCCC"/>
                  </a:solidFill>
                  <a:effectLst/>
                  <a:latin typeface="Consolas" panose="020B0609020204030204" pitchFamily="49" charset="0"/>
                </a:rPr>
                <a:t>]: xs, ys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np.meshgrid(points, points)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157</a:t>
              </a:r>
              <a:r>
                <a:rPr kumimoji="0" lang="zh-CN" altLang="zh-CN" sz="1000" b="0" i="0" u="none" strike="noStrike" cap="none" normalizeH="0" baseline="0" dirty="0" smtClean="0">
                  <a:ln>
                    <a:noFill/>
                  </a:ln>
                  <a:solidFill>
                    <a:srgbClr val="CCCCCC"/>
                  </a:solidFill>
                  <a:effectLst/>
                  <a:latin typeface="Consolas" panose="020B0609020204030204" pitchFamily="49" charset="0"/>
                </a:rPr>
                <a:t>]: ys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157</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5</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4.97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4.97</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4.97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4.99</a:t>
              </a:r>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800" b="0" i="0" u="none" strike="noStrike" cap="none" normalizeH="0" baseline="0" dirty="0" smtClean="0">
                  <a:ln>
                    <a:noFill/>
                  </a:ln>
                  <a:solidFill>
                    <a:schemeClr val="tx1"/>
                  </a:solidFill>
                  <a:effectLst/>
                </a:rPr>
                <a:t> </a:t>
              </a:r>
              <a:endParaRPr kumimoji="0" lang="zh-CN" altLang="zh-CN" b="0" i="0" u="none" strike="noStrike" cap="none" normalizeH="0" baseline="0" dirty="0" smtClean="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6791504" y="3718139"/>
              <a:ext cx="5426070" cy="1513194"/>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158</a:t>
              </a:r>
              <a:r>
                <a:rPr kumimoji="0" lang="zh-CN" altLang="zh-CN" sz="1000" b="0" i="0" u="none" strike="noStrike" cap="none" normalizeH="0" baseline="0" dirty="0" smtClean="0">
                  <a:ln>
                    <a:noFill/>
                  </a:ln>
                  <a:solidFill>
                    <a:srgbClr val="CCCCCC"/>
                  </a:solidFill>
                  <a:effectLst/>
                  <a:latin typeface="Consolas" panose="020B0609020204030204" pitchFamily="49" charset="0"/>
                </a:rPr>
                <a:t>]: z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np.sqrt(xs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ys </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159</a:t>
              </a:r>
              <a:r>
                <a:rPr kumimoji="0" lang="zh-CN" altLang="zh-CN" sz="1000" b="0" i="0" u="none" strike="noStrike" cap="none" normalizeH="0" baseline="0" dirty="0" smtClean="0">
                  <a:ln>
                    <a:noFill/>
                  </a:ln>
                  <a:solidFill>
                    <a:srgbClr val="CCCCCC"/>
                  </a:solidFill>
                  <a:effectLst/>
                  <a:latin typeface="Consolas" panose="020B0609020204030204" pitchFamily="49" charset="0"/>
                </a:rPr>
                <a:t>]: z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159</a:t>
              </a:r>
              <a:r>
                <a:rPr kumimoji="0" lang="zh-CN" altLang="zh-CN" sz="1000" b="0" i="0" u="none" strike="noStrike" cap="none" normalizeH="0" baseline="0" dirty="0" smtClean="0">
                  <a:ln>
                    <a:noFill/>
                  </a:ln>
                  <a:solidFill>
                    <a:srgbClr val="CCCCCC"/>
                  </a:solidFill>
                  <a:effectLst/>
                  <a:latin typeface="Consolas" panose="020B0609020204030204" pitchFamily="49" charset="0"/>
                </a:rPr>
                <a:t>]: array([[ </a:t>
              </a:r>
              <a:r>
                <a:rPr kumimoji="0" lang="zh-CN" altLang="zh-CN" sz="1000" b="0" i="0" u="none" strike="noStrike" cap="none" normalizeH="0" baseline="0" dirty="0" smtClean="0">
                  <a:ln>
                    <a:noFill/>
                  </a:ln>
                  <a:solidFill>
                    <a:srgbClr val="F08D49"/>
                  </a:solidFill>
                  <a:effectLst/>
                  <a:latin typeface="Consolas" panose="020B0609020204030204" pitchFamily="49" charset="0"/>
                </a:rPr>
                <a:t>7.0711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7.064</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7.064</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7.064</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7.0357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7.0357</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7.0286</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7.0357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7.0357</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lvl="2" eaLnBrk="0" hangingPunct="0"/>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7.064</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 </a:t>
              </a:r>
              <a:r>
                <a:rPr kumimoji="0" lang="zh-CN" altLang="zh-CN" sz="1000" b="0" i="0" u="none" strike="noStrike" cap="none" normalizeH="0" baseline="0" dirty="0" smtClean="0">
                  <a:ln>
                    <a:noFill/>
                  </a:ln>
                  <a:solidFill>
                    <a:srgbClr val="F08D49"/>
                  </a:solidFill>
                  <a:effectLst/>
                  <a:latin typeface="Consolas" panose="020B0609020204030204" pitchFamily="49" charset="0"/>
                </a:rPr>
                <a:t>7.0428</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7.0499</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7.0569</a:t>
              </a:r>
              <a:r>
                <a:rPr kumimoji="0" lang="zh-CN" altLang="zh-CN" sz="1000" b="0" i="0" u="none" strike="noStrike" cap="none" normalizeH="0" baseline="0" dirty="0" smtClean="0">
                  <a:ln>
                    <a:noFill/>
                  </a:ln>
                  <a:solidFill>
                    <a:srgbClr val="CCCCCC"/>
                  </a:solidFill>
                  <a:effectLst/>
                  <a:latin typeface="Consolas" panose="020B0609020204030204" pitchFamily="49" charset="0"/>
                </a:rPr>
                <a:t>]])</a:t>
              </a:r>
              <a:r>
                <a:rPr kumimoji="0" lang="zh-CN" altLang="zh-CN" sz="800" b="0" i="0" u="none" strike="noStrike" cap="none" normalizeH="0" baseline="0" dirty="0" smtClean="0">
                  <a:ln>
                    <a:noFill/>
                  </a:ln>
                  <a:solidFill>
                    <a:schemeClr val="tx1"/>
                  </a:solidFill>
                  <a:effectLst/>
                </a:rPr>
                <a:t> </a:t>
              </a:r>
              <a:endParaRPr kumimoji="0" lang="zh-CN" altLang="zh-CN"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6791503" y="5229994"/>
              <a:ext cx="5430974" cy="897641"/>
            </a:xfrm>
            <a:prstGeom prst="rect">
              <a:avLst/>
            </a:prstGeom>
            <a:solidFill>
              <a:srgbClr val="2D2D2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160</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CC99CD"/>
                  </a:solidFill>
                  <a:effectLst/>
                  <a:latin typeface="Consolas" panose="020B0609020204030204" pitchFamily="49" charset="0"/>
                </a:rPr>
                <a:t>import</a:t>
              </a:r>
              <a:r>
                <a:rPr kumimoji="0" lang="zh-CN" altLang="zh-CN" sz="1000" b="0" i="0" u="none" strike="noStrike" cap="none" normalizeH="0" baseline="0" dirty="0" smtClean="0">
                  <a:ln>
                    <a:noFill/>
                  </a:ln>
                  <a:solidFill>
                    <a:srgbClr val="CCCCCC"/>
                  </a:solidFill>
                  <a:effectLst/>
                  <a:latin typeface="Consolas" panose="020B0609020204030204" pitchFamily="49" charset="0"/>
                </a:rPr>
                <a:t> matplotlib.pyplot </a:t>
              </a:r>
              <a:r>
                <a:rPr kumimoji="0" lang="zh-CN" altLang="zh-CN" sz="1000" b="0" i="0" u="none" strike="noStrike" cap="none" normalizeH="0" baseline="0" dirty="0" smtClean="0">
                  <a:ln>
                    <a:noFill/>
                  </a:ln>
                  <a:solidFill>
                    <a:srgbClr val="CC99CD"/>
                  </a:solidFill>
                  <a:effectLst/>
                  <a:latin typeface="Consolas" panose="020B0609020204030204" pitchFamily="49" charset="0"/>
                </a:rPr>
                <a:t>as</a:t>
              </a:r>
              <a:r>
                <a:rPr kumimoji="0" lang="zh-CN" altLang="zh-CN" sz="1000" b="0" i="0" u="none" strike="noStrike" cap="none" normalizeH="0" baseline="0" dirty="0" smtClean="0">
                  <a:ln>
                    <a:noFill/>
                  </a:ln>
                  <a:solidFill>
                    <a:srgbClr val="CCCCCC"/>
                  </a:solidFill>
                  <a:effectLst/>
                  <a:latin typeface="Consolas" panose="020B0609020204030204" pitchFamily="49" charset="0"/>
                </a:rPr>
                <a:t> plt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161</a:t>
              </a:r>
              <a:r>
                <a:rPr kumimoji="0" lang="zh-CN" altLang="zh-CN" sz="1000" b="0" i="0" u="none" strike="noStrike" cap="none" normalizeH="0" baseline="0" dirty="0" smtClean="0">
                  <a:ln>
                    <a:noFill/>
                  </a:ln>
                  <a:solidFill>
                    <a:srgbClr val="CCCCCC"/>
                  </a:solidFill>
                  <a:effectLst/>
                  <a:latin typeface="Consolas" panose="020B0609020204030204" pitchFamily="49" charset="0"/>
                </a:rPr>
                <a:t>]: plt.imshow(z, cmap</a:t>
              </a:r>
              <a:r>
                <a:rPr kumimoji="0" lang="zh-CN" altLang="zh-CN" sz="1000" b="0" i="0" u="none" strike="noStrike" cap="none" normalizeH="0" baseline="0" dirty="0" smtClean="0">
                  <a:ln>
                    <a:noFill/>
                  </a:ln>
                  <a:solidFill>
                    <a:srgbClr val="67CDCC"/>
                  </a:solidFill>
                  <a:effectLst/>
                  <a:latin typeface="Consolas" panose="020B0609020204030204" pitchFamily="49" charset="0"/>
                </a:rPr>
                <a:t>=</a:t>
              </a:r>
              <a:r>
                <a:rPr kumimoji="0" lang="zh-CN" altLang="zh-CN" sz="1000" b="0" i="0" u="none" strike="noStrike" cap="none" normalizeH="0" baseline="0" dirty="0" smtClean="0">
                  <a:ln>
                    <a:noFill/>
                  </a:ln>
                  <a:solidFill>
                    <a:srgbClr val="CCCCCC"/>
                  </a:solidFill>
                  <a:effectLst/>
                  <a:latin typeface="Consolas" panose="020B0609020204030204" pitchFamily="49" charset="0"/>
                </a:rPr>
                <a:t>plt.cm.gray); plt.colorbar()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161</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&lt;</a:t>
              </a:r>
              <a:r>
                <a:rPr kumimoji="0" lang="zh-CN" altLang="zh-CN" sz="1000" b="0" i="0" u="none" strike="noStrike" cap="none" normalizeH="0" baseline="0" dirty="0" smtClean="0">
                  <a:ln>
                    <a:noFill/>
                  </a:ln>
                  <a:solidFill>
                    <a:srgbClr val="CCCCCC"/>
                  </a:solidFill>
                  <a:effectLst/>
                  <a:latin typeface="Consolas" panose="020B0609020204030204" pitchFamily="49" charset="0"/>
                </a:rPr>
                <a:t>matplotlib.colorbar.Colorbar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0x7f715e3fa630</a:t>
              </a:r>
              <a:r>
                <a:rPr kumimoji="0" lang="zh-CN" altLang="zh-CN" sz="1000" b="0" i="0" u="none" strike="noStrike" cap="none" normalizeH="0" baseline="0" dirty="0" smtClean="0">
                  <a:ln>
                    <a:noFill/>
                  </a:ln>
                  <a:solidFill>
                    <a:srgbClr val="67CDCC"/>
                  </a:solidFill>
                  <a:effectLst/>
                  <a:latin typeface="Consolas" panose="020B0609020204030204" pitchFamily="49" charset="0"/>
                </a:rPr>
                <a:t>&gt;</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In [</a:t>
              </a:r>
              <a:r>
                <a:rPr kumimoji="0" lang="zh-CN" altLang="zh-CN" sz="1000" b="0" i="0" u="none" strike="noStrike" cap="none" normalizeH="0" baseline="0" dirty="0" smtClean="0">
                  <a:ln>
                    <a:noFill/>
                  </a:ln>
                  <a:solidFill>
                    <a:srgbClr val="F08D49"/>
                  </a:solidFill>
                  <a:effectLst/>
                  <a:latin typeface="Consolas" panose="020B0609020204030204" pitchFamily="49" charset="0"/>
                </a:rPr>
                <a:t>162</a:t>
              </a:r>
              <a:r>
                <a:rPr kumimoji="0" lang="zh-CN" altLang="zh-CN" sz="1000" b="0" i="0" u="none" strike="noStrike" cap="none" normalizeH="0" baseline="0" dirty="0" smtClean="0">
                  <a:ln>
                    <a:noFill/>
                  </a:ln>
                  <a:solidFill>
                    <a:srgbClr val="CCCCCC"/>
                  </a:solidFill>
                  <a:effectLst/>
                  <a:latin typeface="Consolas" panose="020B0609020204030204" pitchFamily="49" charset="0"/>
                </a:rPr>
                <a:t>]: plt.title(</a:t>
              </a:r>
              <a:r>
                <a:rPr kumimoji="0" lang="zh-CN" altLang="zh-CN" sz="1000" b="0" i="0" u="none" strike="noStrike" cap="none" normalizeH="0" baseline="0" dirty="0" smtClean="0">
                  <a:ln>
                    <a:noFill/>
                  </a:ln>
                  <a:solidFill>
                    <a:srgbClr val="7EC699"/>
                  </a:solidFill>
                  <a:effectLst/>
                  <a:latin typeface="Consolas" panose="020B0609020204030204" pitchFamily="49" charset="0"/>
                </a:rPr>
                <a:t>"Image plot of $\sqrt{x^2 + y^2}$ for a grid of values"</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endParaRPr kumimoji="0" lang="en-US" altLang="zh-CN" sz="1000" b="0" i="0" u="none" strike="noStrike" cap="none" normalizeH="0" baseline="0" dirty="0" smtClean="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dirty="0" smtClean="0">
                  <a:ln>
                    <a:noFill/>
                  </a:ln>
                  <a:solidFill>
                    <a:srgbClr val="CCCCCC"/>
                  </a:solidFill>
                  <a:effectLst/>
                  <a:latin typeface="Consolas" panose="020B0609020204030204" pitchFamily="49" charset="0"/>
                </a:rPr>
                <a:t>Out[</a:t>
              </a:r>
              <a:r>
                <a:rPr kumimoji="0" lang="zh-CN" altLang="zh-CN" sz="1000" b="0" i="0" u="none" strike="noStrike" cap="none" normalizeH="0" baseline="0" dirty="0" smtClean="0">
                  <a:ln>
                    <a:noFill/>
                  </a:ln>
                  <a:solidFill>
                    <a:srgbClr val="F08D49"/>
                  </a:solidFill>
                  <a:effectLst/>
                  <a:latin typeface="Consolas" panose="020B0609020204030204" pitchFamily="49" charset="0"/>
                </a:rPr>
                <a:t>162</a:t>
              </a:r>
              <a:r>
                <a:rPr kumimoji="0" lang="zh-CN" altLang="zh-CN" sz="1000" b="0" i="0" u="none" strike="noStrike" cap="none" normalizeH="0" baseline="0" dirty="0" smtClean="0">
                  <a:ln>
                    <a:noFill/>
                  </a:ln>
                  <a:solidFill>
                    <a:srgbClr val="CCCCCC"/>
                  </a:solidFill>
                  <a:effectLst/>
                  <a:latin typeface="Consolas" panose="020B0609020204030204" pitchFamily="49" charset="0"/>
                </a:rPr>
                <a:t>]: </a:t>
              </a:r>
              <a:r>
                <a:rPr kumimoji="0" lang="zh-CN" altLang="zh-CN" sz="1000" b="0" i="0" u="none" strike="noStrike" cap="none" normalizeH="0" baseline="0" dirty="0" smtClean="0">
                  <a:ln>
                    <a:noFill/>
                  </a:ln>
                  <a:solidFill>
                    <a:srgbClr val="67CDCC"/>
                  </a:solidFill>
                  <a:effectLst/>
                  <a:latin typeface="Consolas" panose="020B0609020204030204" pitchFamily="49" charset="0"/>
                </a:rPr>
                <a:t>&lt;</a:t>
              </a:r>
              <a:r>
                <a:rPr kumimoji="0" lang="zh-CN" altLang="zh-CN" sz="1000" b="0" i="0" u="none" strike="noStrike" cap="none" normalizeH="0" baseline="0" dirty="0" smtClean="0">
                  <a:ln>
                    <a:noFill/>
                  </a:ln>
                  <a:solidFill>
                    <a:srgbClr val="CCCCCC"/>
                  </a:solidFill>
                  <a:effectLst/>
                  <a:latin typeface="Consolas" panose="020B0609020204030204" pitchFamily="49" charset="0"/>
                </a:rPr>
                <a:t>matplotlib.text.Text at </a:t>
              </a:r>
              <a:r>
                <a:rPr kumimoji="0" lang="zh-CN" altLang="zh-CN" sz="1000" b="0" i="0" u="none" strike="noStrike" cap="none" normalizeH="0" baseline="0" dirty="0" smtClean="0">
                  <a:ln>
                    <a:noFill/>
                  </a:ln>
                  <a:solidFill>
                    <a:srgbClr val="F08D49"/>
                  </a:solidFill>
                  <a:effectLst/>
                  <a:latin typeface="Consolas" panose="020B0609020204030204" pitchFamily="49" charset="0"/>
                </a:rPr>
                <a:t>0x7f715d2de748</a:t>
              </a:r>
              <a:r>
                <a:rPr kumimoji="0" lang="zh-CN" altLang="zh-CN" sz="1000" b="0" i="0" u="none" strike="noStrike" cap="none" normalizeH="0" baseline="0" dirty="0" smtClean="0">
                  <a:ln>
                    <a:noFill/>
                  </a:ln>
                  <a:solidFill>
                    <a:srgbClr val="67CDCC"/>
                  </a:solidFill>
                  <a:effectLst/>
                  <a:latin typeface="Consolas" panose="020B0609020204030204" pitchFamily="49" charset="0"/>
                </a:rPr>
                <a:t>&gt;</a:t>
              </a:r>
              <a:r>
                <a:rPr kumimoji="0" lang="zh-CN" altLang="zh-CN" sz="800" b="0" i="0" u="none" strike="noStrike" cap="none" normalizeH="0" baseline="0" dirty="0" smtClean="0">
                  <a:ln>
                    <a:noFill/>
                  </a:ln>
                  <a:solidFill>
                    <a:schemeClr val="tx1"/>
                  </a:solidFill>
                  <a:effectLst/>
                </a:rPr>
                <a:t> </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4.3.1 </a:t>
            </a:r>
            <a:r>
              <a:rPr lang="zh-CN" altLang="en-US" dirty="0"/>
              <a:t>将条件逻辑表述为数组运算</a:t>
            </a:r>
            <a:endParaRPr lang="zh-CN" altLang="en-US" dirty="0"/>
          </a:p>
        </p:txBody>
      </p:sp>
      <p:sp>
        <p:nvSpPr>
          <p:cNvPr id="3" name="内容占位符 2"/>
          <p:cNvSpPr>
            <a:spLocks noGrp="1"/>
          </p:cNvSpPr>
          <p:nvPr>
            <p:ph idx="1"/>
          </p:nvPr>
        </p:nvSpPr>
        <p:spPr/>
        <p:txBody>
          <a:bodyPr/>
          <a:lstStyle/>
          <a:p>
            <a:r>
              <a:rPr lang="en-US" altLang="zh-CN" dirty="0" err="1"/>
              <a:t>numpy.where</a:t>
            </a:r>
            <a:r>
              <a:rPr lang="zh-CN" altLang="en-US" dirty="0"/>
              <a:t>函数是三元表达式</a:t>
            </a:r>
            <a:r>
              <a:rPr lang="en-US" altLang="zh-CN" dirty="0"/>
              <a:t>x if condition else y</a:t>
            </a:r>
            <a:r>
              <a:rPr lang="zh-CN" altLang="en-US" dirty="0"/>
              <a:t>的矢量化</a:t>
            </a:r>
            <a:r>
              <a:rPr lang="zh-CN" altLang="en-US" dirty="0" smtClean="0"/>
              <a:t>版本</a:t>
            </a:r>
            <a:endParaRPr lang="zh-CN" altLang="en-US" dirty="0" smtClean="0"/>
          </a:p>
          <a:p>
            <a:pPr lvl="1"/>
            <a:r>
              <a:rPr lang="zh-CN" altLang="en-US" dirty="0" smtClean="0"/>
              <a:t>示例</a:t>
            </a:r>
            <a:r>
              <a:rPr lang="en-US" altLang="zh-CN" dirty="0" smtClean="0"/>
              <a:t>1</a:t>
            </a:r>
            <a:r>
              <a:rPr lang="zh-CN" altLang="en-US" dirty="0" smtClean="0"/>
              <a:t>：根据条件选择相应数组中的元素组成新的数组</a:t>
            </a:r>
            <a:endParaRPr lang="en-US" altLang="zh-CN" dirty="0" smtClean="0"/>
          </a:p>
          <a:p>
            <a:endParaRPr lang="en-US" altLang="zh-CN" dirty="0" smtClean="0"/>
          </a:p>
          <a:p>
            <a:endParaRPr lang="en-US" altLang="zh-CN" dirty="0" smtClean="0"/>
          </a:p>
          <a:p>
            <a:pPr lvl="2"/>
            <a:r>
              <a:rPr lang="zh-CN" altLang="en-US" dirty="0" smtClean="0"/>
              <a:t>纯</a:t>
            </a:r>
            <a:r>
              <a:rPr lang="en-US" altLang="zh-CN" dirty="0" smtClean="0"/>
              <a:t>Python</a:t>
            </a:r>
            <a:r>
              <a:rPr lang="zh-CN" altLang="en-US" dirty="0" smtClean="0"/>
              <a:t>实现方法</a:t>
            </a:r>
            <a:endParaRPr lang="en-US" altLang="zh-CN" dirty="0" smtClean="0"/>
          </a:p>
          <a:p>
            <a:endParaRPr lang="en-US" altLang="zh-CN" dirty="0" smtClean="0"/>
          </a:p>
          <a:p>
            <a:endParaRPr lang="en-US" altLang="zh-CN" dirty="0" smtClean="0"/>
          </a:p>
          <a:p>
            <a:pPr lvl="2"/>
            <a:r>
              <a:rPr lang="zh-CN" altLang="en-US" dirty="0" smtClean="0"/>
              <a:t>问题：</a:t>
            </a:r>
            <a:endParaRPr lang="zh-CN" altLang="en-US" dirty="0" smtClean="0"/>
          </a:p>
          <a:p>
            <a:pPr lvl="3"/>
            <a:r>
              <a:rPr lang="en-US" altLang="zh-CN" dirty="0" smtClean="0"/>
              <a:t>对大数组的处理速度不是很快</a:t>
            </a:r>
            <a:endParaRPr lang="en-US" altLang="zh-CN" dirty="0" smtClean="0"/>
          </a:p>
          <a:p>
            <a:pPr lvl="3"/>
            <a:r>
              <a:rPr lang="en-US" altLang="zh-CN" dirty="0" smtClean="0"/>
              <a:t>无法用于多维数组</a:t>
            </a:r>
            <a:endParaRPr lang="en-US" altLang="zh-CN" dirty="0" smtClean="0"/>
          </a:p>
        </p:txBody>
      </p:sp>
      <p:sp>
        <p:nvSpPr>
          <p:cNvPr id="4" name="文本框 3"/>
          <p:cNvSpPr txBox="1"/>
          <p:nvPr/>
        </p:nvSpPr>
        <p:spPr>
          <a:xfrm>
            <a:off x="2357755" y="2205355"/>
            <a:ext cx="6127750" cy="737235"/>
          </a:xfrm>
          <a:prstGeom prst="rect">
            <a:avLst/>
          </a:prstGeom>
          <a:noFill/>
        </p:spPr>
        <p:txBody>
          <a:bodyPr wrap="square" rtlCol="0" anchor="t">
            <a:spAutoFit/>
          </a:bodyPr>
          <a:p>
            <a:r>
              <a:rPr lang="zh-CN" altLang="en-US" sz="1400"/>
              <a:t>In [165]: xarr = np.array([1.1, 1.2, 1.3, 1.4, 1.5])</a:t>
            </a:r>
            <a:endParaRPr lang="zh-CN" altLang="en-US" sz="1400"/>
          </a:p>
          <a:p>
            <a:r>
              <a:rPr lang="zh-CN" altLang="en-US" sz="1400"/>
              <a:t>In [166]: yarr = np.array([2.1, 2.2, 2.3, 2.4, 2.5])</a:t>
            </a:r>
            <a:endParaRPr lang="zh-CN" altLang="en-US" sz="1400"/>
          </a:p>
          <a:p>
            <a:r>
              <a:rPr lang="zh-CN" altLang="en-US" sz="1400"/>
              <a:t>In [167]: cond = np.array([True, False, True, True, False])</a:t>
            </a:r>
            <a:endParaRPr lang="zh-CN" altLang="en-US" sz="1400"/>
          </a:p>
        </p:txBody>
      </p:sp>
      <p:sp>
        <p:nvSpPr>
          <p:cNvPr id="5" name="文本框 4"/>
          <p:cNvSpPr txBox="1"/>
          <p:nvPr/>
        </p:nvSpPr>
        <p:spPr>
          <a:xfrm>
            <a:off x="2501900" y="3573780"/>
            <a:ext cx="8662670" cy="953135"/>
          </a:xfrm>
          <a:prstGeom prst="rect">
            <a:avLst/>
          </a:prstGeom>
          <a:noFill/>
        </p:spPr>
        <p:txBody>
          <a:bodyPr wrap="square" rtlCol="0" anchor="t">
            <a:spAutoFit/>
          </a:bodyPr>
          <a:p>
            <a:r>
              <a:rPr lang="zh-CN" altLang="en-US" sz="1400"/>
              <a:t>In [168]: result = [(x if c else y)</a:t>
            </a:r>
            <a:endParaRPr lang="zh-CN" altLang="en-US" sz="1400"/>
          </a:p>
          <a:p>
            <a:r>
              <a:rPr lang="zh-CN" altLang="en-US" sz="1400"/>
              <a:t>   .....:           for x, y, c in zip(xarr, yarr, cond)]</a:t>
            </a:r>
            <a:endParaRPr lang="zh-CN" altLang="en-US" sz="1400"/>
          </a:p>
          <a:p>
            <a:r>
              <a:rPr lang="zh-CN" altLang="en-US" sz="1400"/>
              <a:t>In [169]: result</a:t>
            </a:r>
            <a:endParaRPr lang="zh-CN" altLang="en-US" sz="1400"/>
          </a:p>
          <a:p>
            <a:r>
              <a:rPr lang="zh-CN" altLang="en-US" sz="1400"/>
              <a:t>Out[169]: [1.1000000000000001, 2.2000000000000002, 1.3, 1.3999999999999999, 2.5]</a:t>
            </a:r>
            <a:endParaRPr lang="zh-CN" altLang="en-US" sz="140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4.3.1 </a:t>
            </a:r>
            <a:r>
              <a:rPr lang="zh-CN" altLang="en-US" dirty="0"/>
              <a:t>将条件逻辑表述为数组运算</a:t>
            </a:r>
            <a:endParaRPr lang="zh-CN" altLang="en-US" dirty="0"/>
          </a:p>
        </p:txBody>
      </p:sp>
      <p:sp>
        <p:nvSpPr>
          <p:cNvPr id="3" name="内容占位符 2"/>
          <p:cNvSpPr>
            <a:spLocks noGrp="1"/>
          </p:cNvSpPr>
          <p:nvPr>
            <p:ph idx="1"/>
          </p:nvPr>
        </p:nvSpPr>
        <p:spPr>
          <a:xfrm>
            <a:off x="610235" y="1197610"/>
            <a:ext cx="6506845" cy="5041265"/>
          </a:xfrm>
        </p:spPr>
        <p:txBody>
          <a:bodyPr/>
          <a:lstStyle/>
          <a:p>
            <a:r>
              <a:rPr lang="en-US" altLang="zh-CN" dirty="0" err="1"/>
              <a:t>numpy.where</a:t>
            </a:r>
            <a:r>
              <a:rPr lang="zh-CN" altLang="en-US" dirty="0"/>
              <a:t>函数是三元表达式</a:t>
            </a:r>
            <a:r>
              <a:rPr lang="en-US" altLang="zh-CN" dirty="0"/>
              <a:t>x if condition else y</a:t>
            </a:r>
            <a:r>
              <a:rPr lang="zh-CN" altLang="en-US" dirty="0"/>
              <a:t>的矢量化</a:t>
            </a:r>
            <a:r>
              <a:rPr lang="zh-CN" altLang="en-US" dirty="0" smtClean="0"/>
              <a:t>版本</a:t>
            </a:r>
            <a:endParaRPr lang="zh-CN" altLang="en-US" dirty="0" smtClean="0"/>
          </a:p>
          <a:p>
            <a:pPr lvl="1"/>
            <a:r>
              <a:rPr lang="en-US" altLang="zh-CN" dirty="0" smtClean="0"/>
              <a:t>np.where</a:t>
            </a:r>
            <a:r>
              <a:rPr lang="zh-CN" altLang="en-US" dirty="0" smtClean="0"/>
              <a:t>解法</a:t>
            </a:r>
            <a:endParaRPr lang="en-US" altLang="zh-CN" dirty="0" smtClean="0"/>
          </a:p>
          <a:p>
            <a:endParaRPr lang="en-US" altLang="zh-CN" dirty="0" smtClean="0"/>
          </a:p>
          <a:p>
            <a:endParaRPr lang="en-US" altLang="zh-CN" dirty="0" smtClean="0"/>
          </a:p>
          <a:p>
            <a:pPr lvl="1"/>
            <a:r>
              <a:rPr lang="en-US" altLang="zh-CN" dirty="0" smtClean="0"/>
              <a:t>np.where的第二个和第三个参数不必是数组，它们都可以是标量值。</a:t>
            </a:r>
            <a:endParaRPr lang="en-US" altLang="zh-CN" dirty="0" smtClean="0"/>
          </a:p>
          <a:p>
            <a:r>
              <a:rPr lang="zh-CN" altLang="en-US" dirty="0" smtClean="0"/>
              <a:t>示例：</a:t>
            </a:r>
            <a:endParaRPr lang="zh-CN" altLang="en-US" dirty="0" smtClean="0"/>
          </a:p>
          <a:p>
            <a:pPr lvl="1"/>
            <a:r>
              <a:rPr lang="zh-CN" altLang="en-US" sz="1700" dirty="0" smtClean="0"/>
              <a:t>数组中所有正值用</a:t>
            </a:r>
            <a:r>
              <a:rPr lang="en-US" altLang="zh-CN" sz="1700" dirty="0" smtClean="0"/>
              <a:t>2</a:t>
            </a:r>
            <a:r>
              <a:rPr lang="zh-CN" altLang="en-US" sz="1700" dirty="0" smtClean="0"/>
              <a:t>替换，所有负值用</a:t>
            </a:r>
            <a:r>
              <a:rPr lang="en-US" altLang="zh-CN" sz="1700" dirty="0" smtClean="0"/>
              <a:t>-2</a:t>
            </a:r>
            <a:r>
              <a:rPr lang="zh-CN" altLang="en-US" sz="1700" dirty="0" smtClean="0"/>
              <a:t>替换</a:t>
            </a:r>
            <a:endParaRPr lang="en-US" altLang="zh-CN" dirty="0" smtClean="0"/>
          </a:p>
          <a:p>
            <a:endParaRPr lang="en-US" altLang="zh-CN" dirty="0" smtClean="0"/>
          </a:p>
          <a:p>
            <a:endParaRPr lang="en-US" altLang="zh-CN" dirty="0" smtClean="0"/>
          </a:p>
        </p:txBody>
      </p:sp>
      <p:sp>
        <p:nvSpPr>
          <p:cNvPr id="4" name="文本框 3"/>
          <p:cNvSpPr txBox="1"/>
          <p:nvPr/>
        </p:nvSpPr>
        <p:spPr>
          <a:xfrm>
            <a:off x="1731645" y="2709545"/>
            <a:ext cx="4264025" cy="737235"/>
          </a:xfrm>
          <a:prstGeom prst="rect">
            <a:avLst/>
          </a:prstGeom>
          <a:noFill/>
        </p:spPr>
        <p:txBody>
          <a:bodyPr wrap="square" rtlCol="0" anchor="t">
            <a:spAutoFit/>
          </a:bodyPr>
          <a:p>
            <a:r>
              <a:rPr lang="zh-CN" altLang="en-US" sz="1400"/>
              <a:t>In [170]: result = np.where(cond, xarr, yarr)</a:t>
            </a:r>
            <a:endParaRPr lang="zh-CN" altLang="en-US" sz="1400"/>
          </a:p>
          <a:p>
            <a:r>
              <a:rPr lang="zh-CN" altLang="en-US" sz="1400"/>
              <a:t>In [171]: result</a:t>
            </a:r>
            <a:endParaRPr lang="zh-CN" altLang="en-US" sz="1400"/>
          </a:p>
          <a:p>
            <a:r>
              <a:rPr lang="zh-CN" altLang="en-US" sz="1400"/>
              <a:t>Out[171]: array([ 1.1,  2.2,  1.3,  1.4,  2.5])</a:t>
            </a:r>
            <a:endParaRPr lang="zh-CN" altLang="en-US" sz="1400"/>
          </a:p>
        </p:txBody>
      </p:sp>
      <p:sp>
        <p:nvSpPr>
          <p:cNvPr id="5" name="文本框 4"/>
          <p:cNvSpPr txBox="1"/>
          <p:nvPr/>
        </p:nvSpPr>
        <p:spPr>
          <a:xfrm>
            <a:off x="7326630" y="1302385"/>
            <a:ext cx="4639945" cy="4831080"/>
          </a:xfrm>
          <a:prstGeom prst="rect">
            <a:avLst/>
          </a:prstGeom>
          <a:noFill/>
        </p:spPr>
        <p:txBody>
          <a:bodyPr wrap="square" rtlCol="0" anchor="t">
            <a:spAutoFit/>
          </a:bodyPr>
          <a:p>
            <a:r>
              <a:rPr lang="zh-CN" altLang="en-US" sz="1400"/>
              <a:t>In [172]: arr = np.random.randn(4, 4)</a:t>
            </a:r>
            <a:endParaRPr lang="zh-CN" altLang="en-US" sz="1400"/>
          </a:p>
          <a:p>
            <a:endParaRPr lang="zh-CN" altLang="en-US" sz="1400"/>
          </a:p>
          <a:p>
            <a:r>
              <a:rPr lang="zh-CN" altLang="en-US" sz="1400"/>
              <a:t>In [173]: arr</a:t>
            </a:r>
            <a:endParaRPr lang="zh-CN" altLang="en-US" sz="1400"/>
          </a:p>
          <a:p>
            <a:r>
              <a:rPr lang="zh-CN" altLang="en-US" sz="1400"/>
              <a:t>Out[173]: </a:t>
            </a:r>
            <a:endParaRPr lang="zh-CN" altLang="en-US" sz="1400"/>
          </a:p>
          <a:p>
            <a:r>
              <a:rPr lang="zh-CN" altLang="en-US" sz="1400"/>
              <a:t>array([[-0.5031, -0.6223, -0.9212, -0.7262],</a:t>
            </a:r>
            <a:endParaRPr lang="zh-CN" altLang="en-US" sz="1400"/>
          </a:p>
          <a:p>
            <a:r>
              <a:rPr lang="zh-CN" altLang="en-US" sz="1400"/>
              <a:t>       [ 0.2229,  0.0513, -1.1577,  0.8167],</a:t>
            </a:r>
            <a:endParaRPr lang="zh-CN" altLang="en-US" sz="1400"/>
          </a:p>
          <a:p>
            <a:r>
              <a:rPr lang="zh-CN" altLang="en-US" sz="1400"/>
              <a:t>       [ 0.4336,  1.0107,  1.8249, -0.9975],</a:t>
            </a:r>
            <a:endParaRPr lang="zh-CN" altLang="en-US" sz="1400"/>
          </a:p>
          <a:p>
            <a:r>
              <a:rPr lang="zh-CN" altLang="en-US" sz="1400"/>
              <a:t>       [ 0.8506, -0.1316,  0.9124,  0.1882]])</a:t>
            </a:r>
            <a:endParaRPr lang="zh-CN" altLang="en-US" sz="1400"/>
          </a:p>
          <a:p>
            <a:endParaRPr lang="zh-CN" altLang="en-US" sz="1400"/>
          </a:p>
          <a:p>
            <a:r>
              <a:rPr lang="zh-CN" altLang="en-US" sz="1400"/>
              <a:t>In [174]: arr &gt; 0</a:t>
            </a:r>
            <a:endParaRPr lang="zh-CN" altLang="en-US" sz="1400"/>
          </a:p>
          <a:p>
            <a:r>
              <a:rPr lang="zh-CN" altLang="en-US" sz="1400"/>
              <a:t>Out[174]: </a:t>
            </a:r>
            <a:endParaRPr lang="zh-CN" altLang="en-US" sz="1400"/>
          </a:p>
          <a:p>
            <a:r>
              <a:rPr lang="zh-CN" altLang="en-US" sz="1400"/>
              <a:t>array([[False, False, False, False],</a:t>
            </a:r>
            <a:endParaRPr lang="zh-CN" altLang="en-US" sz="1400"/>
          </a:p>
          <a:p>
            <a:r>
              <a:rPr lang="zh-CN" altLang="en-US" sz="1400"/>
              <a:t>       [ True,  True, False,  True],</a:t>
            </a:r>
            <a:endParaRPr lang="zh-CN" altLang="en-US" sz="1400"/>
          </a:p>
          <a:p>
            <a:r>
              <a:rPr lang="zh-CN" altLang="en-US" sz="1400"/>
              <a:t>       [ True,  True,  True, False],</a:t>
            </a:r>
            <a:endParaRPr lang="zh-CN" altLang="en-US" sz="1400"/>
          </a:p>
          <a:p>
            <a:r>
              <a:rPr lang="zh-CN" altLang="en-US" sz="1400"/>
              <a:t>       [ True, False,  True,  True]], dtype=bool)</a:t>
            </a:r>
            <a:endParaRPr lang="zh-CN" altLang="en-US" sz="1400"/>
          </a:p>
          <a:p>
            <a:endParaRPr lang="zh-CN" altLang="en-US" sz="1400"/>
          </a:p>
          <a:p>
            <a:r>
              <a:rPr lang="zh-CN" altLang="en-US" sz="1400"/>
              <a:t>In [175]: np.where(arr &gt; 0, 2, -2)</a:t>
            </a:r>
            <a:endParaRPr lang="zh-CN" altLang="en-US" sz="1400"/>
          </a:p>
          <a:p>
            <a:r>
              <a:rPr lang="zh-CN" altLang="en-US" sz="1400"/>
              <a:t>Out[175]: </a:t>
            </a:r>
            <a:endParaRPr lang="zh-CN" altLang="en-US" sz="1400"/>
          </a:p>
          <a:p>
            <a:r>
              <a:rPr lang="zh-CN" altLang="en-US" sz="1400"/>
              <a:t>array([[-2, -2, -2, -2],</a:t>
            </a:r>
            <a:endParaRPr lang="zh-CN" altLang="en-US" sz="1400"/>
          </a:p>
          <a:p>
            <a:r>
              <a:rPr lang="zh-CN" altLang="en-US" sz="1400"/>
              <a:t>       [ 2,  2, -2,  2],</a:t>
            </a:r>
            <a:endParaRPr lang="zh-CN" altLang="en-US" sz="1400"/>
          </a:p>
          <a:p>
            <a:r>
              <a:rPr lang="zh-CN" altLang="en-US" sz="1400"/>
              <a:t>       [ 2,  2,  2, -2],</a:t>
            </a:r>
            <a:endParaRPr lang="zh-CN" altLang="en-US" sz="1400"/>
          </a:p>
          <a:p>
            <a:r>
              <a:rPr lang="zh-CN" altLang="en-US" sz="1400"/>
              <a:t>       [ 2, -2,  2,  2]])</a:t>
            </a:r>
            <a:endParaRPr lang="zh-CN" altLang="en-US" sz="140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4.3.1 </a:t>
            </a:r>
            <a:r>
              <a:rPr lang="zh-CN" altLang="en-US" dirty="0"/>
              <a:t>将条件逻辑表述为数组运算</a:t>
            </a:r>
            <a:endParaRPr lang="zh-CN" altLang="en-US" dirty="0"/>
          </a:p>
        </p:txBody>
      </p:sp>
      <p:sp>
        <p:nvSpPr>
          <p:cNvPr id="3" name="内容占位符 2"/>
          <p:cNvSpPr>
            <a:spLocks noGrp="1"/>
          </p:cNvSpPr>
          <p:nvPr>
            <p:ph idx="1"/>
          </p:nvPr>
        </p:nvSpPr>
        <p:spPr>
          <a:xfrm>
            <a:off x="610235" y="1197610"/>
            <a:ext cx="6507480" cy="5041265"/>
          </a:xfrm>
        </p:spPr>
        <p:txBody>
          <a:bodyPr/>
          <a:lstStyle/>
          <a:p>
            <a:r>
              <a:rPr lang="en-US" altLang="zh-CN" dirty="0" err="1"/>
              <a:t>numpy.where</a:t>
            </a:r>
            <a:r>
              <a:rPr lang="zh-CN" altLang="en-US" dirty="0"/>
              <a:t>函数是三元表达式</a:t>
            </a:r>
            <a:r>
              <a:rPr lang="en-US" altLang="zh-CN" dirty="0"/>
              <a:t>x if condition else y</a:t>
            </a:r>
            <a:r>
              <a:rPr lang="zh-CN" altLang="en-US" dirty="0"/>
              <a:t>的矢量化</a:t>
            </a:r>
            <a:r>
              <a:rPr lang="zh-CN" altLang="en-US" dirty="0" smtClean="0"/>
              <a:t>版本</a:t>
            </a:r>
            <a:endParaRPr lang="zh-CN" altLang="en-US" dirty="0" smtClean="0"/>
          </a:p>
          <a:p>
            <a:pPr lvl="1"/>
            <a:r>
              <a:rPr lang="en-US" altLang="zh-CN" dirty="0" smtClean="0"/>
              <a:t>np.where</a:t>
            </a:r>
            <a:r>
              <a:rPr lang="zh-CN" altLang="en-US" dirty="0" smtClean="0"/>
              <a:t>解法</a:t>
            </a:r>
            <a:endParaRPr lang="en-US" altLang="zh-CN" dirty="0" smtClean="0"/>
          </a:p>
          <a:p>
            <a:pPr lvl="1"/>
            <a:r>
              <a:rPr lang="en-US" altLang="zh-CN" dirty="0" smtClean="0"/>
              <a:t>np.where的第二个和第三个参数不必是数组，它们都可以是标量值。</a:t>
            </a:r>
            <a:endParaRPr lang="en-US" altLang="zh-CN" dirty="0" smtClean="0"/>
          </a:p>
          <a:p>
            <a:pPr lvl="1"/>
            <a:r>
              <a:rPr lang="zh-CN" altLang="en-US" dirty="0" smtClean="0"/>
              <a:t>参数可以将标量和数组结合起来</a:t>
            </a:r>
            <a:endParaRPr lang="zh-CN" altLang="en-US" dirty="0" smtClean="0"/>
          </a:p>
          <a:p>
            <a:r>
              <a:rPr lang="zh-CN" altLang="en-US" dirty="0" smtClean="0"/>
              <a:t>示例：</a:t>
            </a:r>
            <a:endParaRPr lang="zh-CN" altLang="en-US" dirty="0" smtClean="0"/>
          </a:p>
          <a:p>
            <a:pPr lvl="1"/>
            <a:r>
              <a:rPr sz="1700" dirty="0" smtClean="0"/>
              <a:t>常数2替换arr中所有正的值</a:t>
            </a:r>
            <a:endParaRPr sz="1700" dirty="0" smtClean="0"/>
          </a:p>
          <a:p>
            <a:r>
              <a:rPr lang="zh-CN" altLang="en-US" dirty="0" smtClean="0"/>
              <a:t>小结：</a:t>
            </a:r>
            <a:endParaRPr lang="zh-CN" altLang="en-US" dirty="0" smtClean="0"/>
          </a:p>
          <a:p>
            <a:pPr lvl="1"/>
            <a:r>
              <a:rPr lang="en-US" altLang="zh-CN" dirty="0" smtClean="0"/>
              <a:t>传递给where的数组</a:t>
            </a:r>
            <a:r>
              <a:rPr lang="zh-CN" altLang="en-US" dirty="0" smtClean="0"/>
              <a:t>即可以是</a:t>
            </a:r>
            <a:r>
              <a:rPr lang="en-US" altLang="zh-CN" dirty="0" smtClean="0"/>
              <a:t>大小相等</a:t>
            </a:r>
            <a:r>
              <a:rPr lang="zh-CN" altLang="en-US" dirty="0" smtClean="0"/>
              <a:t>的数组</a:t>
            </a:r>
            <a:r>
              <a:rPr lang="en-US" altLang="zh-CN" dirty="0" smtClean="0"/>
              <a:t>，</a:t>
            </a:r>
            <a:r>
              <a:rPr lang="zh-CN" altLang="en-US" dirty="0" smtClean="0"/>
              <a:t>也</a:t>
            </a:r>
            <a:r>
              <a:rPr lang="en-US" altLang="zh-CN" dirty="0" smtClean="0"/>
              <a:t>可以是标量值。</a:t>
            </a:r>
            <a:r>
              <a:rPr lang="zh-CN" altLang="en-US" dirty="0" smtClean="0"/>
              <a:t>（</a:t>
            </a:r>
            <a:r>
              <a:rPr lang="en-US" altLang="zh-CN" dirty="0" smtClean="0"/>
              <a:t>web</a:t>
            </a:r>
            <a:r>
              <a:rPr lang="zh-CN" altLang="en-US" dirty="0" smtClean="0"/>
              <a:t>版有</a:t>
            </a:r>
            <a:r>
              <a:rPr lang="en-US" altLang="zh-CN" dirty="0" smtClean="0"/>
              <a:t>bug)</a:t>
            </a:r>
            <a:endParaRPr lang="en-US" altLang="zh-CN" dirty="0" smtClean="0"/>
          </a:p>
          <a:p>
            <a:endParaRPr lang="en-US" altLang="zh-CN" dirty="0" smtClean="0"/>
          </a:p>
        </p:txBody>
      </p:sp>
      <p:sp>
        <p:nvSpPr>
          <p:cNvPr id="5" name="文本框 4"/>
          <p:cNvSpPr txBox="1"/>
          <p:nvPr/>
        </p:nvSpPr>
        <p:spPr>
          <a:xfrm>
            <a:off x="7326630" y="4509770"/>
            <a:ext cx="4639945" cy="1599565"/>
          </a:xfrm>
          <a:prstGeom prst="rect">
            <a:avLst/>
          </a:prstGeom>
          <a:noFill/>
        </p:spPr>
        <p:txBody>
          <a:bodyPr wrap="square" rtlCol="0" anchor="t">
            <a:spAutoFit/>
          </a:bodyPr>
          <a:p>
            <a:r>
              <a:rPr lang="zh-CN" altLang="en-US" sz="1400"/>
              <a:t>In [176]: np.where(arr &gt; 0, 2, arr) # set only positive values to 2</a:t>
            </a:r>
            <a:endParaRPr lang="zh-CN" altLang="en-US" sz="1400"/>
          </a:p>
          <a:p>
            <a:r>
              <a:rPr lang="zh-CN" altLang="en-US" sz="1400"/>
              <a:t>Out[176]: </a:t>
            </a:r>
            <a:endParaRPr lang="zh-CN" altLang="en-US" sz="1400"/>
          </a:p>
          <a:p>
            <a:r>
              <a:rPr lang="zh-CN" altLang="en-US" sz="1400"/>
              <a:t>array([[-0.5031, -0.6223, -0.9212, -0.7262],</a:t>
            </a:r>
            <a:endParaRPr lang="zh-CN" altLang="en-US" sz="1400"/>
          </a:p>
          <a:p>
            <a:r>
              <a:rPr lang="zh-CN" altLang="en-US" sz="1400"/>
              <a:t>       [ 2.    ,  2.    , -1.1577,  2.    ],</a:t>
            </a:r>
            <a:endParaRPr lang="zh-CN" altLang="en-US" sz="1400"/>
          </a:p>
          <a:p>
            <a:r>
              <a:rPr lang="zh-CN" altLang="en-US" sz="1400"/>
              <a:t>       [ 2.    ,  2.    ,  2.    , -0.9975],</a:t>
            </a:r>
            <a:endParaRPr lang="zh-CN" altLang="en-US" sz="1400"/>
          </a:p>
          <a:p>
            <a:r>
              <a:rPr lang="zh-CN" altLang="en-US" sz="1400"/>
              <a:t>       [ 2.    , -0.1316,  2.    ,  2.    ]])</a:t>
            </a:r>
            <a:endParaRPr lang="zh-CN" altLang="en-US" sz="140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2 数学和统计方法</a:t>
            </a:r>
            <a:endParaRPr lang="en-US" dirty="0"/>
          </a:p>
        </p:txBody>
      </p:sp>
      <p:sp>
        <p:nvSpPr>
          <p:cNvPr id="3" name="内容占位符 2"/>
          <p:cNvSpPr>
            <a:spLocks noGrp="1"/>
          </p:cNvSpPr>
          <p:nvPr>
            <p:ph idx="1"/>
          </p:nvPr>
        </p:nvSpPr>
        <p:spPr>
          <a:xfrm>
            <a:off x="610235" y="1197610"/>
            <a:ext cx="11031855" cy="5041265"/>
          </a:xfrm>
        </p:spPr>
        <p:txBody>
          <a:bodyPr/>
          <a:lstStyle/>
          <a:p>
            <a:r>
              <a:t>通过数组上的一组数学函数对整个数组或某个轴向的数据进行统计计算。</a:t>
            </a:r>
            <a:endParaRPr lang="en-US" altLang="zh-CN" dirty="0" smtClean="0"/>
          </a:p>
          <a:p>
            <a:pPr lvl="1"/>
            <a:r>
              <a:rPr lang="en-US" altLang="zh-CN" dirty="0" smtClean="0"/>
              <a:t>sum、mean以及标准差std等聚合计算（aggregation，通常叫做约简（reduction））</a:t>
            </a:r>
            <a:endParaRPr lang="en-US" altLang="zh-CN" dirty="0" smtClean="0"/>
          </a:p>
          <a:p>
            <a:pPr lvl="1"/>
            <a:r>
              <a:rPr lang="en-US" altLang="zh-CN" dirty="0" smtClean="0"/>
              <a:t>既可以当做数组的实例方法调用，也可以当做顶级NumPy函数使用</a:t>
            </a:r>
            <a:endParaRPr lang="en-US" altLang="zh-CN" dirty="0" smtClean="0"/>
          </a:p>
          <a:p>
            <a:pPr lvl="1"/>
            <a:r>
              <a:rPr lang="zh-CN" altLang="en-US" dirty="0" smtClean="0"/>
              <a:t>示例：数组求和、求平均</a:t>
            </a:r>
            <a:endParaRPr lang="zh-CN" altLang="en-US" dirty="0" smtClean="0"/>
          </a:p>
          <a:p>
            <a:endParaRPr lang="en-US" altLang="zh-CN" dirty="0" smtClean="0"/>
          </a:p>
          <a:p>
            <a:endParaRPr lang="en-US" altLang="zh-CN" dirty="0" smtClean="0"/>
          </a:p>
        </p:txBody>
      </p:sp>
      <p:sp>
        <p:nvSpPr>
          <p:cNvPr id="6" name="文本框 5"/>
          <p:cNvSpPr txBox="1"/>
          <p:nvPr/>
        </p:nvSpPr>
        <p:spPr>
          <a:xfrm>
            <a:off x="2655570" y="3131185"/>
            <a:ext cx="6941185" cy="3107690"/>
          </a:xfrm>
          <a:prstGeom prst="rect">
            <a:avLst/>
          </a:prstGeom>
          <a:noFill/>
        </p:spPr>
        <p:txBody>
          <a:bodyPr wrap="square" rtlCol="0" anchor="t">
            <a:spAutoFit/>
          </a:bodyPr>
          <a:p>
            <a:r>
              <a:rPr lang="zh-CN" altLang="en-US" sz="1400"/>
              <a:t>In [177]: arr = np.random.randn(5, 4)</a:t>
            </a:r>
            <a:endParaRPr lang="zh-CN" altLang="en-US" sz="1400"/>
          </a:p>
          <a:p>
            <a:r>
              <a:rPr lang="zh-CN" altLang="en-US" sz="1400"/>
              <a:t>In [178]: arr</a:t>
            </a:r>
            <a:endParaRPr lang="zh-CN" altLang="en-US" sz="1400"/>
          </a:p>
          <a:p>
            <a:r>
              <a:rPr lang="zh-CN" altLang="en-US" sz="1400"/>
              <a:t>Out[178]: </a:t>
            </a:r>
            <a:endParaRPr lang="zh-CN" altLang="en-US" sz="1400"/>
          </a:p>
          <a:p>
            <a:r>
              <a:rPr lang="zh-CN" altLang="en-US" sz="1400"/>
              <a:t>array([[ 2.1695, -0.1149,  2.0037,  0.0296],</a:t>
            </a:r>
            <a:endParaRPr lang="zh-CN" altLang="en-US" sz="1400"/>
          </a:p>
          <a:p>
            <a:r>
              <a:rPr lang="zh-CN" altLang="en-US" sz="1400"/>
              <a:t>       [ 0.7953,  0.1181, -0.7485,  0.585 ],</a:t>
            </a:r>
            <a:endParaRPr lang="zh-CN" altLang="en-US" sz="1400"/>
          </a:p>
          <a:p>
            <a:r>
              <a:rPr lang="zh-CN" altLang="en-US" sz="1400"/>
              <a:t>       [ 0.1527, -1.5657, -0.5625, -0.0327],</a:t>
            </a:r>
            <a:endParaRPr lang="zh-CN" altLang="en-US" sz="1400"/>
          </a:p>
          <a:p>
            <a:r>
              <a:rPr lang="zh-CN" altLang="en-US" sz="1400"/>
              <a:t>       [-0.929 , -0.4826, -0.0363,  1.0954],</a:t>
            </a:r>
            <a:endParaRPr lang="zh-CN" altLang="en-US" sz="1400"/>
          </a:p>
          <a:p>
            <a:r>
              <a:rPr lang="zh-CN" altLang="en-US" sz="1400"/>
              <a:t>       [ 0.9809, -0.5895,  1.5817, -0.5287]])</a:t>
            </a:r>
            <a:endParaRPr lang="zh-CN" altLang="en-US" sz="1400"/>
          </a:p>
          <a:p>
            <a:r>
              <a:rPr lang="zh-CN" altLang="en-US" sz="1400"/>
              <a:t>In [179]: arr.mean()</a:t>
            </a:r>
            <a:endParaRPr lang="zh-CN" altLang="en-US" sz="1400"/>
          </a:p>
          <a:p>
            <a:r>
              <a:rPr lang="zh-CN" altLang="en-US" sz="1400"/>
              <a:t>Out[179]: 0.19607051119998253</a:t>
            </a:r>
            <a:endParaRPr lang="zh-CN" altLang="en-US" sz="1400"/>
          </a:p>
          <a:p>
            <a:r>
              <a:rPr lang="zh-CN" altLang="en-US" sz="1400"/>
              <a:t>In [180]: np.mean(arr)</a:t>
            </a:r>
            <a:endParaRPr lang="zh-CN" altLang="en-US" sz="1400"/>
          </a:p>
          <a:p>
            <a:r>
              <a:rPr lang="zh-CN" altLang="en-US" sz="1400"/>
              <a:t>Out[180]: 0.19607051119998253</a:t>
            </a:r>
            <a:endParaRPr lang="zh-CN" altLang="en-US" sz="1400"/>
          </a:p>
          <a:p>
            <a:r>
              <a:rPr lang="zh-CN" altLang="en-US" sz="1400"/>
              <a:t>In [181]: arr.sum()</a:t>
            </a:r>
            <a:endParaRPr lang="zh-CN" altLang="en-US" sz="1400"/>
          </a:p>
          <a:p>
            <a:r>
              <a:rPr lang="zh-CN" altLang="en-US" sz="1400"/>
              <a:t>Out[181]: 3.9214102239996507</a:t>
            </a:r>
            <a:endParaRPr lang="zh-CN" altLang="en-US" sz="140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2 数学和统计方法</a:t>
            </a:r>
            <a:endParaRPr lang="en-US" dirty="0"/>
          </a:p>
        </p:txBody>
      </p:sp>
      <p:sp>
        <p:nvSpPr>
          <p:cNvPr id="3" name="内容占位符 2"/>
          <p:cNvSpPr>
            <a:spLocks noGrp="1"/>
          </p:cNvSpPr>
          <p:nvPr>
            <p:ph idx="1"/>
          </p:nvPr>
        </p:nvSpPr>
        <p:spPr>
          <a:xfrm>
            <a:off x="610235" y="1197610"/>
            <a:ext cx="11031855" cy="5041265"/>
          </a:xfrm>
        </p:spPr>
        <p:txBody>
          <a:bodyPr/>
          <a:lstStyle/>
          <a:p>
            <a:r>
              <a:t>通过数组上的一组数学函数对整个数组或某个轴向的数据进行统计计算。</a:t>
            </a:r>
            <a:endParaRPr lang="en-US" altLang="zh-CN" dirty="0" smtClean="0"/>
          </a:p>
          <a:p>
            <a:pPr lvl="1"/>
            <a:r>
              <a:rPr lang="en-US" altLang="zh-CN" dirty="0" smtClean="0"/>
              <a:t>mean和sum这类的函数可以接受一个axis选项参数</a:t>
            </a:r>
            <a:r>
              <a:rPr lang="zh-CN" altLang="en-US" dirty="0" smtClean="0"/>
              <a:t>：</a:t>
            </a:r>
            <a:r>
              <a:rPr lang="en-US" altLang="zh-CN" dirty="0" smtClean="0"/>
              <a:t>0</a:t>
            </a:r>
            <a:r>
              <a:rPr lang="zh-CN" altLang="en-US" dirty="0" smtClean="0"/>
              <a:t>轴列统计，</a:t>
            </a:r>
            <a:r>
              <a:rPr lang="en-US" altLang="zh-CN" dirty="0" smtClean="0"/>
              <a:t>1</a:t>
            </a:r>
            <a:r>
              <a:rPr lang="zh-CN" altLang="en-US" dirty="0" smtClean="0"/>
              <a:t>轴行统计</a:t>
            </a:r>
            <a:endParaRPr lang="en-US" altLang="zh-CN" dirty="0" smtClean="0"/>
          </a:p>
          <a:p>
            <a:endParaRPr lang="en-US" altLang="zh-CN" dirty="0" smtClean="0"/>
          </a:p>
          <a:p>
            <a:endParaRPr lang="en-US" altLang="zh-CN" dirty="0" smtClean="0"/>
          </a:p>
          <a:p>
            <a:endParaRPr lang="en-US" altLang="zh-CN" dirty="0" smtClean="0"/>
          </a:p>
          <a:p>
            <a:pPr lvl="1"/>
            <a:r>
              <a:rPr lang="en-US" altLang="zh-CN" dirty="0" smtClean="0"/>
              <a:t>cumsum和cumprod之类的方法则不聚合，而是产生一个由中间结果组成的数组</a:t>
            </a:r>
            <a:endParaRPr lang="en-US" altLang="zh-CN" dirty="0" smtClean="0"/>
          </a:p>
        </p:txBody>
      </p:sp>
      <p:sp>
        <p:nvSpPr>
          <p:cNvPr id="6" name="文本框 5"/>
          <p:cNvSpPr txBox="1"/>
          <p:nvPr/>
        </p:nvSpPr>
        <p:spPr>
          <a:xfrm>
            <a:off x="2430145" y="2349500"/>
            <a:ext cx="6941185" cy="1168400"/>
          </a:xfrm>
          <a:prstGeom prst="rect">
            <a:avLst/>
          </a:prstGeom>
          <a:noFill/>
        </p:spPr>
        <p:txBody>
          <a:bodyPr wrap="square" rtlCol="0" anchor="t">
            <a:spAutoFit/>
          </a:bodyPr>
          <a:p>
            <a:r>
              <a:rPr lang="zh-CN" altLang="en-US" sz="1400"/>
              <a:t>In [182]: arr.mean(axis=1)</a:t>
            </a:r>
            <a:endParaRPr lang="zh-CN" altLang="en-US" sz="1400"/>
          </a:p>
          <a:p>
            <a:r>
              <a:rPr lang="zh-CN" altLang="en-US" sz="1400"/>
              <a:t>Out[182]: array([ 1.022 ,  0.1875, -0.502 , -0.0881,  0.3611])</a:t>
            </a:r>
            <a:endParaRPr lang="zh-CN" altLang="en-US" sz="1400"/>
          </a:p>
          <a:p>
            <a:endParaRPr lang="zh-CN" altLang="en-US" sz="1400"/>
          </a:p>
          <a:p>
            <a:r>
              <a:rPr lang="zh-CN" altLang="en-US" sz="1400"/>
              <a:t>In [183]: arr.sum(axis=0)</a:t>
            </a:r>
            <a:endParaRPr lang="zh-CN" altLang="en-US" sz="1400"/>
          </a:p>
          <a:p>
            <a:r>
              <a:rPr lang="zh-CN" altLang="en-US" sz="1400"/>
              <a:t>Out[183]: array([ 3.1693, -2.6345,  2.2381,  1.1486])</a:t>
            </a:r>
            <a:endParaRPr lang="zh-CN" altLang="en-US" sz="1400"/>
          </a:p>
        </p:txBody>
      </p:sp>
      <p:sp>
        <p:nvSpPr>
          <p:cNvPr id="4" name="文本框 3"/>
          <p:cNvSpPr txBox="1"/>
          <p:nvPr/>
        </p:nvSpPr>
        <p:spPr>
          <a:xfrm>
            <a:off x="2573655" y="4293870"/>
            <a:ext cx="6271260" cy="953135"/>
          </a:xfrm>
          <a:prstGeom prst="rect">
            <a:avLst/>
          </a:prstGeom>
          <a:noFill/>
        </p:spPr>
        <p:txBody>
          <a:bodyPr wrap="square" rtlCol="0" anchor="t">
            <a:spAutoFit/>
          </a:bodyPr>
          <a:p>
            <a:r>
              <a:rPr lang="zh-CN" altLang="en-US" sz="1400"/>
              <a:t>In [184]: arr = np.array([0, 1, 2, 3, 4, 5, 6, 7])</a:t>
            </a:r>
            <a:endParaRPr lang="zh-CN" altLang="en-US" sz="1400"/>
          </a:p>
          <a:p>
            <a:endParaRPr lang="zh-CN" altLang="en-US" sz="1400"/>
          </a:p>
          <a:p>
            <a:r>
              <a:rPr lang="zh-CN" altLang="en-US" sz="1400"/>
              <a:t>In [185]: arr.cumsum()</a:t>
            </a:r>
            <a:endParaRPr lang="zh-CN" altLang="en-US" sz="1400"/>
          </a:p>
          <a:p>
            <a:r>
              <a:rPr lang="zh-CN" altLang="en-US" sz="1400"/>
              <a:t>Out[185]: array([ 0,  1,  3,  6, 10, 15, 21, 28])</a:t>
            </a:r>
            <a:endParaRPr lang="zh-CN" altLang="en-US" sz="140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2 数学和统计方法</a:t>
            </a:r>
            <a:endParaRPr lang="en-US" dirty="0"/>
          </a:p>
        </p:txBody>
      </p:sp>
      <p:sp>
        <p:nvSpPr>
          <p:cNvPr id="3" name="内容占位符 2"/>
          <p:cNvSpPr>
            <a:spLocks noGrp="1"/>
          </p:cNvSpPr>
          <p:nvPr>
            <p:ph idx="1"/>
          </p:nvPr>
        </p:nvSpPr>
        <p:spPr>
          <a:xfrm>
            <a:off x="610235" y="1197610"/>
            <a:ext cx="11031855" cy="5041265"/>
          </a:xfrm>
        </p:spPr>
        <p:txBody>
          <a:bodyPr/>
          <a:lstStyle/>
          <a:p>
            <a:r>
              <a:t>通过数组上的一组数学函数对整个数组或某个轴向的数据进行统计计算。</a:t>
            </a:r>
            <a:endParaRPr lang="en-US" altLang="zh-CN" dirty="0" smtClean="0"/>
          </a:p>
          <a:p>
            <a:pPr lvl="1"/>
            <a:r>
              <a:rPr dirty="0" smtClean="0"/>
              <a:t>在多维数组中，累加函数（如cumsum）返回的是同样大小的数组</a:t>
            </a:r>
            <a:endParaRPr dirty="0" smtClean="0"/>
          </a:p>
          <a:p>
            <a:endParaRPr lang="en-US" altLang="zh-CN" dirty="0" smtClean="0"/>
          </a:p>
          <a:p>
            <a:endParaRPr lang="en-US" altLang="zh-CN" dirty="0" smtClean="0"/>
          </a:p>
        </p:txBody>
      </p:sp>
      <p:sp>
        <p:nvSpPr>
          <p:cNvPr id="6" name="文本框 5"/>
          <p:cNvSpPr txBox="1"/>
          <p:nvPr/>
        </p:nvSpPr>
        <p:spPr>
          <a:xfrm>
            <a:off x="1997710" y="2277745"/>
            <a:ext cx="6941185" cy="3969385"/>
          </a:xfrm>
          <a:prstGeom prst="rect">
            <a:avLst/>
          </a:prstGeom>
          <a:noFill/>
        </p:spPr>
        <p:txBody>
          <a:bodyPr wrap="square" rtlCol="0" anchor="t">
            <a:spAutoFit/>
          </a:bodyPr>
          <a:p>
            <a:r>
              <a:rPr lang="zh-CN" altLang="en-US" sz="1400"/>
              <a:t>In [186]: arr = np.array([[0, 1, 2], [3, 4, 5], [6, 7, 8]])</a:t>
            </a:r>
            <a:endParaRPr lang="zh-CN" altLang="en-US" sz="1400"/>
          </a:p>
          <a:p>
            <a:endParaRPr lang="zh-CN" altLang="en-US" sz="1400"/>
          </a:p>
          <a:p>
            <a:r>
              <a:rPr lang="zh-CN" altLang="en-US" sz="1400"/>
              <a:t>In [187]: arr</a:t>
            </a:r>
            <a:endParaRPr lang="zh-CN" altLang="en-US" sz="1400"/>
          </a:p>
          <a:p>
            <a:r>
              <a:rPr lang="zh-CN" altLang="en-US" sz="1400"/>
              <a:t>Out[187]: </a:t>
            </a:r>
            <a:endParaRPr lang="zh-CN" altLang="en-US" sz="1400"/>
          </a:p>
          <a:p>
            <a:r>
              <a:rPr lang="zh-CN" altLang="en-US" sz="1400"/>
              <a:t>array([[0, 1, 2],</a:t>
            </a:r>
            <a:endParaRPr lang="zh-CN" altLang="en-US" sz="1400"/>
          </a:p>
          <a:p>
            <a:r>
              <a:rPr lang="zh-CN" altLang="en-US" sz="1400"/>
              <a:t>       [3, 4, 5],</a:t>
            </a:r>
            <a:endParaRPr lang="zh-CN" altLang="en-US" sz="1400"/>
          </a:p>
          <a:p>
            <a:r>
              <a:rPr lang="zh-CN" altLang="en-US" sz="1400"/>
              <a:t>       [6, 7, 8]])</a:t>
            </a:r>
            <a:endParaRPr lang="zh-CN" altLang="en-US" sz="1400"/>
          </a:p>
          <a:p>
            <a:endParaRPr lang="zh-CN" altLang="en-US" sz="1400"/>
          </a:p>
          <a:p>
            <a:r>
              <a:rPr lang="zh-CN" altLang="en-US" sz="1400"/>
              <a:t>In [188]: arr.cumsum(axis=0)</a:t>
            </a:r>
            <a:endParaRPr lang="zh-CN" altLang="en-US" sz="1400"/>
          </a:p>
          <a:p>
            <a:r>
              <a:rPr lang="zh-CN" altLang="en-US" sz="1400"/>
              <a:t>Out[188]: </a:t>
            </a:r>
            <a:endParaRPr lang="zh-CN" altLang="en-US" sz="1400"/>
          </a:p>
          <a:p>
            <a:r>
              <a:rPr lang="zh-CN" altLang="en-US" sz="1400"/>
              <a:t>array([[ 0,  1,  2],</a:t>
            </a:r>
            <a:endParaRPr lang="zh-CN" altLang="en-US" sz="1400"/>
          </a:p>
          <a:p>
            <a:r>
              <a:rPr lang="zh-CN" altLang="en-US" sz="1400"/>
              <a:t>       [ 3,  5,  7],</a:t>
            </a:r>
            <a:endParaRPr lang="zh-CN" altLang="en-US" sz="1400"/>
          </a:p>
          <a:p>
            <a:r>
              <a:rPr lang="zh-CN" altLang="en-US" sz="1400"/>
              <a:t>       [ 9, 12, 15]])</a:t>
            </a:r>
            <a:endParaRPr lang="zh-CN" altLang="en-US" sz="1400"/>
          </a:p>
          <a:p>
            <a:r>
              <a:rPr lang="zh-CN" altLang="en-US" sz="1400"/>
              <a:t>In [189]: arr.cumprod(axis=1)</a:t>
            </a:r>
            <a:endParaRPr lang="zh-CN" altLang="en-US" sz="1400"/>
          </a:p>
          <a:p>
            <a:r>
              <a:rPr lang="zh-CN" altLang="en-US" sz="1400"/>
              <a:t>Out[189]: </a:t>
            </a:r>
            <a:endParaRPr lang="zh-CN" altLang="en-US" sz="1400"/>
          </a:p>
          <a:p>
            <a:r>
              <a:rPr lang="zh-CN" altLang="en-US" sz="1400"/>
              <a:t>array([[  0,   0,   0],</a:t>
            </a:r>
            <a:endParaRPr lang="zh-CN" altLang="en-US" sz="1400"/>
          </a:p>
          <a:p>
            <a:r>
              <a:rPr lang="zh-CN" altLang="en-US" sz="1400"/>
              <a:t>       [  3,  12,  60],</a:t>
            </a:r>
            <a:endParaRPr lang="zh-CN" altLang="en-US" sz="1400"/>
          </a:p>
          <a:p>
            <a:r>
              <a:rPr lang="zh-CN" altLang="en-US" sz="1400"/>
              <a:t>       [  6,  42, 336]])</a:t>
            </a:r>
            <a:endParaRPr lang="zh-CN" altLang="en-US" sz="140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2 数学和统计方法</a:t>
            </a:r>
            <a:endParaRPr lang="en-US" dirty="0"/>
          </a:p>
        </p:txBody>
      </p:sp>
      <p:sp>
        <p:nvSpPr>
          <p:cNvPr id="3" name="内容占位符 2"/>
          <p:cNvSpPr>
            <a:spLocks noGrp="1"/>
          </p:cNvSpPr>
          <p:nvPr>
            <p:ph idx="1"/>
          </p:nvPr>
        </p:nvSpPr>
        <p:spPr>
          <a:xfrm>
            <a:off x="629920" y="1196975"/>
            <a:ext cx="11031855" cy="5041265"/>
          </a:xfrm>
        </p:spPr>
        <p:txBody>
          <a:bodyPr/>
          <a:lstStyle/>
          <a:p>
            <a:r>
              <a:t>基本数组统计方法</a:t>
            </a:r>
            <a:endParaRPr dirty="0" smtClean="0"/>
          </a:p>
          <a:p>
            <a:endParaRPr lang="en-US" altLang="zh-CN" dirty="0" smtClean="0"/>
          </a:p>
        </p:txBody>
      </p:sp>
      <p:grpSp>
        <p:nvGrpSpPr>
          <p:cNvPr id="9" name="组合 8"/>
          <p:cNvGrpSpPr/>
          <p:nvPr/>
        </p:nvGrpSpPr>
        <p:grpSpPr>
          <a:xfrm>
            <a:off x="1782445" y="2061210"/>
            <a:ext cx="7929880" cy="2886075"/>
            <a:chOff x="3344" y="3733"/>
            <a:chExt cx="12488" cy="4545"/>
          </a:xfrm>
        </p:grpSpPr>
        <p:pic>
          <p:nvPicPr>
            <p:cNvPr id="7" name="图片 6"/>
            <p:cNvPicPr>
              <a:picLocks noChangeAspect="1"/>
            </p:cNvPicPr>
            <p:nvPr/>
          </p:nvPicPr>
          <p:blipFill>
            <a:blip r:embed="rId1"/>
            <a:stretch>
              <a:fillRect/>
            </a:stretch>
          </p:blipFill>
          <p:spPr>
            <a:xfrm>
              <a:off x="3344" y="3733"/>
              <a:ext cx="12456" cy="3336"/>
            </a:xfrm>
            <a:prstGeom prst="rect">
              <a:avLst/>
            </a:prstGeom>
          </p:spPr>
        </p:pic>
        <p:pic>
          <p:nvPicPr>
            <p:cNvPr id="8" name="图片 7"/>
            <p:cNvPicPr>
              <a:picLocks noChangeAspect="1"/>
            </p:cNvPicPr>
            <p:nvPr/>
          </p:nvPicPr>
          <p:blipFill>
            <a:blip r:embed="rId2"/>
            <a:stretch>
              <a:fillRect/>
            </a:stretch>
          </p:blipFill>
          <p:spPr>
            <a:xfrm>
              <a:off x="3388" y="7102"/>
              <a:ext cx="12444" cy="1176"/>
            </a:xfrm>
            <a:prstGeom prst="rect">
              <a:avLst/>
            </a:prstGeom>
          </p:spPr>
        </p:pic>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3 用于布尔型数组的方法</a:t>
            </a:r>
            <a:endParaRPr lang="en-US" dirty="0"/>
          </a:p>
        </p:txBody>
      </p:sp>
      <p:sp>
        <p:nvSpPr>
          <p:cNvPr id="3" name="内容占位符 2"/>
          <p:cNvSpPr>
            <a:spLocks noGrp="1"/>
          </p:cNvSpPr>
          <p:nvPr>
            <p:ph idx="1"/>
          </p:nvPr>
        </p:nvSpPr>
        <p:spPr>
          <a:xfrm>
            <a:off x="610235" y="1197610"/>
            <a:ext cx="11031855" cy="5041265"/>
          </a:xfrm>
        </p:spPr>
        <p:txBody>
          <a:bodyPr/>
          <a:lstStyle/>
          <a:p>
            <a:r>
              <a:t>布尔值会被强制转换为1（True）和0（False）</a:t>
            </a:r>
          </a:p>
          <a:p>
            <a:pPr lvl="1"/>
            <a:r>
              <a:rPr dirty="0" smtClean="0"/>
              <a:t>sum经常被用来对布尔型数组中的True值计数</a:t>
            </a:r>
            <a:endParaRPr dirty="0" smtClean="0"/>
          </a:p>
          <a:p>
            <a:endParaRPr lang="en-US" altLang="zh-CN" dirty="0" smtClean="0"/>
          </a:p>
          <a:p>
            <a:endParaRPr lang="en-US" altLang="zh-CN" dirty="0" smtClean="0"/>
          </a:p>
          <a:p>
            <a:pPr lvl="1"/>
            <a:r>
              <a:rPr lang="en-US" altLang="zh-CN" dirty="0" smtClean="0"/>
              <a:t>any用于测试数组中是否存在一个或多个True</a:t>
            </a:r>
            <a:endParaRPr lang="en-US" altLang="zh-CN" dirty="0" smtClean="0"/>
          </a:p>
          <a:p>
            <a:pPr lvl="1"/>
            <a:r>
              <a:rPr lang="en-US" altLang="zh-CN" dirty="0" smtClean="0"/>
              <a:t>all则检查数组中所有值是否都是True</a:t>
            </a:r>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2"/>
            <a:r>
              <a:rPr lang="en-US" altLang="zh-CN" dirty="0" smtClean="0"/>
              <a:t>两个方法也能用于非布尔型数组，所有非0元素将会被当做True</a:t>
            </a:r>
            <a:endParaRPr lang="en-US" altLang="zh-CN" dirty="0" smtClean="0"/>
          </a:p>
        </p:txBody>
      </p:sp>
      <p:sp>
        <p:nvSpPr>
          <p:cNvPr id="6" name="文本框 5"/>
          <p:cNvSpPr txBox="1"/>
          <p:nvPr/>
        </p:nvSpPr>
        <p:spPr>
          <a:xfrm>
            <a:off x="2141855" y="2205355"/>
            <a:ext cx="6941185" cy="953135"/>
          </a:xfrm>
          <a:prstGeom prst="rect">
            <a:avLst/>
          </a:prstGeom>
          <a:noFill/>
        </p:spPr>
        <p:txBody>
          <a:bodyPr wrap="square" rtlCol="0" anchor="t">
            <a:spAutoFit/>
          </a:bodyPr>
          <a:p>
            <a:r>
              <a:rPr lang="zh-CN" altLang="en-US" sz="1400"/>
              <a:t>In [190]: arr = np.random.randn(100)</a:t>
            </a:r>
            <a:endParaRPr lang="zh-CN" altLang="en-US" sz="1400"/>
          </a:p>
          <a:p>
            <a:endParaRPr lang="zh-CN" altLang="en-US" sz="1400"/>
          </a:p>
          <a:p>
            <a:r>
              <a:rPr lang="zh-CN" altLang="en-US" sz="1400"/>
              <a:t>In [191]: (arr &gt; 0).sum() # Number of positive values</a:t>
            </a:r>
            <a:endParaRPr lang="zh-CN" altLang="en-US" sz="1400"/>
          </a:p>
          <a:p>
            <a:r>
              <a:rPr lang="zh-CN" altLang="en-US" sz="1400"/>
              <a:t>Out[191]: 42</a:t>
            </a:r>
            <a:endParaRPr lang="zh-CN" altLang="en-US" sz="1400"/>
          </a:p>
        </p:txBody>
      </p:sp>
      <p:sp>
        <p:nvSpPr>
          <p:cNvPr id="4" name="文本框 3"/>
          <p:cNvSpPr txBox="1"/>
          <p:nvPr/>
        </p:nvSpPr>
        <p:spPr>
          <a:xfrm>
            <a:off x="2213610" y="4077970"/>
            <a:ext cx="5247005" cy="1599565"/>
          </a:xfrm>
          <a:prstGeom prst="rect">
            <a:avLst/>
          </a:prstGeom>
          <a:noFill/>
        </p:spPr>
        <p:txBody>
          <a:bodyPr wrap="square" rtlCol="0" anchor="t">
            <a:spAutoFit/>
          </a:bodyPr>
          <a:p>
            <a:r>
              <a:rPr lang="zh-CN" altLang="en-US" sz="1400"/>
              <a:t>In [192]: bools = np.array([False, False, True, False])</a:t>
            </a:r>
            <a:endParaRPr lang="zh-CN" altLang="en-US" sz="1400"/>
          </a:p>
          <a:p>
            <a:endParaRPr lang="zh-CN" altLang="en-US" sz="1400"/>
          </a:p>
          <a:p>
            <a:r>
              <a:rPr lang="zh-CN" altLang="en-US" sz="1400"/>
              <a:t>In [193]: bools.any()</a:t>
            </a:r>
            <a:endParaRPr lang="zh-CN" altLang="en-US" sz="1400"/>
          </a:p>
          <a:p>
            <a:r>
              <a:rPr lang="zh-CN" altLang="en-US" sz="1400"/>
              <a:t>Out[193]: True</a:t>
            </a:r>
            <a:endParaRPr lang="zh-CN" altLang="en-US" sz="1400"/>
          </a:p>
          <a:p>
            <a:endParaRPr lang="zh-CN" altLang="en-US" sz="1400"/>
          </a:p>
          <a:p>
            <a:r>
              <a:rPr lang="zh-CN" altLang="en-US" sz="1400"/>
              <a:t>In [194]: bools.all()</a:t>
            </a:r>
            <a:endParaRPr lang="zh-CN" altLang="en-US" sz="1400"/>
          </a:p>
          <a:p>
            <a:r>
              <a:rPr lang="zh-CN" altLang="en-US" sz="1400"/>
              <a:t>Out[194]: False</a:t>
            </a:r>
            <a:endParaRPr lang="zh-CN" altLang="en-US" sz="140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4 排序</a:t>
            </a:r>
            <a:endParaRPr lang="en-US" dirty="0"/>
          </a:p>
        </p:txBody>
      </p:sp>
      <p:sp>
        <p:nvSpPr>
          <p:cNvPr id="3" name="内容占位符 2"/>
          <p:cNvSpPr>
            <a:spLocks noGrp="1"/>
          </p:cNvSpPr>
          <p:nvPr>
            <p:ph idx="1"/>
          </p:nvPr>
        </p:nvSpPr>
        <p:spPr>
          <a:xfrm>
            <a:off x="610235" y="1197610"/>
            <a:ext cx="11031855" cy="5041265"/>
          </a:xfrm>
        </p:spPr>
        <p:txBody>
          <a:bodyPr/>
          <a:lstStyle/>
          <a:p>
            <a:r>
              <a:t>NumPy数组也可以通过sort方法就地排序</a:t>
            </a:r>
          </a:p>
          <a:p>
            <a:pPr lvl="1"/>
            <a:r>
              <a:rPr lang="zh-CN" altLang="en-US" dirty="0" smtClean="0"/>
              <a:t>一维数组排序</a:t>
            </a:r>
            <a:endParaRPr lang="en-US" altLang="zh-CN" dirty="0" smtClean="0"/>
          </a:p>
          <a:p>
            <a:endParaRPr lang="en-US" altLang="zh-CN" dirty="0" smtClean="0"/>
          </a:p>
          <a:p>
            <a:pPr lvl="1"/>
            <a:endParaRPr lang="en-US" altLang="zh-CN" dirty="0" smtClean="0"/>
          </a:p>
          <a:p>
            <a:pPr lvl="1"/>
            <a:endParaRPr lang="en-US" altLang="zh-CN" dirty="0" smtClean="0"/>
          </a:p>
          <a:p>
            <a:pPr lvl="1"/>
            <a:r>
              <a:rPr lang="zh-CN" altLang="en-US" dirty="0" smtClean="0"/>
              <a:t>多维数组排序</a:t>
            </a:r>
            <a:endParaRPr lang="zh-CN" altLang="en-US" dirty="0" smtClean="0"/>
          </a:p>
          <a:p>
            <a:pPr lvl="1"/>
            <a:r>
              <a:rPr lang="zh-CN" altLang="en-US" dirty="0" smtClean="0"/>
              <a:t>顶级方法np.sort返回的是数组的已排序副本</a:t>
            </a:r>
            <a:endParaRPr lang="zh-CN" altLang="en-US" dirty="0" smtClean="0"/>
          </a:p>
          <a:p>
            <a:pPr lvl="2"/>
            <a:r>
              <a:rPr lang="zh-CN" altLang="en-US" dirty="0" smtClean="0"/>
              <a:t>数组本身是否发生改变？</a:t>
            </a:r>
            <a:endParaRPr lang="zh-CN" altLang="en-US" dirty="0" smtClean="0"/>
          </a:p>
          <a:p>
            <a:pPr lvl="1"/>
            <a:endParaRPr lang="zh-CN" altLang="en-US" dirty="0" smtClean="0"/>
          </a:p>
        </p:txBody>
      </p:sp>
      <p:sp>
        <p:nvSpPr>
          <p:cNvPr id="6" name="文本框 5"/>
          <p:cNvSpPr txBox="1"/>
          <p:nvPr/>
        </p:nvSpPr>
        <p:spPr>
          <a:xfrm>
            <a:off x="2141855" y="2205355"/>
            <a:ext cx="6941185" cy="1383665"/>
          </a:xfrm>
          <a:prstGeom prst="rect">
            <a:avLst/>
          </a:prstGeom>
          <a:noFill/>
        </p:spPr>
        <p:txBody>
          <a:bodyPr wrap="square" rtlCol="0" anchor="t">
            <a:spAutoFit/>
          </a:bodyPr>
          <a:p>
            <a:r>
              <a:rPr lang="zh-CN" altLang="en-US" sz="1400"/>
              <a:t>In [195]: arr = np.random.randn(6)</a:t>
            </a:r>
            <a:endParaRPr lang="zh-CN" altLang="en-US" sz="1400"/>
          </a:p>
          <a:p>
            <a:r>
              <a:rPr lang="zh-CN" altLang="en-US" sz="1400"/>
              <a:t>In [196]: arr</a:t>
            </a:r>
            <a:endParaRPr lang="zh-CN" altLang="en-US" sz="1400"/>
          </a:p>
          <a:p>
            <a:r>
              <a:rPr lang="zh-CN" altLang="en-US" sz="1400"/>
              <a:t>Out[196]: array([ 0.6095, -0.4938,  1.24  , -0.1357,  1.43  , -0.8469])</a:t>
            </a:r>
            <a:endParaRPr lang="zh-CN" altLang="en-US" sz="1400"/>
          </a:p>
          <a:p>
            <a:r>
              <a:rPr lang="zh-CN" altLang="en-US" sz="1400"/>
              <a:t>In [197]: arr.sort()</a:t>
            </a:r>
            <a:endParaRPr lang="zh-CN" altLang="en-US" sz="1400"/>
          </a:p>
          <a:p>
            <a:r>
              <a:rPr lang="zh-CN" altLang="en-US" sz="1400"/>
              <a:t>In [198]: arr</a:t>
            </a:r>
            <a:endParaRPr lang="zh-CN" altLang="en-US" sz="1400"/>
          </a:p>
          <a:p>
            <a:r>
              <a:rPr lang="zh-CN" altLang="en-US" sz="1400"/>
              <a:t>Out[198]: array([-0.8469, -0.4938, -0.1357,  0.6095,  1.24  ,  1.43  ])</a:t>
            </a:r>
            <a:endParaRPr lang="zh-CN" altLang="en-US" sz="1400"/>
          </a:p>
        </p:txBody>
      </p:sp>
      <p:sp>
        <p:nvSpPr>
          <p:cNvPr id="5" name="文本框 4"/>
          <p:cNvSpPr txBox="1"/>
          <p:nvPr/>
        </p:nvSpPr>
        <p:spPr>
          <a:xfrm>
            <a:off x="8118475" y="2781935"/>
            <a:ext cx="4043680" cy="3538220"/>
          </a:xfrm>
          <a:prstGeom prst="rect">
            <a:avLst/>
          </a:prstGeom>
          <a:noFill/>
        </p:spPr>
        <p:txBody>
          <a:bodyPr wrap="square" rtlCol="0" anchor="t">
            <a:spAutoFit/>
          </a:bodyPr>
          <a:p>
            <a:r>
              <a:rPr lang="zh-CN" altLang="en-US" sz="1400"/>
              <a:t>In [199]: arr = np.random.randn(5, 3)</a:t>
            </a:r>
            <a:endParaRPr lang="zh-CN" altLang="en-US" sz="1400"/>
          </a:p>
          <a:p>
            <a:r>
              <a:rPr lang="zh-CN" altLang="en-US" sz="1400"/>
              <a:t>In [200]: arr</a:t>
            </a:r>
            <a:endParaRPr lang="zh-CN" altLang="en-US" sz="1400"/>
          </a:p>
          <a:p>
            <a:r>
              <a:rPr lang="zh-CN" altLang="en-US" sz="1400"/>
              <a:t>Out[200]: </a:t>
            </a:r>
            <a:endParaRPr lang="zh-CN" altLang="en-US" sz="1400"/>
          </a:p>
          <a:p>
            <a:r>
              <a:rPr lang="zh-CN" altLang="en-US" sz="1400"/>
              <a:t>array([[ 0.6033,  1.2636, -0.2555],</a:t>
            </a:r>
            <a:endParaRPr lang="zh-CN" altLang="en-US" sz="1400"/>
          </a:p>
          <a:p>
            <a:r>
              <a:rPr lang="zh-CN" altLang="en-US" sz="1400"/>
              <a:t>       [-0.4457,  0.4684, -0.9616],</a:t>
            </a:r>
            <a:endParaRPr lang="zh-CN" altLang="en-US" sz="1400"/>
          </a:p>
          <a:p>
            <a:r>
              <a:rPr lang="zh-CN" altLang="en-US" sz="1400"/>
              <a:t>       [-1.8245,  0.6254,  1.0229],</a:t>
            </a:r>
            <a:endParaRPr lang="zh-CN" altLang="en-US" sz="1400"/>
          </a:p>
          <a:p>
            <a:r>
              <a:rPr lang="zh-CN" altLang="en-US" sz="1400"/>
              <a:t>       [ 1.1074,  0.0909, -0.3501],</a:t>
            </a:r>
            <a:endParaRPr lang="zh-CN" altLang="en-US" sz="1400"/>
          </a:p>
          <a:p>
            <a:r>
              <a:rPr lang="zh-CN" altLang="en-US" sz="1400"/>
              <a:t>       [ 0.218 , -0.8948, -1.7415]])</a:t>
            </a:r>
            <a:endParaRPr lang="zh-CN" altLang="en-US" sz="1400"/>
          </a:p>
          <a:p>
            <a:r>
              <a:rPr lang="zh-CN" altLang="en-US" sz="1400"/>
              <a:t>In [201]: arr.sort(1)</a:t>
            </a:r>
            <a:endParaRPr lang="zh-CN" altLang="en-US" sz="1400"/>
          </a:p>
          <a:p>
            <a:r>
              <a:rPr lang="zh-CN" altLang="en-US" sz="1400"/>
              <a:t>In [202]: arr</a:t>
            </a:r>
            <a:endParaRPr lang="zh-CN" altLang="en-US" sz="1400"/>
          </a:p>
          <a:p>
            <a:r>
              <a:rPr lang="zh-CN" altLang="en-US" sz="1400"/>
              <a:t>Out[202]: </a:t>
            </a:r>
            <a:endParaRPr lang="zh-CN" altLang="en-US" sz="1400"/>
          </a:p>
          <a:p>
            <a:r>
              <a:rPr lang="zh-CN" altLang="en-US" sz="1400"/>
              <a:t>array([[-0.2555,  0.6033,  1.2636],</a:t>
            </a:r>
            <a:endParaRPr lang="zh-CN" altLang="en-US" sz="1400"/>
          </a:p>
          <a:p>
            <a:r>
              <a:rPr lang="zh-CN" altLang="en-US" sz="1400"/>
              <a:t>       [-0.9616, -0.4457,  0.4684],</a:t>
            </a:r>
            <a:endParaRPr lang="zh-CN" altLang="en-US" sz="1400"/>
          </a:p>
          <a:p>
            <a:r>
              <a:rPr lang="zh-CN" altLang="en-US" sz="1400"/>
              <a:t>       [-1.8245,  0.6254,  1.0229],</a:t>
            </a:r>
            <a:endParaRPr lang="zh-CN" altLang="en-US" sz="1400"/>
          </a:p>
          <a:p>
            <a:r>
              <a:rPr lang="zh-CN" altLang="en-US" sz="1400"/>
              <a:t>       [-0.3501,  0.0909,  1.1074],</a:t>
            </a:r>
            <a:endParaRPr lang="zh-CN" altLang="en-US" sz="1400"/>
          </a:p>
          <a:p>
            <a:r>
              <a:rPr lang="zh-CN" altLang="en-US" sz="1400"/>
              <a:t>       [-1.7415, -0.8948,  0.218 ]])</a:t>
            </a:r>
            <a:endParaRPr lang="zh-CN" altLang="en-US" sz="140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4 排序</a:t>
            </a:r>
            <a:endParaRPr lang="en-US" dirty="0"/>
          </a:p>
        </p:txBody>
      </p:sp>
      <p:sp>
        <p:nvSpPr>
          <p:cNvPr id="3" name="内容占位符 2"/>
          <p:cNvSpPr>
            <a:spLocks noGrp="1"/>
          </p:cNvSpPr>
          <p:nvPr>
            <p:ph idx="1"/>
          </p:nvPr>
        </p:nvSpPr>
        <p:spPr>
          <a:xfrm>
            <a:off x="610235" y="1197610"/>
            <a:ext cx="11031855" cy="5041265"/>
          </a:xfrm>
        </p:spPr>
        <p:txBody>
          <a:bodyPr/>
          <a:lstStyle/>
          <a:p>
            <a:r>
              <a:t>计算数组分位数</a:t>
            </a:r>
          </a:p>
          <a:p>
            <a:pPr lvl="1"/>
            <a:r>
              <a:rPr lang="zh-CN" altLang="en-US" dirty="0" smtClean="0"/>
              <a:t>最简单的办法是对其进行排序，然后选取特定位置的值</a:t>
            </a:r>
            <a:endParaRPr lang="zh-CN" altLang="en-US" dirty="0" smtClean="0"/>
          </a:p>
          <a:p>
            <a:pPr lvl="1"/>
            <a:endParaRPr lang="zh-CN" altLang="en-US" dirty="0" smtClean="0"/>
          </a:p>
          <a:p>
            <a:pPr lvl="1"/>
            <a:endParaRPr lang="zh-CN" altLang="en-US" dirty="0" smtClean="0"/>
          </a:p>
          <a:p>
            <a:pPr lvl="1"/>
            <a:endParaRPr lang="zh-CN" altLang="en-US" dirty="0" smtClean="0"/>
          </a:p>
          <a:p>
            <a:pPr lvl="1"/>
            <a:endParaRPr lang="zh-CN" altLang="en-US" dirty="0" smtClean="0"/>
          </a:p>
          <a:p>
            <a:pPr lvl="1"/>
            <a:r>
              <a:rPr lang="zh-CN" altLang="en-US" dirty="0" smtClean="0"/>
              <a:t>更多关于NumPy排序方法以及诸如间接排序之类的高级技术，请参阅附录A</a:t>
            </a:r>
            <a:endParaRPr lang="zh-CN" altLang="en-US" dirty="0" smtClean="0"/>
          </a:p>
        </p:txBody>
      </p:sp>
      <p:sp>
        <p:nvSpPr>
          <p:cNvPr id="6" name="文本框 5"/>
          <p:cNvSpPr txBox="1"/>
          <p:nvPr/>
        </p:nvSpPr>
        <p:spPr>
          <a:xfrm>
            <a:off x="2141855" y="2205355"/>
            <a:ext cx="6941185" cy="1383665"/>
          </a:xfrm>
          <a:prstGeom prst="rect">
            <a:avLst/>
          </a:prstGeom>
          <a:noFill/>
        </p:spPr>
        <p:txBody>
          <a:bodyPr wrap="square" rtlCol="0" anchor="t">
            <a:spAutoFit/>
          </a:bodyPr>
          <a:p>
            <a:r>
              <a:rPr lang="zh-CN" altLang="en-US" sz="1400"/>
              <a:t>In [203]: large_arr = np.random.randn(1000)</a:t>
            </a:r>
            <a:endParaRPr lang="zh-CN" altLang="en-US" sz="1400"/>
          </a:p>
          <a:p>
            <a:endParaRPr lang="zh-CN" altLang="en-US" sz="1400"/>
          </a:p>
          <a:p>
            <a:r>
              <a:rPr lang="zh-CN" altLang="en-US" sz="1400"/>
              <a:t>In [204]: large_arr.sort()</a:t>
            </a:r>
            <a:endParaRPr lang="zh-CN" altLang="en-US" sz="1400"/>
          </a:p>
          <a:p>
            <a:endParaRPr lang="zh-CN" altLang="en-US" sz="1400"/>
          </a:p>
          <a:p>
            <a:r>
              <a:rPr lang="zh-CN" altLang="en-US" sz="1400"/>
              <a:t>In [205]: large_arr[int(0.05 * len(large_arr))] # 5% quantile</a:t>
            </a:r>
            <a:endParaRPr lang="zh-CN" altLang="en-US" sz="1400"/>
          </a:p>
          <a:p>
            <a:r>
              <a:rPr lang="zh-CN" altLang="en-US" sz="1400"/>
              <a:t>Out[205]: -1.5311513550102103</a:t>
            </a:r>
            <a:endParaRPr lang="zh-CN" altLang="en-US" sz="140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5 </a:t>
            </a:r>
            <a:r>
              <a:rPr lang="zh-CN" altLang="en-US" dirty="0"/>
              <a:t>唯一值与其他集合逻辑</a:t>
            </a:r>
            <a:endParaRPr lang="zh-CN" altLang="en-US" dirty="0"/>
          </a:p>
        </p:txBody>
      </p:sp>
      <p:sp>
        <p:nvSpPr>
          <p:cNvPr id="3" name="内容占位符 2"/>
          <p:cNvSpPr>
            <a:spLocks noGrp="1"/>
          </p:cNvSpPr>
          <p:nvPr>
            <p:ph idx="1"/>
          </p:nvPr>
        </p:nvSpPr>
        <p:spPr>
          <a:xfrm>
            <a:off x="610235" y="1197610"/>
            <a:ext cx="11031855" cy="5041265"/>
          </a:xfrm>
        </p:spPr>
        <p:txBody>
          <a:bodyPr/>
          <a:lstStyle/>
          <a:p>
            <a:r>
              <a:t>NumPy提供了一些针对一维ndarray的基本集合运算</a:t>
            </a:r>
            <a:endParaRPr lang="zh-CN" altLang="en-US" dirty="0" smtClean="0"/>
          </a:p>
          <a:p>
            <a:pPr lvl="1"/>
            <a:r>
              <a:rPr lang="en-US" altLang="zh-CN" dirty="0" smtClean="0"/>
              <a:t>unique</a:t>
            </a:r>
            <a:r>
              <a:rPr lang="zh-CN" altLang="en-US" dirty="0" smtClean="0"/>
              <a:t>求唯一值：用于找出数组中的唯一值并返回已排序的结果</a:t>
            </a:r>
            <a:endParaRPr lang="zh-CN" altLang="en-US" dirty="0" smtClean="0"/>
          </a:p>
          <a:p>
            <a:pPr lvl="1"/>
            <a:endParaRPr lang="zh-CN" altLang="en-US" dirty="0" smtClean="0"/>
          </a:p>
          <a:p>
            <a:pPr lvl="1"/>
            <a:endParaRPr lang="zh-CN" altLang="en-US" dirty="0" smtClean="0"/>
          </a:p>
          <a:p>
            <a:pPr lvl="1"/>
            <a:endParaRPr lang="zh-CN" altLang="en-US" dirty="0" smtClean="0"/>
          </a:p>
          <a:p>
            <a:pPr lvl="1"/>
            <a:endParaRPr lang="zh-CN" altLang="en-US" dirty="0" smtClean="0"/>
          </a:p>
          <a:p>
            <a:pPr lvl="1"/>
            <a:r>
              <a:rPr lang="zh-CN" altLang="en-US" dirty="0" smtClean="0"/>
              <a:t>纯Python代码实现</a:t>
            </a:r>
            <a:endParaRPr lang="zh-CN" altLang="en-US" dirty="0" smtClean="0"/>
          </a:p>
          <a:p>
            <a:pPr lvl="1"/>
            <a:endParaRPr lang="zh-CN" altLang="en-US" dirty="0" smtClean="0"/>
          </a:p>
          <a:p>
            <a:pPr lvl="1"/>
            <a:r>
              <a:rPr lang="zh-CN" altLang="en-US" dirty="0" smtClean="0"/>
              <a:t>np.in1d用于测试一个数组中的值在另一个数组中的成员资格，返回一个布尔型数组</a:t>
            </a:r>
            <a:endParaRPr lang="zh-CN" altLang="en-US" dirty="0" smtClean="0"/>
          </a:p>
        </p:txBody>
      </p:sp>
      <p:sp>
        <p:nvSpPr>
          <p:cNvPr id="6" name="文本框 5"/>
          <p:cNvSpPr txBox="1"/>
          <p:nvPr/>
        </p:nvSpPr>
        <p:spPr>
          <a:xfrm>
            <a:off x="2141855" y="2205355"/>
            <a:ext cx="6941185" cy="1814830"/>
          </a:xfrm>
          <a:prstGeom prst="rect">
            <a:avLst/>
          </a:prstGeom>
          <a:noFill/>
        </p:spPr>
        <p:txBody>
          <a:bodyPr wrap="square" rtlCol="0" anchor="t">
            <a:spAutoFit/>
          </a:bodyPr>
          <a:p>
            <a:r>
              <a:rPr lang="zh-CN" altLang="en-US" sz="1400"/>
              <a:t>In [206]: names = np.array(['Bob', 'Joe', 'Will', 'Bob', 'Will', 'Joe', 'Joe'])</a:t>
            </a:r>
            <a:endParaRPr lang="zh-CN" altLang="en-US" sz="1400"/>
          </a:p>
          <a:p>
            <a:r>
              <a:rPr lang="zh-CN" altLang="en-US" sz="1400"/>
              <a:t>In [207]: np.unique(names)</a:t>
            </a:r>
            <a:endParaRPr lang="zh-CN" altLang="en-US" sz="1400"/>
          </a:p>
          <a:p>
            <a:r>
              <a:rPr lang="zh-CN" altLang="en-US" sz="1400"/>
              <a:t>Out[207]: </a:t>
            </a:r>
            <a:endParaRPr lang="zh-CN" altLang="en-US" sz="1400"/>
          </a:p>
          <a:p>
            <a:r>
              <a:rPr lang="zh-CN" altLang="en-US" sz="1400"/>
              <a:t>array(['Bob', 'Joe', 'Will'],</a:t>
            </a:r>
            <a:endParaRPr lang="zh-CN" altLang="en-US" sz="1400"/>
          </a:p>
          <a:p>
            <a:r>
              <a:rPr lang="zh-CN" altLang="en-US" sz="1400"/>
              <a:t>      dtype='&lt;U4')</a:t>
            </a:r>
            <a:endParaRPr lang="zh-CN" altLang="en-US" sz="1400"/>
          </a:p>
          <a:p>
            <a:r>
              <a:rPr lang="zh-CN" altLang="en-US" sz="1400"/>
              <a:t>In [208]: ints = np.array([3, 3, 3, 2, 2, 1, 1, 4, 4])</a:t>
            </a:r>
            <a:endParaRPr lang="zh-CN" altLang="en-US" sz="1400"/>
          </a:p>
          <a:p>
            <a:r>
              <a:rPr lang="zh-CN" altLang="en-US" sz="1400"/>
              <a:t>In [209]: np.unique(ints)</a:t>
            </a:r>
            <a:endParaRPr lang="zh-CN" altLang="en-US" sz="1400"/>
          </a:p>
          <a:p>
            <a:r>
              <a:rPr lang="zh-CN" altLang="en-US" sz="1400"/>
              <a:t>Out[209]: array([1, 2, 3, 4])</a:t>
            </a:r>
            <a:endParaRPr lang="zh-CN" altLang="en-US" sz="1400"/>
          </a:p>
        </p:txBody>
      </p:sp>
      <p:sp>
        <p:nvSpPr>
          <p:cNvPr id="4" name="文本框 3"/>
          <p:cNvSpPr txBox="1"/>
          <p:nvPr/>
        </p:nvSpPr>
        <p:spPr>
          <a:xfrm>
            <a:off x="2150745" y="4366260"/>
            <a:ext cx="5237480" cy="521970"/>
          </a:xfrm>
          <a:prstGeom prst="rect">
            <a:avLst/>
          </a:prstGeom>
          <a:noFill/>
        </p:spPr>
        <p:txBody>
          <a:bodyPr wrap="square" rtlCol="0" anchor="t">
            <a:spAutoFit/>
          </a:bodyPr>
          <a:p>
            <a:r>
              <a:rPr lang="zh-CN" altLang="en-US" sz="1400"/>
              <a:t>In [210]: sorted(set(names))</a:t>
            </a:r>
            <a:endParaRPr lang="zh-CN" altLang="en-US" sz="1400"/>
          </a:p>
          <a:p>
            <a:r>
              <a:rPr lang="zh-CN" altLang="en-US" sz="1400"/>
              <a:t>Out[210]: ['Bob', 'Joe', 'Will']</a:t>
            </a:r>
            <a:endParaRPr lang="zh-CN" altLang="en-US" sz="1400"/>
          </a:p>
        </p:txBody>
      </p:sp>
      <p:sp>
        <p:nvSpPr>
          <p:cNvPr id="5" name="文本框 4"/>
          <p:cNvSpPr txBox="1"/>
          <p:nvPr/>
        </p:nvSpPr>
        <p:spPr>
          <a:xfrm>
            <a:off x="2213610" y="5374005"/>
            <a:ext cx="7063105" cy="737235"/>
          </a:xfrm>
          <a:prstGeom prst="rect">
            <a:avLst/>
          </a:prstGeom>
          <a:noFill/>
        </p:spPr>
        <p:txBody>
          <a:bodyPr wrap="square" rtlCol="0" anchor="t">
            <a:spAutoFit/>
          </a:bodyPr>
          <a:p>
            <a:r>
              <a:rPr lang="zh-CN" altLang="en-US" sz="1400"/>
              <a:t>In [211]: values = np.array([6, 0, 0, 3, 2, 5, 6])</a:t>
            </a:r>
            <a:endParaRPr lang="zh-CN" altLang="en-US" sz="1400"/>
          </a:p>
          <a:p>
            <a:r>
              <a:rPr lang="zh-CN" altLang="en-US" sz="1400"/>
              <a:t>In [212]: np.in1d(values, [2, 3, 6])</a:t>
            </a:r>
            <a:endParaRPr lang="zh-CN" altLang="en-US" sz="1400"/>
          </a:p>
          <a:p>
            <a:r>
              <a:rPr lang="zh-CN" altLang="en-US" sz="1400"/>
              <a:t>Out[212]: array([ True, False, False,  True,  True, False,  True], dtype=bool)</a:t>
            </a:r>
            <a:endParaRPr lang="zh-CN" altLang="en-US" sz="14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en-US" dirty="0"/>
              <a:t>5 </a:t>
            </a:r>
            <a:r>
              <a:rPr lang="zh-CN" altLang="en-US" dirty="0"/>
              <a:t>唯一值与其他集合逻辑</a:t>
            </a:r>
            <a:endParaRPr lang="zh-CN" altLang="en-US" dirty="0"/>
          </a:p>
        </p:txBody>
      </p:sp>
      <p:sp>
        <p:nvSpPr>
          <p:cNvPr id="3" name="内容占位符 2"/>
          <p:cNvSpPr>
            <a:spLocks noGrp="1"/>
          </p:cNvSpPr>
          <p:nvPr>
            <p:ph idx="1"/>
          </p:nvPr>
        </p:nvSpPr>
        <p:spPr>
          <a:xfrm>
            <a:off x="610235" y="1197610"/>
            <a:ext cx="11031855" cy="5041265"/>
          </a:xfrm>
        </p:spPr>
        <p:txBody>
          <a:bodyPr/>
          <a:lstStyle/>
          <a:p>
            <a:r>
              <a:t>NumPy中的集合函数</a:t>
            </a:r>
            <a:endParaRPr lang="zh-CN" altLang="en-US" dirty="0" smtClean="0"/>
          </a:p>
        </p:txBody>
      </p:sp>
      <p:pic>
        <p:nvPicPr>
          <p:cNvPr id="7" name="图片 6" descr="就"/>
          <p:cNvPicPr>
            <a:picLocks noChangeAspect="1"/>
          </p:cNvPicPr>
          <p:nvPr/>
        </p:nvPicPr>
        <p:blipFill>
          <a:blip r:embed="rId1"/>
          <a:stretch>
            <a:fillRect/>
          </a:stretch>
        </p:blipFill>
        <p:spPr>
          <a:xfrm>
            <a:off x="1061720" y="2061845"/>
            <a:ext cx="8964930" cy="3588385"/>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en-US" dirty="0"/>
              <a:t>4 用于数组的文件输入输出</a:t>
            </a:r>
            <a:endParaRPr lang="en-US" dirty="0"/>
          </a:p>
        </p:txBody>
      </p:sp>
      <p:sp>
        <p:nvSpPr>
          <p:cNvPr id="3" name="内容占位符 2"/>
          <p:cNvSpPr>
            <a:spLocks noGrp="1"/>
          </p:cNvSpPr>
          <p:nvPr>
            <p:ph idx="1"/>
          </p:nvPr>
        </p:nvSpPr>
        <p:spPr>
          <a:xfrm>
            <a:off x="610235" y="1197610"/>
            <a:ext cx="11031855" cy="5041265"/>
          </a:xfrm>
        </p:spPr>
        <p:txBody>
          <a:bodyPr/>
          <a:lstStyle/>
          <a:p>
            <a:r>
              <a:t>NumPy能够读写磁盘上的文本数据或二进制数据</a:t>
            </a:r>
          </a:p>
          <a:p>
            <a:pPr lvl="1"/>
            <a:r>
              <a:t>两个主要函数</a:t>
            </a:r>
            <a:r>
              <a:rPr lang="zh-CN"/>
              <a:t>：np.save和np.load</a:t>
            </a:r>
            <a:endParaRPr lang="zh-CN"/>
          </a:p>
          <a:p>
            <a:pPr lvl="2"/>
            <a:r>
              <a:rPr lang="zh-CN"/>
              <a:t>默认情况下，数组是以未压缩的原始二进制格式保存在扩展名为.npy的文件中</a:t>
            </a:r>
            <a:endParaRPr lang="zh-CN"/>
          </a:p>
          <a:p>
            <a:pPr lvl="2"/>
            <a:r>
              <a:rPr lang="zh-CN"/>
              <a:t>如果文件路径末尾没有扩展名.npy，则该扩展名会被自动加上。</a:t>
            </a:r>
            <a:endParaRPr lang="zh-CN"/>
          </a:p>
          <a:p>
            <a:pPr lvl="2"/>
            <a:endParaRPr lang="zh-CN"/>
          </a:p>
          <a:p>
            <a:pPr lvl="2"/>
            <a:endParaRPr lang="zh-CN"/>
          </a:p>
          <a:p>
            <a:pPr lvl="2"/>
            <a:endParaRPr lang="zh-CN"/>
          </a:p>
          <a:p>
            <a:pPr lvl="2"/>
            <a:r>
              <a:rPr lang="zh-CN"/>
              <a:t>np.savez可以将多个数组保存到一个未压缩文件中，将数组以关键字参数的形式传入</a:t>
            </a:r>
            <a:endParaRPr lang="zh-CN"/>
          </a:p>
          <a:p>
            <a:pPr lvl="2"/>
            <a:r>
              <a:rPr lang="zh-CN"/>
              <a:t>如果要将数据压缩，可以使用numpy.savez_compressed</a:t>
            </a:r>
            <a:endParaRPr lang="zh-CN"/>
          </a:p>
        </p:txBody>
      </p:sp>
      <p:sp>
        <p:nvSpPr>
          <p:cNvPr id="4" name="文本框 3"/>
          <p:cNvSpPr txBox="1"/>
          <p:nvPr/>
        </p:nvSpPr>
        <p:spPr>
          <a:xfrm>
            <a:off x="2933700" y="2997835"/>
            <a:ext cx="6728460" cy="953135"/>
          </a:xfrm>
          <a:prstGeom prst="rect">
            <a:avLst/>
          </a:prstGeom>
          <a:noFill/>
        </p:spPr>
        <p:txBody>
          <a:bodyPr wrap="square" rtlCol="0" anchor="t">
            <a:spAutoFit/>
          </a:bodyPr>
          <a:p>
            <a:r>
              <a:rPr lang="zh-CN" altLang="en-US" sz="1400"/>
              <a:t>In [213]: arr = np.arange(10)</a:t>
            </a:r>
            <a:endParaRPr lang="zh-CN" altLang="en-US" sz="1400"/>
          </a:p>
          <a:p>
            <a:r>
              <a:rPr lang="zh-CN" altLang="en-US" sz="1400"/>
              <a:t>In [214]: np.save('some_array', arr)</a:t>
            </a:r>
            <a:endParaRPr lang="zh-CN" altLang="en-US" sz="1400"/>
          </a:p>
          <a:p>
            <a:r>
              <a:rPr lang="zh-CN" altLang="en-US" sz="1400"/>
              <a:t>In [215]: np.load('some_array.npy')</a:t>
            </a:r>
            <a:endParaRPr lang="zh-CN" altLang="en-US" sz="1400"/>
          </a:p>
          <a:p>
            <a:r>
              <a:rPr lang="zh-CN" altLang="en-US" sz="1400"/>
              <a:t>Out[215]: array([0, 1, 2, 3, 4, 5, 6, 7, 8, 9])</a:t>
            </a:r>
            <a:endParaRPr lang="zh-CN" altLang="en-US" sz="1400"/>
          </a:p>
        </p:txBody>
      </p:sp>
      <p:sp>
        <p:nvSpPr>
          <p:cNvPr id="5" name="文本框 4"/>
          <p:cNvSpPr txBox="1"/>
          <p:nvPr/>
        </p:nvSpPr>
        <p:spPr>
          <a:xfrm>
            <a:off x="3006090" y="4798060"/>
            <a:ext cx="8316595" cy="1168400"/>
          </a:xfrm>
          <a:prstGeom prst="rect">
            <a:avLst/>
          </a:prstGeom>
          <a:noFill/>
        </p:spPr>
        <p:txBody>
          <a:bodyPr wrap="square" rtlCol="0" anchor="t">
            <a:spAutoFit/>
          </a:bodyPr>
          <a:p>
            <a:r>
              <a:rPr lang="zh-CN" altLang="en-US" sz="1400"/>
              <a:t>In [216]: np.savez('array_archive.npz', a=arr, b=arr)</a:t>
            </a:r>
            <a:endParaRPr lang="zh-CN" altLang="en-US" sz="1400"/>
          </a:p>
          <a:p>
            <a:r>
              <a:rPr lang="zh-CN" altLang="en-US" sz="1400"/>
              <a:t>In [217]: arch = np.load('array_archive.npz')</a:t>
            </a:r>
            <a:endParaRPr lang="zh-CN" altLang="en-US" sz="1400"/>
          </a:p>
          <a:p>
            <a:r>
              <a:rPr lang="zh-CN" altLang="en-US" sz="1400"/>
              <a:t>In [218]: arch['b']</a:t>
            </a:r>
            <a:endParaRPr lang="zh-CN" altLang="en-US" sz="1400"/>
          </a:p>
          <a:p>
            <a:r>
              <a:rPr lang="zh-CN" altLang="en-US" sz="1400"/>
              <a:t>Out[218]: array([0, 1, 2, 3, 4, 5, 6, 7, 8, 9])</a:t>
            </a:r>
            <a:endParaRPr lang="zh-CN" altLang="en-US" sz="1400"/>
          </a:p>
          <a:p>
            <a:r>
              <a:rPr lang="zh-CN" altLang="en-US" sz="1400"/>
              <a:t>In [219]: np.savez_compressed('arrays_compressed.npz', a=arr, b=arr)</a:t>
            </a:r>
            <a:endParaRPr lang="zh-CN" altLang="en-US" sz="140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4.5 线性代数</a:t>
            </a:r>
            <a:endParaRPr lang="en-US" dirty="0"/>
          </a:p>
        </p:txBody>
      </p:sp>
      <p:sp>
        <p:nvSpPr>
          <p:cNvPr id="3" name="内容占位符 2"/>
          <p:cNvSpPr>
            <a:spLocks noGrp="1"/>
          </p:cNvSpPr>
          <p:nvPr>
            <p:ph idx="1"/>
          </p:nvPr>
        </p:nvSpPr>
        <p:spPr>
          <a:xfrm>
            <a:off x="610235" y="1197610"/>
            <a:ext cx="11031855" cy="5041265"/>
          </a:xfrm>
        </p:spPr>
        <p:txBody>
          <a:bodyPr/>
          <a:lstStyle/>
          <a:p>
            <a:r>
              <a:t>线性代数是任何数组库的重要组成部分</a:t>
            </a:r>
          </a:p>
          <a:p>
            <a:pPr lvl="1"/>
            <a:r>
              <a:t>如矩阵乘法、矩阵分解、行列式</a:t>
            </a:r>
            <a:r>
              <a:rPr lang="zh-CN" sz="1700"/>
              <a:t>等</a:t>
            </a:r>
            <a:endParaRPr lang="zh-CN" sz="1700"/>
          </a:p>
          <a:p>
            <a:pPr lvl="1"/>
            <a:r>
              <a:rPr lang="zh-CN"/>
              <a:t>NumPy提供了一个用于矩阵乘法的dot函数</a:t>
            </a:r>
            <a:endParaRPr lang="zh-CN"/>
          </a:p>
          <a:p>
            <a:pPr lvl="2"/>
            <a:r>
              <a:rPr lang="zh-CN"/>
              <a:t>既是一个数组方法也是numpy命名空间中的一个函数</a:t>
            </a:r>
            <a:endParaRPr lang="zh-CN"/>
          </a:p>
          <a:p>
            <a:pPr lvl="1"/>
            <a:endParaRPr lang="zh-CN"/>
          </a:p>
        </p:txBody>
      </p:sp>
      <p:sp>
        <p:nvSpPr>
          <p:cNvPr id="6" name="文本框 5"/>
          <p:cNvSpPr txBox="1"/>
          <p:nvPr/>
        </p:nvSpPr>
        <p:spPr>
          <a:xfrm>
            <a:off x="7038340" y="1557655"/>
            <a:ext cx="4690745" cy="4184650"/>
          </a:xfrm>
          <a:prstGeom prst="rect">
            <a:avLst/>
          </a:prstGeom>
          <a:noFill/>
        </p:spPr>
        <p:txBody>
          <a:bodyPr wrap="square" rtlCol="0" anchor="t">
            <a:spAutoFit/>
          </a:bodyPr>
          <a:p>
            <a:r>
              <a:rPr lang="zh-CN" altLang="en-US" sz="1400"/>
              <a:t>In [223]: x = np.array([[1., 2., 3.], [4., 5., 6.]])</a:t>
            </a:r>
            <a:endParaRPr lang="zh-CN" altLang="en-US" sz="1400"/>
          </a:p>
          <a:p>
            <a:endParaRPr lang="zh-CN" altLang="en-US" sz="1400"/>
          </a:p>
          <a:p>
            <a:r>
              <a:rPr lang="zh-CN" altLang="en-US" sz="1400"/>
              <a:t>In [224]: y = np.array([[6., 23.], [-1, 7], [8, 9]])</a:t>
            </a:r>
            <a:endParaRPr lang="zh-CN" altLang="en-US" sz="1400"/>
          </a:p>
          <a:p>
            <a:endParaRPr lang="zh-CN" altLang="en-US" sz="1400"/>
          </a:p>
          <a:p>
            <a:r>
              <a:rPr lang="zh-CN" altLang="en-US" sz="1400"/>
              <a:t>In [225]: x</a:t>
            </a:r>
            <a:endParaRPr lang="zh-CN" altLang="en-US" sz="1400"/>
          </a:p>
          <a:p>
            <a:r>
              <a:rPr lang="zh-CN" altLang="en-US" sz="1400"/>
              <a:t>Out[225]: </a:t>
            </a:r>
            <a:endParaRPr lang="zh-CN" altLang="en-US" sz="1400"/>
          </a:p>
          <a:p>
            <a:r>
              <a:rPr lang="zh-CN" altLang="en-US" sz="1400"/>
              <a:t>array([[ 1.,  2.,  3.],</a:t>
            </a:r>
            <a:endParaRPr lang="zh-CN" altLang="en-US" sz="1400"/>
          </a:p>
          <a:p>
            <a:r>
              <a:rPr lang="zh-CN" altLang="en-US" sz="1400"/>
              <a:t>       [ 4.,  5.,  6.]])</a:t>
            </a:r>
            <a:endParaRPr lang="zh-CN" altLang="en-US" sz="1400"/>
          </a:p>
          <a:p>
            <a:endParaRPr lang="zh-CN" altLang="en-US" sz="1400"/>
          </a:p>
          <a:p>
            <a:r>
              <a:rPr lang="zh-CN" altLang="en-US" sz="1400"/>
              <a:t>In [226]: y</a:t>
            </a:r>
            <a:endParaRPr lang="zh-CN" altLang="en-US" sz="1400"/>
          </a:p>
          <a:p>
            <a:r>
              <a:rPr lang="zh-CN" altLang="en-US" sz="1400"/>
              <a:t>Out[226]: </a:t>
            </a:r>
            <a:endParaRPr lang="zh-CN" altLang="en-US" sz="1400"/>
          </a:p>
          <a:p>
            <a:r>
              <a:rPr lang="zh-CN" altLang="en-US" sz="1400"/>
              <a:t>array([[  6.,  23.],</a:t>
            </a:r>
            <a:endParaRPr lang="zh-CN" altLang="en-US" sz="1400"/>
          </a:p>
          <a:p>
            <a:r>
              <a:rPr lang="zh-CN" altLang="en-US" sz="1400"/>
              <a:t>       [ -1.,   7.],</a:t>
            </a:r>
            <a:endParaRPr lang="zh-CN" altLang="en-US" sz="1400"/>
          </a:p>
          <a:p>
            <a:r>
              <a:rPr lang="zh-CN" altLang="en-US" sz="1400"/>
              <a:t>       [  8.,   9.]])</a:t>
            </a:r>
            <a:endParaRPr lang="zh-CN" altLang="en-US" sz="1400"/>
          </a:p>
          <a:p>
            <a:endParaRPr lang="zh-CN" altLang="en-US" sz="1400"/>
          </a:p>
          <a:p>
            <a:r>
              <a:rPr lang="zh-CN" altLang="en-US" sz="1400"/>
              <a:t>In [227]: x.dot(y)</a:t>
            </a:r>
            <a:endParaRPr lang="zh-CN" altLang="en-US" sz="1400"/>
          </a:p>
          <a:p>
            <a:r>
              <a:rPr lang="zh-CN" altLang="en-US" sz="1400"/>
              <a:t>Out[227]: </a:t>
            </a:r>
            <a:endParaRPr lang="zh-CN" altLang="en-US" sz="1400"/>
          </a:p>
          <a:p>
            <a:r>
              <a:rPr lang="zh-CN" altLang="en-US" sz="1400"/>
              <a:t>array([[  28.,   64.],</a:t>
            </a:r>
            <a:endParaRPr lang="zh-CN" altLang="en-US" sz="1400"/>
          </a:p>
          <a:p>
            <a:r>
              <a:rPr lang="zh-CN" altLang="en-US" sz="1400"/>
              <a:t>       [  67.,  181.]])</a:t>
            </a:r>
            <a:endParaRPr lang="zh-CN" altLang="en-US" sz="140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4.5 线性代数</a:t>
            </a:r>
            <a:endParaRPr lang="en-US" dirty="0"/>
          </a:p>
        </p:txBody>
      </p:sp>
      <p:sp>
        <p:nvSpPr>
          <p:cNvPr id="3" name="内容占位符 2"/>
          <p:cNvSpPr>
            <a:spLocks noGrp="1"/>
          </p:cNvSpPr>
          <p:nvPr>
            <p:ph idx="1"/>
          </p:nvPr>
        </p:nvSpPr>
        <p:spPr>
          <a:xfrm>
            <a:off x="610235" y="1197610"/>
            <a:ext cx="11031855" cy="5041265"/>
          </a:xfrm>
        </p:spPr>
        <p:txBody>
          <a:bodyPr/>
          <a:lstStyle/>
          <a:p>
            <a:r>
              <a:t>线性代数是任何数组库的重要组成部分</a:t>
            </a:r>
          </a:p>
          <a:p>
            <a:pPr lvl="1"/>
            <a:r>
              <a:rPr lang="zh-CN"/>
              <a:t>等价运算</a:t>
            </a:r>
            <a:endParaRPr lang="zh-CN"/>
          </a:p>
          <a:p>
            <a:pPr lvl="2"/>
            <a:r>
              <a:rPr lang="zh-CN"/>
              <a:t>x.dot(y)等价于np.dot(x, y)</a:t>
            </a:r>
            <a:endParaRPr lang="zh-CN"/>
          </a:p>
          <a:p>
            <a:pPr lvl="2"/>
            <a:r>
              <a:rPr lang="zh-CN"/>
              <a:t>@符</a:t>
            </a:r>
            <a:r>
              <a:rPr lang="en-US" altLang="zh-CN"/>
              <a:t> </a:t>
            </a:r>
            <a:r>
              <a:rPr lang="zh-CN" altLang="en-US"/>
              <a:t>等价与</a:t>
            </a:r>
            <a:r>
              <a:rPr lang="en-US" altLang="zh-CN"/>
              <a:t>dot</a:t>
            </a:r>
            <a:endParaRPr lang="en-US" altLang="zh-CN"/>
          </a:p>
        </p:txBody>
      </p:sp>
      <p:sp>
        <p:nvSpPr>
          <p:cNvPr id="6" name="文本框 5"/>
          <p:cNvSpPr txBox="1"/>
          <p:nvPr/>
        </p:nvSpPr>
        <p:spPr>
          <a:xfrm>
            <a:off x="7038340" y="1557655"/>
            <a:ext cx="4690745" cy="2030095"/>
          </a:xfrm>
          <a:prstGeom prst="rect">
            <a:avLst/>
          </a:prstGeom>
          <a:noFill/>
        </p:spPr>
        <p:txBody>
          <a:bodyPr wrap="square" rtlCol="0" anchor="t">
            <a:spAutoFit/>
          </a:bodyPr>
          <a:p>
            <a:r>
              <a:rPr lang="zh-CN" altLang="en-US" sz="1400"/>
              <a:t>In [228]: np.dot(x, y)</a:t>
            </a:r>
            <a:endParaRPr lang="zh-CN" altLang="en-US" sz="1400"/>
          </a:p>
          <a:p>
            <a:r>
              <a:rPr lang="zh-CN" altLang="en-US" sz="1400"/>
              <a:t>Out[228]: </a:t>
            </a:r>
            <a:endParaRPr lang="zh-CN" altLang="en-US" sz="1400"/>
          </a:p>
          <a:p>
            <a:r>
              <a:rPr lang="zh-CN" altLang="en-US" sz="1400"/>
              <a:t>array([[  28.,   64.],</a:t>
            </a:r>
            <a:endParaRPr lang="zh-CN" altLang="en-US" sz="1400"/>
          </a:p>
          <a:p>
            <a:r>
              <a:rPr lang="zh-CN" altLang="en-US" sz="1400"/>
              <a:t>       [  67.,  181.]])</a:t>
            </a:r>
            <a:endParaRPr lang="zh-CN" altLang="en-US" sz="1400"/>
          </a:p>
          <a:p>
            <a:r>
              <a:rPr lang="zh-CN" altLang="en-US" sz="1400"/>
              <a:t>In [229]: np.dot(x, np.ones(3))</a:t>
            </a:r>
            <a:endParaRPr lang="zh-CN" altLang="en-US" sz="1400"/>
          </a:p>
          <a:p>
            <a:r>
              <a:rPr lang="zh-CN" altLang="en-US" sz="1400"/>
              <a:t>Out[229]: array([  6.,  15.])</a:t>
            </a:r>
            <a:endParaRPr lang="zh-CN" altLang="en-US" sz="1400"/>
          </a:p>
          <a:p>
            <a:endParaRPr lang="zh-CN" altLang="en-US" sz="1400"/>
          </a:p>
          <a:p>
            <a:r>
              <a:rPr lang="zh-CN" altLang="en-US" sz="1400"/>
              <a:t>In [230]: x @ np.ones(3)</a:t>
            </a:r>
            <a:endParaRPr lang="zh-CN" altLang="en-US" sz="1400"/>
          </a:p>
          <a:p>
            <a:r>
              <a:rPr lang="zh-CN" altLang="en-US" sz="1400"/>
              <a:t>Out[230]: array([  6.,  15.])</a:t>
            </a:r>
            <a:endParaRPr lang="zh-CN" altLang="en-US" sz="140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4.5 线性代数</a:t>
            </a:r>
            <a:endParaRPr lang="en-US" dirty="0"/>
          </a:p>
        </p:txBody>
      </p:sp>
      <p:sp>
        <p:nvSpPr>
          <p:cNvPr id="3" name="内容占位符 2"/>
          <p:cNvSpPr>
            <a:spLocks noGrp="1"/>
          </p:cNvSpPr>
          <p:nvPr>
            <p:ph idx="1"/>
          </p:nvPr>
        </p:nvSpPr>
        <p:spPr>
          <a:xfrm>
            <a:off x="610235" y="1197610"/>
            <a:ext cx="11031855" cy="5041265"/>
          </a:xfrm>
        </p:spPr>
        <p:txBody>
          <a:bodyPr/>
          <a:lstStyle/>
          <a:p>
            <a:r>
              <a:t>numpy.linalg中有一组标准的矩阵分解运算</a:t>
            </a:r>
          </a:p>
          <a:p>
            <a:pPr lvl="1"/>
            <a:endParaRPr lang="en-US" altLang="zh-CN"/>
          </a:p>
        </p:txBody>
      </p:sp>
      <p:sp>
        <p:nvSpPr>
          <p:cNvPr id="6" name="文本框 5"/>
          <p:cNvSpPr txBox="1"/>
          <p:nvPr/>
        </p:nvSpPr>
        <p:spPr>
          <a:xfrm>
            <a:off x="845820" y="2133600"/>
            <a:ext cx="6188075" cy="3969385"/>
          </a:xfrm>
          <a:prstGeom prst="rect">
            <a:avLst/>
          </a:prstGeom>
          <a:noFill/>
        </p:spPr>
        <p:txBody>
          <a:bodyPr wrap="square" rtlCol="0" anchor="t">
            <a:spAutoFit/>
          </a:bodyPr>
          <a:p>
            <a:r>
              <a:rPr lang="zh-CN" altLang="en-US" sz="1400"/>
              <a:t>In [231]: from numpy.linalg import inv, qr</a:t>
            </a:r>
            <a:endParaRPr lang="zh-CN" altLang="en-US" sz="1400"/>
          </a:p>
          <a:p>
            <a:r>
              <a:rPr lang="zh-CN" altLang="en-US" sz="1400"/>
              <a:t>In [232]: X = np.random.randn(5, 5)</a:t>
            </a:r>
            <a:endParaRPr lang="zh-CN" altLang="en-US" sz="1400"/>
          </a:p>
          <a:p>
            <a:r>
              <a:rPr lang="zh-CN" altLang="en-US" sz="1400"/>
              <a:t>In [233]: mat = X.T.dot(X)</a:t>
            </a:r>
            <a:endParaRPr lang="zh-CN" altLang="en-US" sz="1400"/>
          </a:p>
          <a:p>
            <a:r>
              <a:rPr lang="zh-CN" altLang="en-US" sz="1400"/>
              <a:t>In [234]: inv(mat)</a:t>
            </a:r>
            <a:endParaRPr lang="zh-CN" altLang="en-US" sz="1400"/>
          </a:p>
          <a:p>
            <a:r>
              <a:rPr lang="zh-CN" altLang="en-US" sz="1400"/>
              <a:t>Out[234]: </a:t>
            </a:r>
            <a:endParaRPr lang="zh-CN" altLang="en-US" sz="1400"/>
          </a:p>
          <a:p>
            <a:r>
              <a:rPr lang="zh-CN" altLang="en-US" sz="1400"/>
              <a:t>array([[  933.1189,   871.8258, -1417.6902, -1460.4005,  1782.1391],</a:t>
            </a:r>
            <a:endParaRPr lang="zh-CN" altLang="en-US" sz="1400"/>
          </a:p>
          <a:p>
            <a:r>
              <a:rPr lang="zh-CN" altLang="en-US" sz="1400"/>
              <a:t>       [  871.8258,   815.3929, -1325.9965, -1365.9242,  1666.9347],</a:t>
            </a:r>
            <a:endParaRPr lang="zh-CN" altLang="en-US" sz="1400"/>
          </a:p>
          <a:p>
            <a:r>
              <a:rPr lang="zh-CN" altLang="en-US" sz="1400"/>
              <a:t>       [-1417.6902, -1325.9965,  2158.4424,  2222.0191, -2711.6822],</a:t>
            </a:r>
            <a:endParaRPr lang="zh-CN" altLang="en-US" sz="1400"/>
          </a:p>
          <a:p>
            <a:r>
              <a:rPr lang="zh-CN" altLang="en-US" sz="1400"/>
              <a:t>       [-1460.4005, -1365.9242,  2222.0191,  2289.0575, -2793.422 ],</a:t>
            </a:r>
            <a:endParaRPr lang="zh-CN" altLang="en-US" sz="1400"/>
          </a:p>
          <a:p>
            <a:r>
              <a:rPr lang="zh-CN" altLang="en-US" sz="1400"/>
              <a:t>       [ 1782.1391,  1666.9347, -2711.6822, -2793.422 ,  3409.5128]])</a:t>
            </a:r>
            <a:endParaRPr lang="zh-CN" altLang="en-US" sz="1400"/>
          </a:p>
          <a:p>
            <a:r>
              <a:rPr lang="zh-CN" altLang="en-US" sz="1400"/>
              <a:t>In [235]: mat.dot(inv(mat))</a:t>
            </a:r>
            <a:endParaRPr lang="zh-CN" altLang="en-US" sz="1400"/>
          </a:p>
          <a:p>
            <a:r>
              <a:rPr lang="zh-CN" altLang="en-US" sz="1400"/>
              <a:t>Out[235]: </a:t>
            </a:r>
            <a:endParaRPr lang="zh-CN" altLang="en-US" sz="1400"/>
          </a:p>
          <a:p>
            <a:r>
              <a:rPr lang="zh-CN" altLang="en-US" sz="1400"/>
              <a:t>array([[ 1.,  0., -0., -0., -0.],</a:t>
            </a:r>
            <a:endParaRPr lang="zh-CN" altLang="en-US" sz="1400"/>
          </a:p>
          <a:p>
            <a:r>
              <a:rPr lang="zh-CN" altLang="en-US" sz="1400"/>
              <a:t>       [-0.,  1.,  0.,  0.,  0.],</a:t>
            </a:r>
            <a:endParaRPr lang="zh-CN" altLang="en-US" sz="1400"/>
          </a:p>
          <a:p>
            <a:r>
              <a:rPr lang="zh-CN" altLang="en-US" sz="1400"/>
              <a:t>       [ 0.,  0.,  1.,  0.,  0.],</a:t>
            </a:r>
            <a:endParaRPr lang="zh-CN" altLang="en-US" sz="1400"/>
          </a:p>
          <a:p>
            <a:r>
              <a:rPr lang="zh-CN" altLang="en-US" sz="1400"/>
              <a:t>       [-0.,  0.,  0.,  1., -0.],</a:t>
            </a:r>
            <a:endParaRPr lang="zh-CN" altLang="en-US" sz="1400"/>
          </a:p>
          <a:p>
            <a:r>
              <a:rPr lang="zh-CN" altLang="en-US" sz="1400"/>
              <a:t>       [-0.,  0.,  0.,  0.,  1.]])</a:t>
            </a:r>
            <a:endParaRPr lang="zh-CN" altLang="en-US" sz="1400"/>
          </a:p>
          <a:p>
            <a:endParaRPr lang="zh-CN" altLang="en-US" sz="1400"/>
          </a:p>
        </p:txBody>
      </p:sp>
      <p:sp>
        <p:nvSpPr>
          <p:cNvPr id="4" name="文本框 3"/>
          <p:cNvSpPr txBox="1"/>
          <p:nvPr/>
        </p:nvSpPr>
        <p:spPr>
          <a:xfrm>
            <a:off x="7326630" y="2061210"/>
            <a:ext cx="4353560" cy="1814830"/>
          </a:xfrm>
          <a:prstGeom prst="rect">
            <a:avLst/>
          </a:prstGeom>
          <a:noFill/>
        </p:spPr>
        <p:txBody>
          <a:bodyPr wrap="square" rtlCol="0" anchor="t">
            <a:spAutoFit/>
          </a:bodyPr>
          <a:p>
            <a:r>
              <a:rPr lang="zh-CN" altLang="en-US" sz="1400">
                <a:sym typeface="+mn-ea"/>
              </a:rPr>
              <a:t>In [236]: q, r = qr(mat)</a:t>
            </a:r>
            <a:endParaRPr lang="zh-CN" altLang="en-US" sz="1400"/>
          </a:p>
          <a:p>
            <a:r>
              <a:rPr lang="zh-CN" altLang="en-US" sz="1400">
                <a:sym typeface="+mn-ea"/>
              </a:rPr>
              <a:t>In [237]: r</a:t>
            </a:r>
            <a:endParaRPr lang="zh-CN" altLang="en-US" sz="1400"/>
          </a:p>
          <a:p>
            <a:r>
              <a:rPr lang="zh-CN" altLang="en-US" sz="1400">
                <a:sym typeface="+mn-ea"/>
              </a:rPr>
              <a:t>Out[237]: </a:t>
            </a:r>
            <a:endParaRPr lang="zh-CN" altLang="en-US" sz="1400"/>
          </a:p>
          <a:p>
            <a:r>
              <a:rPr lang="zh-CN" altLang="en-US" sz="1400">
                <a:sym typeface="+mn-ea"/>
              </a:rPr>
              <a:t>array([[-1.6914,  4.38  ,  0.1757,  0.4075, -0.7838],</a:t>
            </a:r>
            <a:endParaRPr lang="zh-CN" altLang="en-US" sz="1400"/>
          </a:p>
          <a:p>
            <a:r>
              <a:rPr lang="zh-CN" altLang="en-US" sz="1400">
                <a:sym typeface="+mn-ea"/>
              </a:rPr>
              <a:t>       [ 0.    , -2.6436,  0.1939, -3.072 , -1.0702],</a:t>
            </a:r>
            <a:endParaRPr lang="zh-CN" altLang="en-US" sz="1400"/>
          </a:p>
          <a:p>
            <a:r>
              <a:rPr lang="zh-CN" altLang="en-US" sz="1400">
                <a:sym typeface="+mn-ea"/>
              </a:rPr>
              <a:t>       [ 0.    ,  0.    , -0.8138,  1.5414,  0.6155],</a:t>
            </a:r>
            <a:endParaRPr lang="zh-CN" altLang="en-US" sz="1400"/>
          </a:p>
          <a:p>
            <a:r>
              <a:rPr lang="zh-CN" altLang="en-US" sz="1400">
                <a:sym typeface="+mn-ea"/>
              </a:rPr>
              <a:t>       [ 0.    ,  0.    ,  0.    , -2.6445, -2.1669],</a:t>
            </a:r>
            <a:endParaRPr lang="zh-CN" altLang="en-US" sz="1400"/>
          </a:p>
          <a:p>
            <a:r>
              <a:rPr lang="zh-CN" altLang="en-US" sz="1400">
                <a:sym typeface="+mn-ea"/>
              </a:rPr>
              <a:t>       [ 0.    ,  0.    ,  0.    ,  0.    ,  0.0002]])</a:t>
            </a:r>
            <a:endParaRPr lang="zh-CN" altLang="en-US" sz="1400">
              <a:sym typeface="+mn-e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4.5 线性代数</a:t>
            </a:r>
            <a:endParaRPr lang="en-US" dirty="0"/>
          </a:p>
        </p:txBody>
      </p:sp>
      <p:sp>
        <p:nvSpPr>
          <p:cNvPr id="3" name="内容占位符 2"/>
          <p:cNvSpPr>
            <a:spLocks noGrp="1"/>
          </p:cNvSpPr>
          <p:nvPr>
            <p:ph idx="1"/>
          </p:nvPr>
        </p:nvSpPr>
        <p:spPr>
          <a:xfrm>
            <a:off x="610235" y="1197610"/>
            <a:ext cx="11031855" cy="5041265"/>
          </a:xfrm>
        </p:spPr>
        <p:txBody>
          <a:bodyPr/>
          <a:lstStyle/>
          <a:p>
            <a:r>
              <a:t>常用的线性代数函数</a:t>
            </a:r>
          </a:p>
        </p:txBody>
      </p:sp>
      <p:pic>
        <p:nvPicPr>
          <p:cNvPr id="5" name="图片 4" descr="xd"/>
          <p:cNvPicPr>
            <a:picLocks noChangeAspect="1"/>
          </p:cNvPicPr>
          <p:nvPr/>
        </p:nvPicPr>
        <p:blipFill>
          <a:blip r:embed="rId1"/>
          <a:stretch>
            <a:fillRect/>
          </a:stretch>
        </p:blipFill>
        <p:spPr>
          <a:xfrm>
            <a:off x="2646045" y="1917700"/>
            <a:ext cx="6848475" cy="4273550"/>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4.6 伪随机数生成</a:t>
            </a:r>
            <a:endParaRPr lang="en-US" dirty="0"/>
          </a:p>
        </p:txBody>
      </p:sp>
      <p:sp>
        <p:nvSpPr>
          <p:cNvPr id="3" name="内容占位符 2"/>
          <p:cNvSpPr>
            <a:spLocks noGrp="1"/>
          </p:cNvSpPr>
          <p:nvPr>
            <p:ph idx="1"/>
          </p:nvPr>
        </p:nvSpPr>
        <p:spPr>
          <a:xfrm>
            <a:off x="610235" y="1197610"/>
            <a:ext cx="11031855" cy="5041265"/>
          </a:xfrm>
        </p:spPr>
        <p:txBody>
          <a:bodyPr/>
          <a:lstStyle/>
          <a:p>
            <a:r>
              <a:t>numpy.random模块对Python内置的random进行了补充</a:t>
            </a:r>
          </a:p>
          <a:p>
            <a:pPr lvl="1"/>
            <a:r>
              <a:t>增加了一些用于高效生成多种概率分布的样本值的函数</a:t>
            </a:r>
          </a:p>
          <a:p>
            <a:pPr lvl="2"/>
            <a:r>
              <a:rPr lang="zh-CN"/>
              <a:t>生成</a:t>
            </a:r>
            <a:r>
              <a:rPr lang="en-US" altLang="zh-CN"/>
              <a:t>4*4</a:t>
            </a:r>
            <a:r>
              <a:rPr lang="zh-CN" altLang="en-US"/>
              <a:t>标准分布数组</a:t>
            </a:r>
            <a:endParaRPr lang="zh-CN" altLang="en-US"/>
          </a:p>
          <a:p/>
          <a:p/>
          <a:p/>
          <a:p/>
          <a:p>
            <a:pPr lvl="1"/>
            <a:r>
              <a:rPr lang="zh-CN"/>
              <a:t>速度对比</a:t>
            </a:r>
            <a:endParaRPr lang="zh-CN"/>
          </a:p>
        </p:txBody>
      </p:sp>
      <p:sp>
        <p:nvSpPr>
          <p:cNvPr id="4" name="文本框 3"/>
          <p:cNvSpPr txBox="1"/>
          <p:nvPr/>
        </p:nvSpPr>
        <p:spPr>
          <a:xfrm>
            <a:off x="1997710" y="2637155"/>
            <a:ext cx="7235825" cy="1599565"/>
          </a:xfrm>
          <a:prstGeom prst="rect">
            <a:avLst/>
          </a:prstGeom>
          <a:noFill/>
        </p:spPr>
        <p:txBody>
          <a:bodyPr wrap="square" rtlCol="0" anchor="t">
            <a:spAutoFit/>
          </a:bodyPr>
          <a:p>
            <a:r>
              <a:rPr lang="zh-CN" altLang="en-US" sz="1400"/>
              <a:t>In [238]: samples = np.random.normal(size=(4, 4))</a:t>
            </a:r>
            <a:endParaRPr lang="zh-CN" altLang="en-US" sz="1400"/>
          </a:p>
          <a:p>
            <a:r>
              <a:rPr lang="zh-CN" altLang="en-US" sz="1400"/>
              <a:t>In [239]: samples</a:t>
            </a:r>
            <a:endParaRPr lang="zh-CN" altLang="en-US" sz="1400"/>
          </a:p>
          <a:p>
            <a:r>
              <a:rPr lang="zh-CN" altLang="en-US" sz="1400"/>
              <a:t>Out[239]: </a:t>
            </a:r>
            <a:endParaRPr lang="zh-CN" altLang="en-US" sz="1400"/>
          </a:p>
          <a:p>
            <a:r>
              <a:rPr lang="zh-CN" altLang="en-US" sz="1400"/>
              <a:t>array([[ 0.5732,  0.1933,  0.4429,  1.2796],</a:t>
            </a:r>
            <a:endParaRPr lang="zh-CN" altLang="en-US" sz="1400"/>
          </a:p>
          <a:p>
            <a:r>
              <a:rPr lang="zh-CN" altLang="en-US" sz="1400"/>
              <a:t>       [ 0.575 ,  0.4339, -0.7658, -1.237 ],</a:t>
            </a:r>
            <a:endParaRPr lang="zh-CN" altLang="en-US" sz="1400"/>
          </a:p>
          <a:p>
            <a:r>
              <a:rPr lang="zh-CN" altLang="en-US" sz="1400"/>
              <a:t>       [-0.5367,  1.8545, -0.92  , -0.1082],</a:t>
            </a:r>
            <a:endParaRPr lang="zh-CN" altLang="en-US" sz="1400"/>
          </a:p>
          <a:p>
            <a:r>
              <a:rPr lang="zh-CN" altLang="en-US" sz="1400"/>
              <a:t>       [ 0.1525,  0.9435, -1.0953, -0.144 ]])</a:t>
            </a:r>
            <a:endParaRPr lang="zh-CN" altLang="en-US" sz="1400"/>
          </a:p>
        </p:txBody>
      </p:sp>
      <p:sp>
        <p:nvSpPr>
          <p:cNvPr id="6" name="文本框 5"/>
          <p:cNvSpPr txBox="1"/>
          <p:nvPr/>
        </p:nvSpPr>
        <p:spPr>
          <a:xfrm>
            <a:off x="2861945" y="4639310"/>
            <a:ext cx="8640445" cy="1599565"/>
          </a:xfrm>
          <a:prstGeom prst="rect">
            <a:avLst/>
          </a:prstGeom>
          <a:noFill/>
        </p:spPr>
        <p:txBody>
          <a:bodyPr wrap="square" rtlCol="0" anchor="t">
            <a:spAutoFit/>
          </a:bodyPr>
          <a:p>
            <a:r>
              <a:rPr lang="zh-CN" altLang="en-US" sz="1400"/>
              <a:t>In [240]: from random import normalvariate</a:t>
            </a:r>
            <a:endParaRPr lang="zh-CN" altLang="en-US" sz="1400"/>
          </a:p>
          <a:p>
            <a:r>
              <a:rPr lang="zh-CN" altLang="en-US" sz="1400"/>
              <a:t>In [241]: N = 1000000</a:t>
            </a:r>
            <a:endParaRPr lang="zh-CN" altLang="en-US" sz="1400"/>
          </a:p>
          <a:p>
            <a:r>
              <a:rPr lang="zh-CN" altLang="en-US" sz="1400"/>
              <a:t>In [242]: %timeit samples = [normalvariate(0, 1) for _ in range(N)]</a:t>
            </a:r>
            <a:endParaRPr lang="zh-CN" altLang="en-US" sz="1400"/>
          </a:p>
          <a:p>
            <a:r>
              <a:rPr lang="zh-CN" altLang="en-US" sz="1400"/>
              <a:t>1.77 s +- 126 ms per loop (mean +- std. dev. of 7 runs, 1 loop each)</a:t>
            </a:r>
            <a:endParaRPr lang="zh-CN" altLang="en-US" sz="1400"/>
          </a:p>
          <a:p>
            <a:endParaRPr lang="zh-CN" altLang="en-US" sz="1400"/>
          </a:p>
          <a:p>
            <a:r>
              <a:rPr lang="zh-CN" altLang="en-US" sz="1400"/>
              <a:t>In [243]: %timeit np.random.normal(size=N)</a:t>
            </a:r>
            <a:endParaRPr lang="zh-CN" altLang="en-US" sz="1400"/>
          </a:p>
          <a:p>
            <a:r>
              <a:rPr lang="zh-CN" altLang="en-US" sz="1400"/>
              <a:t>61.7 ms +- 1.32 ms per loop (mean +- std. dev. of 7 runs, 10 loops each)</a:t>
            </a:r>
            <a:endParaRPr lang="zh-CN" altLang="en-US" sz="140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4.6 伪随机数生成</a:t>
            </a:r>
            <a:endParaRPr lang="en-US" dirty="0"/>
          </a:p>
        </p:txBody>
      </p:sp>
      <p:sp>
        <p:nvSpPr>
          <p:cNvPr id="3" name="内容占位符 2"/>
          <p:cNvSpPr>
            <a:spLocks noGrp="1"/>
          </p:cNvSpPr>
          <p:nvPr>
            <p:ph idx="1"/>
          </p:nvPr>
        </p:nvSpPr>
        <p:spPr>
          <a:xfrm>
            <a:off x="610235" y="1197610"/>
            <a:ext cx="11031855" cy="5041265"/>
          </a:xfrm>
        </p:spPr>
        <p:txBody>
          <a:bodyPr/>
          <a:lstStyle/>
          <a:p>
            <a:r>
              <a:t>随机数生成器种子</a:t>
            </a:r>
            <a:r>
              <a:rPr lang="zh-CN"/>
              <a:t>：伪随机在确定性的条件下生成的</a:t>
            </a:r>
            <a:endParaRPr lang="zh-CN"/>
          </a:p>
          <a:p>
            <a:pPr lvl="1"/>
            <a:r>
              <a:t>np.random.seed更改随机数生成种子</a:t>
            </a:r>
          </a:p>
          <a:p>
            <a:pPr lvl="1"/>
            <a:r>
              <a:t>numpy.random的数据生成函数使用了全局的随机种子。</a:t>
            </a:r>
          </a:p>
          <a:p>
            <a:pPr lvl="1"/>
            <a:r>
              <a:t>要避免全局状态，</a:t>
            </a:r>
            <a:r>
              <a:rPr lang="zh-CN"/>
              <a:t>应</a:t>
            </a:r>
            <a:r>
              <a:t>使用numpy.random.RandomState，创建一个与其它隔离的随机数生成器</a:t>
            </a:r>
          </a:p>
          <a:p>
            <a:pPr lvl="2"/>
            <a:r>
              <a:t>np.random.RandomState(10).rand(4)</a:t>
            </a:r>
          </a:p>
        </p:txBody>
      </p:sp>
      <p:sp>
        <p:nvSpPr>
          <p:cNvPr id="4" name="文本框 3"/>
          <p:cNvSpPr txBox="1"/>
          <p:nvPr/>
        </p:nvSpPr>
        <p:spPr>
          <a:xfrm>
            <a:off x="1853565" y="3645535"/>
            <a:ext cx="7235825" cy="1383665"/>
          </a:xfrm>
          <a:prstGeom prst="rect">
            <a:avLst/>
          </a:prstGeom>
          <a:noFill/>
        </p:spPr>
        <p:txBody>
          <a:bodyPr wrap="square" rtlCol="0" anchor="t">
            <a:spAutoFit/>
          </a:bodyPr>
          <a:p>
            <a:r>
              <a:rPr lang="zh-CN" altLang="en-US" sz="1400"/>
              <a:t>In [245]: rng = np.random.RandomState(1234)</a:t>
            </a:r>
            <a:endParaRPr lang="zh-CN" altLang="en-US" sz="1400"/>
          </a:p>
          <a:p>
            <a:endParaRPr lang="zh-CN" altLang="en-US" sz="1400"/>
          </a:p>
          <a:p>
            <a:r>
              <a:rPr lang="zh-CN" altLang="en-US" sz="1400"/>
              <a:t>In [246]: rng.randn(10)</a:t>
            </a:r>
            <a:endParaRPr lang="zh-CN" altLang="en-US" sz="1400"/>
          </a:p>
          <a:p>
            <a:r>
              <a:rPr lang="zh-CN" altLang="en-US" sz="1400"/>
              <a:t>Out[246]: </a:t>
            </a:r>
            <a:endParaRPr lang="zh-CN" altLang="en-US" sz="1400"/>
          </a:p>
          <a:p>
            <a:r>
              <a:rPr lang="zh-CN" altLang="en-US" sz="1400"/>
              <a:t>array([ 0.4714, -1.191 ,  1.4327, -0.3127, -0.7206,  0.8872,  0.8596,</a:t>
            </a:r>
            <a:endParaRPr lang="zh-CN" altLang="en-US" sz="1400"/>
          </a:p>
          <a:p>
            <a:r>
              <a:rPr lang="zh-CN" altLang="en-US" sz="1400"/>
              <a:t>       -0.6365,  0.0157, -2.2427])</a:t>
            </a:r>
            <a:endParaRPr lang="zh-CN" altLang="en-US" sz="140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4.6 伪随机数生成</a:t>
            </a:r>
            <a:endParaRPr lang="en-US" dirty="0"/>
          </a:p>
        </p:txBody>
      </p:sp>
      <p:sp>
        <p:nvSpPr>
          <p:cNvPr id="3" name="内容占位符 2"/>
          <p:cNvSpPr>
            <a:spLocks noGrp="1"/>
          </p:cNvSpPr>
          <p:nvPr>
            <p:ph idx="1"/>
          </p:nvPr>
        </p:nvSpPr>
        <p:spPr>
          <a:xfrm>
            <a:off x="610235" y="1197610"/>
            <a:ext cx="11031855" cy="5041265"/>
          </a:xfrm>
        </p:spPr>
        <p:txBody>
          <a:bodyPr/>
          <a:lstStyle/>
          <a:p>
            <a:r>
              <a:rPr lang="zh-CN"/>
              <a:t>常用的随机函数</a:t>
            </a:r>
            <a:endParaRPr lang="zh-CN"/>
          </a:p>
          <a:p>
            <a:pPr lvl="1"/>
          </a:p>
        </p:txBody>
      </p:sp>
      <p:pic>
        <p:nvPicPr>
          <p:cNvPr id="5" name="图片 4" descr="radom1"/>
          <p:cNvPicPr>
            <a:picLocks noChangeAspect="1"/>
          </p:cNvPicPr>
          <p:nvPr/>
        </p:nvPicPr>
        <p:blipFill>
          <a:blip r:embed="rId1"/>
          <a:stretch>
            <a:fillRect/>
          </a:stretch>
        </p:blipFill>
        <p:spPr>
          <a:xfrm>
            <a:off x="2141855" y="1989455"/>
            <a:ext cx="7430770" cy="374967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4.6 伪随机数生成</a:t>
            </a:r>
            <a:endParaRPr lang="en-US" dirty="0"/>
          </a:p>
        </p:txBody>
      </p:sp>
      <p:sp>
        <p:nvSpPr>
          <p:cNvPr id="3" name="内容占位符 2"/>
          <p:cNvSpPr>
            <a:spLocks noGrp="1"/>
          </p:cNvSpPr>
          <p:nvPr>
            <p:ph idx="1"/>
          </p:nvPr>
        </p:nvSpPr>
        <p:spPr>
          <a:xfrm>
            <a:off x="610235" y="1197610"/>
            <a:ext cx="11031855" cy="5041265"/>
          </a:xfrm>
        </p:spPr>
        <p:txBody>
          <a:bodyPr/>
          <a:lstStyle/>
          <a:p>
            <a:r>
              <a:rPr lang="zh-CN"/>
              <a:t>常用的随机函数</a:t>
            </a:r>
            <a:endParaRPr lang="zh-CN"/>
          </a:p>
          <a:p>
            <a:pPr lvl="1"/>
          </a:p>
        </p:txBody>
      </p:sp>
      <p:pic>
        <p:nvPicPr>
          <p:cNvPr id="4" name="图片 3" descr="radom2"/>
          <p:cNvPicPr>
            <a:picLocks noChangeAspect="1"/>
          </p:cNvPicPr>
          <p:nvPr/>
        </p:nvPicPr>
        <p:blipFill>
          <a:blip r:embed="rId1"/>
          <a:stretch>
            <a:fillRect/>
          </a:stretch>
        </p:blipFill>
        <p:spPr>
          <a:xfrm>
            <a:off x="1493520" y="2205355"/>
            <a:ext cx="7926070" cy="1819910"/>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4.7 示例：随机漫步</a:t>
            </a:r>
            <a:endParaRPr lang="en-US" dirty="0"/>
          </a:p>
        </p:txBody>
      </p:sp>
      <p:sp>
        <p:nvSpPr>
          <p:cNvPr id="3" name="内容占位符 2"/>
          <p:cNvSpPr>
            <a:spLocks noGrp="1"/>
          </p:cNvSpPr>
          <p:nvPr>
            <p:ph idx="1"/>
          </p:nvPr>
        </p:nvSpPr>
        <p:spPr>
          <a:xfrm>
            <a:off x="610235" y="1197610"/>
            <a:ext cx="11031855" cy="5041265"/>
          </a:xfrm>
        </p:spPr>
        <p:txBody>
          <a:bodyPr/>
          <a:lstStyle/>
          <a:p>
            <a:r>
              <a:rPr lang="zh-CN"/>
              <a:t>内置的random模块以纯Python的方式实现1000步的随机漫步</a:t>
            </a:r>
            <a:endParaRPr lang="zh-CN"/>
          </a:p>
          <a:p>
            <a:pPr lvl="1"/>
            <a:r>
              <a:rPr lang="zh-CN"/>
              <a:t>根据前100个随机漫步值生成的折线图：</a:t>
            </a:r>
            <a:endParaRPr lang="zh-CN"/>
          </a:p>
          <a:p>
            <a:pPr lvl="1"/>
          </a:p>
        </p:txBody>
      </p:sp>
      <p:sp>
        <p:nvSpPr>
          <p:cNvPr id="5" name="文本框 4"/>
          <p:cNvSpPr txBox="1"/>
          <p:nvPr/>
        </p:nvSpPr>
        <p:spPr>
          <a:xfrm>
            <a:off x="1637665" y="2205355"/>
            <a:ext cx="7063105" cy="2245360"/>
          </a:xfrm>
          <a:prstGeom prst="rect">
            <a:avLst/>
          </a:prstGeom>
          <a:noFill/>
        </p:spPr>
        <p:txBody>
          <a:bodyPr wrap="square" rtlCol="0" anchor="t">
            <a:spAutoFit/>
          </a:bodyPr>
          <a:p>
            <a:r>
              <a:rPr lang="zh-CN" altLang="en-US" sz="1400"/>
              <a:t>In [247]: import random</a:t>
            </a:r>
            <a:endParaRPr lang="zh-CN" altLang="en-US" sz="1400"/>
          </a:p>
          <a:p>
            <a:r>
              <a:rPr lang="zh-CN" altLang="en-US" sz="1400"/>
              <a:t>   .....: position = 0</a:t>
            </a:r>
            <a:endParaRPr lang="zh-CN" altLang="en-US" sz="1400"/>
          </a:p>
          <a:p>
            <a:r>
              <a:rPr lang="zh-CN" altLang="en-US" sz="1400"/>
              <a:t>   .....: walk = [position]</a:t>
            </a:r>
            <a:endParaRPr lang="zh-CN" altLang="en-US" sz="1400"/>
          </a:p>
          <a:p>
            <a:r>
              <a:rPr lang="zh-CN" altLang="en-US" sz="1400"/>
              <a:t>   .....: steps = 1000</a:t>
            </a:r>
            <a:endParaRPr lang="zh-CN" altLang="en-US" sz="1400"/>
          </a:p>
          <a:p>
            <a:r>
              <a:rPr lang="zh-CN" altLang="en-US" sz="1400"/>
              <a:t>   .....: for i in range(steps):</a:t>
            </a:r>
            <a:endParaRPr lang="zh-CN" altLang="en-US" sz="1400"/>
          </a:p>
          <a:p>
            <a:r>
              <a:rPr lang="zh-CN" altLang="en-US" sz="1400"/>
              <a:t>   .....:     step = 1 if random.randint(0, 1) else -1</a:t>
            </a:r>
            <a:endParaRPr lang="zh-CN" altLang="en-US" sz="1400"/>
          </a:p>
          <a:p>
            <a:r>
              <a:rPr lang="zh-CN" altLang="en-US" sz="1400"/>
              <a:t>   .....:     position += step</a:t>
            </a:r>
            <a:endParaRPr lang="zh-CN" altLang="en-US" sz="1400"/>
          </a:p>
          <a:p>
            <a:r>
              <a:rPr lang="zh-CN" altLang="en-US" sz="1400"/>
              <a:t>   .....:     walk.append(position)</a:t>
            </a:r>
            <a:endParaRPr lang="zh-CN" altLang="en-US" sz="1400"/>
          </a:p>
          <a:p>
            <a:r>
              <a:rPr lang="zh-CN" altLang="en-US" sz="1400"/>
              <a:t>   .....:</a:t>
            </a:r>
            <a:endParaRPr lang="zh-CN" altLang="en-US" sz="1400"/>
          </a:p>
          <a:p>
            <a:r>
              <a:rPr lang="zh-CN" altLang="en-US" sz="1400"/>
              <a:t>In [249]: plt.plot(walk[:100])</a:t>
            </a:r>
            <a:endParaRPr lang="zh-CN" altLang="en-US" sz="1400"/>
          </a:p>
        </p:txBody>
      </p:sp>
      <p:pic>
        <p:nvPicPr>
          <p:cNvPr id="6" name="图片 5" descr="p1"/>
          <p:cNvPicPr>
            <a:picLocks noChangeAspect="1"/>
          </p:cNvPicPr>
          <p:nvPr/>
        </p:nvPicPr>
        <p:blipFill>
          <a:blip r:embed="rId1"/>
          <a:stretch>
            <a:fillRect/>
          </a:stretch>
        </p:blipFill>
        <p:spPr>
          <a:xfrm>
            <a:off x="6894195" y="2925445"/>
            <a:ext cx="4963160" cy="3053715"/>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4.7 示例：随机漫步</a:t>
            </a:r>
            <a:endParaRPr lang="en-US" dirty="0"/>
          </a:p>
        </p:txBody>
      </p:sp>
      <p:sp>
        <p:nvSpPr>
          <p:cNvPr id="3" name="内容占位符 2"/>
          <p:cNvSpPr>
            <a:spLocks noGrp="1"/>
          </p:cNvSpPr>
          <p:nvPr>
            <p:ph idx="1"/>
          </p:nvPr>
        </p:nvSpPr>
        <p:spPr>
          <a:xfrm>
            <a:off x="610235" y="1197610"/>
            <a:ext cx="11031855" cy="5041265"/>
          </a:xfrm>
        </p:spPr>
        <p:txBody>
          <a:bodyPr/>
          <a:lstStyle/>
          <a:p>
            <a:r>
              <a:rPr lang="en-US" altLang="zh-CN"/>
              <a:t>numpy</a:t>
            </a:r>
            <a:r>
              <a:rPr lang="zh-CN"/>
              <a:t>模块实现1000步的随机漫步</a:t>
            </a:r>
            <a:endParaRPr lang="zh-CN"/>
          </a:p>
          <a:p>
            <a:pPr lvl="1"/>
            <a:r>
              <a:rPr lang="zh-CN"/>
              <a:t>根据前100个随机漫步值生成的折线图：</a:t>
            </a:r>
            <a:endParaRPr lang="zh-CN"/>
          </a:p>
          <a:p>
            <a:pPr lvl="1"/>
          </a:p>
          <a:p>
            <a:pPr lvl="1"/>
          </a:p>
          <a:p>
            <a:pPr lvl="1"/>
            <a:r>
              <a:t>求取最大值和最小值</a:t>
            </a:r>
          </a:p>
          <a:p>
            <a:pPr lvl="1"/>
          </a:p>
          <a:p>
            <a:pPr lvl="1"/>
          </a:p>
          <a:p>
            <a:pPr lvl="1"/>
            <a:r>
              <a:t>首次穿越时间</a:t>
            </a:r>
            <a:r>
              <a:rPr lang="en-US"/>
              <a:t>(P121 bug)</a:t>
            </a:r>
            <a:endParaRPr lang="zh-CN" altLang="en-US"/>
          </a:p>
        </p:txBody>
      </p:sp>
      <p:sp>
        <p:nvSpPr>
          <p:cNvPr id="5" name="文本框 4"/>
          <p:cNvSpPr txBox="1"/>
          <p:nvPr/>
        </p:nvSpPr>
        <p:spPr>
          <a:xfrm>
            <a:off x="1637665" y="2133600"/>
            <a:ext cx="7063105" cy="953135"/>
          </a:xfrm>
          <a:prstGeom prst="rect">
            <a:avLst/>
          </a:prstGeom>
          <a:noFill/>
        </p:spPr>
        <p:txBody>
          <a:bodyPr wrap="square" rtlCol="0" anchor="t">
            <a:spAutoFit/>
          </a:bodyPr>
          <a:p>
            <a:r>
              <a:rPr lang="zh-CN" altLang="en-US" sz="1400"/>
              <a:t>In [251]: nsteps = 1000</a:t>
            </a:r>
            <a:endParaRPr lang="zh-CN" altLang="en-US" sz="1400"/>
          </a:p>
          <a:p>
            <a:r>
              <a:rPr lang="zh-CN" altLang="en-US" sz="1400"/>
              <a:t>In [252]: draws = np.random.randint(0, 2, size=nsteps)</a:t>
            </a:r>
            <a:endParaRPr lang="zh-CN" altLang="en-US" sz="1400"/>
          </a:p>
          <a:p>
            <a:r>
              <a:rPr lang="zh-CN" altLang="en-US" sz="1400"/>
              <a:t>In [253]: steps = np.where(draws &gt; 0, 1, -1)</a:t>
            </a:r>
            <a:endParaRPr lang="zh-CN" altLang="en-US" sz="1400"/>
          </a:p>
          <a:p>
            <a:r>
              <a:rPr lang="zh-CN" altLang="en-US" sz="1400"/>
              <a:t>In [254]: walk = steps.cumsum()</a:t>
            </a:r>
            <a:endParaRPr lang="zh-CN" altLang="en-US" sz="1400"/>
          </a:p>
        </p:txBody>
      </p:sp>
      <p:sp>
        <p:nvSpPr>
          <p:cNvPr id="4" name="文本框 3"/>
          <p:cNvSpPr txBox="1"/>
          <p:nvPr/>
        </p:nvSpPr>
        <p:spPr>
          <a:xfrm>
            <a:off x="1710055" y="3429635"/>
            <a:ext cx="5586730" cy="953135"/>
          </a:xfrm>
          <a:prstGeom prst="rect">
            <a:avLst/>
          </a:prstGeom>
          <a:noFill/>
        </p:spPr>
        <p:txBody>
          <a:bodyPr wrap="square" rtlCol="0" anchor="t">
            <a:spAutoFit/>
          </a:bodyPr>
          <a:p>
            <a:r>
              <a:rPr lang="zh-CN" altLang="en-US" sz="1400"/>
              <a:t>In [255]: walk.min()</a:t>
            </a:r>
            <a:endParaRPr lang="zh-CN" altLang="en-US" sz="1400"/>
          </a:p>
          <a:p>
            <a:r>
              <a:rPr lang="zh-CN" altLang="en-US" sz="1400"/>
              <a:t>Out[255]: -3</a:t>
            </a:r>
            <a:endParaRPr lang="zh-CN" altLang="en-US" sz="1400"/>
          </a:p>
          <a:p>
            <a:r>
              <a:rPr lang="zh-CN" altLang="en-US" sz="1400"/>
              <a:t>In [256]: walk.max()</a:t>
            </a:r>
            <a:endParaRPr lang="zh-CN" altLang="en-US" sz="1400"/>
          </a:p>
          <a:p>
            <a:r>
              <a:rPr lang="zh-CN" altLang="en-US" sz="1400"/>
              <a:t>Out[256]: 31</a:t>
            </a:r>
            <a:endParaRPr lang="zh-CN" altLang="en-US" sz="1400"/>
          </a:p>
        </p:txBody>
      </p:sp>
      <p:sp>
        <p:nvSpPr>
          <p:cNvPr id="7" name="文本框 6"/>
          <p:cNvSpPr txBox="1"/>
          <p:nvPr/>
        </p:nvSpPr>
        <p:spPr>
          <a:xfrm>
            <a:off x="1710055" y="4869815"/>
            <a:ext cx="5462270" cy="521970"/>
          </a:xfrm>
          <a:prstGeom prst="rect">
            <a:avLst/>
          </a:prstGeom>
          <a:noFill/>
        </p:spPr>
        <p:txBody>
          <a:bodyPr wrap="square" rtlCol="0" anchor="t">
            <a:spAutoFit/>
          </a:bodyPr>
          <a:p>
            <a:r>
              <a:rPr lang="zh-CN" altLang="en-US" sz="1400"/>
              <a:t>In [257]: (np.abs(walk) &gt;= 10).argmax()</a:t>
            </a:r>
            <a:endParaRPr lang="zh-CN" altLang="en-US" sz="1400"/>
          </a:p>
          <a:p>
            <a:r>
              <a:rPr lang="zh-CN" altLang="en-US" sz="1400"/>
              <a:t>Out[257]: 37</a:t>
            </a:r>
            <a:endParaRPr lang="zh-CN" altLang="en-US" sz="140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4.7 示例：随机漫步</a:t>
            </a:r>
            <a:endParaRPr lang="en-US" dirty="0"/>
          </a:p>
        </p:txBody>
      </p:sp>
      <p:sp>
        <p:nvSpPr>
          <p:cNvPr id="3" name="内容占位符 2"/>
          <p:cNvSpPr>
            <a:spLocks noGrp="1"/>
          </p:cNvSpPr>
          <p:nvPr>
            <p:ph idx="1"/>
          </p:nvPr>
        </p:nvSpPr>
        <p:spPr>
          <a:xfrm>
            <a:off x="610235" y="1197610"/>
            <a:ext cx="11031855" cy="5041265"/>
          </a:xfrm>
        </p:spPr>
        <p:txBody>
          <a:bodyPr/>
          <a:lstStyle/>
          <a:p>
            <a:r>
              <a:t>一次模拟多个随机漫步</a:t>
            </a:r>
            <a:r>
              <a:rPr lang="zh-CN"/>
              <a:t>：</a:t>
            </a:r>
            <a:endParaRPr lang="zh-CN"/>
          </a:p>
          <a:p>
            <a:pPr lvl="1"/>
            <a:r>
              <a:rPr lang="en-US" altLang="zh-CN"/>
              <a:t>5000</a:t>
            </a:r>
            <a:r>
              <a:rPr lang="zh-CN" altLang="en-US"/>
              <a:t>人同时随机漫步</a:t>
            </a:r>
            <a:r>
              <a:rPr lang="en-US" altLang="zh-CN"/>
              <a:t>1000</a:t>
            </a:r>
            <a:r>
              <a:rPr lang="zh-CN" altLang="en-US"/>
              <a:t>步，求绝对值曾超过</a:t>
            </a:r>
            <a:r>
              <a:rPr lang="en-US" altLang="zh-CN"/>
              <a:t>30</a:t>
            </a:r>
            <a:r>
              <a:rPr lang="zh-CN" altLang="en-US"/>
              <a:t>的这波人，第一次超过绝对值</a:t>
            </a:r>
            <a:r>
              <a:rPr lang="en-US" altLang="zh-CN"/>
              <a:t>30</a:t>
            </a:r>
            <a:r>
              <a:rPr lang="zh-CN" altLang="en-US"/>
              <a:t>步的平均耗时</a:t>
            </a:r>
            <a:endParaRPr lang="zh-CN" altLang="en-US"/>
          </a:p>
        </p:txBody>
      </p:sp>
      <p:sp>
        <p:nvSpPr>
          <p:cNvPr id="5" name="文本框 4"/>
          <p:cNvSpPr txBox="1"/>
          <p:nvPr/>
        </p:nvSpPr>
        <p:spPr>
          <a:xfrm>
            <a:off x="2861945" y="2133600"/>
            <a:ext cx="7063105" cy="3969385"/>
          </a:xfrm>
          <a:prstGeom prst="rect">
            <a:avLst/>
          </a:prstGeom>
          <a:noFill/>
        </p:spPr>
        <p:txBody>
          <a:bodyPr wrap="square" rtlCol="0" anchor="t">
            <a:spAutoFit/>
          </a:bodyPr>
          <a:p>
            <a:r>
              <a:rPr lang="zh-CN" altLang="en-US" sz="1400"/>
              <a:t>In [258]: nwalks = 5000</a:t>
            </a:r>
            <a:endParaRPr lang="zh-CN" altLang="en-US" sz="1400"/>
          </a:p>
          <a:p>
            <a:r>
              <a:rPr lang="zh-CN" altLang="en-US" sz="1400"/>
              <a:t>In [259]: nsteps = 1000</a:t>
            </a:r>
            <a:endParaRPr lang="zh-CN" altLang="en-US" sz="1400"/>
          </a:p>
          <a:p>
            <a:r>
              <a:rPr lang="zh-CN" altLang="en-US" sz="1400"/>
              <a:t>In [260]: draws = np.random.randint(0, 2, size=(nwalks, nsteps)) # 0 or 1</a:t>
            </a:r>
            <a:endParaRPr lang="zh-CN" altLang="en-US" sz="1400"/>
          </a:p>
          <a:p>
            <a:r>
              <a:rPr lang="zh-CN" altLang="en-US" sz="1400"/>
              <a:t>In [261]: steps = np.where(draws &gt; 0, 1, -1)</a:t>
            </a:r>
            <a:endParaRPr lang="zh-CN" altLang="en-US" sz="1400"/>
          </a:p>
          <a:p>
            <a:r>
              <a:rPr lang="zh-CN" altLang="en-US" sz="1400"/>
              <a:t>In [262]: walks = steps.cumsum(1)</a:t>
            </a:r>
            <a:endParaRPr lang="zh-CN" altLang="en-US" sz="1400"/>
          </a:p>
          <a:p>
            <a:r>
              <a:rPr lang="zh-CN" altLang="en-US" sz="1400"/>
              <a:t>In [263]: walks</a:t>
            </a:r>
            <a:endParaRPr lang="zh-CN" altLang="en-US" sz="1400"/>
          </a:p>
          <a:p>
            <a:r>
              <a:rPr lang="zh-CN" altLang="en-US" sz="1400"/>
              <a:t>Out[263]: </a:t>
            </a:r>
            <a:endParaRPr lang="zh-CN" altLang="en-US" sz="1400"/>
          </a:p>
          <a:p>
            <a:r>
              <a:rPr lang="zh-CN" altLang="en-US" sz="1400"/>
              <a:t>array([[  1,   0,   1, ...,   8,   7,   8],</a:t>
            </a:r>
            <a:endParaRPr lang="zh-CN" altLang="en-US" sz="1400"/>
          </a:p>
          <a:p>
            <a:r>
              <a:rPr lang="zh-CN" altLang="en-US" sz="1400"/>
              <a:t>       [  1,   0,  -1, ...,  34,  33,  32],</a:t>
            </a:r>
            <a:endParaRPr lang="zh-CN" altLang="en-US" sz="1400"/>
          </a:p>
          <a:p>
            <a:r>
              <a:rPr lang="zh-CN" altLang="en-US" sz="1400"/>
              <a:t>       [  1,   0,  -1, ...,   4,   5,   4],</a:t>
            </a:r>
            <a:endParaRPr lang="zh-CN" altLang="en-US" sz="1400"/>
          </a:p>
          <a:p>
            <a:r>
              <a:rPr lang="zh-CN" altLang="en-US" sz="1400"/>
              <a:t>       ..., </a:t>
            </a:r>
            <a:endParaRPr lang="zh-CN" altLang="en-US" sz="1400"/>
          </a:p>
          <a:p>
            <a:r>
              <a:rPr lang="zh-CN" altLang="en-US" sz="1400"/>
              <a:t>       [  1,   2,   1, ...,  24,  25,  26],</a:t>
            </a:r>
            <a:endParaRPr lang="zh-CN" altLang="en-US" sz="1400"/>
          </a:p>
          <a:p>
            <a:r>
              <a:rPr lang="zh-CN" altLang="en-US" sz="1400"/>
              <a:t>       [  1,   2,   3, ...,  14,  13,  14],</a:t>
            </a:r>
            <a:endParaRPr lang="zh-CN" altLang="en-US" sz="1400"/>
          </a:p>
          <a:p>
            <a:r>
              <a:rPr lang="zh-CN" altLang="en-US" sz="1400"/>
              <a:t>       [ -1,  -2,  -3, ..., -24, -23, -22]])</a:t>
            </a:r>
            <a:endParaRPr lang="zh-CN" altLang="en-US" sz="1400"/>
          </a:p>
          <a:p>
            <a:r>
              <a:rPr lang="zh-CN" altLang="en-US" sz="1400"/>
              <a:t>In [264]: walks.max()</a:t>
            </a:r>
            <a:endParaRPr lang="zh-CN" altLang="en-US" sz="1400"/>
          </a:p>
          <a:p>
            <a:r>
              <a:rPr lang="zh-CN" altLang="en-US" sz="1400"/>
              <a:t>Out[264]: 138</a:t>
            </a:r>
            <a:endParaRPr lang="zh-CN" altLang="en-US" sz="1400"/>
          </a:p>
          <a:p>
            <a:r>
              <a:rPr lang="zh-CN" altLang="en-US" sz="1400"/>
              <a:t>In [265]: walks.min()</a:t>
            </a:r>
            <a:endParaRPr lang="zh-CN" altLang="en-US" sz="1400"/>
          </a:p>
          <a:p>
            <a:r>
              <a:rPr lang="zh-CN" altLang="en-US" sz="1400"/>
              <a:t>Out[265]: -133</a:t>
            </a:r>
            <a:endParaRPr lang="zh-CN" altLang="en-US" sz="140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4.7 示例：随机漫步</a:t>
            </a:r>
            <a:endParaRPr lang="en-US" dirty="0"/>
          </a:p>
        </p:txBody>
      </p:sp>
      <p:sp>
        <p:nvSpPr>
          <p:cNvPr id="3" name="内容占位符 2"/>
          <p:cNvSpPr>
            <a:spLocks noGrp="1"/>
          </p:cNvSpPr>
          <p:nvPr>
            <p:ph idx="1"/>
          </p:nvPr>
        </p:nvSpPr>
        <p:spPr>
          <a:xfrm>
            <a:off x="610235" y="1197610"/>
            <a:ext cx="11466195" cy="5041265"/>
          </a:xfrm>
        </p:spPr>
        <p:txBody>
          <a:bodyPr/>
          <a:lstStyle/>
          <a:p>
            <a:r>
              <a:rPr sz="1900">
                <a:sym typeface="+mn-ea"/>
              </a:rPr>
              <a:t>一次模拟多个随机漫步</a:t>
            </a:r>
            <a:r>
              <a:rPr lang="zh-CN" sz="1900">
                <a:sym typeface="+mn-ea"/>
              </a:rPr>
              <a:t>：</a:t>
            </a:r>
            <a:endParaRPr lang="zh-CN" sz="1900"/>
          </a:p>
          <a:p>
            <a:pPr lvl="1"/>
            <a:r>
              <a:rPr lang="en-US" altLang="zh-CN" sz="1900">
                <a:sym typeface="+mn-ea"/>
              </a:rPr>
              <a:t>5000</a:t>
            </a:r>
            <a:r>
              <a:rPr lang="zh-CN" altLang="en-US" sz="1900">
                <a:sym typeface="+mn-ea"/>
              </a:rPr>
              <a:t>人同时随机漫步</a:t>
            </a:r>
            <a:r>
              <a:rPr lang="en-US" altLang="zh-CN" sz="1900">
                <a:sym typeface="+mn-ea"/>
              </a:rPr>
              <a:t>1000</a:t>
            </a:r>
            <a:r>
              <a:rPr lang="zh-CN" altLang="en-US" sz="1900">
                <a:sym typeface="+mn-ea"/>
              </a:rPr>
              <a:t>步，求绝对值曾超过</a:t>
            </a:r>
            <a:r>
              <a:rPr lang="en-US" altLang="zh-CN" sz="1900">
                <a:sym typeface="+mn-ea"/>
              </a:rPr>
              <a:t>30</a:t>
            </a:r>
            <a:r>
              <a:rPr lang="zh-CN" altLang="en-US" sz="1900">
                <a:sym typeface="+mn-ea"/>
              </a:rPr>
              <a:t>的这波人，第一次超过绝对值</a:t>
            </a:r>
            <a:r>
              <a:rPr lang="en-US" altLang="zh-CN" sz="1900">
                <a:sym typeface="+mn-ea"/>
              </a:rPr>
              <a:t>30</a:t>
            </a:r>
            <a:r>
              <a:rPr lang="zh-CN" altLang="en-US" sz="1900">
                <a:sym typeface="+mn-ea"/>
              </a:rPr>
              <a:t>步的平均耗时</a:t>
            </a:r>
            <a:endParaRPr lang="zh-CN" altLang="en-US" sz="1900"/>
          </a:p>
          <a:p>
            <a:pPr lvl="1"/>
            <a:endParaRPr lang="zh-CN" altLang="en-US" sz="1900"/>
          </a:p>
          <a:p>
            <a:pPr lvl="1"/>
            <a:endParaRPr lang="zh-CN" altLang="en-US" sz="1900"/>
          </a:p>
          <a:p>
            <a:pPr lvl="1"/>
            <a:endParaRPr lang="zh-CN" altLang="en-US" sz="1900"/>
          </a:p>
          <a:p>
            <a:pPr lvl="1"/>
            <a:endParaRPr lang="zh-CN" altLang="en-US" sz="1900"/>
          </a:p>
          <a:p>
            <a:pPr lvl="1"/>
            <a:endParaRPr lang="zh-CN" altLang="en-US" sz="1900"/>
          </a:p>
          <a:p>
            <a:r>
              <a:rPr lang="zh-CN" altLang="en-US"/>
              <a:t>normal用于生成指定均值和标准差的正态分布数据</a:t>
            </a:r>
            <a:endParaRPr lang="zh-CN" altLang="en-US"/>
          </a:p>
        </p:txBody>
      </p:sp>
      <p:sp>
        <p:nvSpPr>
          <p:cNvPr id="5" name="文本框 4"/>
          <p:cNvSpPr txBox="1"/>
          <p:nvPr/>
        </p:nvSpPr>
        <p:spPr>
          <a:xfrm>
            <a:off x="2717800" y="2414905"/>
            <a:ext cx="7063105" cy="2030095"/>
          </a:xfrm>
          <a:prstGeom prst="rect">
            <a:avLst/>
          </a:prstGeom>
          <a:noFill/>
        </p:spPr>
        <p:txBody>
          <a:bodyPr wrap="square" rtlCol="0" anchor="t">
            <a:spAutoFit/>
          </a:bodyPr>
          <a:p>
            <a:r>
              <a:rPr lang="zh-CN" altLang="en-US" sz="1400"/>
              <a:t>In [266]: hits30 = (np.abs(walks) &gt;= 30).any(1)</a:t>
            </a:r>
            <a:endParaRPr lang="zh-CN" altLang="en-US" sz="1400"/>
          </a:p>
          <a:p>
            <a:r>
              <a:rPr lang="zh-CN" altLang="en-US" sz="1400"/>
              <a:t>In [267]: hits30</a:t>
            </a:r>
            <a:endParaRPr lang="zh-CN" altLang="en-US" sz="1400"/>
          </a:p>
          <a:p>
            <a:r>
              <a:rPr lang="zh-CN" altLang="en-US" sz="1400"/>
              <a:t>Out[267]: array([False,  True, False, ..., False,  True, False], dtype=bool)</a:t>
            </a:r>
            <a:endParaRPr lang="zh-CN" altLang="en-US" sz="1400"/>
          </a:p>
          <a:p>
            <a:r>
              <a:rPr lang="zh-CN" altLang="en-US" sz="1400"/>
              <a:t>In [268]: hits30.sum() # Number that hit 30 or -30</a:t>
            </a:r>
            <a:endParaRPr lang="zh-CN" altLang="en-US" sz="1400"/>
          </a:p>
          <a:p>
            <a:r>
              <a:rPr lang="zh-CN" altLang="en-US" sz="1400"/>
              <a:t>Out[268]: 3410</a:t>
            </a:r>
            <a:endParaRPr lang="zh-CN" altLang="en-US" sz="1400"/>
          </a:p>
          <a:p>
            <a:endParaRPr lang="zh-CN" altLang="en-US" sz="1400"/>
          </a:p>
          <a:p>
            <a:r>
              <a:rPr lang="zh-CN" altLang="en-US" sz="1400"/>
              <a:t>In [269]: crossing_times = (np.abs(walks[hits30]) &gt;= 30).argmax(1)</a:t>
            </a:r>
            <a:endParaRPr lang="zh-CN" altLang="en-US" sz="1400"/>
          </a:p>
          <a:p>
            <a:r>
              <a:rPr lang="zh-CN" altLang="en-US" sz="1400"/>
              <a:t>In [270]: crossing_times.mean()</a:t>
            </a:r>
            <a:endParaRPr lang="zh-CN" altLang="en-US" sz="1400"/>
          </a:p>
          <a:p>
            <a:r>
              <a:rPr lang="zh-CN" altLang="en-US" sz="1400"/>
              <a:t>Out[270]: 498.88973607038122</a:t>
            </a:r>
            <a:endParaRPr lang="zh-CN" altLang="en-US" sz="1400"/>
          </a:p>
        </p:txBody>
      </p:sp>
      <p:sp>
        <p:nvSpPr>
          <p:cNvPr id="4" name="文本框 3"/>
          <p:cNvSpPr txBox="1"/>
          <p:nvPr/>
        </p:nvSpPr>
        <p:spPr>
          <a:xfrm>
            <a:off x="2811145" y="5229860"/>
            <a:ext cx="6581775" cy="306705"/>
          </a:xfrm>
          <a:prstGeom prst="rect">
            <a:avLst/>
          </a:prstGeom>
          <a:noFill/>
        </p:spPr>
        <p:txBody>
          <a:bodyPr wrap="square" rtlCol="0" anchor="t">
            <a:spAutoFit/>
          </a:bodyPr>
          <a:p>
            <a:r>
              <a:rPr lang="zh-CN" altLang="en-US" sz="1400"/>
              <a:t>In [271]: steps = np.random.normal(loc=0, scale=0.25,</a:t>
            </a:r>
            <a:r>
              <a:rPr lang="en-US" altLang="zh-CN" sz="1400"/>
              <a:t> </a:t>
            </a:r>
            <a:r>
              <a:rPr lang="zh-CN" altLang="en-US" sz="1400"/>
              <a:t>size=(nwalks, nsteps))</a:t>
            </a:r>
            <a:endParaRPr lang="zh-CN" altLang="en-US" sz="140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783.31968503937,&quot;width&quot;:10345.31811023622}"/>
</p:tagLst>
</file>

<file path=ppt/theme/theme1.xml><?xml version="1.0" encoding="utf-8"?>
<a:theme xmlns:a="http://schemas.openxmlformats.org/drawingml/2006/main" name="Office 主题">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自定义 1">
      <a:majorFont>
        <a:latin typeface="微软雅黑"/>
        <a:ea typeface="微软雅黑"/>
        <a:cs typeface=""/>
      </a:majorFont>
      <a:minorFont>
        <a:latin typeface="微软雅黑"/>
        <a:ea typeface="微软雅黑"/>
        <a:cs typeface=""/>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26293</Words>
  <Application>WPS 演示</Application>
  <PresentationFormat>自定义</PresentationFormat>
  <Paragraphs>1497</Paragraphs>
  <Slides>71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71</vt:i4>
      </vt:variant>
    </vt:vector>
  </HeadingPairs>
  <TitlesOfParts>
    <vt:vector size="81" baseType="lpstr">
      <vt:lpstr>Arial</vt:lpstr>
      <vt:lpstr>宋体</vt:lpstr>
      <vt:lpstr>Wingdings</vt:lpstr>
      <vt:lpstr>Arial Unicode MS</vt:lpstr>
      <vt:lpstr>微软雅黑</vt:lpstr>
      <vt:lpstr>Arial Black</vt:lpstr>
      <vt:lpstr>Arial Unicode MS</vt:lpstr>
      <vt:lpstr>Calibri</vt:lpstr>
      <vt:lpstr>Consolas</vt:lpstr>
      <vt:lpstr>Office 主题</vt:lpstr>
      <vt:lpstr>https://www.jianshu.com/p/04d180d90a3f</vt:lpstr>
      <vt:lpstr>Numpy</vt:lpstr>
      <vt:lpstr>Numpy 概述</vt:lpstr>
      <vt:lpstr>Numpy 概述</vt:lpstr>
      <vt:lpstr>Numpy</vt:lpstr>
      <vt:lpstr>Numpy基础：数组与向量化计算</vt:lpstr>
      <vt:lpstr>Numpy基础：数组与向量化计算</vt:lpstr>
      <vt:lpstr>4.1.1 生成ndarray</vt:lpstr>
      <vt:lpstr>4.1.1 生成ndarray</vt:lpstr>
      <vt:lpstr>4.1.2 ndarray的数据类型</vt:lpstr>
      <vt:lpstr>4.1.2 ndarray的数据类型</vt:lpstr>
      <vt:lpstr>4.1.2 ndarray的数据类型</vt:lpstr>
      <vt:lpstr>4.1.2 ndarray的数据类型</vt:lpstr>
      <vt:lpstr>4.1.2 ndarray的数据类型</vt:lpstr>
      <vt:lpstr>4.1.2 ndarray的数据类型</vt:lpstr>
      <vt:lpstr>4.1.3 NumPy数组的运算</vt:lpstr>
      <vt:lpstr>4.1.3 NumPy数组的运算</vt:lpstr>
      <vt:lpstr>4.1.3 NumPy数组的运算</vt:lpstr>
      <vt:lpstr>4.1.4 基本的索引和切片</vt:lpstr>
      <vt:lpstr>4.1.4 基本的索引和切片</vt:lpstr>
      <vt:lpstr>4.1.4 基本的索引和切片</vt:lpstr>
      <vt:lpstr>4.1.4 基本的索引和切片</vt:lpstr>
      <vt:lpstr>4.1.4 基本的索引和切片</vt:lpstr>
      <vt:lpstr>4.1.4.1 切片索引</vt:lpstr>
      <vt:lpstr>4.1.4.1 切片索引</vt:lpstr>
      <vt:lpstr>4.1.4.1 切片索引</vt:lpstr>
      <vt:lpstr>4.1.5 布尔索引</vt:lpstr>
      <vt:lpstr>4.1.5 布尔索引</vt:lpstr>
      <vt:lpstr>4.1.5 布尔索引</vt:lpstr>
      <vt:lpstr>4.1.5 布尔索引</vt:lpstr>
      <vt:lpstr>4.1.5 布尔索引</vt:lpstr>
      <vt:lpstr>4.1.6 花式索引</vt:lpstr>
      <vt:lpstr>4.1.6 花式索引</vt:lpstr>
      <vt:lpstr>4.1.7 数组转置和换轴</vt:lpstr>
      <vt:lpstr>4.1.7 数组转置和换轴</vt:lpstr>
      <vt:lpstr>4.1.7 数组转置和换轴</vt:lpstr>
      <vt:lpstr>4.1.7 数组转置和换轴</vt:lpstr>
      <vt:lpstr>4.2 通用函数：快速的逐元素数组函数</vt:lpstr>
      <vt:lpstr>4.2 通用函数：快速的逐元素数组函数</vt:lpstr>
      <vt:lpstr>4.2 通用函数：快速的逐元素数组函数</vt:lpstr>
      <vt:lpstr>4.2 通用函数：快速的逐元素数组函数</vt:lpstr>
      <vt:lpstr>4.2 通用函数：快速的逐元素数组函数</vt:lpstr>
      <vt:lpstr>4.2 通用函数：快速的逐元素数组函数</vt:lpstr>
      <vt:lpstr>4.3 利用数组进行数据处理</vt:lpstr>
      <vt:lpstr>4.3 利用数组进行数据处理</vt:lpstr>
      <vt:lpstr>4.3.1 将条件逻辑表述为数组运算</vt:lpstr>
      <vt:lpstr>4.3.1 将条件逻辑表述为数组运算</vt:lpstr>
      <vt:lpstr>4.3.1 将条件逻辑表述为数组运算</vt:lpstr>
      <vt:lpstr>4.3.2 数学和统计方法</vt:lpstr>
      <vt:lpstr>4.3.2 数学和统计方法</vt:lpstr>
      <vt:lpstr>4.3.2 数学和统计方法</vt:lpstr>
      <vt:lpstr>4.3.2 数学和统计方法</vt:lpstr>
      <vt:lpstr>4.3.3 用于布尔型数组的方法</vt:lpstr>
      <vt:lpstr>4.3.4 排序</vt:lpstr>
      <vt:lpstr>4.3.4 排序</vt:lpstr>
      <vt:lpstr>4.3.5 唯一值与其他集合逻辑</vt:lpstr>
      <vt:lpstr>4.3.5 唯一值与其他集合逻辑</vt:lpstr>
      <vt:lpstr>4.4 用于数组的文件输入输出</vt:lpstr>
      <vt:lpstr>4.5 线性代数</vt:lpstr>
      <vt:lpstr>4.5 线性代数</vt:lpstr>
      <vt:lpstr>4.5 线性代数</vt:lpstr>
      <vt:lpstr>4.5 线性代数</vt:lpstr>
      <vt:lpstr>4.6 伪随机数生成</vt:lpstr>
      <vt:lpstr>4.6 伪随机数生成</vt:lpstr>
      <vt:lpstr>4.6 伪随机数生成</vt:lpstr>
      <vt:lpstr>4.6 伪随机数生成</vt:lpstr>
      <vt:lpstr>4.7 示例：随机漫步</vt:lpstr>
      <vt:lpstr>4.7 示例：随机漫步</vt:lpstr>
      <vt:lpstr>4.7 示例：随机漫步</vt:lpstr>
      <vt:lpstr>4.7 示例：随机漫步</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赵伟</dc:creator>
  <cp:lastModifiedBy>赵伟</cp:lastModifiedBy>
  <cp:revision>857</cp:revision>
  <cp:lastPrinted>2012-03-16T05:44:00Z</cp:lastPrinted>
  <dcterms:created xsi:type="dcterms:W3CDTF">2020-09-20T02:01:00Z</dcterms:created>
  <dcterms:modified xsi:type="dcterms:W3CDTF">2021-09-22T04:52:36Z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92449C1792324EFFB02AA4E7FE5BF20A</vt:lpwstr>
  </property>
</Properties>
</file>