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1"/>
  </p:notesMasterIdLst>
  <p:handoutMasterIdLst>
    <p:handoutMasterId r:id="rId52"/>
  </p:handoutMasterIdLst>
  <p:sldIdLst>
    <p:sldId id="256" r:id="rId3"/>
    <p:sldId id="486" r:id="rId4"/>
    <p:sldId id="368" r:id="rId5"/>
    <p:sldId id="600" r:id="rId6"/>
    <p:sldId id="601" r:id="rId7"/>
    <p:sldId id="602" r:id="rId8"/>
    <p:sldId id="603" r:id="rId9"/>
    <p:sldId id="604" r:id="rId10"/>
    <p:sldId id="605" r:id="rId11"/>
    <p:sldId id="606" r:id="rId12"/>
    <p:sldId id="607" r:id="rId13"/>
    <p:sldId id="608" r:id="rId14"/>
    <p:sldId id="609" r:id="rId15"/>
    <p:sldId id="610" r:id="rId16"/>
    <p:sldId id="611" r:id="rId17"/>
    <p:sldId id="612" r:id="rId18"/>
    <p:sldId id="613" r:id="rId19"/>
    <p:sldId id="614" r:id="rId20"/>
    <p:sldId id="615" r:id="rId21"/>
    <p:sldId id="616" r:id="rId22"/>
    <p:sldId id="617" r:id="rId23"/>
    <p:sldId id="618" r:id="rId24"/>
    <p:sldId id="620" r:id="rId25"/>
    <p:sldId id="621" r:id="rId26"/>
    <p:sldId id="622" r:id="rId27"/>
    <p:sldId id="623" r:id="rId28"/>
    <p:sldId id="624" r:id="rId29"/>
    <p:sldId id="625" r:id="rId30"/>
    <p:sldId id="626" r:id="rId31"/>
    <p:sldId id="627" r:id="rId32"/>
    <p:sldId id="628" r:id="rId33"/>
    <p:sldId id="629" r:id="rId34"/>
    <p:sldId id="630" r:id="rId35"/>
    <p:sldId id="631" r:id="rId36"/>
    <p:sldId id="632" r:id="rId37"/>
    <p:sldId id="633" r:id="rId38"/>
    <p:sldId id="634" r:id="rId39"/>
    <p:sldId id="635" r:id="rId40"/>
    <p:sldId id="636" r:id="rId42"/>
    <p:sldId id="637" r:id="rId43"/>
    <p:sldId id="638" r:id="rId44"/>
    <p:sldId id="640" r:id="rId45"/>
    <p:sldId id="641" r:id="rId46"/>
    <p:sldId id="644" r:id="rId47"/>
    <p:sldId id="643" r:id="rId48"/>
    <p:sldId id="645" r:id="rId49"/>
    <p:sldId id="646" r:id="rId50"/>
    <p:sldId id="265" r:id="rId51"/>
  </p:sldIdLst>
  <p:sldSz cx="12204700" cy="6859270"/>
  <p:notesSz cx="9144000" cy="6858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483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90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38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86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723515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326771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81254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435737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33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0" autoAdjust="0"/>
    <p:restoredTop sz="96552" autoAdjust="0"/>
  </p:normalViewPr>
  <p:slideViewPr>
    <p:cSldViewPr>
      <p:cViewPr varScale="1">
        <p:scale>
          <a:sx n="114" d="100"/>
          <a:sy n="114" d="100"/>
        </p:scale>
        <p:origin x="-762" y="-108"/>
      </p:cViewPr>
      <p:guideLst>
        <p:guide orient="horz" pos="2206"/>
        <p:guide pos="384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126"/>
    </p:cViewPr>
  </p:sorterViewPr>
  <p:notesViewPr>
    <p:cSldViewPr>
      <p:cViewPr varScale="1">
        <p:scale>
          <a:sx n="87" d="100"/>
          <a:sy n="87" d="100"/>
        </p:scale>
        <p:origin x="2064" y="58"/>
      </p:cViewPr>
      <p:guideLst>
        <p:guide orient="horz" pos="2204"/>
        <p:guide pos="288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0E44AF-0D8D-4B66-BECC-4D5B9292E151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3C35A87-E971-49BF-8F02-A5CE2B85C74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7119A08-1D2F-470C-8FD3-E69459F4B57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4413" y="514350"/>
            <a:ext cx="457517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6004EB-C740-4F3D-A864-243FCB14D11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483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8902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3385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7868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3515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771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254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737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/>
          <p:nvPr userDrawn="1"/>
        </p:nvSpPr>
        <p:spPr>
          <a:xfrm>
            <a:off x="239599" y="6434041"/>
            <a:ext cx="4228870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grpSp>
        <p:nvGrpSpPr>
          <p:cNvPr id="5" name="组合 19"/>
          <p:cNvGrpSpPr/>
          <p:nvPr userDrawn="1"/>
        </p:nvGrpSpPr>
        <p:grpSpPr bwMode="auto">
          <a:xfrm>
            <a:off x="0" y="6238758"/>
            <a:ext cx="12204700" cy="273832"/>
            <a:chOff x="0" y="6237927"/>
            <a:chExt cx="9144000" cy="272911"/>
          </a:xfrm>
        </p:grpSpPr>
        <p:cxnSp>
          <p:nvCxnSpPr>
            <p:cNvPr id="6" name="直接连接符 5"/>
            <p:cNvCxnSpPr>
              <a:endCxn id="7" idx="1"/>
            </p:cNvCxnSpPr>
            <p:nvPr userDrawn="1"/>
          </p:nvCxnSpPr>
          <p:spPr>
            <a:xfrm flipV="1">
              <a:off x="0" y="6374383"/>
              <a:ext cx="32758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7" idx="3"/>
            </p:cNvCxnSpPr>
            <p:nvPr userDrawn="1"/>
          </p:nvCxnSpPr>
          <p:spPr>
            <a:xfrm>
              <a:off x="5826944" y="6374383"/>
              <a:ext cx="33170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 userDrawn="1"/>
          </p:nvSpPr>
          <p:spPr>
            <a:xfrm>
              <a:off x="3275856" y="6237927"/>
              <a:ext cx="2551088" cy="2729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solidFill>
                    <a:schemeClr val="accent4">
                      <a:lumMod val="50000"/>
                    </a:schemeClr>
                  </a:solidFill>
                </a:rPr>
                <a:t>数据分析基础</a:t>
              </a:r>
              <a:endParaRPr lang="zh-CN" altLang="en-US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353" y="2929613"/>
            <a:ext cx="10373995" cy="928910"/>
          </a:xfrm>
        </p:spPr>
        <p:txBody>
          <a:bodyPr>
            <a:normAutofit/>
          </a:bodyPr>
          <a:lstStyle>
            <a:lvl1pPr algn="l"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5353" y="3887100"/>
            <a:ext cx="8543290" cy="685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defRPr>
            </a:lvl1pPr>
            <a:lvl2pPr marL="54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9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8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7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7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742" y="405458"/>
            <a:ext cx="8279325" cy="5760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FFADEFA4-4608-418A-84AC-D4C3F38BFDE0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669564"/>
            <a:ext cx="12204700" cy="60180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29363" y="1703784"/>
            <a:ext cx="652508" cy="611329"/>
          </a:xfrm>
          <a:prstGeom prst="rect">
            <a:avLst/>
          </a:prstGeom>
          <a:solidFill>
            <a:schemeClr val="accent4">
              <a:lumMod val="5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页脚占位符 4"/>
          <p:cNvSpPr txBox="1"/>
          <p:nvPr userDrawn="1"/>
        </p:nvSpPr>
        <p:spPr>
          <a:xfrm>
            <a:off x="610235" y="6434041"/>
            <a:ext cx="4443274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集美大学诚毅学院 数据科学与大数据教研室</a:t>
            </a:r>
            <a:endParaRPr lang="zh-CN" altLang="en-US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57734" y="1197546"/>
            <a:ext cx="864096" cy="828867"/>
          </a:xfrm>
          <a:prstGeom prst="rect">
            <a:avLst/>
          </a:prstGeom>
          <a:solidFill>
            <a:schemeClr val="accent4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892153" y="2107102"/>
            <a:ext cx="5339556" cy="1541157"/>
          </a:xfrm>
          <a:prstGeom prst="rect">
            <a:avLst/>
          </a:prstGeom>
          <a:noFill/>
        </p:spPr>
        <p:txBody>
          <a:bodyPr lIns="108932" tIns="54466" rIns="108932" bIns="5446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3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Thanks</a:t>
            </a:r>
            <a:endParaRPr lang="zh-CN" altLang="en-US" sz="93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79012" y="3581432"/>
            <a:ext cx="2517159" cy="771715"/>
          </a:xfrm>
          <a:prstGeom prst="rect">
            <a:avLst/>
          </a:prstGeom>
          <a:noFill/>
        </p:spPr>
        <p:txBody>
          <a:bodyPr wrap="none" lIns="108932" tIns="54466" rIns="108932" bIns="54466"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FAQ</a:t>
            </a:r>
            <a:r>
              <a:rPr lang="zh-CN" altLang="en-US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时间</a:t>
            </a:r>
            <a:endParaRPr lang="en-US" altLang="zh-CN" sz="4300" dirty="0">
              <a:solidFill>
                <a:schemeClr val="bg1"/>
              </a:solidFill>
              <a:latin typeface="Arial Black" panose="020B0A04020102020204" pitchFamily="34" charset="0"/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29742" y="405458"/>
            <a:ext cx="8279325" cy="5760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235" y="1197546"/>
            <a:ext cx="10984230" cy="5041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413718" y="1053530"/>
            <a:ext cx="11251208" cy="1587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页脚占位符 4"/>
          <p:cNvSpPr txBox="1"/>
          <p:nvPr userDrawn="1"/>
        </p:nvSpPr>
        <p:spPr>
          <a:xfrm>
            <a:off x="239598" y="6434041"/>
            <a:ext cx="4324981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85726" y="405458"/>
            <a:ext cx="118690" cy="4990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2059" name="组合 18"/>
          <p:cNvGrpSpPr/>
          <p:nvPr userDrawn="1"/>
        </p:nvGrpSpPr>
        <p:grpSpPr bwMode="auto">
          <a:xfrm>
            <a:off x="0" y="6238756"/>
            <a:ext cx="12204700" cy="288099"/>
            <a:chOff x="0" y="6237942"/>
            <a:chExt cx="9144000" cy="287130"/>
          </a:xfrm>
        </p:grpSpPr>
        <p:cxnSp>
          <p:nvCxnSpPr>
            <p:cNvPr id="20" name="直接连接符 19"/>
            <p:cNvCxnSpPr>
              <a:endCxn id="27" idx="1"/>
            </p:cNvCxnSpPr>
            <p:nvPr userDrawn="1"/>
          </p:nvCxnSpPr>
          <p:spPr>
            <a:xfrm>
              <a:off x="0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 userDrawn="1"/>
          </p:nvSpPr>
          <p:spPr>
            <a:xfrm>
              <a:off x="3347864" y="6237942"/>
              <a:ext cx="2448272" cy="28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数据分析基础</a:t>
              </a:r>
              <a:endParaRPr lang="zh-CN" altLang="en-US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cxnSp>
          <p:nvCxnSpPr>
            <p:cNvPr id="28" name="直接连接符 27"/>
            <p:cNvCxnSpPr>
              <a:stCxn id="27" idx="3"/>
            </p:cNvCxnSpPr>
            <p:nvPr userDrawn="1"/>
          </p:nvCxnSpPr>
          <p:spPr>
            <a:xfrm>
              <a:off x="5796136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4830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8902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63385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17868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08305" indent="-40830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4">
            <a:lumMod val="50000"/>
          </a:schemeClr>
        </a:buClr>
        <a:buFont typeface="Wingdings" panose="05000000000000000000" pitchFamily="2" charset="2"/>
        <a:buChar char="u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885190" indent="-34036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36144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90627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45110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930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012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495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978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83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85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868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351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771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254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737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768207" y="5157986"/>
            <a:ext cx="10668285" cy="844324"/>
          </a:xfrm>
        </p:spPr>
        <p:txBody>
          <a:bodyPr>
            <a:normAutofit/>
          </a:bodyPr>
          <a:lstStyle/>
          <a:p>
            <a:pPr lvl="2"/>
            <a:r>
              <a:rPr lang="en-US" altLang="zh-CN" sz="1150" dirty="0"/>
              <a:t>https://www.jianshu.com/p/04d180d90a3f</a:t>
            </a:r>
            <a:endParaRPr lang="en-US" altLang="zh-CN" sz="1150" dirty="0"/>
          </a:p>
        </p:txBody>
      </p:sp>
      <p:pic>
        <p:nvPicPr>
          <p:cNvPr id="2" name="图片 1" descr="src=http___pic4.zhimg.com_v2-e13f265ced6b2140e0c3809ffc9022e6_1200x500.jpg&amp;refer=http___pic4.zhim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09320"/>
            <a:ext cx="7905750" cy="3860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大纲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 sz="1900">
                <a:sym typeface="+mn-ea"/>
              </a:rPr>
              <a:t>数据</a:t>
            </a:r>
            <a:r>
              <a:rPr lang="en-US" altLang="zh-CN" sz="1900">
                <a:sym typeface="+mn-ea"/>
              </a:rPr>
              <a:t>分析师80%</a:t>
            </a:r>
            <a:r>
              <a:rPr lang="zh-CN" altLang="en-US" sz="1900">
                <a:sym typeface="+mn-ea"/>
              </a:rPr>
              <a:t>的</a:t>
            </a:r>
            <a:r>
              <a:rPr lang="en-US" altLang="zh-CN" sz="1900">
                <a:sym typeface="+mn-ea"/>
              </a:rPr>
              <a:t>时间</a:t>
            </a:r>
            <a:r>
              <a:rPr lang="zh-CN" altLang="en-US" sz="1900">
                <a:sym typeface="+mn-ea"/>
              </a:rPr>
              <a:t>用于数据准备：加载、清理、转换以及重塑</a:t>
            </a:r>
            <a:endParaRPr lang="zh-CN" altLang="en-US" sz="1900">
              <a:sym typeface="+mn-ea"/>
            </a:endParaRPr>
          </a:p>
          <a:p>
            <a:pPr lvl="1"/>
            <a:r>
              <a:rPr lang="zh-CN" altLang="en-US" sz="1900">
                <a:sym typeface="+mn-ea"/>
              </a:rPr>
              <a:t>https://www.jianshu.com/p/ac7bec000dad</a:t>
            </a:r>
            <a:endParaRPr lang="zh-CN" altLang="en-US" sz="1900">
              <a:sym typeface="+mn-ea"/>
            </a:endParaRPr>
          </a:p>
          <a:p>
            <a:r>
              <a:rPr lang="zh-CN" altLang="en-US"/>
              <a:t>课程安排</a:t>
            </a:r>
            <a:endParaRPr lang="zh-CN" altLang="en-US"/>
          </a:p>
          <a:p>
            <a:pPr lvl="1"/>
            <a:r>
              <a:rPr lang="en-US" altLang="zh-CN"/>
              <a:t>7.1 </a:t>
            </a:r>
            <a:r>
              <a:rPr lang="zh-CN" altLang="zh-CN"/>
              <a:t>处理缺失值</a:t>
            </a:r>
            <a:endParaRPr lang="zh-CN" altLang="zh-CN"/>
          </a:p>
          <a:p>
            <a:pPr lvl="1"/>
            <a:r>
              <a:rPr lang="en-US" altLang="zh-CN"/>
              <a:t>7.2 </a:t>
            </a:r>
            <a:r>
              <a:rPr lang="zh-CN" altLang="zh-CN"/>
              <a:t>数据转换</a:t>
            </a:r>
            <a:endParaRPr lang="zh-CN" altLang="zh-CN"/>
          </a:p>
          <a:p>
            <a:pPr lvl="1"/>
            <a:r>
              <a:rPr lang="en-US" altLang="zh-CN"/>
              <a:t>7.3 </a:t>
            </a:r>
            <a:r>
              <a:rPr lang="zh-CN" altLang="en-US"/>
              <a:t>字符串操作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 </a:t>
            </a:r>
            <a:r>
              <a:rPr lang="zh-CN" altLang="zh-CN">
                <a:sym typeface="+mn-ea"/>
              </a:rPr>
              <a:t>处理缺失值</a:t>
            </a:r>
            <a:endParaRPr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7.1.1 </a:t>
            </a:r>
            <a:r>
              <a:rPr lang="zh-CN" altLang="en-US" b="1"/>
              <a:t>过滤缺失值</a:t>
            </a:r>
            <a:endParaRPr lang="zh-CN" altLang="en-US" b="1"/>
          </a:p>
          <a:p>
            <a:r>
              <a:rPr lang="en-US" altLang="zh-CN" b="1"/>
              <a:t>7.1.2 </a:t>
            </a:r>
            <a:r>
              <a:rPr lang="zh-CN" altLang="en-US" b="1"/>
              <a:t>补全缺失值</a:t>
            </a:r>
            <a:endParaRPr lang="zh-CN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7.1.1 </a:t>
            </a:r>
            <a:r>
              <a:rPr lang="zh-CN" altLang="en-US">
                <a:sym typeface="+mn-ea"/>
              </a:rPr>
              <a:t>过滤缺失值</a:t>
            </a:r>
            <a:endParaRPr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pandas的目标之一就是尽量轻松地处理缺失数据。</a:t>
            </a:r>
            <a:endParaRPr lang="en-US" altLang="zh-CN" b="1"/>
          </a:p>
          <a:p>
            <a:pPr lvl="1"/>
            <a:r>
              <a:rPr lang="en-US" altLang="zh-CN" b="1"/>
              <a:t>对于数值数据，pandas使用浮点值NaN（Not a Number）表示缺失数据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2501900" y="2421890"/>
            <a:ext cx="7308215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[10]: string_data = pd.Series(['aardvark', 'artichoke', np.nan, 'avocado'])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[11]: string_data</a:t>
            </a:r>
            <a:endParaRPr lang="zh-CN" altLang="en-US" sz="1400"/>
          </a:p>
          <a:p>
            <a:r>
              <a:rPr lang="zh-CN" altLang="en-US" sz="1400"/>
              <a:t>Out[11]:</a:t>
            </a:r>
            <a:endParaRPr lang="zh-CN" altLang="en-US" sz="1400"/>
          </a:p>
          <a:p>
            <a:r>
              <a:rPr lang="zh-CN" altLang="en-US" sz="1400"/>
              <a:t>0     aardvark</a:t>
            </a:r>
            <a:endParaRPr lang="zh-CN" altLang="en-US" sz="1400"/>
          </a:p>
          <a:p>
            <a:r>
              <a:rPr lang="zh-CN" altLang="en-US" sz="1400"/>
              <a:t>1    artichoke</a:t>
            </a:r>
            <a:endParaRPr lang="zh-CN" altLang="en-US" sz="1400"/>
          </a:p>
          <a:p>
            <a:r>
              <a:rPr lang="zh-CN" altLang="en-US" sz="1400"/>
              <a:t>2          NaN</a:t>
            </a:r>
            <a:endParaRPr lang="zh-CN" altLang="en-US" sz="1400"/>
          </a:p>
          <a:p>
            <a:r>
              <a:rPr lang="zh-CN" altLang="en-US" sz="1400"/>
              <a:t>3      avocado</a:t>
            </a:r>
            <a:endParaRPr lang="zh-CN" altLang="en-US" sz="1400"/>
          </a:p>
          <a:p>
            <a:r>
              <a:rPr lang="zh-CN" altLang="en-US" sz="1400"/>
              <a:t>dtype: object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[12]: string_data.isnull()</a:t>
            </a:r>
            <a:endParaRPr lang="zh-CN" altLang="en-US" sz="1400"/>
          </a:p>
          <a:p>
            <a:r>
              <a:rPr lang="zh-CN" altLang="en-US" sz="1400"/>
              <a:t>Out[12]: </a:t>
            </a:r>
            <a:endParaRPr lang="zh-CN" altLang="en-US" sz="1400"/>
          </a:p>
          <a:p>
            <a:r>
              <a:rPr lang="zh-CN" altLang="en-US" sz="1400"/>
              <a:t>0    False</a:t>
            </a:r>
            <a:endParaRPr lang="zh-CN" altLang="en-US" sz="1400"/>
          </a:p>
          <a:p>
            <a:r>
              <a:rPr lang="zh-CN" altLang="en-US" sz="1400"/>
              <a:t>1    False</a:t>
            </a:r>
            <a:endParaRPr lang="zh-CN" altLang="en-US" sz="1400"/>
          </a:p>
          <a:p>
            <a:r>
              <a:rPr lang="zh-CN" altLang="en-US" sz="1400"/>
              <a:t>2     True</a:t>
            </a:r>
            <a:endParaRPr lang="zh-CN" altLang="en-US" sz="1400"/>
          </a:p>
          <a:p>
            <a:r>
              <a:rPr lang="zh-CN" altLang="en-US" sz="1400"/>
              <a:t>3    False</a:t>
            </a:r>
            <a:endParaRPr lang="zh-CN" altLang="en-US" sz="1400"/>
          </a:p>
          <a:p>
            <a:r>
              <a:rPr lang="zh-CN" altLang="en-US" sz="1400"/>
              <a:t>dtype: bool</a:t>
            </a:r>
            <a:endParaRPr lang="zh-CN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7.1.1 </a:t>
            </a:r>
            <a:r>
              <a:rPr lang="zh-CN" altLang="en-US">
                <a:sym typeface="+mn-ea"/>
              </a:rPr>
              <a:t>过滤缺失值</a:t>
            </a:r>
            <a:endParaRPr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数据清洗时，</a:t>
            </a:r>
            <a:r>
              <a:rPr lang="zh-CN" altLang="en-US" b="1"/>
              <a:t>应</a:t>
            </a:r>
            <a:r>
              <a:rPr lang="en-US" altLang="zh-CN" b="1"/>
              <a:t>直接对缺失数据进行分析，以判断数据采集的问题或缺失数据可能导致的偏差</a:t>
            </a:r>
            <a:endParaRPr lang="en-US" altLang="zh-CN" b="1"/>
          </a:p>
          <a:p>
            <a:pPr lvl="1"/>
            <a:r>
              <a:rPr lang="en-US" altLang="zh-CN" b="1"/>
              <a:t>Python内置的None值在对象数组中也可以作为NA</a:t>
            </a:r>
            <a:endParaRPr lang="en-US" altLang="zh-CN" b="1"/>
          </a:p>
          <a:p>
            <a:pPr lvl="1"/>
            <a:r>
              <a:rPr lang="en-US" altLang="zh-CN" b="1"/>
              <a:t>pandas项目中还在不断优化内部细节以更好处理缺失数据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2501900" y="2924175"/>
            <a:ext cx="730821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[13]: string_data[0] = None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[14]: string_data.isnull()</a:t>
            </a:r>
            <a:endParaRPr lang="zh-CN" altLang="en-US" sz="1400"/>
          </a:p>
          <a:p>
            <a:r>
              <a:rPr lang="zh-CN" altLang="en-US" sz="1400"/>
              <a:t>Out[14]: </a:t>
            </a:r>
            <a:endParaRPr lang="zh-CN" altLang="en-US" sz="1400"/>
          </a:p>
          <a:p>
            <a:r>
              <a:rPr lang="zh-CN" altLang="en-US" sz="1400"/>
              <a:t>0     True</a:t>
            </a:r>
            <a:endParaRPr lang="zh-CN" altLang="en-US" sz="1400"/>
          </a:p>
          <a:p>
            <a:r>
              <a:rPr lang="zh-CN" altLang="en-US" sz="1400"/>
              <a:t>1    False</a:t>
            </a:r>
            <a:endParaRPr lang="zh-CN" altLang="en-US" sz="1400"/>
          </a:p>
          <a:p>
            <a:r>
              <a:rPr lang="zh-CN" altLang="en-US" sz="1400"/>
              <a:t>2     True</a:t>
            </a:r>
            <a:endParaRPr lang="zh-CN" altLang="en-US" sz="1400"/>
          </a:p>
          <a:p>
            <a:r>
              <a:rPr lang="zh-CN" altLang="en-US" sz="1400"/>
              <a:t>3    False</a:t>
            </a:r>
            <a:endParaRPr lang="zh-CN" altLang="en-US" sz="1400"/>
          </a:p>
          <a:p>
            <a:r>
              <a:rPr lang="zh-CN" altLang="en-US" sz="1400"/>
              <a:t>dtype: bool</a:t>
            </a:r>
            <a:endParaRPr lang="zh-CN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7.1.1 </a:t>
            </a:r>
            <a:r>
              <a:rPr lang="zh-CN" altLang="en-US">
                <a:sym typeface="+mn-ea"/>
              </a:rPr>
              <a:t>过滤缺失值</a:t>
            </a:r>
            <a:endParaRPr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缺失数据处理的函数</a:t>
            </a:r>
            <a:endParaRPr lang="en-US" altLang="zh-CN" b="1"/>
          </a:p>
        </p:txBody>
      </p:sp>
      <p:pic>
        <p:nvPicPr>
          <p:cNvPr id="5" name="图片 4" descr="n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665" y="2205355"/>
            <a:ext cx="9853295" cy="3053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7.1.1 </a:t>
            </a:r>
            <a:r>
              <a:rPr lang="zh-CN" altLang="en-US">
                <a:sym typeface="+mn-ea"/>
              </a:rPr>
              <a:t>过滤缺失值</a:t>
            </a:r>
            <a:endParaRPr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过滤掉缺失数据的办法</a:t>
            </a:r>
            <a:endParaRPr lang="en-US" altLang="zh-CN" b="1"/>
          </a:p>
          <a:p>
            <a:pPr lvl="1"/>
            <a:r>
              <a:rPr lang="en-US" altLang="zh-CN" b="1"/>
              <a:t>通过pandas.isnull或布尔索引的手工方法</a:t>
            </a:r>
            <a:endParaRPr lang="en-US" altLang="zh-CN" b="1"/>
          </a:p>
          <a:p>
            <a:pPr lvl="1"/>
            <a:r>
              <a:rPr lang="en-US" altLang="zh-CN" b="1"/>
              <a:t>dropna可能会更实用一些</a:t>
            </a:r>
            <a:endParaRPr lang="en-US" altLang="zh-CN" b="1"/>
          </a:p>
          <a:p>
            <a:pPr lvl="2"/>
            <a:r>
              <a:rPr lang="en-US" altLang="zh-CN" b="1"/>
              <a:t>对于一个Series，dropna返回一个仅含非空数据和索引值的Series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2357755" y="3213735"/>
            <a:ext cx="429133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[15]: from numpy import nan as NA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[16]: data = pd.Series([1, NA, 3.5, NA, 7])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[17]: data.dropna()</a:t>
            </a:r>
            <a:endParaRPr lang="zh-CN" altLang="en-US" sz="1400"/>
          </a:p>
          <a:p>
            <a:r>
              <a:rPr lang="zh-CN" altLang="en-US" sz="1400"/>
              <a:t>Out[17]: </a:t>
            </a:r>
            <a:endParaRPr lang="zh-CN" altLang="en-US" sz="1400"/>
          </a:p>
          <a:p>
            <a:r>
              <a:rPr lang="zh-CN" altLang="en-US" sz="1400"/>
              <a:t>0    1.0</a:t>
            </a:r>
            <a:endParaRPr lang="zh-CN" altLang="en-US" sz="1400"/>
          </a:p>
          <a:p>
            <a:r>
              <a:rPr lang="zh-CN" altLang="en-US" sz="1400"/>
              <a:t>2    3.5</a:t>
            </a:r>
            <a:endParaRPr lang="zh-CN" altLang="en-US" sz="1400"/>
          </a:p>
          <a:p>
            <a:r>
              <a:rPr lang="zh-CN" altLang="en-US" sz="1400"/>
              <a:t>4    7.0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6894195" y="3357880"/>
            <a:ext cx="47866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[18]: data[data.notnull()]</a:t>
            </a:r>
            <a:endParaRPr lang="zh-CN" altLang="en-US" sz="1400"/>
          </a:p>
          <a:p>
            <a:r>
              <a:rPr lang="zh-CN" altLang="en-US" sz="1400"/>
              <a:t>Out[18]: </a:t>
            </a:r>
            <a:endParaRPr lang="zh-CN" altLang="en-US" sz="1400"/>
          </a:p>
          <a:p>
            <a:r>
              <a:rPr lang="zh-CN" altLang="en-US" sz="1400"/>
              <a:t>0    1.0</a:t>
            </a:r>
            <a:endParaRPr lang="zh-CN" altLang="en-US" sz="1400"/>
          </a:p>
          <a:p>
            <a:r>
              <a:rPr lang="zh-CN" altLang="en-US" sz="1400"/>
              <a:t>2    3.5</a:t>
            </a:r>
            <a:endParaRPr lang="zh-CN" altLang="en-US" sz="1400"/>
          </a:p>
          <a:p>
            <a:r>
              <a:rPr lang="zh-CN" altLang="en-US" sz="1400"/>
              <a:t>4    7.0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7.1.1 </a:t>
            </a:r>
            <a:r>
              <a:rPr lang="zh-CN" altLang="en-US">
                <a:sym typeface="+mn-ea"/>
              </a:rPr>
              <a:t>过滤缺失值</a:t>
            </a:r>
            <a:endParaRPr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DataFrame</a:t>
            </a:r>
            <a:r>
              <a:rPr lang="zh-CN" altLang="zh-CN" b="1"/>
              <a:t>过滤缺失值</a:t>
            </a:r>
            <a:endParaRPr lang="en-US" altLang="zh-CN" b="1"/>
          </a:p>
          <a:p>
            <a:pPr lvl="1"/>
            <a:r>
              <a:rPr lang="en-US" altLang="zh-CN" b="1"/>
              <a:t>默认丢弃任何含有缺失值的行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1626235" y="2349500"/>
            <a:ext cx="8951595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[19]: data = pd.DataFrame([[1., 6.5, 3.], [1., NA, NA],</a:t>
            </a:r>
            <a:endParaRPr lang="zh-CN" altLang="en-US" sz="1400"/>
          </a:p>
          <a:p>
            <a:r>
              <a:rPr lang="zh-CN" altLang="en-US" sz="1400"/>
              <a:t>   ....:                      [NA, NA, NA], [NA, 6.5, 3.]])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[20]: cleaned = data.dropna()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[21]: data</a:t>
            </a:r>
            <a:endParaRPr lang="zh-CN" altLang="en-US" sz="1400"/>
          </a:p>
          <a:p>
            <a:r>
              <a:rPr lang="zh-CN" altLang="en-US" sz="1400"/>
              <a:t>Out[21]: </a:t>
            </a:r>
            <a:endParaRPr lang="zh-CN" altLang="en-US" sz="1400"/>
          </a:p>
          <a:p>
            <a:r>
              <a:rPr lang="zh-CN" altLang="en-US" sz="1400"/>
              <a:t>     0    1    2</a:t>
            </a:r>
            <a:endParaRPr lang="zh-CN" altLang="en-US" sz="1400"/>
          </a:p>
          <a:p>
            <a:r>
              <a:rPr lang="zh-CN" altLang="en-US" sz="1400"/>
              <a:t>0  1.0  6.5  3.0</a:t>
            </a:r>
            <a:endParaRPr lang="zh-CN" altLang="en-US" sz="1400"/>
          </a:p>
          <a:p>
            <a:r>
              <a:rPr lang="zh-CN" altLang="en-US" sz="1400"/>
              <a:t>1  1.0  NaN  NaN</a:t>
            </a:r>
            <a:endParaRPr lang="zh-CN" altLang="en-US" sz="1400"/>
          </a:p>
          <a:p>
            <a:r>
              <a:rPr lang="zh-CN" altLang="en-US" sz="1400"/>
              <a:t>2  NaN  NaN  NaN</a:t>
            </a:r>
            <a:endParaRPr lang="zh-CN" altLang="en-US" sz="1400"/>
          </a:p>
          <a:p>
            <a:r>
              <a:rPr lang="zh-CN" altLang="en-US" sz="1400"/>
              <a:t>3  NaN  6.5  3.0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[22]: cleaned</a:t>
            </a:r>
            <a:endParaRPr lang="zh-CN" altLang="en-US" sz="1400"/>
          </a:p>
          <a:p>
            <a:r>
              <a:rPr lang="zh-CN" altLang="en-US" sz="1400"/>
              <a:t>Out[22]: </a:t>
            </a:r>
            <a:endParaRPr lang="zh-CN" altLang="en-US" sz="1400"/>
          </a:p>
          <a:p>
            <a:r>
              <a:rPr lang="zh-CN" altLang="en-US" sz="1400"/>
              <a:t>     0    1    2</a:t>
            </a:r>
            <a:endParaRPr lang="zh-CN" altLang="en-US" sz="1400"/>
          </a:p>
          <a:p>
            <a:r>
              <a:rPr lang="zh-CN" altLang="en-US" sz="1400"/>
              <a:t>0  1.0  6.5  3.0</a:t>
            </a:r>
            <a:endParaRPr lang="zh-CN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7.1.1 </a:t>
            </a:r>
            <a:r>
              <a:rPr lang="zh-CN" altLang="en-US">
                <a:sym typeface="+mn-ea"/>
              </a:rPr>
              <a:t>过滤缺失值</a:t>
            </a:r>
            <a:endParaRPr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DataFrame</a:t>
            </a:r>
            <a:r>
              <a:rPr lang="zh-CN" altLang="zh-CN" b="1"/>
              <a:t>过滤缺失值</a:t>
            </a:r>
            <a:endParaRPr lang="en-US" altLang="zh-CN" b="1"/>
          </a:p>
          <a:p>
            <a:pPr lvl="1"/>
            <a:r>
              <a:rPr lang="zh-CN" altLang="en-US" b="1"/>
              <a:t>参数：</a:t>
            </a:r>
            <a:endParaRPr lang="zh-CN" altLang="en-US" b="1"/>
          </a:p>
          <a:p>
            <a:pPr lvl="2"/>
            <a:r>
              <a:rPr lang="zh-CN" altLang="en-US" b="1"/>
              <a:t>how='all'</a:t>
            </a:r>
            <a:endParaRPr lang="zh-CN" altLang="en-US" b="1"/>
          </a:p>
          <a:p>
            <a:pPr lvl="2"/>
            <a:r>
              <a:rPr lang="zh-CN" altLang="en-US" b="1"/>
              <a:t>axis=1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5238115" y="1192530"/>
            <a:ext cx="5524500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[23]: data.dropna(how='all')</a:t>
            </a:r>
            <a:endParaRPr lang="zh-CN" altLang="en-US" sz="1400"/>
          </a:p>
          <a:p>
            <a:r>
              <a:rPr lang="zh-CN" altLang="en-US" sz="1400"/>
              <a:t>Out[23]: </a:t>
            </a:r>
            <a:endParaRPr lang="zh-CN" altLang="en-US" sz="1400"/>
          </a:p>
          <a:p>
            <a:r>
              <a:rPr lang="zh-CN" altLang="en-US" sz="1400"/>
              <a:t>     0    1    2</a:t>
            </a:r>
            <a:endParaRPr lang="zh-CN" altLang="en-US" sz="1400"/>
          </a:p>
          <a:p>
            <a:r>
              <a:rPr lang="zh-CN" altLang="en-US" sz="1400"/>
              <a:t>0  1.0  6.5  3.0</a:t>
            </a:r>
            <a:endParaRPr lang="zh-CN" altLang="en-US" sz="1400"/>
          </a:p>
          <a:p>
            <a:r>
              <a:rPr lang="zh-CN" altLang="en-US" sz="1400"/>
              <a:t>1  1.0  NaN  NaN</a:t>
            </a:r>
            <a:endParaRPr lang="zh-CN" altLang="en-US" sz="1400"/>
          </a:p>
          <a:p>
            <a:r>
              <a:rPr lang="zh-CN" altLang="en-US" sz="1400"/>
              <a:t>3  NaN  6.5  3.0</a:t>
            </a:r>
            <a:endParaRPr lang="zh-CN" altLang="en-US" sz="1400"/>
          </a:p>
          <a:p>
            <a:r>
              <a:rPr lang="zh-CN" altLang="en-US" sz="1400"/>
              <a:t>In [24]: data[4] = NA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[25]: data</a:t>
            </a:r>
            <a:endParaRPr lang="zh-CN" altLang="en-US" sz="1400"/>
          </a:p>
          <a:p>
            <a:r>
              <a:rPr lang="zh-CN" altLang="en-US" sz="1400"/>
              <a:t>Out[25]: </a:t>
            </a:r>
            <a:endParaRPr lang="zh-CN" altLang="en-US" sz="1400"/>
          </a:p>
          <a:p>
            <a:r>
              <a:rPr lang="zh-CN" altLang="en-US" sz="1400"/>
              <a:t>     0    1    2   4</a:t>
            </a:r>
            <a:endParaRPr lang="zh-CN" altLang="en-US" sz="1400"/>
          </a:p>
          <a:p>
            <a:r>
              <a:rPr lang="zh-CN" altLang="en-US" sz="1400"/>
              <a:t>0  1.0  6.5  3.0 NaN</a:t>
            </a:r>
            <a:endParaRPr lang="zh-CN" altLang="en-US" sz="1400"/>
          </a:p>
          <a:p>
            <a:r>
              <a:rPr lang="zh-CN" altLang="en-US" sz="1400"/>
              <a:t>1  1.0  NaN  NaN NaN</a:t>
            </a:r>
            <a:endParaRPr lang="zh-CN" altLang="en-US" sz="1400"/>
          </a:p>
          <a:p>
            <a:r>
              <a:rPr lang="zh-CN" altLang="en-US" sz="1400"/>
              <a:t>2  NaN  NaN  NaN NaN</a:t>
            </a:r>
            <a:endParaRPr lang="zh-CN" altLang="en-US" sz="1400"/>
          </a:p>
          <a:p>
            <a:r>
              <a:rPr lang="zh-CN" altLang="en-US" sz="1400"/>
              <a:t>3  NaN  6.5  3.0 NaN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[26]: data.dropna(axis=1, how='all')</a:t>
            </a:r>
            <a:endParaRPr lang="zh-CN" altLang="en-US" sz="1400"/>
          </a:p>
          <a:p>
            <a:r>
              <a:rPr lang="zh-CN" altLang="en-US" sz="1400"/>
              <a:t>Out[26]: </a:t>
            </a:r>
            <a:endParaRPr lang="zh-CN" altLang="en-US" sz="1400"/>
          </a:p>
          <a:p>
            <a:r>
              <a:rPr lang="zh-CN" altLang="en-US" sz="1400"/>
              <a:t>     0    1    2</a:t>
            </a:r>
            <a:endParaRPr lang="zh-CN" altLang="en-US" sz="1400"/>
          </a:p>
          <a:p>
            <a:r>
              <a:rPr lang="zh-CN" altLang="en-US" sz="1400"/>
              <a:t>0  1.0  6.5  3.0</a:t>
            </a:r>
            <a:endParaRPr lang="zh-CN" altLang="en-US" sz="1400"/>
          </a:p>
          <a:p>
            <a:r>
              <a:rPr lang="zh-CN" altLang="en-US" sz="1400"/>
              <a:t>1  1.0  NaN  NaN</a:t>
            </a:r>
            <a:endParaRPr lang="zh-CN" altLang="en-US" sz="1400"/>
          </a:p>
          <a:p>
            <a:r>
              <a:rPr lang="zh-CN" altLang="en-US" sz="1400"/>
              <a:t>2  NaN  NaN  NaN</a:t>
            </a:r>
            <a:endParaRPr lang="zh-CN" altLang="en-US" sz="1400"/>
          </a:p>
          <a:p>
            <a:r>
              <a:rPr lang="zh-CN" altLang="en-US" sz="1400"/>
              <a:t>3  NaN  6.5  3.0</a:t>
            </a:r>
            <a:endParaRPr lang="zh-CN" alt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7.1.1 </a:t>
            </a:r>
            <a:r>
              <a:rPr lang="zh-CN" altLang="en-US">
                <a:sym typeface="+mn-ea"/>
              </a:rPr>
              <a:t>过滤缺失值</a:t>
            </a:r>
            <a:endParaRPr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DataFrame</a:t>
            </a:r>
            <a:r>
              <a:rPr lang="zh-CN" altLang="zh-CN" b="1"/>
              <a:t>过滤缺失值</a:t>
            </a:r>
            <a:endParaRPr lang="en-US" altLang="zh-CN" b="1"/>
          </a:p>
          <a:p>
            <a:pPr lvl="1"/>
            <a:r>
              <a:rPr lang="zh-CN" altLang="en-US" b="1"/>
              <a:t>参数：</a:t>
            </a:r>
            <a:endParaRPr lang="zh-CN" altLang="en-US" b="1"/>
          </a:p>
          <a:p>
            <a:pPr lvl="2"/>
            <a:r>
              <a:rPr lang="zh-CN" altLang="en-US" b="1"/>
              <a:t>how='all'</a:t>
            </a:r>
            <a:endParaRPr lang="zh-CN" altLang="en-US" b="1"/>
          </a:p>
          <a:p>
            <a:pPr lvl="2"/>
            <a:r>
              <a:rPr lang="zh-CN" altLang="en-US" b="1"/>
              <a:t>axis=1</a:t>
            </a:r>
            <a:endParaRPr lang="zh-CN" altLang="en-US" b="1"/>
          </a:p>
          <a:p>
            <a:pPr lvl="2"/>
            <a:r>
              <a:rPr lang="zh-CN" altLang="en-US" b="1"/>
              <a:t>thresh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5238115" y="1192530"/>
            <a:ext cx="552450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[27]: df = pd.DataFrame(np.random.randn(7, 3))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[28]: df.iloc[:4, 1] = NA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[29]: df.iloc[:2, 2] = NA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[30]: df</a:t>
            </a:r>
            <a:endParaRPr lang="zh-CN" altLang="en-US" sz="1400"/>
          </a:p>
          <a:p>
            <a:r>
              <a:rPr lang="zh-CN" altLang="en-US" sz="1400"/>
              <a:t>Out[30]: </a:t>
            </a:r>
            <a:endParaRPr lang="zh-CN" altLang="en-US" sz="1400"/>
          </a:p>
          <a:p>
            <a:r>
              <a:rPr lang="zh-CN" altLang="en-US" sz="1400"/>
              <a:t>          0         1         2</a:t>
            </a:r>
            <a:endParaRPr lang="zh-CN" altLang="en-US" sz="1400"/>
          </a:p>
          <a:p>
            <a:r>
              <a:rPr lang="zh-CN" altLang="en-US" sz="1400"/>
              <a:t>0 -0.204708       NaN       NaN</a:t>
            </a:r>
            <a:endParaRPr lang="zh-CN" altLang="en-US" sz="1400"/>
          </a:p>
          <a:p>
            <a:r>
              <a:rPr lang="zh-CN" altLang="en-US" sz="1400"/>
              <a:t>1 -0.555730       NaN       NaN</a:t>
            </a:r>
            <a:endParaRPr lang="zh-CN" altLang="en-US" sz="1400"/>
          </a:p>
          <a:p>
            <a:r>
              <a:rPr lang="zh-CN" altLang="en-US" sz="1400"/>
              <a:t>2  0.092908       NaN  0.769023</a:t>
            </a:r>
            <a:endParaRPr lang="zh-CN" altLang="en-US" sz="1400"/>
          </a:p>
          <a:p>
            <a:r>
              <a:rPr lang="zh-CN" altLang="en-US" sz="1400"/>
              <a:t>3  1.246435       NaN -1.296221</a:t>
            </a:r>
            <a:endParaRPr lang="zh-CN" altLang="en-US" sz="1400"/>
          </a:p>
          <a:p>
            <a:r>
              <a:rPr lang="zh-CN" altLang="en-US" sz="1400"/>
              <a:t>4  0.274992  0.228913  1.352917</a:t>
            </a:r>
            <a:endParaRPr lang="zh-CN" altLang="en-US" sz="1400"/>
          </a:p>
          <a:p>
            <a:r>
              <a:rPr lang="zh-CN" altLang="en-US" sz="1400"/>
              <a:t>5  0.886429 -2.001637 -0.371843</a:t>
            </a:r>
            <a:endParaRPr lang="zh-CN" altLang="en-US" sz="1400"/>
          </a:p>
          <a:p>
            <a:r>
              <a:rPr lang="zh-CN" altLang="en-US" sz="1400"/>
              <a:t>6  1.669025 -0.438570 -0.539741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[31]: df.dropna()</a:t>
            </a:r>
            <a:endParaRPr lang="zh-CN" altLang="en-US" sz="1400"/>
          </a:p>
          <a:p>
            <a:r>
              <a:rPr lang="zh-CN" altLang="en-US" sz="1400"/>
              <a:t>Out[31]: </a:t>
            </a:r>
            <a:endParaRPr lang="zh-CN" altLang="en-US" sz="1400"/>
          </a:p>
          <a:p>
            <a:r>
              <a:rPr lang="zh-CN" altLang="en-US" sz="1400"/>
              <a:t>          0         1         2</a:t>
            </a:r>
            <a:endParaRPr lang="zh-CN" altLang="en-US" sz="1400"/>
          </a:p>
          <a:p>
            <a:r>
              <a:rPr lang="zh-CN" altLang="en-US" sz="1400"/>
              <a:t>4  0.274992  0.228913  1.352917</a:t>
            </a:r>
            <a:endParaRPr lang="zh-CN" altLang="en-US" sz="1400"/>
          </a:p>
          <a:p>
            <a:r>
              <a:rPr lang="zh-CN" altLang="en-US" sz="1400"/>
              <a:t>5  0.886429 -2.001637 -0.371843</a:t>
            </a:r>
            <a:endParaRPr lang="zh-CN" altLang="en-US" sz="1400"/>
          </a:p>
          <a:p>
            <a:r>
              <a:rPr lang="zh-CN" altLang="en-US" sz="1400"/>
              <a:t>6  1.669025 -0.438570 -0.539741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1133475" y="4077970"/>
            <a:ext cx="384937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sz="1400"/>
          </a:p>
          <a:p>
            <a:r>
              <a:rPr lang="zh-CN" altLang="en-US" sz="1400">
                <a:sym typeface="+mn-ea"/>
              </a:rPr>
              <a:t>In [32]: df.dropna(thresh=2)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Out[32]: 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          0         1         2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2  0.092908       NaN  0.769023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3  1.246435       NaN -1.296221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4  0.274992  0.228913  1.352917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5  0.886429 -2.001637 -0.371843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6  1.669025 -0.438570 -0.539741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7.1.</a:t>
            </a:r>
            <a:r>
              <a:rPr lang="en-US">
                <a:sym typeface="+mn-ea"/>
              </a:rPr>
              <a:t>2 填充缺失数据</a:t>
            </a:r>
            <a:endParaRPr lang="en-US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altLang="zh-CN" b="1"/>
              <a:t>fillna</a:t>
            </a:r>
            <a:endParaRPr altLang="zh-CN" b="1"/>
          </a:p>
          <a:p>
            <a:pPr lvl="1"/>
            <a:r>
              <a:rPr lang="zh-CN" altLang="en-US" b="1"/>
              <a:t>常数：填充所有空值</a:t>
            </a:r>
            <a:endParaRPr lang="zh-CN" altLang="en-US" b="1"/>
          </a:p>
          <a:p>
            <a:pPr lvl="1"/>
            <a:r>
              <a:rPr lang="zh-CN" altLang="en-US" b="1"/>
              <a:t>字典：不同的列填充不同的值</a:t>
            </a:r>
            <a:endParaRPr lang="zh-CN" altLang="en-US" b="1"/>
          </a:p>
          <a:p>
            <a:pPr lvl="1"/>
            <a:r>
              <a:rPr lang="en-US" altLang="zh-CN" b="1"/>
              <a:t>inplace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182485" y="1269365"/>
            <a:ext cx="3593465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[33]: df.fillna(0)</a:t>
            </a:r>
            <a:endParaRPr lang="zh-CN" altLang="en-US" sz="1400"/>
          </a:p>
          <a:p>
            <a:r>
              <a:rPr lang="zh-CN" altLang="en-US" sz="1400"/>
              <a:t>Out[33]: </a:t>
            </a:r>
            <a:endParaRPr lang="zh-CN" altLang="en-US" sz="1400"/>
          </a:p>
          <a:p>
            <a:r>
              <a:rPr lang="zh-CN" altLang="en-US" sz="1400"/>
              <a:t>          0         1         2</a:t>
            </a:r>
            <a:endParaRPr lang="zh-CN" altLang="en-US" sz="1400"/>
          </a:p>
          <a:p>
            <a:r>
              <a:rPr lang="zh-CN" altLang="en-US" sz="1400"/>
              <a:t>0 -0.204708  0.000000  0.000000</a:t>
            </a:r>
            <a:endParaRPr lang="zh-CN" altLang="en-US" sz="1400"/>
          </a:p>
          <a:p>
            <a:r>
              <a:rPr lang="zh-CN" altLang="en-US" sz="1400"/>
              <a:t>1 -0.555730  0.000000  0.000000</a:t>
            </a:r>
            <a:endParaRPr lang="zh-CN" altLang="en-US" sz="1400"/>
          </a:p>
          <a:p>
            <a:r>
              <a:rPr lang="zh-CN" altLang="en-US" sz="1400"/>
              <a:t>2  0.092908  0.000000  0.769023</a:t>
            </a:r>
            <a:endParaRPr lang="zh-CN" altLang="en-US" sz="1400"/>
          </a:p>
          <a:p>
            <a:r>
              <a:rPr lang="zh-CN" altLang="en-US" sz="1400"/>
              <a:t>3  1.246435  0.000000 -1.296221</a:t>
            </a:r>
            <a:endParaRPr lang="zh-CN" altLang="en-US" sz="1400"/>
          </a:p>
          <a:p>
            <a:r>
              <a:rPr lang="zh-CN" altLang="en-US" sz="1400"/>
              <a:t>4  0.274992  0.228913  1.352917</a:t>
            </a:r>
            <a:endParaRPr lang="zh-CN" altLang="en-US" sz="1400"/>
          </a:p>
          <a:p>
            <a:r>
              <a:rPr lang="zh-CN" altLang="en-US" sz="1400"/>
              <a:t>5  0.886429 -2.001637 -0.371843</a:t>
            </a:r>
            <a:endParaRPr lang="zh-CN" altLang="en-US" sz="1400"/>
          </a:p>
          <a:p>
            <a:r>
              <a:rPr lang="zh-CN" altLang="en-US" sz="1400"/>
              <a:t>6  1.669025 -0.438570 -0.539741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[34]: df.fillna({1: 0.5, 2: 0})</a:t>
            </a:r>
            <a:endParaRPr lang="zh-CN" altLang="en-US" sz="1400"/>
          </a:p>
          <a:p>
            <a:r>
              <a:rPr lang="zh-CN" altLang="en-US" sz="1400"/>
              <a:t>Out[34]: </a:t>
            </a:r>
            <a:endParaRPr lang="zh-CN" altLang="en-US" sz="1400"/>
          </a:p>
          <a:p>
            <a:r>
              <a:rPr lang="zh-CN" altLang="en-US" sz="1400"/>
              <a:t>          0         1         2</a:t>
            </a:r>
            <a:endParaRPr lang="zh-CN" altLang="en-US" sz="1400"/>
          </a:p>
          <a:p>
            <a:r>
              <a:rPr lang="zh-CN" altLang="en-US" sz="1400"/>
              <a:t>0 -0.204708  0.500000  0.000000</a:t>
            </a:r>
            <a:endParaRPr lang="zh-CN" altLang="en-US" sz="1400"/>
          </a:p>
          <a:p>
            <a:r>
              <a:rPr lang="zh-CN" altLang="en-US" sz="1400"/>
              <a:t>1 -0.555730  0.500000  0.000000</a:t>
            </a:r>
            <a:endParaRPr lang="zh-CN" altLang="en-US" sz="1400"/>
          </a:p>
          <a:p>
            <a:r>
              <a:rPr lang="zh-CN" altLang="en-US" sz="1400"/>
              <a:t>2  0.092908  0.500000  0.769023</a:t>
            </a:r>
            <a:endParaRPr lang="zh-CN" altLang="en-US" sz="1400"/>
          </a:p>
          <a:p>
            <a:r>
              <a:rPr lang="zh-CN" altLang="en-US" sz="1400"/>
              <a:t>3  1.246435  0.500000 -1.296221</a:t>
            </a:r>
            <a:endParaRPr lang="zh-CN" altLang="en-US" sz="1400"/>
          </a:p>
          <a:p>
            <a:r>
              <a:rPr lang="zh-CN" altLang="en-US" sz="1400"/>
              <a:t>4  0.274992  0.228913  1.352917</a:t>
            </a:r>
            <a:endParaRPr lang="zh-CN" altLang="en-US" sz="1400"/>
          </a:p>
          <a:p>
            <a:r>
              <a:rPr lang="zh-CN" altLang="en-US" sz="1400"/>
              <a:t>5  0.886429 -2.001637 -0.371843</a:t>
            </a:r>
            <a:endParaRPr lang="zh-CN" altLang="en-US" sz="1400"/>
          </a:p>
          <a:p>
            <a:r>
              <a:rPr lang="zh-CN" altLang="en-US" sz="1400"/>
              <a:t>6  1.669025 -0.438570 -0.539741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2357755" y="3357880"/>
            <a:ext cx="399923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[35]: _ = df.fillna(0, inplace=True)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[36]: df</a:t>
            </a:r>
            <a:endParaRPr lang="zh-CN" altLang="en-US" sz="1400"/>
          </a:p>
          <a:p>
            <a:r>
              <a:rPr lang="zh-CN" altLang="en-US" sz="1400"/>
              <a:t>Out[36]: </a:t>
            </a:r>
            <a:endParaRPr lang="zh-CN" altLang="en-US" sz="1400"/>
          </a:p>
          <a:p>
            <a:r>
              <a:rPr lang="zh-CN" altLang="en-US" sz="1400"/>
              <a:t>          0         1         2</a:t>
            </a:r>
            <a:endParaRPr lang="zh-CN" altLang="en-US" sz="1400"/>
          </a:p>
          <a:p>
            <a:r>
              <a:rPr lang="zh-CN" altLang="en-US" sz="1400"/>
              <a:t>0 -0.204708  0.000000  0.000000</a:t>
            </a:r>
            <a:endParaRPr lang="zh-CN" altLang="en-US" sz="1400"/>
          </a:p>
          <a:p>
            <a:r>
              <a:rPr lang="zh-CN" altLang="en-US" sz="1400"/>
              <a:t>1 -0.555730  0.000000  0.000000</a:t>
            </a:r>
            <a:endParaRPr lang="zh-CN" altLang="en-US" sz="1400"/>
          </a:p>
          <a:p>
            <a:r>
              <a:rPr lang="zh-CN" altLang="en-US" sz="1400"/>
              <a:t>2  0.092908  0.000000  0.769023</a:t>
            </a:r>
            <a:endParaRPr lang="zh-CN" altLang="en-US" sz="1400"/>
          </a:p>
          <a:p>
            <a:r>
              <a:rPr lang="zh-CN" altLang="en-US" sz="1400"/>
              <a:t>3  1.246435  0.000000 -1.296221</a:t>
            </a:r>
            <a:endParaRPr lang="zh-CN" altLang="en-US" sz="1400"/>
          </a:p>
          <a:p>
            <a:r>
              <a:rPr lang="zh-CN" altLang="en-US" sz="1400"/>
              <a:t>4  0.274992  0.228913  1.352917</a:t>
            </a:r>
            <a:endParaRPr lang="zh-CN" altLang="en-US" sz="1400"/>
          </a:p>
          <a:p>
            <a:r>
              <a:rPr lang="zh-CN" altLang="en-US" sz="1400"/>
              <a:t>5  0.886429 -2.001637 -0.371843</a:t>
            </a:r>
            <a:endParaRPr lang="zh-CN" altLang="en-US" sz="1400"/>
          </a:p>
          <a:p>
            <a:r>
              <a:rPr lang="zh-CN" altLang="en-US" sz="1400"/>
              <a:t>6  1.669025 -0.438570 -0.539741</a:t>
            </a:r>
            <a:endParaRPr lang="zh-CN" alt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7.1.</a:t>
            </a:r>
            <a:r>
              <a:rPr lang="en-US">
                <a:sym typeface="+mn-ea"/>
              </a:rPr>
              <a:t>2 填充缺失数据</a:t>
            </a:r>
            <a:endParaRPr lang="en-US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altLang="zh-CN" b="1"/>
              <a:t>fillna</a:t>
            </a:r>
            <a:endParaRPr altLang="zh-CN" b="1"/>
          </a:p>
          <a:p>
            <a:pPr lvl="1"/>
            <a:r>
              <a:rPr lang="zh-CN" altLang="en-US" b="1"/>
              <a:t>插值方法</a:t>
            </a:r>
            <a:endParaRPr lang="zh-CN" altLang="en-US" b="1"/>
          </a:p>
          <a:p>
            <a:pPr lvl="1"/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7182485" y="1269365"/>
            <a:ext cx="4641850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[37]: df = pd.DataFrame(np.random.randn(6, 3))</a:t>
            </a:r>
            <a:endParaRPr lang="zh-CN" altLang="en-US" sz="1400"/>
          </a:p>
          <a:p>
            <a:r>
              <a:rPr lang="zh-CN" altLang="en-US" sz="1400"/>
              <a:t>In [38]: df.iloc[2:, 1] = NA</a:t>
            </a:r>
            <a:endParaRPr lang="zh-CN" altLang="en-US" sz="1400"/>
          </a:p>
          <a:p>
            <a:r>
              <a:rPr lang="zh-CN" altLang="en-US" sz="1400"/>
              <a:t>In [39]: df.iloc[4:, 2] = NA</a:t>
            </a:r>
            <a:endParaRPr lang="zh-CN" altLang="en-US" sz="1400"/>
          </a:p>
          <a:p>
            <a:r>
              <a:rPr lang="zh-CN" altLang="en-US" sz="1400"/>
              <a:t>In [40]: df</a:t>
            </a:r>
            <a:endParaRPr lang="zh-CN" altLang="en-US" sz="1400"/>
          </a:p>
          <a:p>
            <a:r>
              <a:rPr lang="zh-CN" altLang="en-US" sz="1400"/>
              <a:t>Out[40]: </a:t>
            </a:r>
            <a:endParaRPr lang="zh-CN" altLang="en-US" sz="1400"/>
          </a:p>
          <a:p>
            <a:r>
              <a:rPr lang="zh-CN" altLang="en-US" sz="1400"/>
              <a:t>          0         1         2</a:t>
            </a:r>
            <a:endParaRPr lang="zh-CN" altLang="en-US" sz="1400"/>
          </a:p>
          <a:p>
            <a:r>
              <a:rPr lang="zh-CN" altLang="en-US" sz="1400"/>
              <a:t>0  0.476985  3.248944 -1.021228</a:t>
            </a:r>
            <a:endParaRPr lang="zh-CN" altLang="en-US" sz="1400"/>
          </a:p>
          <a:p>
            <a:r>
              <a:rPr lang="zh-CN" altLang="en-US" sz="1400"/>
              <a:t>1 -0.577087  0.124121  0.302614</a:t>
            </a:r>
            <a:endParaRPr lang="zh-CN" altLang="en-US" sz="1400"/>
          </a:p>
          <a:p>
            <a:r>
              <a:rPr lang="zh-CN" altLang="en-US" sz="1400"/>
              <a:t>2  0.523772       NaN  1.343810</a:t>
            </a:r>
            <a:endParaRPr lang="zh-CN" altLang="en-US" sz="1400"/>
          </a:p>
          <a:p>
            <a:r>
              <a:rPr lang="zh-CN" altLang="en-US" sz="1400"/>
              <a:t>3 -0.713544       NaN -2.370232</a:t>
            </a:r>
            <a:endParaRPr lang="zh-CN" altLang="en-US" sz="1400"/>
          </a:p>
          <a:p>
            <a:r>
              <a:rPr lang="zh-CN" altLang="en-US" sz="1400"/>
              <a:t>4 -1.860761       NaN       NaN</a:t>
            </a:r>
            <a:endParaRPr lang="zh-CN" altLang="en-US" sz="1400"/>
          </a:p>
          <a:p>
            <a:r>
              <a:rPr lang="zh-CN" altLang="en-US" sz="1400"/>
              <a:t>5 -1.265934       NaN       NaN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[41]: df.fillna(method='ffill')</a:t>
            </a:r>
            <a:endParaRPr lang="zh-CN" altLang="en-US" sz="1400"/>
          </a:p>
          <a:p>
            <a:r>
              <a:rPr lang="zh-CN" altLang="en-US" sz="1400"/>
              <a:t>Out[41]: </a:t>
            </a:r>
            <a:endParaRPr lang="zh-CN" altLang="en-US" sz="1400"/>
          </a:p>
          <a:p>
            <a:r>
              <a:rPr lang="zh-CN" altLang="en-US" sz="1400"/>
              <a:t>          0         1         2</a:t>
            </a:r>
            <a:endParaRPr lang="zh-CN" altLang="en-US" sz="1400"/>
          </a:p>
          <a:p>
            <a:r>
              <a:rPr lang="zh-CN" altLang="en-US" sz="1400"/>
              <a:t>0  0.476985  3.248944 -1.021228</a:t>
            </a:r>
            <a:endParaRPr lang="zh-CN" altLang="en-US" sz="1400"/>
          </a:p>
          <a:p>
            <a:r>
              <a:rPr lang="zh-CN" altLang="en-US" sz="1400"/>
              <a:t>1 -0.577087  0.124121  0.302614</a:t>
            </a:r>
            <a:endParaRPr lang="zh-CN" altLang="en-US" sz="1400"/>
          </a:p>
          <a:p>
            <a:r>
              <a:rPr lang="zh-CN" altLang="en-US" sz="1400"/>
              <a:t>2  0.523772  0.124121  1.343810</a:t>
            </a:r>
            <a:endParaRPr lang="zh-CN" altLang="en-US" sz="1400"/>
          </a:p>
          <a:p>
            <a:r>
              <a:rPr lang="zh-CN" altLang="en-US" sz="1400"/>
              <a:t>3 -0.713544  0.124121 -2.370232</a:t>
            </a:r>
            <a:endParaRPr lang="zh-CN" altLang="en-US" sz="1400"/>
          </a:p>
          <a:p>
            <a:r>
              <a:rPr lang="zh-CN" altLang="en-US" sz="1400"/>
              <a:t>4 -1.860761  0.124121 -2.370232</a:t>
            </a:r>
            <a:endParaRPr lang="zh-CN" altLang="en-US" sz="1400"/>
          </a:p>
          <a:p>
            <a:r>
              <a:rPr lang="zh-CN" altLang="en-US" sz="1400"/>
              <a:t>5 -1.265934  0.124121 -2.370232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2069465" y="3573780"/>
            <a:ext cx="399923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sz="1400"/>
          </a:p>
          <a:p>
            <a:r>
              <a:rPr lang="zh-CN" altLang="en-US" sz="1400">
                <a:sym typeface="+mn-ea"/>
              </a:rPr>
              <a:t>In [42]: df.fillna(method='ffill', limit=2)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Out[42]: 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          0         1         2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0  0.476985  3.248944 -1.021228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1 -0.577087  0.124121  0.302614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2  0.523772  0.124121  1.343810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3 -0.713544  0.124121 -2.370232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4 -1.860761       NaN -2.370232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5 -1.265934       NaN -2.370232</a:t>
            </a:r>
            <a:endParaRPr lang="zh-CN" altLang="en-US" sz="1400">
              <a:sym typeface="+mn-ea"/>
            </a:endParaRPr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7.1.</a:t>
            </a:r>
            <a:r>
              <a:rPr lang="en-US">
                <a:sym typeface="+mn-ea"/>
              </a:rPr>
              <a:t>2 填充缺失数据</a:t>
            </a:r>
            <a:endParaRPr lang="en-US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altLang="zh-CN" b="1"/>
              <a:t>fillna</a:t>
            </a:r>
            <a:endParaRPr altLang="zh-CN" b="1"/>
          </a:p>
          <a:p>
            <a:pPr lvl="1"/>
            <a:r>
              <a:rPr lang="zh-CN" altLang="en-US" b="1"/>
              <a:t>传入Series的平均值或中位数</a:t>
            </a:r>
            <a:endParaRPr lang="zh-CN" altLang="en-US" b="1"/>
          </a:p>
          <a:p>
            <a:pPr lvl="1"/>
            <a:r>
              <a:rPr lang="zh-CN" altLang="zh-CN" b="1"/>
              <a:t>参数说明</a:t>
            </a:r>
            <a:endParaRPr lang="zh-CN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974330" y="1197610"/>
            <a:ext cx="366776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[43]: data = pd.Series([1., NA, 3.5, NA, 7])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[44]: data.fillna(data.mean())</a:t>
            </a:r>
            <a:endParaRPr lang="zh-CN" altLang="en-US" sz="1400"/>
          </a:p>
          <a:p>
            <a:r>
              <a:rPr lang="zh-CN" altLang="en-US" sz="1400"/>
              <a:t>Out[44]: </a:t>
            </a:r>
            <a:endParaRPr lang="zh-CN" altLang="en-US" sz="1400"/>
          </a:p>
          <a:p>
            <a:r>
              <a:rPr lang="zh-CN" altLang="en-US" sz="1400"/>
              <a:t>0    1.000000</a:t>
            </a:r>
            <a:endParaRPr lang="zh-CN" altLang="en-US" sz="1400"/>
          </a:p>
          <a:p>
            <a:r>
              <a:rPr lang="zh-CN" altLang="en-US" sz="1400"/>
              <a:t>1    3.833333</a:t>
            </a:r>
            <a:endParaRPr lang="zh-CN" altLang="en-US" sz="1400"/>
          </a:p>
          <a:p>
            <a:r>
              <a:rPr lang="zh-CN" altLang="en-US" sz="1400"/>
              <a:t>2    3.500000</a:t>
            </a:r>
            <a:endParaRPr lang="zh-CN" altLang="en-US" sz="1400"/>
          </a:p>
          <a:p>
            <a:r>
              <a:rPr lang="zh-CN" altLang="en-US" sz="1400"/>
              <a:t>3    3.833333</a:t>
            </a:r>
            <a:endParaRPr lang="zh-CN" altLang="en-US" sz="1400"/>
          </a:p>
          <a:p>
            <a:r>
              <a:rPr lang="zh-CN" altLang="en-US" sz="1400"/>
              <a:t>4    7.000000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285" y="2925445"/>
            <a:ext cx="6957695" cy="26219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 数据转换</a:t>
            </a:r>
            <a:endParaRPr lang="en-US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b="1"/>
              <a:t>7.2.1 </a:t>
            </a:r>
            <a:r>
              <a:rPr lang="zh-CN" b="1"/>
              <a:t>删除重复值</a:t>
            </a:r>
            <a:endParaRPr lang="zh-CN" b="1"/>
          </a:p>
          <a:p>
            <a:r>
              <a:rPr lang="en-US" altLang="zh-CN" b="1"/>
              <a:t>7.2.2 利用函数或映射进行数据转换</a:t>
            </a:r>
            <a:endParaRPr lang="en-US" altLang="zh-CN" b="1"/>
          </a:p>
          <a:p>
            <a:r>
              <a:rPr lang="en-US" altLang="zh-CN" b="1"/>
              <a:t>7.2.3 替换值</a:t>
            </a:r>
            <a:endParaRPr lang="en-US" altLang="zh-CN" b="1"/>
          </a:p>
          <a:p>
            <a:r>
              <a:rPr lang="en-US" altLang="zh-CN" b="1"/>
              <a:t>7.2.4 重命名轴索引</a:t>
            </a:r>
            <a:endParaRPr lang="en-US" altLang="zh-CN" b="1"/>
          </a:p>
          <a:p>
            <a:r>
              <a:rPr lang="en-US" altLang="zh-CN" b="1"/>
              <a:t>7.2.5 离散化和</a:t>
            </a:r>
            <a:r>
              <a:rPr lang="zh-CN" altLang="en-US" b="1"/>
              <a:t>分箱</a:t>
            </a:r>
            <a:endParaRPr lang="zh-CN" altLang="en-US" b="1"/>
          </a:p>
          <a:p>
            <a:r>
              <a:rPr lang="en-US" altLang="zh-CN" b="1"/>
              <a:t>7.2.6 检测和过滤异常值</a:t>
            </a:r>
            <a:endParaRPr lang="en-US" altLang="zh-CN" b="1"/>
          </a:p>
          <a:p>
            <a:r>
              <a:rPr lang="en-US" altLang="zh-CN" b="1"/>
              <a:t>7.2.7 排列和随机采样</a:t>
            </a:r>
            <a:endParaRPr lang="en-US" altLang="zh-CN" b="1"/>
          </a:p>
          <a:p>
            <a:r>
              <a:rPr lang="en-US" altLang="zh-CN" b="1"/>
              <a:t>7.2.8 计算指标/哑变量</a:t>
            </a:r>
            <a:endParaRPr lang="en-US" altLang="zh-CN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7.2.1 </a:t>
            </a:r>
            <a:r>
              <a:rPr lang="zh-CN">
                <a:sym typeface="+mn-ea"/>
              </a:rPr>
              <a:t>删除重复值</a:t>
            </a:r>
            <a:endParaRPr lang="en-US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b="1"/>
              <a:t>DataFrame中出现重复行有多种原因</a:t>
            </a:r>
            <a:endParaRPr b="1"/>
          </a:p>
          <a:p>
            <a:pPr lvl="1"/>
            <a:r>
              <a:rPr b="1"/>
              <a:t>duplicated方法返回一个布尔型Series</a:t>
            </a:r>
            <a:endParaRPr b="1"/>
          </a:p>
          <a:p>
            <a:pPr lvl="1"/>
            <a:r>
              <a:rPr b="1"/>
              <a:t>drop_duplicates</a:t>
            </a:r>
            <a:endParaRPr b="1"/>
          </a:p>
          <a:p>
            <a:pPr lvl="1"/>
            <a:r>
              <a:rPr b="1"/>
              <a:t>这两个方法默认会判断全部列</a:t>
            </a:r>
            <a:endParaRPr b="1"/>
          </a:p>
        </p:txBody>
      </p:sp>
      <p:sp>
        <p:nvSpPr>
          <p:cNvPr id="3" name="文本框 2"/>
          <p:cNvSpPr txBox="1"/>
          <p:nvPr/>
        </p:nvSpPr>
        <p:spPr>
          <a:xfrm>
            <a:off x="6678295" y="1125220"/>
            <a:ext cx="5175250" cy="5477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[45]: data = pd.DataFrame({'k1': ['one', 'two'] * 3 + ['two'],</a:t>
            </a:r>
            <a:endParaRPr lang="zh-CN" altLang="en-US" sz="1400"/>
          </a:p>
          <a:p>
            <a:r>
              <a:rPr lang="zh-CN" altLang="en-US" sz="1400"/>
              <a:t>   ....:                      'k2': [1, 1, 2, 3, 3, 4, 4]})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[46]: data</a:t>
            </a:r>
            <a:endParaRPr lang="zh-CN" altLang="en-US" sz="1400"/>
          </a:p>
          <a:p>
            <a:r>
              <a:rPr lang="zh-CN" altLang="en-US" sz="1400"/>
              <a:t>Out[46]: </a:t>
            </a:r>
            <a:endParaRPr lang="zh-CN" altLang="en-US" sz="1400"/>
          </a:p>
          <a:p>
            <a:r>
              <a:rPr lang="zh-CN" altLang="en-US" sz="1400"/>
              <a:t>    k1  k2</a:t>
            </a:r>
            <a:endParaRPr lang="zh-CN" altLang="en-US" sz="1400"/>
          </a:p>
          <a:p>
            <a:r>
              <a:rPr lang="zh-CN" altLang="en-US" sz="1400"/>
              <a:t>0  one   1</a:t>
            </a:r>
            <a:endParaRPr lang="zh-CN" altLang="en-US" sz="1400"/>
          </a:p>
          <a:p>
            <a:r>
              <a:rPr lang="zh-CN" altLang="en-US" sz="1400"/>
              <a:t>1  two   1</a:t>
            </a:r>
            <a:endParaRPr lang="zh-CN" altLang="en-US" sz="1400"/>
          </a:p>
          <a:p>
            <a:r>
              <a:rPr lang="zh-CN" altLang="en-US" sz="1400"/>
              <a:t>2  one   2</a:t>
            </a:r>
            <a:endParaRPr lang="zh-CN" altLang="en-US" sz="1400"/>
          </a:p>
          <a:p>
            <a:r>
              <a:rPr lang="zh-CN" altLang="en-US" sz="1400"/>
              <a:t>3  two   3</a:t>
            </a:r>
            <a:endParaRPr lang="zh-CN" altLang="en-US" sz="1400"/>
          </a:p>
          <a:p>
            <a:r>
              <a:rPr lang="zh-CN" altLang="en-US" sz="1400"/>
              <a:t>4  one   3</a:t>
            </a:r>
            <a:endParaRPr lang="zh-CN" altLang="en-US" sz="1400"/>
          </a:p>
          <a:p>
            <a:r>
              <a:rPr lang="zh-CN" altLang="en-US" sz="1400"/>
              <a:t>5  two   4</a:t>
            </a:r>
            <a:endParaRPr lang="zh-CN" altLang="en-US" sz="1400"/>
          </a:p>
          <a:p>
            <a:r>
              <a:rPr lang="zh-CN" altLang="en-US" sz="1400"/>
              <a:t>6  two   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>
                <a:sym typeface="+mn-ea"/>
              </a:rPr>
              <a:t>In [47]: data.duplicated()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Out[47]: 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0    False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1    False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2    False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3    False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4    False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5    False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6     True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dtype: bool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1349375" y="3789680"/>
            <a:ext cx="374078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[48]: data.drop_duplicates()</a:t>
            </a:r>
            <a:endParaRPr lang="zh-CN" altLang="en-US" sz="1400"/>
          </a:p>
          <a:p>
            <a:r>
              <a:rPr lang="zh-CN" altLang="en-US" sz="1400"/>
              <a:t>Out[48]: </a:t>
            </a:r>
            <a:endParaRPr lang="zh-CN" altLang="en-US" sz="1400"/>
          </a:p>
          <a:p>
            <a:r>
              <a:rPr lang="zh-CN" altLang="en-US" sz="1400"/>
              <a:t>    k1  k2</a:t>
            </a:r>
            <a:endParaRPr lang="zh-CN" altLang="en-US" sz="1400"/>
          </a:p>
          <a:p>
            <a:r>
              <a:rPr lang="zh-CN" altLang="en-US" sz="1400"/>
              <a:t>0  one   1</a:t>
            </a:r>
            <a:endParaRPr lang="zh-CN" altLang="en-US" sz="1400"/>
          </a:p>
          <a:p>
            <a:r>
              <a:rPr lang="zh-CN" altLang="en-US" sz="1400"/>
              <a:t>1  two   1</a:t>
            </a:r>
            <a:endParaRPr lang="zh-CN" altLang="en-US" sz="1400"/>
          </a:p>
          <a:p>
            <a:r>
              <a:rPr lang="zh-CN" altLang="en-US" sz="1400"/>
              <a:t>2  one   2</a:t>
            </a:r>
            <a:endParaRPr lang="zh-CN" altLang="en-US" sz="1400"/>
          </a:p>
          <a:p>
            <a:r>
              <a:rPr lang="zh-CN" altLang="en-US" sz="1400"/>
              <a:t>3  two   3</a:t>
            </a:r>
            <a:endParaRPr lang="zh-CN" altLang="en-US" sz="1400"/>
          </a:p>
          <a:p>
            <a:r>
              <a:rPr lang="zh-CN" altLang="en-US" sz="1400"/>
              <a:t>4  one   3</a:t>
            </a:r>
            <a:endParaRPr lang="zh-CN" altLang="en-US" sz="1400"/>
          </a:p>
          <a:p>
            <a:r>
              <a:rPr lang="zh-CN" altLang="en-US" sz="1400"/>
              <a:t>5  two   4</a:t>
            </a:r>
            <a:endParaRPr lang="zh-CN" alt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7.2.1 </a:t>
            </a:r>
            <a:r>
              <a:rPr lang="zh-CN">
                <a:sym typeface="+mn-ea"/>
              </a:rPr>
              <a:t>删除重复值</a:t>
            </a:r>
            <a:endParaRPr lang="en-US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b="1"/>
              <a:t>指定部分列进行重复项判断</a:t>
            </a:r>
            <a:endParaRPr b="1"/>
          </a:p>
          <a:p>
            <a:pPr lvl="1"/>
            <a:r>
              <a:rPr b="1"/>
              <a:t>duplicated和drop_duplicates默认保留的是第一个出现的值组合</a:t>
            </a:r>
            <a:endParaRPr b="1"/>
          </a:p>
          <a:p>
            <a:pPr lvl="1"/>
            <a:r>
              <a:rPr b="1"/>
              <a:t>keep='last'则保留最后一个</a:t>
            </a:r>
            <a:endParaRPr b="1"/>
          </a:p>
        </p:txBody>
      </p:sp>
      <p:sp>
        <p:nvSpPr>
          <p:cNvPr id="3" name="文本框 2"/>
          <p:cNvSpPr txBox="1"/>
          <p:nvPr/>
        </p:nvSpPr>
        <p:spPr>
          <a:xfrm>
            <a:off x="6605905" y="2421890"/>
            <a:ext cx="5175250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[49]: data['v1'] = range(7)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[50]: data.drop_duplicates(['k1'])</a:t>
            </a:r>
            <a:endParaRPr lang="zh-CN" altLang="en-US" sz="1400"/>
          </a:p>
          <a:p>
            <a:r>
              <a:rPr lang="zh-CN" altLang="en-US" sz="1400"/>
              <a:t>Out[50]: </a:t>
            </a:r>
            <a:endParaRPr lang="zh-CN" altLang="en-US" sz="1400"/>
          </a:p>
          <a:p>
            <a:r>
              <a:rPr lang="zh-CN" altLang="en-US" sz="1400"/>
              <a:t>    k1  k2  v1</a:t>
            </a:r>
            <a:endParaRPr lang="zh-CN" altLang="en-US" sz="1400"/>
          </a:p>
          <a:p>
            <a:r>
              <a:rPr lang="zh-CN" altLang="en-US" sz="1400"/>
              <a:t>0  one   1   0</a:t>
            </a:r>
            <a:endParaRPr lang="zh-CN" altLang="en-US" sz="1400"/>
          </a:p>
          <a:p>
            <a:r>
              <a:rPr lang="zh-CN" altLang="en-US" sz="1400"/>
              <a:t>1  two   1   1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[51]: data.drop_duplicates(['k1', 'k2'], keep='last')</a:t>
            </a:r>
            <a:endParaRPr lang="zh-CN" altLang="en-US" sz="1400"/>
          </a:p>
          <a:p>
            <a:r>
              <a:rPr lang="zh-CN" altLang="en-US" sz="1400"/>
              <a:t>Out[51]: </a:t>
            </a:r>
            <a:endParaRPr lang="zh-CN" altLang="en-US" sz="1400"/>
          </a:p>
          <a:p>
            <a:r>
              <a:rPr lang="zh-CN" altLang="en-US" sz="1400"/>
              <a:t>    k1  k2  v1</a:t>
            </a:r>
            <a:endParaRPr lang="zh-CN" altLang="en-US" sz="1400"/>
          </a:p>
          <a:p>
            <a:r>
              <a:rPr lang="zh-CN" altLang="en-US" sz="1400"/>
              <a:t>0  one   1   0</a:t>
            </a:r>
            <a:endParaRPr lang="zh-CN" altLang="en-US" sz="1400"/>
          </a:p>
          <a:p>
            <a:r>
              <a:rPr lang="zh-CN" altLang="en-US" sz="1400"/>
              <a:t>1  two   1   1</a:t>
            </a:r>
            <a:endParaRPr lang="zh-CN" altLang="en-US" sz="1400"/>
          </a:p>
          <a:p>
            <a:r>
              <a:rPr lang="zh-CN" altLang="en-US" sz="1400"/>
              <a:t>2  one   2   2</a:t>
            </a:r>
            <a:endParaRPr lang="zh-CN" altLang="en-US" sz="1400"/>
          </a:p>
          <a:p>
            <a:r>
              <a:rPr lang="zh-CN" altLang="en-US" sz="1400"/>
              <a:t>3  two   3   3</a:t>
            </a:r>
            <a:endParaRPr lang="zh-CN" altLang="en-US" sz="1400"/>
          </a:p>
          <a:p>
            <a:r>
              <a:rPr lang="zh-CN" altLang="en-US" sz="1400"/>
              <a:t>4  one   3   4</a:t>
            </a:r>
            <a:endParaRPr lang="zh-CN" altLang="en-US" sz="1400"/>
          </a:p>
          <a:p>
            <a:r>
              <a:rPr lang="zh-CN" altLang="en-US" sz="1400"/>
              <a:t>6  two   4   6</a:t>
            </a:r>
            <a:endParaRPr lang="zh-CN" alt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7.2.2 利用函数或映射进行数据转换</a:t>
            </a:r>
            <a:endParaRPr lang="en-US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b="1"/>
              <a:t>根据数组、Series或DataFrame列中的值来实现转换</a:t>
            </a:r>
            <a:endParaRPr b="1"/>
          </a:p>
          <a:p>
            <a:pPr lvl="1"/>
            <a:r>
              <a:rPr lang="zh-CN" b="1"/>
              <a:t>示例：根据肉类映射到对应的动物</a:t>
            </a:r>
            <a:endParaRPr 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89330" y="2349500"/>
            <a:ext cx="5540375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[52]: data = pd.DataFrame({'food': ['bacon', 'pulled pork', 'bacon',</a:t>
            </a:r>
            <a:endParaRPr lang="zh-CN" altLang="en-US" sz="1400"/>
          </a:p>
          <a:p>
            <a:r>
              <a:rPr lang="zh-CN" altLang="en-US" sz="1400"/>
              <a:t>   ....:                               'Pastrami', 'corned beef', 'Bacon',</a:t>
            </a:r>
            <a:endParaRPr lang="zh-CN" altLang="en-US" sz="1400"/>
          </a:p>
          <a:p>
            <a:r>
              <a:rPr lang="zh-CN" altLang="en-US" sz="1400"/>
              <a:t>   ....:                               'pastrami', 'honey ham', 'nova lox'],</a:t>
            </a:r>
            <a:endParaRPr lang="zh-CN" altLang="en-US" sz="1400"/>
          </a:p>
          <a:p>
            <a:r>
              <a:rPr lang="zh-CN" altLang="en-US" sz="1400"/>
              <a:t>   ....:                      'ounces': [4, 3, 12, 6, 7.5, 8, 3, 5, 6]})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[53]: data</a:t>
            </a:r>
            <a:endParaRPr lang="zh-CN" altLang="en-US" sz="1400"/>
          </a:p>
          <a:p>
            <a:r>
              <a:rPr lang="zh-CN" altLang="en-US" sz="1400"/>
              <a:t>Out[53]: </a:t>
            </a:r>
            <a:endParaRPr lang="zh-CN" altLang="en-US" sz="1400"/>
          </a:p>
          <a:p>
            <a:r>
              <a:rPr lang="zh-CN" altLang="en-US" sz="1400"/>
              <a:t>          food  ounces</a:t>
            </a:r>
            <a:endParaRPr lang="zh-CN" altLang="en-US" sz="1400"/>
          </a:p>
          <a:p>
            <a:r>
              <a:rPr lang="zh-CN" altLang="en-US" sz="1400"/>
              <a:t>0        bacon     4.0</a:t>
            </a:r>
            <a:endParaRPr lang="zh-CN" altLang="en-US" sz="1400"/>
          </a:p>
          <a:p>
            <a:r>
              <a:rPr lang="zh-CN" altLang="en-US" sz="1400"/>
              <a:t>1  pulled pork     3.0</a:t>
            </a:r>
            <a:endParaRPr lang="zh-CN" altLang="en-US" sz="1400"/>
          </a:p>
          <a:p>
            <a:r>
              <a:rPr lang="zh-CN" altLang="en-US" sz="1400"/>
              <a:t>2        bacon    12.0</a:t>
            </a:r>
            <a:endParaRPr lang="zh-CN" altLang="en-US" sz="1400"/>
          </a:p>
          <a:p>
            <a:r>
              <a:rPr lang="zh-CN" altLang="en-US" sz="1400"/>
              <a:t>3     Pastrami     6.0</a:t>
            </a:r>
            <a:endParaRPr lang="zh-CN" altLang="en-US" sz="1400"/>
          </a:p>
          <a:p>
            <a:r>
              <a:rPr lang="zh-CN" altLang="en-US" sz="1400"/>
              <a:t>4  corned beef     7.5</a:t>
            </a:r>
            <a:endParaRPr lang="zh-CN" altLang="en-US" sz="1400"/>
          </a:p>
          <a:p>
            <a:r>
              <a:rPr lang="zh-CN" altLang="en-US" sz="1400"/>
              <a:t>5        Bacon     8.0</a:t>
            </a:r>
            <a:endParaRPr lang="zh-CN" altLang="en-US" sz="1400"/>
          </a:p>
          <a:p>
            <a:r>
              <a:rPr lang="zh-CN" altLang="en-US" sz="1400"/>
              <a:t>6     pastrami     3.0</a:t>
            </a:r>
            <a:endParaRPr lang="zh-CN" altLang="en-US" sz="1400"/>
          </a:p>
          <a:p>
            <a:r>
              <a:rPr lang="zh-CN" altLang="en-US" sz="1400"/>
              <a:t>7    honey ham     5.0</a:t>
            </a:r>
            <a:endParaRPr lang="zh-CN" altLang="en-US" sz="1400"/>
          </a:p>
          <a:p>
            <a:r>
              <a:rPr lang="zh-CN" altLang="en-US" sz="1400"/>
              <a:t>8     nova lox     6.0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4518025" y="4288155"/>
            <a:ext cx="261556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meat_to_animal = {</a:t>
            </a:r>
            <a:endParaRPr lang="zh-CN" altLang="en-US" sz="1400"/>
          </a:p>
          <a:p>
            <a:r>
              <a:rPr lang="zh-CN" altLang="en-US" sz="1400"/>
              <a:t>  'bacon': 'pig',</a:t>
            </a:r>
            <a:endParaRPr lang="zh-CN" altLang="en-US" sz="1400"/>
          </a:p>
          <a:p>
            <a:r>
              <a:rPr lang="zh-CN" altLang="en-US" sz="1400"/>
              <a:t>  'pulled pork': 'pig',</a:t>
            </a:r>
            <a:endParaRPr lang="zh-CN" altLang="en-US" sz="1400"/>
          </a:p>
          <a:p>
            <a:r>
              <a:rPr lang="zh-CN" altLang="en-US" sz="1400"/>
              <a:t>  'pastrami': 'cow',</a:t>
            </a:r>
            <a:endParaRPr lang="zh-CN" altLang="en-US" sz="1400"/>
          </a:p>
          <a:p>
            <a:r>
              <a:rPr lang="zh-CN" altLang="en-US" sz="1400"/>
              <a:t>  'corned beef': 'cow',</a:t>
            </a:r>
            <a:endParaRPr lang="zh-CN" altLang="en-US" sz="1400"/>
          </a:p>
          <a:p>
            <a:r>
              <a:rPr lang="zh-CN" altLang="en-US" sz="1400"/>
              <a:t>  'honey ham': 'pig',</a:t>
            </a:r>
            <a:endParaRPr lang="zh-CN" altLang="en-US" sz="1400"/>
          </a:p>
          <a:p>
            <a:r>
              <a:rPr lang="zh-CN" altLang="en-US" sz="1400"/>
              <a:t>  'nova lox': 'salmon'</a:t>
            </a:r>
            <a:endParaRPr lang="zh-CN" altLang="en-US" sz="1400"/>
          </a:p>
          <a:p>
            <a:r>
              <a:rPr lang="zh-CN" altLang="en-US" sz="1400"/>
              <a:t>}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7254240" y="1197610"/>
            <a:ext cx="498729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[55]: lowercased = data['food'].str.lower()</a:t>
            </a:r>
            <a:endParaRPr lang="zh-CN" altLang="en-US" sz="1400"/>
          </a:p>
          <a:p>
            <a:r>
              <a:rPr lang="zh-CN" altLang="en-US" sz="1400"/>
              <a:t>In [56]: lowercased</a:t>
            </a:r>
            <a:endParaRPr lang="zh-CN" altLang="en-US" sz="1400"/>
          </a:p>
          <a:p>
            <a:r>
              <a:rPr lang="zh-CN" altLang="en-US" sz="1400"/>
              <a:t>Out[56]: </a:t>
            </a:r>
            <a:endParaRPr lang="zh-CN" altLang="en-US" sz="1400"/>
          </a:p>
          <a:p>
            <a:r>
              <a:rPr lang="zh-CN" altLang="en-US" sz="1400"/>
              <a:t>0          bacon</a:t>
            </a:r>
            <a:endParaRPr lang="zh-CN" altLang="en-US" sz="1400"/>
          </a:p>
          <a:p>
            <a:r>
              <a:rPr lang="zh-CN" altLang="en-US" sz="1400"/>
              <a:t>1    pulled pork</a:t>
            </a:r>
            <a:endParaRPr lang="zh-CN" altLang="en-US" sz="1400"/>
          </a:p>
          <a:p>
            <a:r>
              <a:rPr lang="zh-CN" altLang="en-US" sz="1400"/>
              <a:t>2          bacon</a:t>
            </a:r>
            <a:endParaRPr lang="zh-CN" altLang="en-US" sz="1400"/>
          </a:p>
          <a:p>
            <a:r>
              <a:rPr lang="zh-CN" altLang="en-US" sz="1400"/>
              <a:t>3       pastrami</a:t>
            </a:r>
            <a:endParaRPr lang="zh-CN" altLang="en-US" sz="1400"/>
          </a:p>
          <a:p>
            <a:r>
              <a:rPr lang="zh-CN" altLang="en-US" sz="1400"/>
              <a:t>4    corned beef</a:t>
            </a:r>
            <a:endParaRPr lang="zh-CN" altLang="en-US" sz="1400"/>
          </a:p>
          <a:p>
            <a:r>
              <a:rPr lang="zh-CN" altLang="en-US" sz="1400"/>
              <a:t>5          bacon</a:t>
            </a:r>
            <a:endParaRPr lang="zh-CN" altLang="en-US" sz="1400"/>
          </a:p>
          <a:p>
            <a:r>
              <a:rPr lang="zh-CN" altLang="en-US" sz="1400"/>
              <a:t>6       pastrami</a:t>
            </a:r>
            <a:endParaRPr lang="zh-CN" altLang="en-US" sz="1400"/>
          </a:p>
          <a:p>
            <a:r>
              <a:rPr lang="zh-CN" altLang="en-US" sz="1400"/>
              <a:t>7      honey ham</a:t>
            </a:r>
            <a:endParaRPr lang="zh-CN" altLang="en-US" sz="1400"/>
          </a:p>
          <a:p>
            <a:r>
              <a:rPr lang="zh-CN" altLang="en-US" sz="1400"/>
              <a:t>8       nova lox</a:t>
            </a:r>
            <a:endParaRPr lang="zh-CN" altLang="en-US" sz="1400"/>
          </a:p>
          <a:p>
            <a:r>
              <a:rPr lang="zh-CN" altLang="en-US" sz="1400"/>
              <a:t>Name: food, dtype: object</a:t>
            </a:r>
            <a:endParaRPr lang="zh-CN" altLang="en-US" sz="1400"/>
          </a:p>
          <a:p>
            <a:r>
              <a:rPr lang="zh-CN" altLang="en-US" sz="1400"/>
              <a:t>In [57]: data['animal'] = lowercased.map(meat_to_animal)</a:t>
            </a:r>
            <a:endParaRPr lang="zh-CN" altLang="en-US" sz="1400"/>
          </a:p>
          <a:p>
            <a:r>
              <a:rPr lang="zh-CN" altLang="en-US" sz="1400"/>
              <a:t>In [58]: data</a:t>
            </a:r>
            <a:endParaRPr lang="zh-CN" altLang="en-US" sz="1400"/>
          </a:p>
          <a:p>
            <a:r>
              <a:rPr lang="zh-CN" altLang="en-US" sz="1400"/>
              <a:t>Out[58]: </a:t>
            </a:r>
            <a:endParaRPr lang="zh-CN" altLang="en-US" sz="1400"/>
          </a:p>
          <a:p>
            <a:r>
              <a:rPr lang="zh-CN" altLang="en-US" sz="1400"/>
              <a:t>          food  ounces  animal</a:t>
            </a:r>
            <a:endParaRPr lang="zh-CN" altLang="en-US" sz="1400"/>
          </a:p>
          <a:p>
            <a:r>
              <a:rPr lang="zh-CN" altLang="en-US" sz="1400"/>
              <a:t>0        bacon     4.0     pig</a:t>
            </a:r>
            <a:endParaRPr lang="zh-CN" altLang="en-US" sz="1400"/>
          </a:p>
          <a:p>
            <a:r>
              <a:rPr lang="zh-CN" altLang="en-US" sz="1400"/>
              <a:t>1  pulled pork     3.0     pig</a:t>
            </a:r>
            <a:endParaRPr lang="zh-CN" altLang="en-US" sz="1400"/>
          </a:p>
          <a:p>
            <a:r>
              <a:rPr lang="zh-CN" altLang="en-US" sz="1400"/>
              <a:t>2        bacon    12.0     pig</a:t>
            </a:r>
            <a:endParaRPr lang="zh-CN" altLang="en-US" sz="1400"/>
          </a:p>
          <a:p>
            <a:r>
              <a:rPr lang="zh-CN" altLang="en-US" sz="1400"/>
              <a:t>3     Pastrami     6.0     cow</a:t>
            </a:r>
            <a:endParaRPr lang="zh-CN" altLang="en-US" sz="1400"/>
          </a:p>
          <a:p>
            <a:r>
              <a:rPr lang="zh-CN" altLang="en-US" sz="1400"/>
              <a:t>4  corned beef     7.5     cow</a:t>
            </a:r>
            <a:endParaRPr lang="zh-CN" altLang="en-US" sz="1400"/>
          </a:p>
          <a:p>
            <a:r>
              <a:rPr lang="zh-CN" altLang="en-US" sz="1400"/>
              <a:t>5        Bacon     8.0     pig</a:t>
            </a:r>
            <a:endParaRPr lang="zh-CN" altLang="en-US" sz="1400"/>
          </a:p>
          <a:p>
            <a:r>
              <a:rPr lang="zh-CN" altLang="en-US" sz="1400"/>
              <a:t>6     pastrami     3.0     cow</a:t>
            </a:r>
            <a:endParaRPr lang="zh-CN" alt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7.2.2 利用函数或映射进行数据转换</a:t>
            </a:r>
            <a:endParaRPr lang="en-US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b="1"/>
              <a:t>根据数组、Series或DataFrame列中的值来实现转换</a:t>
            </a:r>
            <a:endParaRPr b="1"/>
          </a:p>
          <a:p>
            <a:pPr lvl="1"/>
            <a:r>
              <a:rPr lang="zh-CN" sz="1700" b="1">
                <a:sym typeface="+mn-ea"/>
              </a:rPr>
              <a:t>示例：根据肉类映射到对应的动物</a:t>
            </a:r>
            <a:endParaRPr lang="zh-CN" sz="1700" b="1"/>
          </a:p>
          <a:p>
            <a:pPr lvl="2"/>
            <a:r>
              <a:rPr lang="zh-CN" altLang="zh-CN" sz="1700" b="1">
                <a:sym typeface="+mn-ea"/>
              </a:rPr>
              <a:t>使用匿名函数</a:t>
            </a:r>
            <a:endParaRPr lang="zh-CN" altLang="zh-CN" sz="1700" b="1"/>
          </a:p>
          <a:p>
            <a:pPr lvl="1"/>
            <a:r>
              <a:rPr lang="zh-CN" altLang="zh-CN" b="1"/>
              <a:t>map</a:t>
            </a:r>
            <a:endParaRPr lang="zh-CN" altLang="zh-CN" b="1"/>
          </a:p>
          <a:p>
            <a:pPr lvl="2"/>
            <a:r>
              <a:rPr lang="zh-CN" altLang="zh-CN" b="1"/>
              <a:t>实现元素级转换以及其他数据清理工作的便捷方式。</a:t>
            </a:r>
            <a:endParaRPr lang="zh-CN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6965950" y="1773555"/>
            <a:ext cx="514223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[59]: data['food'].map(lambda x: meat_to_animal[x.lower()])</a:t>
            </a:r>
            <a:endParaRPr lang="zh-CN" altLang="en-US" sz="1400"/>
          </a:p>
          <a:p>
            <a:r>
              <a:rPr lang="zh-CN" altLang="en-US" sz="1400"/>
              <a:t>Out[59]: </a:t>
            </a:r>
            <a:endParaRPr lang="zh-CN" altLang="en-US" sz="1400"/>
          </a:p>
          <a:p>
            <a:r>
              <a:rPr lang="zh-CN" altLang="en-US" sz="1400"/>
              <a:t>0       pig</a:t>
            </a:r>
            <a:endParaRPr lang="zh-CN" altLang="en-US" sz="1400"/>
          </a:p>
          <a:p>
            <a:r>
              <a:rPr lang="zh-CN" altLang="en-US" sz="1400"/>
              <a:t>1       pig</a:t>
            </a:r>
            <a:endParaRPr lang="zh-CN" altLang="en-US" sz="1400"/>
          </a:p>
          <a:p>
            <a:r>
              <a:rPr lang="zh-CN" altLang="en-US" sz="1400"/>
              <a:t>2       pig</a:t>
            </a:r>
            <a:endParaRPr lang="zh-CN" altLang="en-US" sz="1400"/>
          </a:p>
          <a:p>
            <a:r>
              <a:rPr lang="zh-CN" altLang="en-US" sz="1400"/>
              <a:t>3       cow</a:t>
            </a:r>
            <a:endParaRPr lang="zh-CN" altLang="en-US" sz="1400"/>
          </a:p>
          <a:p>
            <a:r>
              <a:rPr lang="zh-CN" altLang="en-US" sz="1400"/>
              <a:t>4       cow</a:t>
            </a:r>
            <a:endParaRPr lang="zh-CN" altLang="en-US" sz="1400"/>
          </a:p>
          <a:p>
            <a:r>
              <a:rPr lang="zh-CN" altLang="en-US" sz="1400"/>
              <a:t>5       pig</a:t>
            </a:r>
            <a:endParaRPr lang="zh-CN" altLang="en-US" sz="1400"/>
          </a:p>
          <a:p>
            <a:r>
              <a:rPr lang="zh-CN" altLang="en-US" sz="1400"/>
              <a:t>6       cow</a:t>
            </a:r>
            <a:endParaRPr lang="zh-CN" altLang="en-US" sz="1400"/>
          </a:p>
          <a:p>
            <a:r>
              <a:rPr lang="zh-CN" altLang="en-US" sz="1400"/>
              <a:t>7       pig</a:t>
            </a:r>
            <a:endParaRPr lang="zh-CN" altLang="en-US" sz="1400"/>
          </a:p>
          <a:p>
            <a:r>
              <a:rPr lang="zh-CN" altLang="en-US" sz="1400"/>
              <a:t>8    salmon</a:t>
            </a:r>
            <a:endParaRPr lang="zh-CN" altLang="en-US" sz="1400"/>
          </a:p>
          <a:p>
            <a:r>
              <a:rPr lang="zh-CN" altLang="en-US" sz="1400"/>
              <a:t>Name: food, dtype: object</a:t>
            </a:r>
            <a:endParaRPr lang="zh-CN" alt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7.2.3 替换值</a:t>
            </a:r>
            <a:endParaRPr lang="en-US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zh-CN" b="1"/>
              <a:t>利用fillna方法填充缺失数据可以看做值替换的一种特殊情况</a:t>
            </a:r>
            <a:endParaRPr lang="zh-CN" altLang="zh-CN" b="1"/>
          </a:p>
          <a:p>
            <a:pPr lvl="1"/>
            <a:r>
              <a:rPr lang="zh-CN" altLang="zh-CN" b="1"/>
              <a:t>map可用于修改对象的数据子集</a:t>
            </a:r>
            <a:endParaRPr lang="zh-CN" altLang="zh-CN" b="1"/>
          </a:p>
          <a:p>
            <a:pPr lvl="1"/>
            <a:r>
              <a:rPr lang="zh-CN" altLang="zh-CN" b="1"/>
              <a:t>replace则提供了一种实现该功能的更简单、更灵活的方式</a:t>
            </a:r>
            <a:endParaRPr lang="zh-CN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1565910" y="2997835"/>
            <a:ext cx="514223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[60]: data = pd.Series([1., -999., 2., -999., -1000., 3.])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[61]: data</a:t>
            </a:r>
            <a:endParaRPr lang="zh-CN" altLang="en-US" sz="1400"/>
          </a:p>
          <a:p>
            <a:r>
              <a:rPr lang="zh-CN" altLang="en-US" sz="1400"/>
              <a:t>Out[61]: </a:t>
            </a:r>
            <a:endParaRPr lang="zh-CN" altLang="en-US" sz="1400"/>
          </a:p>
          <a:p>
            <a:r>
              <a:rPr lang="zh-CN" altLang="en-US" sz="1400"/>
              <a:t>0       1.0</a:t>
            </a:r>
            <a:endParaRPr lang="zh-CN" altLang="en-US" sz="1400"/>
          </a:p>
          <a:p>
            <a:r>
              <a:rPr lang="zh-CN" altLang="en-US" sz="1400"/>
              <a:t>1    -999.0</a:t>
            </a:r>
            <a:endParaRPr lang="zh-CN" altLang="en-US" sz="1400"/>
          </a:p>
          <a:p>
            <a:r>
              <a:rPr lang="zh-CN" altLang="en-US" sz="1400"/>
              <a:t>2       2.0</a:t>
            </a:r>
            <a:endParaRPr lang="zh-CN" altLang="en-US" sz="1400"/>
          </a:p>
          <a:p>
            <a:r>
              <a:rPr lang="zh-CN" altLang="en-US" sz="1400"/>
              <a:t>3    -999.0</a:t>
            </a:r>
            <a:endParaRPr lang="zh-CN" altLang="en-US" sz="1400"/>
          </a:p>
          <a:p>
            <a:r>
              <a:rPr lang="zh-CN" altLang="en-US" sz="1400"/>
              <a:t>4   -1000.0</a:t>
            </a:r>
            <a:endParaRPr lang="zh-CN" altLang="en-US" sz="1400"/>
          </a:p>
          <a:p>
            <a:r>
              <a:rPr lang="zh-CN" altLang="en-US" sz="1400"/>
              <a:t>5       3.0</a:t>
            </a:r>
            <a:endParaRPr lang="zh-CN" altLang="en-US" sz="1400"/>
          </a:p>
        </p:txBody>
      </p:sp>
      <p:sp>
        <p:nvSpPr>
          <p:cNvPr id="3" name="文本框 2"/>
          <p:cNvSpPr txBox="1"/>
          <p:nvPr/>
        </p:nvSpPr>
        <p:spPr>
          <a:xfrm>
            <a:off x="6822440" y="2997835"/>
            <a:ext cx="345503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[62]: data.replace(-999, np.nan)</a:t>
            </a:r>
            <a:endParaRPr lang="zh-CN" altLang="en-US" sz="1400"/>
          </a:p>
          <a:p>
            <a:r>
              <a:rPr lang="zh-CN" altLang="en-US" sz="1400"/>
              <a:t>Out[62]: </a:t>
            </a:r>
            <a:endParaRPr lang="zh-CN" altLang="en-US" sz="1400"/>
          </a:p>
          <a:p>
            <a:r>
              <a:rPr lang="zh-CN" altLang="en-US" sz="1400"/>
              <a:t>0       1.0</a:t>
            </a:r>
            <a:endParaRPr lang="zh-CN" altLang="en-US" sz="1400"/>
          </a:p>
          <a:p>
            <a:r>
              <a:rPr lang="zh-CN" altLang="en-US" sz="1400"/>
              <a:t>1       NaN</a:t>
            </a:r>
            <a:endParaRPr lang="zh-CN" altLang="en-US" sz="1400"/>
          </a:p>
          <a:p>
            <a:r>
              <a:rPr lang="zh-CN" altLang="en-US" sz="1400"/>
              <a:t>2       2.0</a:t>
            </a:r>
            <a:endParaRPr lang="zh-CN" altLang="en-US" sz="1400"/>
          </a:p>
          <a:p>
            <a:r>
              <a:rPr lang="zh-CN" altLang="en-US" sz="1400"/>
              <a:t>3       NaN</a:t>
            </a:r>
            <a:endParaRPr lang="zh-CN" altLang="en-US" sz="1400"/>
          </a:p>
          <a:p>
            <a:r>
              <a:rPr lang="zh-CN" altLang="en-US" sz="1400"/>
              <a:t>4   -1000.0</a:t>
            </a:r>
            <a:endParaRPr lang="zh-CN" altLang="en-US" sz="1400"/>
          </a:p>
          <a:p>
            <a:r>
              <a:rPr lang="zh-CN" altLang="en-US" sz="1400"/>
              <a:t>5       3.0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7.2.3 替换值</a:t>
            </a:r>
            <a:endParaRPr lang="en-US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pPr lvl="1"/>
            <a:r>
              <a:rPr lang="zh-CN" altLang="zh-CN" b="1"/>
              <a:t>replace一次性替换多个值</a:t>
            </a:r>
            <a:endParaRPr lang="zh-CN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1277620" y="1845310"/>
            <a:ext cx="5142230" cy="4184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[63]: data.replace([-999, -1000], np.nan)</a:t>
            </a:r>
            <a:endParaRPr lang="zh-CN" altLang="en-US" sz="1400"/>
          </a:p>
          <a:p>
            <a:r>
              <a:rPr lang="zh-CN" altLang="en-US" sz="1400"/>
              <a:t>Out[63]: </a:t>
            </a:r>
            <a:endParaRPr lang="zh-CN" altLang="en-US" sz="1400"/>
          </a:p>
          <a:p>
            <a:r>
              <a:rPr lang="zh-CN" altLang="en-US" sz="1400"/>
              <a:t>0    1.0</a:t>
            </a:r>
            <a:endParaRPr lang="zh-CN" altLang="en-US" sz="1400"/>
          </a:p>
          <a:p>
            <a:r>
              <a:rPr lang="zh-CN" altLang="en-US" sz="1400"/>
              <a:t>1    NaN</a:t>
            </a:r>
            <a:endParaRPr lang="zh-CN" altLang="en-US" sz="1400"/>
          </a:p>
          <a:p>
            <a:r>
              <a:rPr lang="zh-CN" altLang="en-US" sz="1400"/>
              <a:t>2    2.0</a:t>
            </a:r>
            <a:endParaRPr lang="zh-CN" altLang="en-US" sz="1400"/>
          </a:p>
          <a:p>
            <a:r>
              <a:rPr lang="zh-CN" altLang="en-US" sz="1400"/>
              <a:t>3    NaN</a:t>
            </a:r>
            <a:endParaRPr lang="zh-CN" altLang="en-US" sz="1400"/>
          </a:p>
          <a:p>
            <a:r>
              <a:rPr lang="zh-CN" altLang="en-US" sz="1400"/>
              <a:t>4    NaN</a:t>
            </a:r>
            <a:endParaRPr lang="zh-CN" altLang="en-US" sz="1400"/>
          </a:p>
          <a:p>
            <a:r>
              <a:rPr lang="zh-CN" altLang="en-US" sz="1400"/>
              <a:t>5    3.0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[64]: data.replace([-999, -1000], [np.nan, 0])</a:t>
            </a:r>
            <a:endParaRPr lang="zh-CN" altLang="en-US" sz="1400"/>
          </a:p>
          <a:p>
            <a:r>
              <a:rPr lang="zh-CN" altLang="en-US" sz="1400"/>
              <a:t>Out[64]: </a:t>
            </a:r>
            <a:endParaRPr lang="zh-CN" altLang="en-US" sz="1400"/>
          </a:p>
          <a:p>
            <a:r>
              <a:rPr lang="zh-CN" altLang="en-US" sz="1400"/>
              <a:t>0    1.0</a:t>
            </a:r>
            <a:endParaRPr lang="zh-CN" altLang="en-US" sz="1400"/>
          </a:p>
          <a:p>
            <a:r>
              <a:rPr lang="zh-CN" altLang="en-US" sz="1400"/>
              <a:t>1    NaN</a:t>
            </a:r>
            <a:endParaRPr lang="zh-CN" altLang="en-US" sz="1400"/>
          </a:p>
          <a:p>
            <a:r>
              <a:rPr lang="zh-CN" altLang="en-US" sz="1400"/>
              <a:t>2    2.0</a:t>
            </a:r>
            <a:endParaRPr lang="zh-CN" altLang="en-US" sz="1400"/>
          </a:p>
          <a:p>
            <a:r>
              <a:rPr lang="zh-CN" altLang="en-US" sz="1400"/>
              <a:t>3    NaN</a:t>
            </a:r>
            <a:endParaRPr lang="zh-CN" altLang="en-US" sz="1400"/>
          </a:p>
          <a:p>
            <a:r>
              <a:rPr lang="zh-CN" altLang="en-US" sz="1400"/>
              <a:t>4    0.0</a:t>
            </a:r>
            <a:endParaRPr lang="zh-CN" altLang="en-US" sz="1400"/>
          </a:p>
          <a:p>
            <a:r>
              <a:rPr lang="zh-CN" altLang="en-US" sz="1400"/>
              <a:t>5    3.0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  <p:sp>
        <p:nvSpPr>
          <p:cNvPr id="3" name="文本框 2"/>
          <p:cNvSpPr txBox="1"/>
          <p:nvPr/>
        </p:nvSpPr>
        <p:spPr>
          <a:xfrm>
            <a:off x="6965950" y="1773555"/>
            <a:ext cx="44615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[65]: data.replace({-999: np.nan, -1000: 0})</a:t>
            </a:r>
            <a:endParaRPr lang="zh-CN" altLang="en-US" sz="1400"/>
          </a:p>
          <a:p>
            <a:r>
              <a:rPr lang="zh-CN" altLang="en-US" sz="1400"/>
              <a:t>Out[65]: </a:t>
            </a:r>
            <a:endParaRPr lang="zh-CN" altLang="en-US" sz="1400"/>
          </a:p>
          <a:p>
            <a:r>
              <a:rPr lang="zh-CN" altLang="en-US" sz="1400"/>
              <a:t>0    1.0</a:t>
            </a:r>
            <a:endParaRPr lang="zh-CN" altLang="en-US" sz="1400"/>
          </a:p>
          <a:p>
            <a:r>
              <a:rPr lang="zh-CN" altLang="en-US" sz="1400"/>
              <a:t>1    NaN</a:t>
            </a:r>
            <a:endParaRPr lang="zh-CN" altLang="en-US" sz="1400"/>
          </a:p>
          <a:p>
            <a:r>
              <a:rPr lang="zh-CN" altLang="en-US" sz="1400"/>
              <a:t>2    2.0</a:t>
            </a:r>
            <a:endParaRPr lang="zh-CN" altLang="en-US" sz="1400"/>
          </a:p>
          <a:p>
            <a:r>
              <a:rPr lang="zh-CN" altLang="en-US" sz="1400"/>
              <a:t>3    NaN</a:t>
            </a:r>
            <a:endParaRPr lang="zh-CN" altLang="en-US" sz="1400"/>
          </a:p>
          <a:p>
            <a:r>
              <a:rPr lang="zh-CN" altLang="en-US" sz="1400"/>
              <a:t>4    0.0</a:t>
            </a:r>
            <a:endParaRPr lang="zh-CN" altLang="en-US" sz="1400"/>
          </a:p>
          <a:p>
            <a:r>
              <a:rPr lang="zh-CN" altLang="en-US" sz="1400"/>
              <a:t>5    3.0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7.2.4 重命名轴索引</a:t>
            </a:r>
            <a:endParaRPr 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34110" y="2925445"/>
            <a:ext cx="514223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[66]: data = pd.DataFrame(np.arange(12).reshape((3, 4)),</a:t>
            </a:r>
            <a:endParaRPr lang="zh-CN" altLang="en-US" sz="1400"/>
          </a:p>
          <a:p>
            <a:r>
              <a:rPr lang="zh-CN" altLang="en-US" sz="1400"/>
              <a:t>   ....:                     index=['Ohio', 'Colorado', 'New York'],</a:t>
            </a:r>
            <a:endParaRPr lang="zh-CN" altLang="en-US" sz="1400"/>
          </a:p>
          <a:p>
            <a:r>
              <a:rPr lang="zh-CN" altLang="en-US" sz="1400"/>
              <a:t>   ....:                     columns=['one', 'two', 'three', 'four'])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[67]: transform = lambda x: x[:4].upper()</a:t>
            </a:r>
            <a:endParaRPr lang="zh-CN" altLang="en-US" sz="1400"/>
          </a:p>
          <a:p>
            <a:r>
              <a:rPr lang="zh-CN" altLang="en-US" sz="1400"/>
              <a:t>In [68]: data.index.map(transform)</a:t>
            </a:r>
            <a:endParaRPr lang="zh-CN" altLang="en-US" sz="1400"/>
          </a:p>
          <a:p>
            <a:r>
              <a:rPr lang="zh-CN" altLang="en-US" sz="1400"/>
              <a:t>Out[68]: Index(['OHIO', 'COLO', 'NEW '], dtype='object')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[69]: data.index = data.index.map(transform)</a:t>
            </a:r>
            <a:endParaRPr lang="zh-CN" altLang="en-US" sz="1400"/>
          </a:p>
          <a:p>
            <a:r>
              <a:rPr lang="zh-CN" altLang="en-US" sz="1400"/>
              <a:t>In [70]: data</a:t>
            </a:r>
            <a:endParaRPr lang="zh-CN" altLang="en-US" sz="1400"/>
          </a:p>
          <a:p>
            <a:r>
              <a:rPr lang="zh-CN" altLang="en-US" sz="1400"/>
              <a:t>Out[70]:</a:t>
            </a:r>
            <a:endParaRPr lang="zh-CN" altLang="en-US" sz="1400"/>
          </a:p>
          <a:p>
            <a:r>
              <a:rPr lang="zh-CN" altLang="en-US" sz="1400"/>
              <a:t>one  two  three  four</a:t>
            </a:r>
            <a:endParaRPr lang="zh-CN" altLang="en-US" sz="1400"/>
          </a:p>
          <a:p>
            <a:r>
              <a:rPr lang="zh-CN" altLang="en-US" sz="1400"/>
              <a:t>OHIO    0    1      2     3</a:t>
            </a:r>
            <a:endParaRPr lang="zh-CN" altLang="en-US" sz="1400"/>
          </a:p>
          <a:p>
            <a:r>
              <a:rPr lang="zh-CN" altLang="en-US" sz="1400"/>
              <a:t>COLO    4    5      6     7</a:t>
            </a:r>
            <a:endParaRPr lang="zh-CN" altLang="en-US" sz="1400"/>
          </a:p>
          <a:p>
            <a:r>
              <a:rPr lang="zh-CN" altLang="en-US" sz="1400"/>
              <a:t>NEW     8    9     10    11</a:t>
            </a:r>
            <a:endParaRPr lang="zh-CN" altLang="en-US" sz="1400"/>
          </a:p>
        </p:txBody>
      </p:sp>
      <p:sp>
        <p:nvSpPr>
          <p:cNvPr id="3" name="文本框 2"/>
          <p:cNvSpPr txBox="1"/>
          <p:nvPr/>
        </p:nvSpPr>
        <p:spPr>
          <a:xfrm>
            <a:off x="6966585" y="2637155"/>
            <a:ext cx="489204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[71]: data.rename(index=str.title, columns=str.upper)</a:t>
            </a:r>
            <a:endParaRPr lang="zh-CN" altLang="en-US" sz="1400"/>
          </a:p>
          <a:p>
            <a:r>
              <a:rPr lang="zh-CN" altLang="en-US" sz="1400"/>
              <a:t>Out[71]: </a:t>
            </a:r>
            <a:endParaRPr lang="zh-CN" altLang="en-US" sz="1400"/>
          </a:p>
          <a:p>
            <a:r>
              <a:rPr lang="zh-CN" altLang="en-US" sz="1400"/>
              <a:t>      ONE  TWO  THREE  FOUR</a:t>
            </a:r>
            <a:endParaRPr lang="zh-CN" altLang="en-US" sz="1400"/>
          </a:p>
          <a:p>
            <a:r>
              <a:rPr lang="zh-CN" altLang="en-US" sz="1400"/>
              <a:t>Ohio    0    1      2     3</a:t>
            </a:r>
            <a:endParaRPr lang="zh-CN" altLang="en-US" sz="1400"/>
          </a:p>
          <a:p>
            <a:r>
              <a:rPr lang="zh-CN" altLang="en-US" sz="1400"/>
              <a:t>Colo    4    5      6     7</a:t>
            </a:r>
            <a:endParaRPr lang="zh-CN" altLang="en-US" sz="1400"/>
          </a:p>
          <a:p>
            <a:r>
              <a:rPr lang="zh-CN" altLang="en-US" sz="1400"/>
              <a:t>New     8    9     10    11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[73]: data.rename(index={'OHIO': 'INDIANA'}, inplace=True)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[74]: data</a:t>
            </a:r>
            <a:endParaRPr lang="zh-CN" altLang="en-US" sz="1400"/>
          </a:p>
          <a:p>
            <a:r>
              <a:rPr lang="zh-CN" altLang="en-US" sz="1400"/>
              <a:t>Out[74]: </a:t>
            </a:r>
            <a:endParaRPr lang="zh-CN" altLang="en-US" sz="1400"/>
          </a:p>
          <a:p>
            <a:r>
              <a:rPr lang="zh-CN" altLang="en-US" sz="1400"/>
              <a:t>         one  two  three  four</a:t>
            </a:r>
            <a:endParaRPr lang="zh-CN" altLang="en-US" sz="1400"/>
          </a:p>
          <a:p>
            <a:r>
              <a:rPr lang="zh-CN" altLang="en-US" sz="1400"/>
              <a:t>INDIANA    0    1      2     3</a:t>
            </a:r>
            <a:endParaRPr lang="zh-CN" altLang="en-US" sz="1400"/>
          </a:p>
          <a:p>
            <a:r>
              <a:rPr lang="zh-CN" altLang="en-US" sz="1400"/>
              <a:t>COLO       4    5      6     7</a:t>
            </a:r>
            <a:endParaRPr lang="zh-CN" altLang="en-US" sz="1400"/>
          </a:p>
          <a:p>
            <a:r>
              <a:rPr lang="zh-CN" altLang="en-US" sz="1400"/>
              <a:t>NEW        8    9     10    11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rename</a:t>
            </a:r>
            <a:endParaRPr lang="en-US" altLang="zh-CN" b="1"/>
          </a:p>
          <a:p>
            <a:pPr lvl="1"/>
            <a:r>
              <a:rPr lang="zh-CN" altLang="en-US" b="1"/>
              <a:t>索引重新赋值</a:t>
            </a:r>
            <a:endParaRPr lang="zh-CN" altLang="en-US" b="1"/>
          </a:p>
          <a:p>
            <a:pPr lvl="1"/>
            <a:r>
              <a:rPr lang="en-US" altLang="zh-CN" b="1"/>
              <a:t>rename</a:t>
            </a:r>
            <a:r>
              <a:rPr lang="zh-CN" altLang="zh-CN" b="1"/>
              <a:t>参数传递：函数或字典</a:t>
            </a:r>
            <a:endParaRPr lang="zh-CN" altLang="zh-CN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7.2.5 离散化和</a:t>
            </a:r>
            <a:r>
              <a:rPr lang="zh-CN">
                <a:sym typeface="+mn-ea"/>
              </a:rPr>
              <a:t>分箱</a:t>
            </a:r>
            <a:endParaRPr 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02350" y="1341755"/>
            <a:ext cx="600329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[75]: ages = [20, 22, 25, 27, 21, 23, 37, 31, 61, 45, 41, 32]</a:t>
            </a:r>
            <a:endParaRPr lang="zh-CN" altLang="en-US" sz="1400"/>
          </a:p>
          <a:p>
            <a:r>
              <a:rPr lang="zh-CN" altLang="en-US" sz="1400"/>
              <a:t>In [76]: bins = [18, 25, 35, 60, 100]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[77]: cats = pd.cut(ages, bins)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[78]: cats</a:t>
            </a:r>
            <a:endParaRPr lang="zh-CN" altLang="en-US" sz="1400"/>
          </a:p>
          <a:p>
            <a:r>
              <a:rPr lang="zh-CN" altLang="en-US" sz="1400"/>
              <a:t>Out[78]: </a:t>
            </a:r>
            <a:endParaRPr lang="zh-CN" altLang="en-US" sz="1400"/>
          </a:p>
          <a:p>
            <a:r>
              <a:rPr lang="zh-CN" altLang="en-US" sz="1400"/>
              <a:t>[(18, 25], (18, 25], (18, 25], (25, 35], (18, 25], ..., (25, 35], (60, 100], (35,60], (35, 60], (25, 35]]</a:t>
            </a:r>
            <a:endParaRPr lang="zh-CN" altLang="en-US" sz="1400"/>
          </a:p>
          <a:p>
            <a:r>
              <a:rPr lang="zh-CN" altLang="en-US" sz="1400"/>
              <a:t>Length: 12</a:t>
            </a:r>
            <a:endParaRPr lang="zh-CN" altLang="en-US" sz="1400"/>
          </a:p>
          <a:p>
            <a:r>
              <a:rPr lang="zh-CN" altLang="en-US" sz="1400"/>
              <a:t>Categories (4, interval[int64]): [(18, 25] &lt; (25, 35] &lt; (35, 60] &lt; (60, 100]]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[79]: cats.codes</a:t>
            </a:r>
            <a:endParaRPr lang="zh-CN" altLang="en-US" sz="1400"/>
          </a:p>
          <a:p>
            <a:r>
              <a:rPr lang="zh-CN" altLang="en-US" sz="1400"/>
              <a:t>Out[79]: array([0, 0, 0, 1, 0, 0, 2, 1, 3, 2, 2, 1], dtype=int8)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[80]: cats.categories</a:t>
            </a:r>
            <a:endParaRPr lang="zh-CN" altLang="en-US" sz="1400"/>
          </a:p>
          <a:p>
            <a:r>
              <a:rPr lang="zh-CN" altLang="en-US" sz="1400"/>
              <a:t>Out[80]: </a:t>
            </a:r>
            <a:endParaRPr lang="zh-CN" altLang="en-US" sz="1400"/>
          </a:p>
          <a:p>
            <a:r>
              <a:rPr lang="zh-CN" altLang="en-US" sz="1400"/>
              <a:t>IntervalIndex([(18, 25], (25, 35], (35, 60], (60, 100]]</a:t>
            </a:r>
            <a:endParaRPr lang="zh-CN" altLang="en-US" sz="1400"/>
          </a:p>
          <a:p>
            <a:r>
              <a:rPr lang="zh-CN" altLang="en-US" sz="1400"/>
              <a:t>              closed='right',</a:t>
            </a:r>
            <a:endParaRPr lang="zh-CN" altLang="en-US" sz="1400"/>
          </a:p>
          <a:p>
            <a:r>
              <a:rPr lang="zh-CN" altLang="en-US" sz="1400"/>
              <a:t>              dtype='interval[int64]')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为了便于分析，连续数据常常被离散化</a:t>
            </a:r>
            <a:endParaRPr lang="en-US" altLang="zh-CN" b="1"/>
          </a:p>
          <a:p>
            <a:pPr lvl="1"/>
            <a:r>
              <a:rPr lang="zh-CN" altLang="en-US" sz="1700" b="1">
                <a:sym typeface="+mn-ea"/>
              </a:rPr>
              <a:t>示例：对一组人员数据，按年龄进行划分</a:t>
            </a:r>
            <a:endParaRPr lang="zh-CN" altLang="en-US" sz="1700" b="1"/>
          </a:p>
          <a:p>
            <a:pPr lvl="2"/>
            <a:r>
              <a:rPr lang="zh-CN" altLang="en-US" sz="1700" b="1">
                <a:sym typeface="+mn-ea"/>
              </a:rPr>
              <a:t>“18到25”</a:t>
            </a:r>
            <a:endParaRPr lang="zh-CN" altLang="en-US" sz="1700" b="1"/>
          </a:p>
          <a:p>
            <a:pPr lvl="2"/>
            <a:r>
              <a:rPr lang="zh-CN" altLang="en-US" sz="1700" b="1">
                <a:sym typeface="+mn-ea"/>
              </a:rPr>
              <a:t>“26到35”</a:t>
            </a:r>
            <a:endParaRPr lang="zh-CN" altLang="en-US" sz="1700" b="1"/>
          </a:p>
          <a:p>
            <a:pPr lvl="2"/>
            <a:r>
              <a:rPr lang="zh-CN" altLang="en-US" sz="1700" b="1">
                <a:sym typeface="+mn-ea"/>
              </a:rPr>
              <a:t>“35到60”</a:t>
            </a:r>
            <a:endParaRPr lang="zh-CN" altLang="en-US" sz="1700" b="1"/>
          </a:p>
          <a:p>
            <a:pPr lvl="2"/>
            <a:r>
              <a:rPr lang="zh-CN" altLang="en-US" sz="1700" b="1">
                <a:sym typeface="+mn-ea"/>
              </a:rPr>
              <a:t>“60以上”</a:t>
            </a:r>
            <a:endParaRPr lang="zh-CN" altLang="en-US" sz="1700" b="1"/>
          </a:p>
          <a:p>
            <a:pPr lvl="1"/>
            <a:r>
              <a:rPr lang="en-US" altLang="zh-CN" b="1"/>
              <a:t>pd.cut</a:t>
            </a:r>
            <a:endParaRPr lang="zh-CN" altLang="en-US" b="1"/>
          </a:p>
          <a:p>
            <a:pPr lvl="1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998345" y="4581525"/>
            <a:ext cx="303085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sym typeface="+mn-ea"/>
              </a:rPr>
              <a:t>In [81]: pd.value_counts(cats)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Out[81]: 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(18, 25]     5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(35, 60]     3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(25, 35]     3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(60, 100]    1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dtype: int64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7.2.5 离散化和</a:t>
            </a:r>
            <a:r>
              <a:rPr lang="zh-CN">
                <a:sym typeface="+mn-ea"/>
              </a:rPr>
              <a:t>分箱</a:t>
            </a:r>
            <a:endParaRPr 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02350" y="1341755"/>
            <a:ext cx="600329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[82]: pd.cut(ages, [18, 26, 36, 61, 100], right=False)</a:t>
            </a:r>
            <a:endParaRPr lang="zh-CN" altLang="en-US" sz="1400"/>
          </a:p>
          <a:p>
            <a:r>
              <a:rPr lang="zh-CN" altLang="en-US" sz="1400"/>
              <a:t>Out[82]: </a:t>
            </a:r>
            <a:endParaRPr lang="zh-CN" altLang="en-US" sz="1400"/>
          </a:p>
          <a:p>
            <a:r>
              <a:rPr lang="zh-CN" altLang="en-US" sz="1400"/>
              <a:t>[[18, 26), [18, 26), [18, 26), [26, 36), [18, 26), ..., [26, 36), [61, 100), [36,</a:t>
            </a:r>
            <a:endParaRPr lang="zh-CN" altLang="en-US" sz="1400"/>
          </a:p>
          <a:p>
            <a:r>
              <a:rPr lang="zh-CN" altLang="en-US" sz="1400"/>
              <a:t> 61), [36, 61), [26, 36)]</a:t>
            </a:r>
            <a:endParaRPr lang="zh-CN" altLang="en-US" sz="1400"/>
          </a:p>
          <a:p>
            <a:r>
              <a:rPr lang="zh-CN" altLang="en-US" sz="1400"/>
              <a:t>Length: 12</a:t>
            </a:r>
            <a:endParaRPr lang="zh-CN" altLang="en-US" sz="1400"/>
          </a:p>
          <a:p>
            <a:r>
              <a:rPr lang="zh-CN" altLang="en-US" sz="1400"/>
              <a:t>Categories (4, interval[int64]): [[18, 26) &lt; [26, 36) &lt; [36, 61) &lt; [61, 100)]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[83]: group_names = ['Youth', 'YoungAdult', 'MiddleAged', 'Senior']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[84]: pd.cut(ages, bins, labels=group_names)</a:t>
            </a:r>
            <a:endParaRPr lang="zh-CN" altLang="en-US" sz="1400"/>
          </a:p>
          <a:p>
            <a:r>
              <a:rPr lang="zh-CN" altLang="en-US" sz="1400"/>
              <a:t>Out[84]: </a:t>
            </a:r>
            <a:endParaRPr lang="zh-CN" altLang="en-US" sz="1400"/>
          </a:p>
          <a:p>
            <a:r>
              <a:rPr lang="zh-CN" altLang="en-US" sz="1400"/>
              <a:t>[Youth, Youth, Youth, YoungAdult, Youth, ..., YoungAdult, Senior, MiddleAged, MiddleAged, YoungAdult]</a:t>
            </a:r>
            <a:endParaRPr lang="zh-CN" altLang="en-US" sz="1400"/>
          </a:p>
          <a:p>
            <a:r>
              <a:rPr lang="zh-CN" altLang="en-US" sz="1400"/>
              <a:t>Length: 12</a:t>
            </a:r>
            <a:endParaRPr lang="zh-CN" altLang="en-US" sz="1400"/>
          </a:p>
          <a:p>
            <a:r>
              <a:rPr lang="zh-CN" altLang="en-US" sz="1400"/>
              <a:t>Categories (4, object): [Youth &lt; YoungAdult &lt; MiddleAged &lt; Senior]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b="1"/>
              <a:t>为了便于分析，连续数据常常被离散化</a:t>
            </a:r>
            <a:endParaRPr lang="en-US" altLang="zh-CN" b="1"/>
          </a:p>
          <a:p>
            <a:pPr lvl="1"/>
            <a:r>
              <a:rPr lang="en-US" altLang="zh-CN" b="1"/>
              <a:t>pd.cut</a:t>
            </a:r>
            <a:r>
              <a:rPr lang="zh-CN" altLang="zh-CN" b="1"/>
              <a:t>参数</a:t>
            </a:r>
            <a:endParaRPr lang="zh-CN" altLang="en-US" b="1"/>
          </a:p>
          <a:p>
            <a:pPr lvl="2"/>
            <a:r>
              <a:rPr lang="en-US" altLang="zh-CN" b="1">
                <a:sym typeface="+mn-ea"/>
              </a:rPr>
              <a:t>right=False</a:t>
            </a:r>
            <a:r>
              <a:rPr lang="zh-CN" altLang="zh-CN" b="1">
                <a:sym typeface="+mn-ea"/>
              </a:rPr>
              <a:t>：右端为开端</a:t>
            </a:r>
            <a:endParaRPr lang="zh-CN" altLang="zh-CN" b="1">
              <a:sym typeface="+mn-ea"/>
            </a:endParaRPr>
          </a:p>
          <a:p>
            <a:pPr lvl="2"/>
            <a:r>
              <a:rPr lang="zh-CN" altLang="zh-CN" b="1">
                <a:sym typeface="+mn-ea"/>
              </a:rPr>
              <a:t>labels：赋予分箱标签</a:t>
            </a:r>
            <a:endParaRPr lang="zh-CN" altLang="zh-CN" b="1">
              <a:sym typeface="+mn-ea"/>
            </a:endParaRPr>
          </a:p>
          <a:p>
            <a:pPr lvl="2"/>
            <a:r>
              <a:rPr lang="en-US" altLang="zh-CN" b="1">
                <a:sym typeface="+mn-ea"/>
              </a:rPr>
              <a:t>precision</a:t>
            </a:r>
            <a:r>
              <a:rPr lang="zh-CN" altLang="zh-CN" b="1">
                <a:sym typeface="+mn-ea"/>
              </a:rPr>
              <a:t>：分箱精度</a:t>
            </a:r>
            <a:endParaRPr lang="zh-CN" altLang="zh-CN" b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50010" y="4437380"/>
            <a:ext cx="1063879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[85]: data = np.random.rand(20)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[86]: pd.cut(data, 4, precision=2)</a:t>
            </a:r>
            <a:endParaRPr lang="zh-CN" altLang="en-US" sz="1400"/>
          </a:p>
          <a:p>
            <a:r>
              <a:rPr lang="zh-CN" altLang="en-US" sz="1400"/>
              <a:t>Out[86]: </a:t>
            </a:r>
            <a:endParaRPr lang="zh-CN" altLang="en-US" sz="1400"/>
          </a:p>
          <a:p>
            <a:r>
              <a:rPr lang="zh-CN" altLang="en-US" sz="1400"/>
              <a:t>[(0.34, 0.55], (0.34, 0.55], (0.76, 0.97], (0.76, 0.97], (0.34, 0.55], ..., (0.34, 0.55], (0.34, 0.55], (0.55, 0.76], (0.34, 0.55], (0.12, 0.34]]</a:t>
            </a:r>
            <a:endParaRPr lang="zh-CN" altLang="en-US" sz="1400"/>
          </a:p>
          <a:p>
            <a:r>
              <a:rPr lang="zh-CN" altLang="en-US" sz="1400"/>
              <a:t>Length: 20</a:t>
            </a:r>
            <a:endParaRPr lang="zh-CN" altLang="en-US" sz="1400"/>
          </a:p>
          <a:p>
            <a:r>
              <a:rPr lang="zh-CN" altLang="en-US" sz="1400"/>
              <a:t>Categories (4, interval[float64]): [(0.12, 0.34] &lt; (0.34, 0.55] &lt; (0.55, 0.76] &lt;(0.76, 0.97]]</a:t>
            </a:r>
            <a:endParaRPr lang="zh-CN" alt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7.2.5 离散化和</a:t>
            </a:r>
            <a:r>
              <a:rPr lang="zh-CN">
                <a:sym typeface="+mn-ea"/>
              </a:rPr>
              <a:t>分箱</a:t>
            </a:r>
            <a:endParaRPr 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31840" y="1341755"/>
            <a:ext cx="627380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[87]: data = np.random.randn(1000)  # Normally distributed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[88]: cats = pd.qcut(data, 4)  # Cut into quartiles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[89]: cats</a:t>
            </a:r>
            <a:endParaRPr lang="zh-CN" altLang="en-US" sz="1400"/>
          </a:p>
          <a:p>
            <a:r>
              <a:rPr lang="zh-CN" altLang="en-US" sz="1400"/>
              <a:t>Out[89]: </a:t>
            </a:r>
            <a:endParaRPr lang="zh-CN" altLang="en-US" sz="1400"/>
          </a:p>
          <a:p>
            <a:r>
              <a:rPr lang="zh-CN" altLang="en-US" sz="1400"/>
              <a:t>[(-0.0265, 0.62], (0.62, 3.928], (-0.68, -0.0265], (0.62, 3.928], (-0.0265, 0.62]</a:t>
            </a:r>
            <a:endParaRPr lang="zh-CN" altLang="en-US" sz="1400"/>
          </a:p>
          <a:p>
            <a:r>
              <a:rPr lang="zh-CN" altLang="en-US" sz="1400"/>
              <a:t>, ..., (-0.68, -0.0265], (-0.68, -0.0265], (-2.95, -0.68], (0.62, 3.928], (-0.68, -0.0265]]</a:t>
            </a:r>
            <a:endParaRPr lang="zh-CN" altLang="en-US" sz="1400"/>
          </a:p>
          <a:p>
            <a:r>
              <a:rPr lang="zh-CN" altLang="en-US" sz="1400"/>
              <a:t>Length: 1000</a:t>
            </a:r>
            <a:endParaRPr lang="zh-CN" altLang="en-US" sz="1400"/>
          </a:p>
          <a:p>
            <a:r>
              <a:rPr lang="zh-CN" altLang="en-US" sz="1400"/>
              <a:t>Categories (4, interval[float64]): [(-2.95, -0.68] &lt; (-0.68, -0.0265] &lt; (-0.0265, 0.62] &lt;(0.62, 3.928]]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[90]: pd.value_counts(cats)</a:t>
            </a:r>
            <a:endParaRPr lang="zh-CN" altLang="en-US" sz="1400"/>
          </a:p>
          <a:p>
            <a:r>
              <a:rPr lang="zh-CN" altLang="en-US" sz="1400"/>
              <a:t>Out[90]:</a:t>
            </a:r>
            <a:endParaRPr lang="zh-CN" altLang="en-US" sz="1400"/>
          </a:p>
          <a:p>
            <a:r>
              <a:rPr lang="zh-CN" altLang="en-US" sz="1400"/>
              <a:t>(0.62, 3.928]       250</a:t>
            </a:r>
            <a:endParaRPr lang="zh-CN" altLang="en-US" sz="1400"/>
          </a:p>
          <a:p>
            <a:r>
              <a:rPr lang="zh-CN" altLang="en-US" sz="1400"/>
              <a:t>(-0.0265, 0.62]     250</a:t>
            </a:r>
            <a:endParaRPr lang="zh-CN" altLang="en-US" sz="1400"/>
          </a:p>
          <a:p>
            <a:r>
              <a:rPr lang="zh-CN" altLang="en-US" sz="1400"/>
              <a:t>(-0.68, -0.0265]    250</a:t>
            </a:r>
            <a:endParaRPr lang="zh-CN" altLang="en-US" sz="1400"/>
          </a:p>
          <a:p>
            <a:r>
              <a:rPr lang="zh-CN" altLang="en-US" sz="1400"/>
              <a:t>(-2.95, -0.68]      250</a:t>
            </a:r>
            <a:endParaRPr lang="zh-CN" altLang="en-US" sz="1400"/>
          </a:p>
          <a:p>
            <a:r>
              <a:rPr lang="zh-CN" altLang="en-US" sz="1400"/>
              <a:t>dtype: int64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sz="1900" b="1">
                <a:sym typeface="+mn-ea"/>
              </a:rPr>
              <a:t>pd.qcut</a:t>
            </a:r>
            <a:endParaRPr lang="en-US" altLang="zh-CN" sz="1900" b="1"/>
          </a:p>
          <a:p>
            <a:pPr lvl="1"/>
            <a:r>
              <a:rPr lang="zh-CN" altLang="zh-CN" sz="1900" b="1">
                <a:sym typeface="+mn-ea"/>
              </a:rPr>
              <a:t>根据样本分位数对数据进行分箱</a:t>
            </a:r>
            <a:endParaRPr lang="en-US" altLang="zh-CN" b="1"/>
          </a:p>
          <a:p>
            <a:r>
              <a:rPr lang="zh-CN" altLang="zh-CN" b="1"/>
              <a:t>与</a:t>
            </a:r>
            <a:r>
              <a:rPr lang="en-US" altLang="zh-CN" b="1"/>
              <a:t>cut</a:t>
            </a:r>
            <a:r>
              <a:rPr lang="zh-CN" altLang="zh-CN" b="1"/>
              <a:t>区别：</a:t>
            </a:r>
            <a:endParaRPr lang="zh-CN" altLang="zh-CN" b="1"/>
          </a:p>
          <a:p>
            <a:pPr lvl="1"/>
            <a:r>
              <a:rPr lang="en-US" altLang="zh-CN" b="1"/>
              <a:t>cut</a:t>
            </a:r>
            <a:r>
              <a:rPr lang="zh-CN" altLang="zh-CN" b="1"/>
              <a:t>：根据极差进行均分</a:t>
            </a:r>
            <a:endParaRPr lang="en-US" altLang="zh-CN" b="1"/>
          </a:p>
          <a:p>
            <a:pPr lvl="1"/>
            <a:r>
              <a:rPr lang="en-US" altLang="zh-CN" b="1"/>
              <a:t>qcut</a:t>
            </a:r>
            <a:r>
              <a:rPr lang="zh-CN" altLang="zh-CN" b="1"/>
              <a:t>：根据数据的分布情况进行均分</a:t>
            </a:r>
            <a:endParaRPr lang="zh-CN" altLang="zh-CN" b="1"/>
          </a:p>
          <a:p>
            <a:pPr lvl="2"/>
            <a:endParaRPr lang="zh-CN" altLang="zh-CN" b="1"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7.2.5 离散化和</a:t>
            </a:r>
            <a:r>
              <a:rPr lang="zh-CN">
                <a:sym typeface="+mn-ea"/>
              </a:rPr>
              <a:t>分箱</a:t>
            </a:r>
            <a:endParaRPr 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8210" y="3573145"/>
            <a:ext cx="1067054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[91]: pd.qcut(data, [0, 0.1, 0.5, 0.9, 1.])</a:t>
            </a:r>
            <a:endParaRPr lang="zh-CN" altLang="en-US" sz="1400"/>
          </a:p>
          <a:p>
            <a:r>
              <a:rPr lang="zh-CN" altLang="en-US" sz="1400"/>
              <a:t>Out[91]: </a:t>
            </a:r>
            <a:endParaRPr lang="zh-CN" altLang="en-US" sz="1400"/>
          </a:p>
          <a:p>
            <a:r>
              <a:rPr lang="zh-CN" altLang="en-US" sz="1400"/>
              <a:t>[(-0.0265, 1.286], (-0.0265, 1.286], (-1.187, -0.0265], (-0.0265, 1.286], (-0.0265, 1.286], ..., (-1.187, -0.0265], (-1.187, -0.0265], (-2.95, -1.187], (-0.0265,1.286], (-1.187, -0.0265]]</a:t>
            </a:r>
            <a:endParaRPr lang="zh-CN" altLang="en-US" sz="1400"/>
          </a:p>
          <a:p>
            <a:r>
              <a:rPr lang="zh-CN" altLang="en-US" sz="1400"/>
              <a:t>Length: 1000</a:t>
            </a:r>
            <a:endParaRPr lang="zh-CN" altLang="en-US" sz="1400"/>
          </a:p>
          <a:p>
            <a:r>
              <a:rPr lang="zh-CN" altLang="en-US" sz="1400"/>
              <a:t>Categories (4, interval[float64]): [(-2.95, -1.187] &lt; (-1.187, -0.0265] &lt; (-0.0265, 1.286] &lt; (1.286, 3.928]]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sz="1900" b="1">
                <a:sym typeface="+mn-ea"/>
              </a:rPr>
              <a:t>pd.qcut</a:t>
            </a:r>
            <a:endParaRPr lang="en-US" altLang="zh-CN" sz="1900" b="1"/>
          </a:p>
          <a:p>
            <a:pPr lvl="1"/>
            <a:r>
              <a:rPr lang="zh-CN" altLang="zh-CN" b="1">
                <a:sym typeface="+mn-ea"/>
              </a:rPr>
              <a:t>自定义的分位数</a:t>
            </a:r>
            <a:endParaRPr lang="zh-CN" altLang="zh-CN" b="1">
              <a:sym typeface="+mn-ea"/>
            </a:endParaRPr>
          </a:p>
          <a:p>
            <a:pPr lvl="1"/>
            <a:r>
              <a:rPr lang="zh-CN" altLang="zh-CN" b="1">
                <a:sym typeface="+mn-ea"/>
              </a:rPr>
              <a:t>0到1之间的数值，包含端点</a:t>
            </a:r>
            <a:endParaRPr lang="zh-CN" altLang="zh-CN" b="1"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7.2.6 检测和过滤异常值</a:t>
            </a:r>
            <a:endParaRPr 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78295" y="1838960"/>
            <a:ext cx="531749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[92]: data = pd.DataFrame(np.random.randn(1000, 4))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[93]: data.describe()</a:t>
            </a:r>
            <a:endParaRPr lang="zh-CN" altLang="en-US" sz="1400"/>
          </a:p>
          <a:p>
            <a:r>
              <a:rPr lang="zh-CN" altLang="en-US" sz="1400"/>
              <a:t>Out[93]: </a:t>
            </a:r>
            <a:endParaRPr lang="zh-CN" altLang="en-US" sz="1400"/>
          </a:p>
          <a:p>
            <a:r>
              <a:rPr lang="zh-CN" altLang="en-US" sz="1400"/>
              <a:t>                 0            1            2            3</a:t>
            </a:r>
            <a:endParaRPr lang="zh-CN" altLang="en-US" sz="1400"/>
          </a:p>
          <a:p>
            <a:r>
              <a:rPr lang="zh-CN" altLang="en-US" sz="1400"/>
              <a:t>count  1000.000000  1000.000000  1000.000000  1000.000000</a:t>
            </a:r>
            <a:endParaRPr lang="zh-CN" altLang="en-US" sz="1400"/>
          </a:p>
          <a:p>
            <a:r>
              <a:rPr lang="zh-CN" altLang="en-US" sz="1400"/>
              <a:t>mean      0.049091     0.026112    -0.002544    -0.051827</a:t>
            </a:r>
            <a:endParaRPr lang="zh-CN" altLang="en-US" sz="1400"/>
          </a:p>
          <a:p>
            <a:r>
              <a:rPr lang="zh-CN" altLang="en-US" sz="1400"/>
              <a:t>std       0.996947     1.007458     0.995232     0.998311</a:t>
            </a:r>
            <a:endParaRPr lang="zh-CN" altLang="en-US" sz="1400"/>
          </a:p>
          <a:p>
            <a:r>
              <a:rPr lang="zh-CN" altLang="en-US" sz="1400"/>
              <a:t>min      -3.645860    -3.184377    -3.745356    -3.428254</a:t>
            </a:r>
            <a:endParaRPr lang="zh-CN" altLang="en-US" sz="1400"/>
          </a:p>
          <a:p>
            <a:r>
              <a:rPr lang="zh-CN" altLang="en-US" sz="1400"/>
              <a:t>25%      -0.599807    -0.612162    -0.687373    -0.747478</a:t>
            </a:r>
            <a:endParaRPr lang="zh-CN" altLang="en-US" sz="1400"/>
          </a:p>
          <a:p>
            <a:r>
              <a:rPr lang="zh-CN" altLang="en-US" sz="1400"/>
              <a:t>50%       0.047101    -0.013609    -0.022158    -0.088274</a:t>
            </a:r>
            <a:endParaRPr lang="zh-CN" altLang="en-US" sz="1400"/>
          </a:p>
          <a:p>
            <a:r>
              <a:rPr lang="zh-CN" altLang="en-US" sz="1400"/>
              <a:t>75%       0.756646     0.695298     0.699046     0.623331</a:t>
            </a:r>
            <a:endParaRPr lang="zh-CN" altLang="en-US" sz="1400"/>
          </a:p>
          <a:p>
            <a:r>
              <a:rPr lang="zh-CN" altLang="en-US" sz="1400"/>
              <a:t>max       2.653656     3.525865     2.735527     3.366626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[94]: col = data[2]</a:t>
            </a:r>
            <a:endParaRPr lang="zh-CN" altLang="en-US" sz="1400"/>
          </a:p>
          <a:p>
            <a:r>
              <a:rPr lang="zh-CN" altLang="en-US" sz="1400"/>
              <a:t>In [95]: col[np.abs(col) &gt; 3]</a:t>
            </a:r>
            <a:endParaRPr lang="zh-CN" altLang="en-US" sz="1400"/>
          </a:p>
          <a:p>
            <a:r>
              <a:rPr lang="zh-CN" altLang="en-US" sz="1400"/>
              <a:t>Out[95]: </a:t>
            </a:r>
            <a:endParaRPr lang="zh-CN" altLang="en-US" sz="1400"/>
          </a:p>
          <a:p>
            <a:r>
              <a:rPr lang="zh-CN" altLang="en-US" sz="1400"/>
              <a:t>41    -3.399312</a:t>
            </a:r>
            <a:endParaRPr lang="zh-CN" altLang="en-US" sz="1400"/>
          </a:p>
          <a:p>
            <a:r>
              <a:rPr lang="zh-CN" altLang="en-US" sz="1400"/>
              <a:t>136   -3.745356</a:t>
            </a:r>
            <a:endParaRPr lang="zh-CN" altLang="en-US" sz="1400"/>
          </a:p>
          <a:p>
            <a:r>
              <a:rPr lang="zh-CN" altLang="en-US" sz="1400"/>
              <a:t>Name: 2, dtype: float64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sz="1900" b="1">
                <a:sym typeface="+mn-ea"/>
              </a:rPr>
              <a:t>过滤或变换异常值（outlier）在很大程度上就是运用数组运算</a:t>
            </a:r>
            <a:endParaRPr lang="en-US" altLang="zh-CN" sz="1900" b="1">
              <a:sym typeface="+mn-ea"/>
            </a:endParaRPr>
          </a:p>
          <a:p>
            <a:pPr lvl="1"/>
            <a:r>
              <a:rPr lang="zh-CN" altLang="en-US" sz="1700" b="1">
                <a:sym typeface="+mn-ea"/>
              </a:rPr>
              <a:t>示例</a:t>
            </a:r>
            <a:endParaRPr lang="zh-CN" altLang="en-US" sz="1700" b="1">
              <a:sym typeface="+mn-ea"/>
            </a:endParaRPr>
          </a:p>
          <a:p>
            <a:pPr lvl="2"/>
            <a:r>
              <a:rPr lang="zh-CN" altLang="en-US" sz="1400" b="1">
                <a:sym typeface="+mn-ea"/>
              </a:rPr>
              <a:t>找出某列中绝对值大小超过3的值</a:t>
            </a:r>
            <a:endParaRPr lang="zh-CN" altLang="en-US" sz="1400" b="1">
              <a:sym typeface="+mn-ea"/>
            </a:endParaRPr>
          </a:p>
          <a:p>
            <a:pPr lvl="2"/>
            <a:r>
              <a:rPr lang="zh-CN" altLang="en-US" sz="1400" b="1">
                <a:sym typeface="+mn-ea"/>
              </a:rPr>
              <a:t>找出绝对值超过</a:t>
            </a:r>
            <a:r>
              <a:rPr lang="en-US" altLang="zh-CN" sz="1400" b="1">
                <a:sym typeface="+mn-ea"/>
              </a:rPr>
              <a:t>3</a:t>
            </a:r>
            <a:r>
              <a:rPr lang="zh-CN" altLang="en-US" sz="1400" b="1">
                <a:sym typeface="+mn-ea"/>
              </a:rPr>
              <a:t>的值所在的行数据</a:t>
            </a:r>
            <a:endParaRPr lang="zh-CN" altLang="en-US" sz="1400" b="1">
              <a:sym typeface="+mn-ea"/>
            </a:endParaRPr>
          </a:p>
          <a:p>
            <a:pPr lvl="1"/>
            <a:endParaRPr lang="zh-CN" altLang="en-US" sz="1700" b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25955" y="3213735"/>
            <a:ext cx="445262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[96]: data[(np.abs(data) &gt; 3).any(1)]</a:t>
            </a:r>
            <a:endParaRPr lang="zh-CN" altLang="en-US" sz="1400"/>
          </a:p>
          <a:p>
            <a:r>
              <a:rPr lang="zh-CN" altLang="en-US" sz="1400"/>
              <a:t>Out[96]: </a:t>
            </a:r>
            <a:endParaRPr lang="zh-CN" altLang="en-US" sz="1400"/>
          </a:p>
          <a:p>
            <a:r>
              <a:rPr lang="zh-CN" altLang="en-US" sz="1400"/>
              <a:t>            0         1         2         3</a:t>
            </a:r>
            <a:endParaRPr lang="zh-CN" altLang="en-US" sz="1400"/>
          </a:p>
          <a:p>
            <a:r>
              <a:rPr lang="zh-CN" altLang="en-US" sz="1400"/>
              <a:t>41   0.457246 -0.025907 -3.399312 -0.974657</a:t>
            </a:r>
            <a:endParaRPr lang="zh-CN" altLang="en-US" sz="1400"/>
          </a:p>
          <a:p>
            <a:r>
              <a:rPr lang="zh-CN" altLang="en-US" sz="1400"/>
              <a:t>60   1.951312  3.260383  0.963301  1.201206</a:t>
            </a:r>
            <a:endParaRPr lang="zh-CN" altLang="en-US" sz="1400"/>
          </a:p>
          <a:p>
            <a:r>
              <a:rPr lang="zh-CN" altLang="en-US" sz="1400"/>
              <a:t>136  0.508391 -0.196713 -3.745356 -1.520113</a:t>
            </a:r>
            <a:endParaRPr lang="zh-CN" altLang="en-US" sz="1400"/>
          </a:p>
          <a:p>
            <a:r>
              <a:rPr lang="zh-CN" altLang="en-US" sz="1400"/>
              <a:t>235 -0.242459 -3.056990  1.918403 -0.578828</a:t>
            </a:r>
            <a:endParaRPr lang="zh-CN" altLang="en-US" sz="1400"/>
          </a:p>
          <a:p>
            <a:r>
              <a:rPr lang="zh-CN" altLang="en-US" sz="1400"/>
              <a:t>258  0.682841  0.326045  0.425384 -3.428254</a:t>
            </a:r>
            <a:endParaRPr lang="zh-CN" altLang="en-US" sz="1400"/>
          </a:p>
          <a:p>
            <a:r>
              <a:rPr lang="zh-CN" altLang="en-US" sz="1400"/>
              <a:t>322  1.179227 -3.184377  1.369891 -1.074833</a:t>
            </a:r>
            <a:endParaRPr lang="zh-CN" altLang="en-US" sz="1400"/>
          </a:p>
          <a:p>
            <a:r>
              <a:rPr lang="zh-CN" altLang="en-US" sz="1400"/>
              <a:t>544 -3.548824  1.553205 -2.186301  1.277104</a:t>
            </a:r>
            <a:endParaRPr lang="zh-CN" altLang="en-US" sz="1400"/>
          </a:p>
          <a:p>
            <a:r>
              <a:rPr lang="zh-CN" altLang="en-US" sz="1400"/>
              <a:t>635 -0.578093  0.193299  1.397822  3.366626</a:t>
            </a:r>
            <a:endParaRPr lang="zh-CN" altLang="en-US" sz="1400"/>
          </a:p>
          <a:p>
            <a:r>
              <a:rPr lang="zh-CN" altLang="en-US" sz="1400"/>
              <a:t>782 -0.207434  3.525865  0.283070  0.544635</a:t>
            </a:r>
            <a:endParaRPr lang="zh-CN" altLang="en-US" sz="1400"/>
          </a:p>
          <a:p>
            <a:r>
              <a:rPr lang="zh-CN" altLang="en-US" sz="1400"/>
              <a:t>803 -3.645860  0.255475 -0.549574 -1.907459</a:t>
            </a:r>
            <a:endParaRPr lang="zh-CN" altLang="en-US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7.2.6 检测和过滤异常值</a:t>
            </a:r>
            <a:endParaRPr 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78295" y="1845310"/>
            <a:ext cx="531749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[97]: data[np.abs(data) &gt; 3] = np.sign(data) * 3</a:t>
            </a:r>
            <a:endParaRPr lang="zh-CN" altLang="en-US" sz="1400"/>
          </a:p>
          <a:p>
            <a:r>
              <a:rPr lang="zh-CN" altLang="en-US" sz="1400"/>
              <a:t>In [98]: data.describe()</a:t>
            </a:r>
            <a:endParaRPr lang="zh-CN" altLang="en-US" sz="1400"/>
          </a:p>
          <a:p>
            <a:r>
              <a:rPr lang="zh-CN" altLang="en-US" sz="1400"/>
              <a:t>Out[98]: </a:t>
            </a:r>
            <a:endParaRPr lang="zh-CN" altLang="en-US" sz="1400"/>
          </a:p>
          <a:p>
            <a:r>
              <a:rPr lang="zh-CN" altLang="en-US" sz="1400"/>
              <a:t>                 0            1            2            3</a:t>
            </a:r>
            <a:endParaRPr lang="zh-CN" altLang="en-US" sz="1400"/>
          </a:p>
          <a:p>
            <a:r>
              <a:rPr lang="zh-CN" altLang="en-US" sz="1400"/>
              <a:t>count  1000.000000  1000.000000  1000.000000  1000.000000</a:t>
            </a:r>
            <a:endParaRPr lang="zh-CN" altLang="en-US" sz="1400"/>
          </a:p>
          <a:p>
            <a:r>
              <a:rPr lang="zh-CN" altLang="en-US" sz="1400"/>
              <a:t>mean      0.050286     0.025567    -0.001399    -0.051765</a:t>
            </a:r>
            <a:endParaRPr lang="zh-CN" altLang="en-US" sz="1400"/>
          </a:p>
          <a:p>
            <a:r>
              <a:rPr lang="zh-CN" altLang="en-US" sz="1400"/>
              <a:t>std       0.992920     1.004214     0.991414     0.995761</a:t>
            </a:r>
            <a:endParaRPr lang="zh-CN" altLang="en-US" sz="1400"/>
          </a:p>
          <a:p>
            <a:r>
              <a:rPr lang="zh-CN" altLang="en-US" sz="1400"/>
              <a:t>min      -3.000000    -3.000000    -3.000000    -3.000000</a:t>
            </a:r>
            <a:endParaRPr lang="zh-CN" altLang="en-US" sz="1400"/>
          </a:p>
          <a:p>
            <a:r>
              <a:rPr lang="zh-CN" altLang="en-US" sz="1400"/>
              <a:t>25%      -0.599807    -0.612162    -0.687373    -0.747478</a:t>
            </a:r>
            <a:endParaRPr lang="zh-CN" altLang="en-US" sz="1400"/>
          </a:p>
          <a:p>
            <a:r>
              <a:rPr lang="zh-CN" altLang="en-US" sz="1400"/>
              <a:t>50%       0.047101    -0.013609    -0.022158    -0.088274</a:t>
            </a:r>
            <a:endParaRPr lang="zh-CN" altLang="en-US" sz="1400"/>
          </a:p>
          <a:p>
            <a:r>
              <a:rPr lang="zh-CN" altLang="en-US" sz="1400"/>
              <a:t>75%       0.756646     0.695298     0.699046     0.623331</a:t>
            </a:r>
            <a:endParaRPr lang="zh-CN" altLang="en-US" sz="1400"/>
          </a:p>
          <a:p>
            <a:r>
              <a:rPr lang="zh-CN" altLang="en-US" sz="1400"/>
              <a:t>max       2.653656     3.000000     2.735527     3.000000</a:t>
            </a:r>
            <a:endParaRPr lang="zh-CN" altLang="en-US" sz="1400"/>
          </a:p>
          <a:p>
            <a:r>
              <a:rPr lang="zh-CN" altLang="en-US" sz="1400"/>
              <a:t>In [99]: np.sign(data).head()</a:t>
            </a:r>
            <a:endParaRPr lang="zh-CN" altLang="en-US" sz="1400"/>
          </a:p>
          <a:p>
            <a:r>
              <a:rPr lang="zh-CN" altLang="en-US" sz="1400"/>
              <a:t>Out[99]: </a:t>
            </a:r>
            <a:endParaRPr lang="zh-CN" altLang="en-US" sz="1400"/>
          </a:p>
          <a:p>
            <a:r>
              <a:rPr lang="zh-CN" altLang="en-US" sz="1400"/>
              <a:t>     0    1    2    3</a:t>
            </a:r>
            <a:endParaRPr lang="zh-CN" altLang="en-US" sz="1400"/>
          </a:p>
          <a:p>
            <a:r>
              <a:rPr lang="zh-CN" altLang="en-US" sz="1400"/>
              <a:t>0 -1.0  1.0 -1.0  1.0</a:t>
            </a:r>
            <a:endParaRPr lang="zh-CN" altLang="en-US" sz="1400"/>
          </a:p>
          <a:p>
            <a:r>
              <a:rPr lang="zh-CN" altLang="en-US" sz="1400"/>
              <a:t>1  1.0 -1.0  1.0 -1.0</a:t>
            </a:r>
            <a:endParaRPr lang="zh-CN" altLang="en-US" sz="1400"/>
          </a:p>
          <a:p>
            <a:r>
              <a:rPr lang="zh-CN" altLang="en-US" sz="1400"/>
              <a:t>2  1.0  1.0  1.0 -1.0</a:t>
            </a:r>
            <a:endParaRPr lang="zh-CN" altLang="en-US" sz="1400"/>
          </a:p>
          <a:p>
            <a:r>
              <a:rPr lang="zh-CN" altLang="en-US" sz="1400"/>
              <a:t>3 -1.0 -1.0  1.0 -1.0</a:t>
            </a:r>
            <a:endParaRPr lang="zh-CN" altLang="en-US" sz="1400"/>
          </a:p>
          <a:p>
            <a:r>
              <a:rPr lang="zh-CN" altLang="en-US" sz="1400"/>
              <a:t>4 -1.0  1.0 -1.0 -1.0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sz="1900" b="1">
                <a:sym typeface="+mn-ea"/>
              </a:rPr>
              <a:t>过滤或变换异常值（outlier）在很大程度上就是运用数组运算</a:t>
            </a:r>
            <a:endParaRPr lang="en-US" altLang="zh-CN" sz="1900" b="1">
              <a:sym typeface="+mn-ea"/>
            </a:endParaRPr>
          </a:p>
          <a:p>
            <a:pPr lvl="1"/>
            <a:r>
              <a:rPr lang="zh-CN" altLang="en-US" sz="1700" b="1">
                <a:sym typeface="+mn-ea"/>
              </a:rPr>
              <a:t>示例</a:t>
            </a:r>
            <a:endParaRPr lang="zh-CN" altLang="en-US" sz="1700" b="1">
              <a:sym typeface="+mn-ea"/>
            </a:endParaRPr>
          </a:p>
          <a:p>
            <a:pPr lvl="2"/>
            <a:r>
              <a:rPr lang="zh-CN" altLang="en-US" sz="1700" b="1">
                <a:sym typeface="+mn-ea"/>
              </a:rPr>
              <a:t>将数据限制在【</a:t>
            </a:r>
            <a:r>
              <a:rPr lang="en-US" altLang="zh-CN" sz="1700" b="1">
                <a:sym typeface="+mn-ea"/>
              </a:rPr>
              <a:t>-3</a:t>
            </a:r>
            <a:r>
              <a:rPr lang="zh-CN" altLang="en-US" sz="1700" b="1">
                <a:sym typeface="+mn-ea"/>
              </a:rPr>
              <a:t>，</a:t>
            </a:r>
            <a:r>
              <a:rPr lang="en-US" altLang="zh-CN" sz="1700" b="1">
                <a:sym typeface="+mn-ea"/>
              </a:rPr>
              <a:t> 3</a:t>
            </a:r>
            <a:r>
              <a:rPr lang="zh-CN" altLang="en-US" sz="1700" b="1">
                <a:sym typeface="+mn-ea"/>
              </a:rPr>
              <a:t>】</a:t>
            </a:r>
            <a:endParaRPr lang="en-US" altLang="zh-CN" sz="1700" b="1">
              <a:sym typeface="+mn-ea"/>
            </a:endParaRPr>
          </a:p>
          <a:p>
            <a:pPr lvl="1"/>
            <a:r>
              <a:rPr lang="zh-CN" altLang="en-US" sz="1700" b="1">
                <a:sym typeface="+mn-ea"/>
              </a:rPr>
              <a:t>np.sign(data)可以生成1、</a:t>
            </a:r>
            <a:r>
              <a:rPr lang="en-US" altLang="zh-CN" sz="1700" b="1">
                <a:sym typeface="+mn-ea"/>
              </a:rPr>
              <a:t>0</a:t>
            </a:r>
            <a:r>
              <a:rPr lang="zh-CN" altLang="en-US" sz="1700" b="1">
                <a:sym typeface="+mn-ea"/>
              </a:rPr>
              <a:t>或-1</a:t>
            </a:r>
            <a:endParaRPr lang="zh-CN" altLang="en-US" sz="1700" b="1">
              <a:sym typeface="+mn-ea"/>
            </a:endParaRPr>
          </a:p>
          <a:p>
            <a:pPr lvl="1"/>
            <a:endParaRPr lang="en-US" altLang="zh-CN" sz="1400" b="1"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7.2.7 排列和随机采样</a:t>
            </a:r>
            <a:endParaRPr 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50050" y="1197610"/>
            <a:ext cx="5240655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[100]: df = pd.DataFrame(np.arange(5 * 4).reshape((5, 4)))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[101]: sampler = np.random.permutation(5)</a:t>
            </a:r>
            <a:endParaRPr lang="zh-CN" altLang="en-US" sz="1400"/>
          </a:p>
          <a:p>
            <a:r>
              <a:rPr lang="zh-CN" altLang="en-US" sz="1400"/>
              <a:t>In [102]: sampler</a:t>
            </a:r>
            <a:endParaRPr lang="zh-CN" altLang="en-US" sz="1400"/>
          </a:p>
          <a:p>
            <a:r>
              <a:rPr lang="zh-CN" altLang="en-US" sz="1400"/>
              <a:t>Out[102]: array([3, 1, 4, 2, 0])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[103]: df</a:t>
            </a:r>
            <a:endParaRPr lang="zh-CN" altLang="en-US" sz="1400"/>
          </a:p>
          <a:p>
            <a:r>
              <a:rPr lang="zh-CN" altLang="en-US" sz="1400"/>
              <a:t>Out[103]: </a:t>
            </a:r>
            <a:endParaRPr lang="zh-CN" altLang="en-US" sz="1400"/>
          </a:p>
          <a:p>
            <a:r>
              <a:rPr lang="zh-CN" altLang="en-US" sz="1400"/>
              <a:t>    0   1   2   3</a:t>
            </a:r>
            <a:endParaRPr lang="zh-CN" altLang="en-US" sz="1400"/>
          </a:p>
          <a:p>
            <a:r>
              <a:rPr lang="zh-CN" altLang="en-US" sz="1400"/>
              <a:t>0   0   1   2   3</a:t>
            </a:r>
            <a:endParaRPr lang="zh-CN" altLang="en-US" sz="1400"/>
          </a:p>
          <a:p>
            <a:r>
              <a:rPr lang="zh-CN" altLang="en-US" sz="1400"/>
              <a:t>1   4   5   6   7</a:t>
            </a:r>
            <a:endParaRPr lang="zh-CN" altLang="en-US" sz="1400"/>
          </a:p>
          <a:p>
            <a:r>
              <a:rPr lang="zh-CN" altLang="en-US" sz="1400"/>
              <a:t>2   8   9  10  11</a:t>
            </a:r>
            <a:endParaRPr lang="zh-CN" altLang="en-US" sz="1400"/>
          </a:p>
          <a:p>
            <a:r>
              <a:rPr lang="zh-CN" altLang="en-US" sz="1400"/>
              <a:t>3  12  13  14  15</a:t>
            </a:r>
            <a:endParaRPr lang="zh-CN" altLang="en-US" sz="1400"/>
          </a:p>
          <a:p>
            <a:r>
              <a:rPr lang="zh-CN" altLang="en-US" sz="1400"/>
              <a:t>4  16  17  18  19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[104]: df.take(sampler)</a:t>
            </a:r>
            <a:endParaRPr lang="zh-CN" altLang="en-US" sz="1400"/>
          </a:p>
          <a:p>
            <a:r>
              <a:rPr lang="zh-CN" altLang="en-US" sz="1400"/>
              <a:t>Out[104]: </a:t>
            </a:r>
            <a:endParaRPr lang="zh-CN" altLang="en-US" sz="1400"/>
          </a:p>
          <a:p>
            <a:r>
              <a:rPr lang="zh-CN" altLang="en-US" sz="1400"/>
              <a:t>    0   1   2   3</a:t>
            </a:r>
            <a:endParaRPr lang="zh-CN" altLang="en-US" sz="1400"/>
          </a:p>
          <a:p>
            <a:r>
              <a:rPr lang="zh-CN" altLang="en-US" sz="1400"/>
              <a:t>3  12  13  14  15</a:t>
            </a:r>
            <a:endParaRPr lang="zh-CN" altLang="en-US" sz="1400"/>
          </a:p>
          <a:p>
            <a:r>
              <a:rPr lang="zh-CN" altLang="en-US" sz="1400"/>
              <a:t>1   4   5   6   7</a:t>
            </a:r>
            <a:endParaRPr lang="zh-CN" altLang="en-US" sz="1400"/>
          </a:p>
          <a:p>
            <a:r>
              <a:rPr lang="zh-CN" altLang="en-US" sz="1400"/>
              <a:t>4  16  17  18  19</a:t>
            </a:r>
            <a:endParaRPr lang="zh-CN" altLang="en-US" sz="1400"/>
          </a:p>
          <a:p>
            <a:r>
              <a:rPr lang="zh-CN" altLang="en-US" sz="1400"/>
              <a:t>2   8   9  10  11</a:t>
            </a:r>
            <a:endParaRPr lang="zh-CN" altLang="en-US" sz="1400"/>
          </a:p>
          <a:p>
            <a:r>
              <a:rPr lang="zh-CN" altLang="en-US" sz="1400"/>
              <a:t>0   0   1   2   3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sz="1900" b="1">
                <a:sym typeface="+mn-ea"/>
              </a:rPr>
              <a:t>随机重排序permutation</a:t>
            </a:r>
            <a:endParaRPr lang="en-US" altLang="zh-CN" sz="1900" b="1">
              <a:sym typeface="+mn-ea"/>
            </a:endParaRPr>
          </a:p>
          <a:p>
            <a:pPr lvl="1"/>
            <a:r>
              <a:rPr lang="zh-CN" altLang="en-US" sz="1700" b="1">
                <a:sym typeface="+mn-ea"/>
              </a:rPr>
              <a:t>传递轴长，返回随机顺序的整数数组</a:t>
            </a:r>
            <a:endParaRPr lang="zh-CN" altLang="en-US" sz="1900" b="1"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7.2.7 排列和随机采样</a:t>
            </a:r>
            <a:endParaRPr 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50050" y="1197610"/>
            <a:ext cx="5240655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[105]: df.sample(n=3)</a:t>
            </a:r>
            <a:endParaRPr lang="zh-CN" altLang="en-US" sz="1400"/>
          </a:p>
          <a:p>
            <a:r>
              <a:rPr lang="zh-CN" altLang="en-US" sz="1400"/>
              <a:t>Out[105]: </a:t>
            </a:r>
            <a:endParaRPr lang="zh-CN" altLang="en-US" sz="1400"/>
          </a:p>
          <a:p>
            <a:r>
              <a:rPr lang="zh-CN" altLang="en-US" sz="1400"/>
              <a:t>    0   1   2   3</a:t>
            </a:r>
            <a:endParaRPr lang="zh-CN" altLang="en-US" sz="1400"/>
          </a:p>
          <a:p>
            <a:r>
              <a:rPr lang="zh-CN" altLang="en-US" sz="1400"/>
              <a:t>3  12  13  14  15</a:t>
            </a:r>
            <a:endParaRPr lang="zh-CN" altLang="en-US" sz="1400"/>
          </a:p>
          <a:p>
            <a:r>
              <a:rPr lang="zh-CN" altLang="en-US" sz="1400"/>
              <a:t>4  16  17  18  19</a:t>
            </a:r>
            <a:endParaRPr lang="zh-CN" altLang="en-US" sz="1400"/>
          </a:p>
          <a:p>
            <a:r>
              <a:rPr lang="zh-CN" altLang="en-US" sz="1400"/>
              <a:t>2   8   9  10  11</a:t>
            </a:r>
            <a:endParaRPr lang="zh-CN" altLang="en-US" sz="1400"/>
          </a:p>
          <a:p>
            <a:r>
              <a:rPr lang="zh-CN" altLang="en-US" sz="1400"/>
              <a:t>In [106]: choices = pd.Series([5, 7, -1, 6, 4])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[107]: draws = choices.sample(n=10, replace=True)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[108]: draws</a:t>
            </a:r>
            <a:endParaRPr lang="zh-CN" altLang="en-US" sz="1400"/>
          </a:p>
          <a:p>
            <a:r>
              <a:rPr lang="zh-CN" altLang="en-US" sz="1400"/>
              <a:t>Out[108]: </a:t>
            </a:r>
            <a:endParaRPr lang="zh-CN" altLang="en-US" sz="1400"/>
          </a:p>
          <a:p>
            <a:r>
              <a:rPr lang="zh-CN" altLang="en-US" sz="1400"/>
              <a:t>4    4</a:t>
            </a:r>
            <a:endParaRPr lang="zh-CN" altLang="en-US" sz="1400"/>
          </a:p>
          <a:p>
            <a:r>
              <a:rPr lang="zh-CN" altLang="en-US" sz="1400"/>
              <a:t>1    7</a:t>
            </a:r>
            <a:endParaRPr lang="zh-CN" altLang="en-US" sz="1400"/>
          </a:p>
          <a:p>
            <a:r>
              <a:rPr lang="zh-CN" altLang="en-US" sz="1400"/>
              <a:t>4    4</a:t>
            </a:r>
            <a:endParaRPr lang="zh-CN" altLang="en-US" sz="1400"/>
          </a:p>
          <a:p>
            <a:r>
              <a:rPr lang="zh-CN" altLang="en-US" sz="1400"/>
              <a:t>2   -1</a:t>
            </a:r>
            <a:endParaRPr lang="zh-CN" altLang="en-US" sz="1400"/>
          </a:p>
          <a:p>
            <a:r>
              <a:rPr lang="zh-CN" altLang="en-US" sz="1400"/>
              <a:t>0    5</a:t>
            </a:r>
            <a:endParaRPr lang="zh-CN" altLang="en-US" sz="1400"/>
          </a:p>
          <a:p>
            <a:r>
              <a:rPr lang="zh-CN" altLang="en-US" sz="1400"/>
              <a:t>3    6</a:t>
            </a:r>
            <a:endParaRPr lang="zh-CN" altLang="en-US" sz="1400"/>
          </a:p>
          <a:p>
            <a:r>
              <a:rPr lang="zh-CN" altLang="en-US" sz="1400"/>
              <a:t>1    7</a:t>
            </a:r>
            <a:endParaRPr lang="zh-CN" altLang="en-US" sz="1400"/>
          </a:p>
          <a:p>
            <a:r>
              <a:rPr lang="zh-CN" altLang="en-US" sz="1400"/>
              <a:t>4    4</a:t>
            </a:r>
            <a:endParaRPr lang="zh-CN" altLang="en-US" sz="1400"/>
          </a:p>
          <a:p>
            <a:r>
              <a:rPr lang="zh-CN" altLang="en-US" sz="1400"/>
              <a:t>0    5</a:t>
            </a:r>
            <a:endParaRPr lang="zh-CN" altLang="en-US" sz="1400"/>
          </a:p>
          <a:p>
            <a:r>
              <a:rPr lang="zh-CN" altLang="en-US" sz="1400"/>
              <a:t>4    4</a:t>
            </a:r>
            <a:endParaRPr lang="zh-CN" altLang="en-US" sz="1400"/>
          </a:p>
          <a:p>
            <a:r>
              <a:rPr lang="zh-CN" altLang="en-US" sz="1400"/>
              <a:t>dtype: int64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 sz="1900" b="1">
                <a:sym typeface="+mn-ea"/>
              </a:rPr>
              <a:t>抽样sample</a:t>
            </a:r>
            <a:endParaRPr lang="zh-CN" altLang="en-US" sz="1900" b="1"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7.2.8  </a:t>
            </a:r>
            <a:r>
              <a:rPr lang="zh-CN">
                <a:sym typeface="+mn-ea"/>
              </a:rPr>
              <a:t>计算指标</a:t>
            </a:r>
            <a:r>
              <a:rPr lang="en-US" altLang="zh-CN">
                <a:sym typeface="+mn-ea"/>
              </a:rPr>
              <a:t>/</a:t>
            </a:r>
            <a:r>
              <a:rPr lang="zh-CN" altLang="zh-CN">
                <a:sym typeface="+mn-ea"/>
              </a:rPr>
              <a:t>虚拟变量</a:t>
            </a:r>
            <a:endParaRPr lang="zh-CN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94195" y="2485390"/>
            <a:ext cx="472694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[109]: df = pd.DataFrame({'key': ['b', 'b', 'a', 'c', 'a', 'b'],</a:t>
            </a:r>
            <a:endParaRPr lang="zh-CN" altLang="en-US" sz="1400"/>
          </a:p>
          <a:p>
            <a:r>
              <a:rPr lang="zh-CN" altLang="en-US" sz="1400"/>
              <a:t>   .....:                    'data1': range(6)})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[110]: pd.get_dummies(df['key'])</a:t>
            </a:r>
            <a:endParaRPr lang="zh-CN" altLang="en-US" sz="1400"/>
          </a:p>
          <a:p>
            <a:r>
              <a:rPr lang="zh-CN" altLang="en-US" sz="1400"/>
              <a:t>Out[110]: </a:t>
            </a:r>
            <a:endParaRPr lang="zh-CN" altLang="en-US" sz="1400"/>
          </a:p>
          <a:p>
            <a:r>
              <a:rPr lang="zh-CN" altLang="en-US" sz="1400"/>
              <a:t>   a  b  c</a:t>
            </a:r>
            <a:endParaRPr lang="zh-CN" altLang="en-US" sz="1400"/>
          </a:p>
          <a:p>
            <a:r>
              <a:rPr lang="zh-CN" altLang="en-US" sz="1400"/>
              <a:t>0  0  1  0</a:t>
            </a:r>
            <a:endParaRPr lang="zh-CN" altLang="en-US" sz="1400"/>
          </a:p>
          <a:p>
            <a:r>
              <a:rPr lang="zh-CN" altLang="en-US" sz="1400"/>
              <a:t>1  0  1  0</a:t>
            </a:r>
            <a:endParaRPr lang="zh-CN" altLang="en-US" sz="1400"/>
          </a:p>
          <a:p>
            <a:r>
              <a:rPr lang="zh-CN" altLang="en-US" sz="1400"/>
              <a:t>2  1  0  0</a:t>
            </a:r>
            <a:endParaRPr lang="zh-CN" altLang="en-US" sz="1400"/>
          </a:p>
          <a:p>
            <a:r>
              <a:rPr lang="zh-CN" altLang="en-US" sz="1400"/>
              <a:t>3  0  0  1</a:t>
            </a:r>
            <a:endParaRPr lang="zh-CN" altLang="en-US" sz="1400"/>
          </a:p>
          <a:p>
            <a:r>
              <a:rPr lang="zh-CN" altLang="en-US" sz="1400"/>
              <a:t>4  1  0  0</a:t>
            </a:r>
            <a:endParaRPr lang="zh-CN" altLang="en-US" sz="1400"/>
          </a:p>
          <a:p>
            <a:r>
              <a:rPr lang="zh-CN" altLang="en-US" sz="1400"/>
              <a:t>5  0  1  0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 sz="1900" b="1">
                <a:sym typeface="+mn-ea"/>
              </a:rPr>
              <a:t>分类变量转换为</a:t>
            </a:r>
            <a:r>
              <a:rPr lang="en-US" altLang="zh-CN" sz="1900" b="1">
                <a:sym typeface="+mn-ea"/>
              </a:rPr>
              <a:t>“</a:t>
            </a:r>
            <a:r>
              <a:rPr lang="zh-CN" altLang="en-US" sz="1900" b="1">
                <a:sym typeface="+mn-ea"/>
              </a:rPr>
              <a:t>指标</a:t>
            </a:r>
            <a:r>
              <a:rPr lang="en-US" altLang="zh-CN" sz="1900" b="1">
                <a:sym typeface="+mn-ea"/>
              </a:rPr>
              <a:t>”</a:t>
            </a:r>
            <a:r>
              <a:rPr lang="zh-CN" altLang="zh-CN" sz="1900" b="1">
                <a:sym typeface="+mn-ea"/>
              </a:rPr>
              <a:t>矩阵常用于统计建模或机器学习的转换操作</a:t>
            </a:r>
            <a:r>
              <a:rPr lang="en-US" altLang="zh-CN" sz="1900" b="1">
                <a:sym typeface="+mn-ea"/>
              </a:rPr>
              <a:t>get_dummies</a:t>
            </a:r>
            <a:endParaRPr lang="zh-CN" altLang="zh-CN" sz="1900" b="1">
              <a:sym typeface="+mn-ea"/>
            </a:endParaRPr>
          </a:p>
          <a:p>
            <a:pPr lvl="1"/>
            <a:r>
              <a:rPr lang="zh-CN" altLang="zh-CN" sz="1700" b="1">
                <a:sym typeface="+mn-ea"/>
              </a:rPr>
              <a:t>例如：分类结果变量有</a:t>
            </a:r>
            <a:r>
              <a:rPr lang="en-US" altLang="zh-CN" sz="1700" b="1">
                <a:sym typeface="+mn-ea"/>
              </a:rPr>
              <a:t>k</a:t>
            </a:r>
            <a:r>
              <a:rPr lang="zh-CN" altLang="zh-CN" sz="1700" b="1">
                <a:sym typeface="+mn-ea"/>
              </a:rPr>
              <a:t>个取值，可衍生一个</a:t>
            </a:r>
            <a:r>
              <a:rPr lang="en-US" altLang="zh-CN" sz="1700" b="1">
                <a:sym typeface="+mn-ea"/>
              </a:rPr>
              <a:t>k</a:t>
            </a:r>
            <a:r>
              <a:rPr lang="zh-CN" altLang="zh-CN" sz="1700" b="1">
                <a:sym typeface="+mn-ea"/>
              </a:rPr>
              <a:t>列的值为</a:t>
            </a:r>
            <a:r>
              <a:rPr lang="en-US" altLang="zh-CN" sz="1700" b="1">
                <a:sym typeface="+mn-ea"/>
              </a:rPr>
              <a:t>1</a:t>
            </a:r>
            <a:r>
              <a:rPr lang="zh-CN" altLang="en-US" sz="1700" b="1">
                <a:sym typeface="+mn-ea"/>
              </a:rPr>
              <a:t>或</a:t>
            </a:r>
            <a:r>
              <a:rPr lang="en-US" altLang="zh-CN" sz="1700" b="1">
                <a:sym typeface="+mn-ea"/>
              </a:rPr>
              <a:t>0</a:t>
            </a:r>
            <a:r>
              <a:rPr lang="zh-CN" altLang="en-US" sz="1700" b="1">
                <a:sym typeface="+mn-ea"/>
              </a:rPr>
              <a:t>的矩阵</a:t>
            </a:r>
            <a:endParaRPr lang="zh-CN" altLang="en-US" sz="1700" b="1"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7.2.8  </a:t>
            </a:r>
            <a:r>
              <a:rPr lang="zh-CN">
                <a:sym typeface="+mn-ea"/>
              </a:rPr>
              <a:t>计算指标</a:t>
            </a:r>
            <a:r>
              <a:rPr lang="en-US" altLang="zh-CN">
                <a:sym typeface="+mn-ea"/>
              </a:rPr>
              <a:t>/</a:t>
            </a:r>
            <a:r>
              <a:rPr lang="zh-CN" altLang="zh-CN">
                <a:sym typeface="+mn-ea"/>
              </a:rPr>
              <a:t>虚拟变量</a:t>
            </a:r>
            <a:endParaRPr lang="zh-CN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78295" y="1341755"/>
            <a:ext cx="505841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[111]: dummies = pd.get_dummies(df['key'], prefix='key')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[112]: df_with_dummy = df[['data1']].join(dummies)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[113]: df_with_dummy</a:t>
            </a:r>
            <a:endParaRPr lang="zh-CN" altLang="en-US" sz="1400"/>
          </a:p>
          <a:p>
            <a:r>
              <a:rPr lang="zh-CN" altLang="en-US" sz="1400"/>
              <a:t>Out[113]: </a:t>
            </a:r>
            <a:endParaRPr lang="zh-CN" altLang="en-US" sz="1400"/>
          </a:p>
          <a:p>
            <a:r>
              <a:rPr lang="zh-CN" altLang="en-US" sz="1400"/>
              <a:t>   data1  key_a  key_b  key_c</a:t>
            </a:r>
            <a:endParaRPr lang="zh-CN" altLang="en-US" sz="1400"/>
          </a:p>
          <a:p>
            <a:r>
              <a:rPr lang="zh-CN" altLang="en-US" sz="1400"/>
              <a:t>0      0      0      1      0</a:t>
            </a:r>
            <a:endParaRPr lang="zh-CN" altLang="en-US" sz="1400"/>
          </a:p>
          <a:p>
            <a:r>
              <a:rPr lang="zh-CN" altLang="en-US" sz="1400"/>
              <a:t>1      1      0      1      0</a:t>
            </a:r>
            <a:endParaRPr lang="zh-CN" altLang="en-US" sz="1400"/>
          </a:p>
          <a:p>
            <a:r>
              <a:rPr lang="zh-CN" altLang="en-US" sz="1400"/>
              <a:t>2      2      1      0      0</a:t>
            </a:r>
            <a:endParaRPr lang="zh-CN" altLang="en-US" sz="1400"/>
          </a:p>
          <a:p>
            <a:r>
              <a:rPr lang="zh-CN" altLang="en-US" sz="1400"/>
              <a:t>3      3      0      0      1</a:t>
            </a:r>
            <a:endParaRPr lang="zh-CN" altLang="en-US" sz="1400"/>
          </a:p>
          <a:p>
            <a:r>
              <a:rPr lang="zh-CN" altLang="en-US" sz="1400"/>
              <a:t>4      4      1      0      0</a:t>
            </a:r>
            <a:endParaRPr lang="zh-CN" altLang="en-US" sz="1400"/>
          </a:p>
          <a:p>
            <a:r>
              <a:rPr lang="zh-CN" altLang="en-US" sz="1400"/>
              <a:t>5      5      0      1      0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sz="1900" b="1">
                <a:sym typeface="+mn-ea"/>
              </a:rPr>
              <a:t>get_dummies</a:t>
            </a:r>
            <a:endParaRPr lang="zh-CN" altLang="zh-CN" sz="1900" b="1">
              <a:sym typeface="+mn-ea"/>
            </a:endParaRPr>
          </a:p>
          <a:p>
            <a:pPr lvl="1"/>
            <a:r>
              <a:rPr sz="1900" b="1">
                <a:sym typeface="+mn-ea"/>
              </a:rPr>
              <a:t>prefix</a:t>
            </a:r>
            <a:r>
              <a:rPr lang="zh-CN" sz="1900" b="1">
                <a:sym typeface="+mn-ea"/>
              </a:rPr>
              <a:t>参数：设置列名前缀</a:t>
            </a:r>
            <a:endParaRPr lang="en-US" altLang="zh-CN" sz="1900" b="1">
              <a:sym typeface="+mn-ea"/>
            </a:endParaRPr>
          </a:p>
          <a:p>
            <a:r>
              <a:rPr lang="zh-CN" altLang="en-US" sz="1900" b="1">
                <a:sym typeface="+mn-ea"/>
              </a:rPr>
              <a:t>复杂情况</a:t>
            </a:r>
            <a:endParaRPr lang="zh-CN" altLang="en-US" sz="1900" b="1">
              <a:sym typeface="+mn-ea"/>
            </a:endParaRPr>
          </a:p>
          <a:p>
            <a:pPr lvl="1"/>
            <a:r>
              <a:rPr lang="zh-CN" altLang="en-US" sz="1700" b="1">
                <a:sym typeface="+mn-ea"/>
              </a:rPr>
              <a:t>DataFrame中的某行同属于多个分类</a:t>
            </a:r>
            <a:endParaRPr lang="zh-CN" altLang="en-US" sz="1700" b="1">
              <a:sym typeface="+mn-ea"/>
            </a:endParaRPr>
          </a:p>
          <a:p>
            <a:endParaRPr lang="en-US" altLang="zh-CN" sz="1700" b="1"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7.2.8  </a:t>
            </a:r>
            <a:r>
              <a:rPr lang="zh-CN">
                <a:sym typeface="+mn-ea"/>
              </a:rPr>
              <a:t>计算指标</a:t>
            </a:r>
            <a:r>
              <a:rPr lang="en-US" altLang="zh-CN">
                <a:sym typeface="+mn-ea"/>
              </a:rPr>
              <a:t>/</a:t>
            </a:r>
            <a:r>
              <a:rPr lang="zh-CN" altLang="zh-CN">
                <a:sym typeface="+mn-ea"/>
              </a:rPr>
              <a:t>虚拟变量</a:t>
            </a:r>
            <a:endParaRPr lang="zh-CN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98160" y="1557655"/>
            <a:ext cx="6385560" cy="4184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[114]: mnames = ['movie_id', 'title', 'genres']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[115]: movies = pd.read_table('datasets/movielens/movies.dat', sep='::',</a:t>
            </a:r>
            <a:endParaRPr lang="zh-CN" altLang="en-US" sz="1400"/>
          </a:p>
          <a:p>
            <a:r>
              <a:rPr lang="zh-CN" altLang="en-US" sz="1400"/>
              <a:t>   .....:                        header=None, names=mnames)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[116]: movies[:10]</a:t>
            </a:r>
            <a:endParaRPr lang="zh-CN" altLang="en-US" sz="1400"/>
          </a:p>
          <a:p>
            <a:r>
              <a:rPr lang="zh-CN" altLang="en-US" sz="1400"/>
              <a:t>Out[116]: </a:t>
            </a:r>
            <a:endParaRPr lang="zh-CN" altLang="en-US" sz="1400"/>
          </a:p>
          <a:p>
            <a:r>
              <a:rPr lang="zh-CN" altLang="en-US" sz="1400"/>
              <a:t>   movie_id                               title                        genres</a:t>
            </a:r>
            <a:endParaRPr lang="zh-CN" altLang="en-US" sz="1400"/>
          </a:p>
          <a:p>
            <a:r>
              <a:rPr lang="zh-CN" altLang="en-US" sz="1400"/>
              <a:t>0         1                    Toy Story (1995)   Animation|Children's|Comedy</a:t>
            </a:r>
            <a:endParaRPr lang="zh-CN" altLang="en-US" sz="1400"/>
          </a:p>
          <a:p>
            <a:r>
              <a:rPr lang="zh-CN" altLang="en-US" sz="1400"/>
              <a:t>1         2                      Jumanji (1995)  Adventure|Children's|Fantasy</a:t>
            </a:r>
            <a:endParaRPr lang="zh-CN" altLang="en-US" sz="1400"/>
          </a:p>
          <a:p>
            <a:r>
              <a:rPr lang="zh-CN" altLang="en-US" sz="1400"/>
              <a:t>2         3             Grumpier Old Men (1995)                Comedy|Romance</a:t>
            </a:r>
            <a:endParaRPr lang="zh-CN" altLang="en-US" sz="1400"/>
          </a:p>
          <a:p>
            <a:r>
              <a:rPr lang="zh-CN" altLang="en-US" sz="1400"/>
              <a:t>3         4            Waiting to Exhale (1995)                  Comedy|Drama</a:t>
            </a:r>
            <a:endParaRPr lang="zh-CN" altLang="en-US" sz="1400"/>
          </a:p>
          <a:p>
            <a:r>
              <a:rPr lang="zh-CN" altLang="en-US" sz="1400"/>
              <a:t>4         5  Father of the Bride Part II (1995)                        Comedy</a:t>
            </a:r>
            <a:endParaRPr lang="zh-CN" altLang="en-US" sz="1400"/>
          </a:p>
          <a:p>
            <a:r>
              <a:rPr lang="zh-CN" altLang="en-US" sz="1400"/>
              <a:t>5         6                         Heat (1995)         Action|Crime|Thriller</a:t>
            </a:r>
            <a:endParaRPr lang="zh-CN" altLang="en-US" sz="1400"/>
          </a:p>
          <a:p>
            <a:r>
              <a:rPr lang="zh-CN" altLang="en-US" sz="1400"/>
              <a:t>6         7                      Sabrina (1995)                Comedy|Romance</a:t>
            </a:r>
            <a:endParaRPr lang="zh-CN" altLang="en-US" sz="1400"/>
          </a:p>
          <a:p>
            <a:r>
              <a:rPr lang="zh-CN" altLang="en-US" sz="1400"/>
              <a:t>7         8                 Tom and Huck (1995)          Adventure|Children's</a:t>
            </a:r>
            <a:endParaRPr lang="zh-CN" altLang="en-US" sz="1400"/>
          </a:p>
          <a:p>
            <a:r>
              <a:rPr lang="zh-CN" altLang="en-US" sz="1400"/>
              <a:t>8         9                 Sudden Death (1995)</a:t>
            </a:r>
            <a:endParaRPr lang="zh-CN" altLang="en-US" sz="1400"/>
          </a:p>
          <a:p>
            <a:r>
              <a:rPr lang="zh-CN" altLang="en-US" sz="1400"/>
              <a:t>Action</a:t>
            </a:r>
            <a:endParaRPr lang="zh-CN" altLang="en-US" sz="1400"/>
          </a:p>
          <a:p>
            <a:r>
              <a:rPr lang="zh-CN" altLang="en-US" sz="1400"/>
              <a:t>9        10                    GoldenEye (1995)     Action|Adventure|Thriller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 sz="1700" b="1">
                <a:sym typeface="+mn-ea"/>
              </a:rPr>
              <a:t>数据规整</a:t>
            </a:r>
            <a:endParaRPr lang="zh-CN" altLang="en-US" sz="1700" b="1">
              <a:sym typeface="+mn-ea"/>
            </a:endParaRPr>
          </a:p>
          <a:p>
            <a:pPr marL="887730" lvl="1" indent="-342900">
              <a:buAutoNum type="arabicPeriod"/>
            </a:pPr>
            <a:r>
              <a:rPr lang="en-US" altLang="zh-CN" sz="1520" b="1">
                <a:sym typeface="+mn-ea"/>
              </a:rPr>
              <a:t>从数据集中抽取出不同的genre值</a:t>
            </a:r>
            <a:endParaRPr lang="en-US" altLang="zh-CN" sz="1520" b="1">
              <a:sym typeface="+mn-ea"/>
            </a:endParaRPr>
          </a:p>
          <a:p>
            <a:pPr marL="887730" lvl="1" indent="-342900">
              <a:buAutoNum type="arabicPeriod"/>
            </a:pPr>
            <a:r>
              <a:rPr lang="zh-CN" altLang="en-US" sz="1520" b="1">
                <a:sym typeface="+mn-ea"/>
              </a:rPr>
              <a:t>构造虚拟变量</a:t>
            </a:r>
            <a:endParaRPr lang="zh-CN" altLang="en-US" sz="1520" b="1">
              <a:sym typeface="+mn-ea"/>
            </a:endParaRPr>
          </a:p>
          <a:p>
            <a:pPr marL="887730" lvl="1" indent="-342900">
              <a:buAutoNum type="arabicPeriod"/>
            </a:pPr>
            <a:r>
              <a:rPr lang="zh-CN" altLang="en-US" sz="1520" b="1">
                <a:sym typeface="+mn-ea"/>
              </a:rPr>
              <a:t>添加到原始</a:t>
            </a:r>
            <a:r>
              <a:rPr lang="en-US" altLang="zh-CN" sz="1520" b="1">
                <a:sym typeface="+mn-ea"/>
              </a:rPr>
              <a:t>DF</a:t>
            </a:r>
            <a:endParaRPr lang="en-US" altLang="zh-CN" sz="1520" b="1">
              <a:sym typeface="+mn-ea"/>
            </a:endParaRPr>
          </a:p>
          <a:p>
            <a:pPr lvl="1"/>
            <a:endParaRPr lang="en-US" altLang="zh-CN" sz="1520" b="1">
              <a:sym typeface="+mn-ea"/>
            </a:endParaRPr>
          </a:p>
          <a:p>
            <a:endParaRPr lang="en-US" altLang="zh-CN" sz="1700" b="1"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7.2.8  </a:t>
            </a:r>
            <a:r>
              <a:rPr lang="zh-CN">
                <a:sym typeface="+mn-ea"/>
              </a:rPr>
              <a:t>计算指标</a:t>
            </a:r>
            <a:r>
              <a:rPr lang="en-US" altLang="zh-CN">
                <a:sym typeface="+mn-ea"/>
              </a:rPr>
              <a:t>/</a:t>
            </a:r>
            <a:r>
              <a:rPr lang="zh-CN" altLang="zh-CN">
                <a:sym typeface="+mn-ea"/>
              </a:rPr>
              <a:t>虚拟变量</a:t>
            </a:r>
            <a:endParaRPr lang="zh-CN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98160" y="1557655"/>
            <a:ext cx="638556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[117]: all_genres = []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[118]: for x in movies.genres:</a:t>
            </a:r>
            <a:endParaRPr lang="zh-CN" altLang="en-US" sz="1400"/>
          </a:p>
          <a:p>
            <a:r>
              <a:rPr lang="zh-CN" altLang="en-US" sz="1400"/>
              <a:t>   .....:     all_genres.extend(x.split('|'))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[119]: genres = pd.unique(all_genres)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[120]: genres</a:t>
            </a:r>
            <a:endParaRPr lang="zh-CN" altLang="en-US" sz="1400"/>
          </a:p>
          <a:p>
            <a:r>
              <a:rPr lang="zh-CN" altLang="en-US" sz="1400"/>
              <a:t>Out[120]: </a:t>
            </a:r>
            <a:endParaRPr lang="zh-CN" altLang="en-US" sz="1400"/>
          </a:p>
          <a:p>
            <a:r>
              <a:rPr lang="zh-CN" altLang="en-US" sz="1400"/>
              <a:t>array(['Animation', "Children's", 'Comedy', 'Adventure', 'Fantasy',</a:t>
            </a:r>
            <a:endParaRPr lang="zh-CN" altLang="en-US" sz="1400"/>
          </a:p>
          <a:p>
            <a:r>
              <a:rPr lang="zh-CN" altLang="en-US" sz="1400"/>
              <a:t>       'Romance', 'Drama', 'Action', 'Crime', 'Thriller','Horror',</a:t>
            </a:r>
            <a:endParaRPr lang="zh-CN" altLang="en-US" sz="1400"/>
          </a:p>
          <a:p>
            <a:r>
              <a:rPr lang="zh-CN" altLang="en-US" sz="1400"/>
              <a:t>       'Sci-Fi', 'Documentary', 'War', 'Musical', 'Mystery', 'Film-Noir',</a:t>
            </a:r>
            <a:endParaRPr lang="zh-CN" altLang="en-US" sz="1400"/>
          </a:p>
          <a:p>
            <a:r>
              <a:rPr lang="zh-CN" altLang="en-US" sz="1400"/>
              <a:t>       'Western'], dtype=object)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 sz="1700" b="1">
                <a:sym typeface="+mn-ea"/>
              </a:rPr>
              <a:t>数据规整</a:t>
            </a:r>
            <a:endParaRPr lang="zh-CN" altLang="en-US" sz="1700" b="1">
              <a:sym typeface="+mn-ea"/>
            </a:endParaRPr>
          </a:p>
          <a:p>
            <a:pPr marL="887730" lvl="1" indent="-342900">
              <a:buAutoNum type="arabicPeriod"/>
            </a:pPr>
            <a:r>
              <a:rPr lang="en-US" altLang="zh-CN" sz="1520" b="1">
                <a:sym typeface="+mn-ea"/>
              </a:rPr>
              <a:t>从数据集中抽取出不同的genre值</a:t>
            </a:r>
            <a:endParaRPr lang="en-US" altLang="zh-CN" sz="1520" b="1">
              <a:sym typeface="+mn-ea"/>
            </a:endParaRPr>
          </a:p>
          <a:p>
            <a:pPr lvl="1"/>
            <a:endParaRPr lang="en-US" altLang="zh-CN" sz="1520" b="1">
              <a:sym typeface="+mn-ea"/>
            </a:endParaRPr>
          </a:p>
          <a:p>
            <a:endParaRPr lang="en-US" altLang="zh-CN" sz="1700" b="1"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7.2.8  </a:t>
            </a:r>
            <a:r>
              <a:rPr lang="zh-CN">
                <a:sym typeface="+mn-ea"/>
              </a:rPr>
              <a:t>计算指标</a:t>
            </a:r>
            <a:r>
              <a:rPr lang="en-US" altLang="zh-CN">
                <a:sym typeface="+mn-ea"/>
              </a:rPr>
              <a:t>/</a:t>
            </a:r>
            <a:r>
              <a:rPr lang="zh-CN" altLang="zh-CN">
                <a:sym typeface="+mn-ea"/>
              </a:rPr>
              <a:t>虚拟变量</a:t>
            </a:r>
            <a:endParaRPr lang="zh-CN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98160" y="1197610"/>
            <a:ext cx="638556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[121]: zero_matrix = np.zeros((len(movies), len(genres)))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[122]: dummies = pd.DataFrame(zero_matrix, columns=genres)</a:t>
            </a:r>
            <a:endParaRPr lang="zh-CN" altLang="en-US" sz="1400"/>
          </a:p>
          <a:p>
            <a:r>
              <a:rPr lang="zh-CN" altLang="en-US" sz="1400"/>
              <a:t>In [123]: gen = movies.genres[0]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[124]: gen.split('|')</a:t>
            </a:r>
            <a:endParaRPr lang="zh-CN" altLang="en-US" sz="1400"/>
          </a:p>
          <a:p>
            <a:r>
              <a:rPr lang="zh-CN" altLang="en-US" sz="1400"/>
              <a:t>Out[124]: ['Animation', "Children's", 'Comedy']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[125]: dummies.columns.get_indexer(gen.split('|'))</a:t>
            </a:r>
            <a:endParaRPr lang="zh-CN" altLang="en-US" sz="1400"/>
          </a:p>
          <a:p>
            <a:r>
              <a:rPr lang="zh-CN" altLang="en-US" sz="1400"/>
              <a:t>Out[125]: array([0, 1, 2])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[126]: for i, gen in enumerate(movies.genres):</a:t>
            </a:r>
            <a:endParaRPr lang="zh-CN" altLang="en-US" sz="1400"/>
          </a:p>
          <a:p>
            <a:r>
              <a:rPr lang="zh-CN" altLang="en-US" sz="1400"/>
              <a:t>   .....:     indices = dummies.columns.get_indexer(gen.split('|'))</a:t>
            </a:r>
            <a:endParaRPr lang="zh-CN" altLang="en-US" sz="1400"/>
          </a:p>
          <a:p>
            <a:r>
              <a:rPr lang="zh-CN" altLang="en-US" sz="1400"/>
              <a:t>   .....:     dummies.iloc[i, indices] = 1</a:t>
            </a:r>
            <a:endParaRPr lang="zh-CN" altLang="en-US" sz="1400"/>
          </a:p>
          <a:p>
            <a:r>
              <a:rPr lang="zh-CN" altLang="en-US" sz="1400"/>
              <a:t>   .....: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 sz="1700" b="1">
                <a:sym typeface="+mn-ea"/>
              </a:rPr>
              <a:t>数据规整</a:t>
            </a:r>
            <a:endParaRPr lang="zh-CN" altLang="en-US" sz="1700" b="1">
              <a:sym typeface="+mn-ea"/>
            </a:endParaRPr>
          </a:p>
          <a:p>
            <a:pPr lvl="1"/>
            <a:r>
              <a:rPr lang="zh-CN" altLang="en-US" sz="1515" b="1">
                <a:sym typeface="+mn-ea"/>
              </a:rPr>
              <a:t>构造虚拟变量</a:t>
            </a:r>
            <a:endParaRPr lang="en-US" altLang="zh-CN" sz="1520" b="1">
              <a:sym typeface="+mn-ea"/>
            </a:endParaRPr>
          </a:p>
          <a:p>
            <a:pPr lvl="1"/>
            <a:endParaRPr lang="en-US" altLang="zh-CN" sz="1520" b="1">
              <a:sym typeface="+mn-ea"/>
            </a:endParaRPr>
          </a:p>
          <a:p>
            <a:endParaRPr lang="en-US" altLang="zh-CN" sz="1700" b="1"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7.2.8  </a:t>
            </a:r>
            <a:r>
              <a:rPr lang="zh-CN">
                <a:sym typeface="+mn-ea"/>
              </a:rPr>
              <a:t>计算指标</a:t>
            </a:r>
            <a:r>
              <a:rPr lang="en-US" altLang="zh-CN">
                <a:sym typeface="+mn-ea"/>
              </a:rPr>
              <a:t>/</a:t>
            </a:r>
            <a:r>
              <a:rPr lang="zh-CN" altLang="zh-CN">
                <a:sym typeface="+mn-ea"/>
              </a:rPr>
              <a:t>虚拟变量</a:t>
            </a:r>
            <a:endParaRPr lang="zh-CN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98160" y="1197610"/>
            <a:ext cx="638556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[127]: movies_windic = movies.join(dummies.add_prefix('Genre_'))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[128]: movies_windic.iloc[0]</a:t>
            </a:r>
            <a:endParaRPr lang="zh-CN" altLang="en-US" sz="1400"/>
          </a:p>
          <a:p>
            <a:r>
              <a:rPr lang="zh-CN" altLang="en-US" sz="1400"/>
              <a:t>Out[128]: </a:t>
            </a:r>
            <a:endParaRPr lang="zh-CN" altLang="en-US" sz="1400"/>
          </a:p>
          <a:p>
            <a:r>
              <a:rPr lang="zh-CN" altLang="en-US" sz="1400"/>
              <a:t>movie_id                                       1</a:t>
            </a:r>
            <a:endParaRPr lang="zh-CN" altLang="en-US" sz="1400"/>
          </a:p>
          <a:p>
            <a:r>
              <a:rPr lang="zh-CN" altLang="en-US" sz="1400"/>
              <a:t>title                           Toy Story (1995)</a:t>
            </a:r>
            <a:endParaRPr lang="zh-CN" altLang="en-US" sz="1400"/>
          </a:p>
          <a:p>
            <a:r>
              <a:rPr lang="zh-CN" altLang="en-US" sz="1400"/>
              <a:t>genres               Animation|Children's|Comedy</a:t>
            </a:r>
            <a:endParaRPr lang="zh-CN" altLang="en-US" sz="1400"/>
          </a:p>
          <a:p>
            <a:r>
              <a:rPr lang="zh-CN" altLang="en-US" sz="1400"/>
              <a:t>Genre_Animation                                1</a:t>
            </a:r>
            <a:endParaRPr lang="zh-CN" altLang="en-US" sz="1400"/>
          </a:p>
          <a:p>
            <a:r>
              <a:rPr lang="zh-CN" altLang="en-US" sz="1400"/>
              <a:t>Genre_Children's                               1</a:t>
            </a:r>
            <a:endParaRPr lang="zh-CN" altLang="en-US" sz="1400"/>
          </a:p>
          <a:p>
            <a:r>
              <a:rPr lang="zh-CN" altLang="en-US" sz="1400"/>
              <a:t>Genre_Comedy                                   1</a:t>
            </a:r>
            <a:endParaRPr lang="zh-CN" altLang="en-US" sz="1400"/>
          </a:p>
          <a:p>
            <a:r>
              <a:rPr lang="zh-CN" altLang="en-US" sz="1400"/>
              <a:t>Genre_Adventure                                0</a:t>
            </a:r>
            <a:endParaRPr lang="zh-CN" altLang="en-US" sz="1400"/>
          </a:p>
          <a:p>
            <a:r>
              <a:rPr lang="zh-CN" altLang="en-US" sz="1400"/>
              <a:t>Genre_Fantasy                                  0</a:t>
            </a:r>
            <a:endParaRPr lang="zh-CN" altLang="en-US" sz="1400"/>
          </a:p>
          <a:p>
            <a:r>
              <a:rPr lang="zh-CN" altLang="en-US" sz="1400"/>
              <a:t>Genre_Romance                                  0</a:t>
            </a:r>
            <a:endParaRPr lang="zh-CN" altLang="en-US" sz="1400"/>
          </a:p>
          <a:p>
            <a:r>
              <a:rPr lang="zh-CN" altLang="en-US" sz="1400"/>
              <a:t>Genre_Drama                                    0</a:t>
            </a:r>
            <a:endParaRPr lang="zh-CN" altLang="en-US" sz="1400"/>
          </a:p>
          <a:p>
            <a:r>
              <a:rPr lang="zh-CN" altLang="en-US" sz="1400"/>
              <a:t>                                ...             </a:t>
            </a:r>
            <a:endParaRPr lang="zh-CN" altLang="en-US" sz="1400"/>
          </a:p>
          <a:p>
            <a:r>
              <a:rPr lang="zh-CN" altLang="en-US" sz="1400"/>
              <a:t>Genre_Documentary                              0</a:t>
            </a:r>
            <a:endParaRPr lang="zh-CN" altLang="en-US" sz="1400"/>
          </a:p>
          <a:p>
            <a:r>
              <a:rPr lang="zh-CN" altLang="en-US" sz="1400"/>
              <a:t>Genre_War                                      0</a:t>
            </a:r>
            <a:endParaRPr lang="zh-CN" altLang="en-US" sz="1400"/>
          </a:p>
          <a:p>
            <a:r>
              <a:rPr lang="zh-CN" altLang="en-US" sz="1400"/>
              <a:t>Genre_Musical                                  0</a:t>
            </a:r>
            <a:endParaRPr lang="zh-CN" altLang="en-US" sz="1400"/>
          </a:p>
          <a:p>
            <a:r>
              <a:rPr lang="zh-CN" altLang="en-US" sz="1400"/>
              <a:t>Genre_Mystery                                  0</a:t>
            </a:r>
            <a:endParaRPr lang="zh-CN" altLang="en-US" sz="1400"/>
          </a:p>
          <a:p>
            <a:r>
              <a:rPr lang="zh-CN" altLang="en-US" sz="1400"/>
              <a:t>Genre_Film-Noir                                0</a:t>
            </a:r>
            <a:endParaRPr lang="zh-CN" altLang="en-US" sz="1400"/>
          </a:p>
          <a:p>
            <a:r>
              <a:rPr lang="zh-CN" altLang="en-US" sz="1400"/>
              <a:t>Genre_Western                                  0</a:t>
            </a:r>
            <a:endParaRPr lang="zh-CN" altLang="en-US" sz="1400"/>
          </a:p>
          <a:p>
            <a:r>
              <a:rPr lang="zh-CN" altLang="en-US" sz="1400"/>
              <a:t>Name: 0, Length: 21, dtype: object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4861560" cy="5041265"/>
          </a:xfrm>
        </p:spPr>
        <p:txBody>
          <a:bodyPr/>
          <a:lstStyle/>
          <a:p>
            <a:r>
              <a:rPr lang="zh-CN" altLang="en-US" sz="1700" b="1">
                <a:sym typeface="+mn-ea"/>
              </a:rPr>
              <a:t>数据规整</a:t>
            </a:r>
            <a:endParaRPr lang="zh-CN" altLang="en-US" sz="1700" b="1">
              <a:sym typeface="+mn-ea"/>
            </a:endParaRPr>
          </a:p>
          <a:p>
            <a:pPr lvl="1"/>
            <a:r>
              <a:rPr lang="zh-CN" altLang="en-US" sz="1510" b="1">
                <a:sym typeface="+mn-ea"/>
              </a:rPr>
              <a:t>添加到原始</a:t>
            </a:r>
            <a:r>
              <a:rPr lang="en-US" altLang="zh-CN" sz="1510" b="1">
                <a:sym typeface="+mn-ea"/>
              </a:rPr>
              <a:t>DF</a:t>
            </a:r>
            <a:endParaRPr lang="en-US" altLang="zh-CN" sz="1520" b="1">
              <a:sym typeface="+mn-ea"/>
            </a:endParaRPr>
          </a:p>
          <a:p>
            <a:pPr lvl="1"/>
            <a:endParaRPr lang="en-US" altLang="zh-CN" sz="1520" b="1">
              <a:sym typeface="+mn-ea"/>
            </a:endParaRPr>
          </a:p>
          <a:p>
            <a:r>
              <a:rPr lang="zh-CN" altLang="zh-CN" sz="1700" b="1">
                <a:sym typeface="+mn-ea"/>
              </a:rPr>
              <a:t>提示：</a:t>
            </a:r>
            <a:endParaRPr lang="zh-CN" altLang="zh-CN" sz="1700" b="1">
              <a:sym typeface="+mn-ea"/>
            </a:endParaRPr>
          </a:p>
          <a:p>
            <a:pPr lvl="1"/>
            <a:r>
              <a:rPr lang="zh-CN" altLang="zh-CN" sz="1520" b="1">
                <a:sym typeface="+mn-ea"/>
              </a:rPr>
              <a:t>对于很大的数据，用这种方式构建多成员指标变量就会变得非常慢。</a:t>
            </a:r>
            <a:endParaRPr lang="zh-CN" altLang="zh-CN" sz="1520" b="1">
              <a:sym typeface="+mn-ea"/>
            </a:endParaRPr>
          </a:p>
          <a:p>
            <a:pPr lvl="1"/>
            <a:r>
              <a:rPr lang="zh-CN" altLang="zh-CN" sz="1520" b="1">
                <a:sym typeface="+mn-ea"/>
              </a:rPr>
              <a:t>最好使用更低级的函数，将其写入NumPy数组，然后结果包装在DataFrame中。</a:t>
            </a:r>
            <a:endParaRPr lang="en-US" altLang="zh-CN" sz="1520" b="1"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7.2.8  </a:t>
            </a:r>
            <a:r>
              <a:rPr lang="zh-CN">
                <a:sym typeface="+mn-ea"/>
              </a:rPr>
              <a:t>计算指标</a:t>
            </a:r>
            <a:r>
              <a:rPr lang="en-US" altLang="zh-CN">
                <a:sym typeface="+mn-ea"/>
              </a:rPr>
              <a:t>/</a:t>
            </a:r>
            <a:r>
              <a:rPr lang="zh-CN" altLang="zh-CN">
                <a:sym typeface="+mn-ea"/>
              </a:rPr>
              <a:t>虚拟变量</a:t>
            </a:r>
            <a:endParaRPr lang="zh-CN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45860" y="1269365"/>
            <a:ext cx="567309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dirty="0"/>
              <a:t>In [129]: np.random.seed(12345)</a:t>
            </a:r>
            <a:endParaRPr lang="zh-CN" altLang="en-US" sz="1400" dirty="0"/>
          </a:p>
          <a:p>
            <a:r>
              <a:rPr lang="zh-CN" altLang="en-US" sz="1400" dirty="0"/>
              <a:t>In [130]: values = np.random.rand(10)</a:t>
            </a:r>
            <a:endParaRPr lang="zh-CN" altLang="en-US" sz="1400" dirty="0"/>
          </a:p>
          <a:p>
            <a:r>
              <a:rPr lang="zh-CN" altLang="en-US" sz="1400" dirty="0"/>
              <a:t>In [131]: values</a:t>
            </a:r>
            <a:endParaRPr lang="zh-CN" altLang="en-US" sz="1400" dirty="0"/>
          </a:p>
          <a:p>
            <a:r>
              <a:rPr lang="zh-CN" altLang="en-US" sz="1400" dirty="0"/>
              <a:t>Out[131]: </a:t>
            </a:r>
            <a:endParaRPr lang="zh-CN" altLang="en-US" sz="1400" dirty="0"/>
          </a:p>
          <a:p>
            <a:r>
              <a:rPr lang="zh-CN" altLang="en-US" sz="1400" dirty="0"/>
              <a:t>array([ 0.9296,  0.3164,  0.1839,  0.2046,  0.5677,  0.5955,  0.9645,</a:t>
            </a:r>
            <a:endParaRPr lang="zh-CN" altLang="en-US" sz="1400" dirty="0"/>
          </a:p>
          <a:p>
            <a:r>
              <a:rPr lang="zh-CN" altLang="en-US" sz="1400" dirty="0"/>
              <a:t>        0.6532,  0.7489,  0.6536])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zh-CN" altLang="en-US" sz="1400" dirty="0"/>
              <a:t>In [132]: bins = [0, 0.2, 0.4, 0.6, 0.8, 1]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zh-CN" altLang="en-US" sz="1400" dirty="0"/>
              <a:t>In [133]: pd.get_dummies(pd.cut(values, bins))</a:t>
            </a:r>
            <a:endParaRPr lang="zh-CN" altLang="en-US" sz="1400" dirty="0"/>
          </a:p>
          <a:p>
            <a:r>
              <a:rPr lang="zh-CN" altLang="en-US" sz="1400" dirty="0"/>
              <a:t>Out[133]: </a:t>
            </a:r>
            <a:endParaRPr lang="zh-CN" altLang="en-US" sz="1400" dirty="0"/>
          </a:p>
          <a:p>
            <a:r>
              <a:rPr lang="zh-CN" altLang="en-US" sz="1400" dirty="0"/>
              <a:t>   (0.0, 0.2]  (0.2, 0.4]  (0.4, 0.6]  (0.6, 0.8]  (0.8, 1.0]</a:t>
            </a:r>
            <a:endParaRPr lang="zh-CN" altLang="en-US" sz="1400" dirty="0"/>
          </a:p>
          <a:p>
            <a:r>
              <a:rPr lang="zh-CN" altLang="en-US" sz="1400" dirty="0"/>
              <a:t>0           0           0           0           0           1</a:t>
            </a:r>
            <a:endParaRPr lang="zh-CN" altLang="en-US" sz="1400" dirty="0"/>
          </a:p>
          <a:p>
            <a:r>
              <a:rPr lang="zh-CN" altLang="en-US" sz="1400" dirty="0"/>
              <a:t>1           0           1           0           0           0</a:t>
            </a:r>
            <a:endParaRPr lang="zh-CN" altLang="en-US" sz="1400" dirty="0"/>
          </a:p>
          <a:p>
            <a:r>
              <a:rPr lang="zh-CN" altLang="en-US" sz="1400" dirty="0"/>
              <a:t>2           1           0           0           0           0</a:t>
            </a:r>
            <a:endParaRPr lang="zh-CN" altLang="en-US" sz="1400" dirty="0"/>
          </a:p>
          <a:p>
            <a:r>
              <a:rPr lang="zh-CN" altLang="en-US" sz="1400" dirty="0"/>
              <a:t>3           0           1           0           0           0</a:t>
            </a:r>
            <a:endParaRPr lang="zh-CN" altLang="en-US" sz="1400" dirty="0"/>
          </a:p>
          <a:p>
            <a:r>
              <a:rPr lang="zh-CN" altLang="en-US" sz="1400" dirty="0"/>
              <a:t>4           0           0           1           0           0</a:t>
            </a:r>
            <a:endParaRPr lang="zh-CN" altLang="en-US" sz="1400" dirty="0"/>
          </a:p>
          <a:p>
            <a:r>
              <a:rPr lang="zh-CN" altLang="en-US" sz="1400" dirty="0"/>
              <a:t>5           0           0           1           0           0</a:t>
            </a:r>
            <a:endParaRPr lang="zh-CN" altLang="en-US" sz="1400" dirty="0"/>
          </a:p>
          <a:p>
            <a:r>
              <a:rPr lang="zh-CN" altLang="en-US" sz="1400" dirty="0"/>
              <a:t>6           0           0           0           0           1</a:t>
            </a:r>
            <a:endParaRPr lang="zh-CN" altLang="en-US" sz="1400" dirty="0"/>
          </a:p>
          <a:p>
            <a:r>
              <a:rPr lang="zh-CN" altLang="en-US" sz="1400" dirty="0"/>
              <a:t>7           0           0           0           1           0</a:t>
            </a:r>
            <a:endParaRPr lang="zh-CN" altLang="en-US" sz="1400" dirty="0"/>
          </a:p>
          <a:p>
            <a:r>
              <a:rPr lang="zh-CN" altLang="en-US" sz="1400" dirty="0"/>
              <a:t>8           0           0           0           1           0</a:t>
            </a:r>
            <a:endParaRPr lang="zh-CN" altLang="en-US" sz="1400" dirty="0"/>
          </a:p>
          <a:p>
            <a:r>
              <a:rPr lang="zh-CN" altLang="en-US" sz="1400" dirty="0"/>
              <a:t>9           0           0           0           1           0</a:t>
            </a:r>
            <a:endParaRPr lang="zh-CN" altLang="en-US" sz="14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 sz="1700" b="1" dirty="0">
                <a:sym typeface="+mn-ea"/>
              </a:rPr>
              <a:t>统计应用</a:t>
            </a:r>
            <a:endParaRPr lang="zh-CN" altLang="en-US" sz="1700" b="1" dirty="0">
              <a:sym typeface="+mn-ea"/>
            </a:endParaRPr>
          </a:p>
          <a:p>
            <a:pPr lvl="1"/>
            <a:r>
              <a:rPr lang="zh-CN" altLang="zh-CN" sz="1520" b="1" dirty="0">
                <a:sym typeface="+mn-ea"/>
              </a:rPr>
              <a:t>生成随机虚拟变量</a:t>
            </a:r>
            <a:endParaRPr lang="en-US" altLang="zh-CN" sz="1520" b="1" dirty="0">
              <a:sym typeface="+mn-ea"/>
            </a:endParaRPr>
          </a:p>
          <a:p>
            <a:pPr lvl="1"/>
            <a:endParaRPr lang="en-US" altLang="zh-CN" sz="1520" b="1" dirty="0">
              <a:sym typeface="+mn-ea"/>
            </a:endParaRPr>
          </a:p>
          <a:p>
            <a:endParaRPr lang="en-US" altLang="zh-CN" sz="1700" b="1" dirty="0"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 </a:t>
            </a:r>
            <a:r>
              <a:rPr lang="zh-CN" altLang="en-US">
                <a:sym typeface="+mn-ea"/>
              </a:rPr>
              <a:t>字符串操作</a:t>
            </a:r>
            <a:endParaRPr lang="zh-CN" alt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 sz="1520" b="1" dirty="0" err="1">
                <a:sym typeface="+mn-ea"/>
              </a:rPr>
              <a:t>字符串对象方法</a:t>
            </a:r>
            <a:endParaRPr lang="en-US" altLang="zh-CN" sz="1520" b="1" dirty="0">
              <a:sym typeface="+mn-ea"/>
            </a:endParaRPr>
          </a:p>
          <a:p>
            <a:r>
              <a:rPr lang="zh-CN" altLang="en-US" sz="1520" b="1" dirty="0">
                <a:sym typeface="+mn-ea"/>
              </a:rPr>
              <a:t>正则表达式</a:t>
            </a:r>
            <a:endParaRPr lang="zh-CN" altLang="en-US" sz="1520" b="1" dirty="0">
              <a:sym typeface="+mn-ea"/>
            </a:endParaRPr>
          </a:p>
          <a:p>
            <a:r>
              <a:rPr lang="en-US" altLang="zh-CN" sz="1520" b="1" dirty="0">
                <a:sym typeface="+mn-ea"/>
              </a:rPr>
              <a:t>pandas</a:t>
            </a:r>
            <a:r>
              <a:rPr lang="zh-CN" altLang="zh-CN" sz="1520" b="1" dirty="0">
                <a:sym typeface="+mn-ea"/>
              </a:rPr>
              <a:t>的向量化字符串函数</a:t>
            </a:r>
            <a:endParaRPr lang="en-US" altLang="zh-CN" sz="1520" b="1" dirty="0">
              <a:sym typeface="+mn-ea"/>
            </a:endParaRPr>
          </a:p>
          <a:p>
            <a:endParaRPr lang="en-US" altLang="zh-CN" sz="1700" b="1" dirty="0"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7.3.1 </a:t>
            </a:r>
            <a:r>
              <a:rPr lang="en-US" altLang="zh-CN">
                <a:sym typeface="+mn-ea"/>
              </a:rPr>
              <a:t>字符串对象方法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17800" y="1701800"/>
            <a:ext cx="3962400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[134]: val = 'a,b,  guido'</a:t>
            </a:r>
            <a:endParaRPr lang="zh-CN" altLang="en-US" sz="1400"/>
          </a:p>
          <a:p>
            <a:r>
              <a:rPr lang="zh-CN" altLang="en-US" sz="1400"/>
              <a:t>In [135]: val.split(',')</a:t>
            </a:r>
            <a:endParaRPr lang="zh-CN" altLang="en-US" sz="1400"/>
          </a:p>
          <a:p>
            <a:r>
              <a:rPr lang="zh-CN" altLang="en-US" sz="1400"/>
              <a:t>Out[135]: ['a', 'b', '  guido']</a:t>
            </a:r>
            <a:endParaRPr lang="zh-CN" altLang="en-US" sz="1400"/>
          </a:p>
          <a:p>
            <a:r>
              <a:rPr lang="zh-CN" altLang="en-US" sz="1400"/>
              <a:t>In [136]: pieces = [x.strip() for x in val.split(',')]</a:t>
            </a:r>
            <a:endParaRPr lang="zh-CN" altLang="en-US" sz="1400"/>
          </a:p>
          <a:p>
            <a:r>
              <a:rPr lang="zh-CN" altLang="en-US" sz="1400"/>
              <a:t>In [137]: pieces</a:t>
            </a:r>
            <a:endParaRPr lang="zh-CN" altLang="en-US" sz="1400"/>
          </a:p>
          <a:p>
            <a:r>
              <a:rPr lang="zh-CN" altLang="en-US" sz="1400"/>
              <a:t>Out[137]: ['a', 'b', 'guido']</a:t>
            </a:r>
            <a:endParaRPr lang="zh-CN" altLang="en-US" sz="1400"/>
          </a:p>
          <a:p>
            <a:r>
              <a:rPr lang="zh-CN" altLang="en-US" sz="1400"/>
              <a:t>In [138]: first, second, third = pieces</a:t>
            </a:r>
            <a:endParaRPr lang="zh-CN" altLang="en-US" sz="1400"/>
          </a:p>
          <a:p>
            <a:r>
              <a:rPr lang="zh-CN" altLang="en-US" sz="1400"/>
              <a:t>In [139]: first + '::' + second + '::' + third</a:t>
            </a:r>
            <a:endParaRPr lang="zh-CN" altLang="en-US" sz="1400"/>
          </a:p>
          <a:p>
            <a:r>
              <a:rPr lang="zh-CN" altLang="en-US" sz="1400"/>
              <a:t>Out[139]: 'a::b::guido'</a:t>
            </a:r>
            <a:endParaRPr lang="zh-CN" altLang="en-US" sz="1400"/>
          </a:p>
          <a:p>
            <a:r>
              <a:rPr lang="zh-CN" altLang="en-US" sz="1400"/>
              <a:t>In [140]: '::'.join(pieces)</a:t>
            </a:r>
            <a:endParaRPr lang="zh-CN" altLang="en-US" sz="1400"/>
          </a:p>
          <a:p>
            <a:r>
              <a:rPr lang="zh-CN" altLang="en-US" sz="1400"/>
              <a:t>Out[140]: 'a::b::guido'</a:t>
            </a:r>
            <a:endParaRPr lang="zh-CN" altLang="en-US" sz="1400"/>
          </a:p>
          <a:p>
            <a:r>
              <a:rPr lang="zh-CN" altLang="en-US" sz="1400"/>
              <a:t>In [141]: 'guido' in val</a:t>
            </a:r>
            <a:endParaRPr lang="zh-CN" altLang="en-US" sz="1400"/>
          </a:p>
          <a:p>
            <a:r>
              <a:rPr lang="zh-CN" altLang="en-US" sz="1400"/>
              <a:t>Out[141]: True</a:t>
            </a:r>
            <a:endParaRPr lang="zh-CN" altLang="en-US" sz="1400"/>
          </a:p>
          <a:p>
            <a:r>
              <a:rPr lang="zh-CN" altLang="en-US" sz="1400"/>
              <a:t>In [142]: val.index(',')</a:t>
            </a:r>
            <a:endParaRPr lang="zh-CN" altLang="en-US" sz="1400"/>
          </a:p>
          <a:p>
            <a:r>
              <a:rPr lang="zh-CN" altLang="en-US" sz="1400"/>
              <a:t>Out[142]: 1</a:t>
            </a:r>
            <a:endParaRPr lang="zh-CN" altLang="en-US" sz="1400"/>
          </a:p>
          <a:p>
            <a:r>
              <a:rPr lang="zh-CN" altLang="en-US" sz="1400"/>
              <a:t>In [143]: val.find(':')</a:t>
            </a:r>
            <a:endParaRPr lang="zh-CN" altLang="en-US" sz="1400"/>
          </a:p>
          <a:p>
            <a:r>
              <a:rPr lang="zh-CN" altLang="en-US" sz="1400"/>
              <a:t>Out[143]: -1</a:t>
            </a:r>
            <a:endParaRPr lang="zh-CN" altLang="en-US" sz="14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5271770" cy="5041265"/>
          </a:xfrm>
        </p:spPr>
        <p:txBody>
          <a:bodyPr/>
          <a:lstStyle/>
          <a:p>
            <a:r>
              <a:rPr lang="en-US" altLang="zh-CN" sz="1520" b="1">
                <a:sym typeface="+mn-ea"/>
              </a:rPr>
              <a:t>内置的字符串方法</a:t>
            </a:r>
            <a:endParaRPr lang="en-US" altLang="zh-CN" sz="1520" b="1">
              <a:sym typeface="+mn-ea"/>
            </a:endParaRPr>
          </a:p>
          <a:p>
            <a:pPr lvl="1"/>
            <a:r>
              <a:rPr lang="en-US" altLang="zh-CN" sz="1520" b="1">
                <a:sym typeface="+mn-ea"/>
              </a:rPr>
              <a:t>split</a:t>
            </a:r>
            <a:endParaRPr lang="en-US" altLang="zh-CN" sz="1520" b="1">
              <a:sym typeface="+mn-ea"/>
            </a:endParaRPr>
          </a:p>
          <a:p>
            <a:pPr lvl="1"/>
            <a:r>
              <a:rPr lang="en-US" altLang="zh-CN" sz="1520" b="1">
                <a:sym typeface="+mn-ea"/>
              </a:rPr>
              <a:t>strip</a:t>
            </a:r>
            <a:endParaRPr lang="en-US" altLang="zh-CN" sz="1520" b="1">
              <a:sym typeface="+mn-ea"/>
            </a:endParaRPr>
          </a:p>
          <a:p>
            <a:pPr lvl="1"/>
            <a:r>
              <a:rPr lang="en-US" altLang="zh-CN" sz="1520" b="1">
                <a:sym typeface="+mn-ea"/>
              </a:rPr>
              <a:t>+</a:t>
            </a:r>
            <a:endParaRPr lang="en-US" altLang="zh-CN" sz="1520" b="1">
              <a:sym typeface="+mn-ea"/>
            </a:endParaRPr>
          </a:p>
          <a:p>
            <a:pPr lvl="1"/>
            <a:r>
              <a:rPr lang="en-US" altLang="zh-CN" sz="1520" b="1">
                <a:sym typeface="+mn-ea"/>
              </a:rPr>
              <a:t>join</a:t>
            </a:r>
            <a:endParaRPr lang="en-US" altLang="zh-CN" sz="1520" b="1">
              <a:sym typeface="+mn-ea"/>
            </a:endParaRPr>
          </a:p>
          <a:p>
            <a:pPr lvl="1"/>
            <a:r>
              <a:rPr lang="en-US" altLang="zh-CN" sz="1520" b="1">
                <a:sym typeface="+mn-ea"/>
              </a:rPr>
              <a:t>in</a:t>
            </a:r>
            <a:endParaRPr lang="en-US" altLang="zh-CN" sz="1520" b="1">
              <a:sym typeface="+mn-ea"/>
            </a:endParaRPr>
          </a:p>
          <a:p>
            <a:pPr lvl="1"/>
            <a:r>
              <a:rPr lang="en-US" altLang="zh-CN" sz="1520" b="1">
                <a:sym typeface="+mn-ea"/>
              </a:rPr>
              <a:t>find</a:t>
            </a:r>
            <a:endParaRPr lang="en-US" altLang="zh-CN" sz="1520" b="1">
              <a:sym typeface="+mn-ea"/>
            </a:endParaRPr>
          </a:p>
          <a:p>
            <a:pPr lvl="1"/>
            <a:r>
              <a:rPr lang="en-US" altLang="zh-CN" sz="1520" b="1">
                <a:sym typeface="+mn-ea"/>
              </a:rPr>
              <a:t>index</a:t>
            </a:r>
            <a:endParaRPr lang="en-US" altLang="zh-CN" sz="1520" b="1">
              <a:sym typeface="+mn-ea"/>
            </a:endParaRPr>
          </a:p>
          <a:p>
            <a:pPr lvl="1"/>
            <a:r>
              <a:rPr lang="en-US" altLang="zh-CN" sz="1520" b="1">
                <a:sym typeface="+mn-ea"/>
              </a:rPr>
              <a:t>count</a:t>
            </a:r>
            <a:endParaRPr lang="en-US" altLang="zh-CN" sz="1520" b="1">
              <a:sym typeface="+mn-ea"/>
            </a:endParaRPr>
          </a:p>
          <a:p>
            <a:pPr lvl="1"/>
            <a:r>
              <a:rPr lang="en-US" altLang="zh-CN" sz="1520" b="1">
                <a:sym typeface="+mn-ea"/>
              </a:rPr>
              <a:t>replace</a:t>
            </a:r>
            <a:endParaRPr lang="en-US" altLang="zh-CN" sz="1520" b="1">
              <a:sym typeface="+mn-ea"/>
            </a:endParaRPr>
          </a:p>
          <a:p>
            <a:pPr lvl="1"/>
            <a:endParaRPr lang="en-US" altLang="zh-CN" sz="1520" b="1">
              <a:sym typeface="+mn-ea"/>
            </a:endParaRPr>
          </a:p>
          <a:p>
            <a:endParaRPr lang="en-US" altLang="zh-CN" sz="1700" b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50050" y="1557655"/>
            <a:ext cx="535495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In [144]: val.index(':')</a:t>
            </a:r>
            <a:endParaRPr lang="zh-CN" altLang="en-US" sz="1400"/>
          </a:p>
          <a:p>
            <a:r>
              <a:rPr lang="zh-CN" altLang="en-US" sz="1400"/>
              <a:t>---------------------------------------------------------------------------</a:t>
            </a:r>
            <a:endParaRPr lang="zh-CN" altLang="en-US" sz="1400"/>
          </a:p>
          <a:p>
            <a:r>
              <a:rPr lang="zh-CN" altLang="en-US" sz="1400"/>
              <a:t>ValueError                                Traceback (most recent call last)</a:t>
            </a:r>
            <a:endParaRPr lang="zh-CN" altLang="en-US" sz="1400"/>
          </a:p>
          <a:p>
            <a:r>
              <a:rPr lang="zh-CN" altLang="en-US" sz="1400"/>
              <a:t>&lt;ipython-input-144-280f8b2856ce&gt; in &lt;module&gt;()</a:t>
            </a:r>
            <a:endParaRPr lang="zh-CN" altLang="en-US" sz="1400"/>
          </a:p>
          <a:p>
            <a:r>
              <a:rPr lang="zh-CN" altLang="en-US" sz="1400"/>
              <a:t>----&gt; 1 val.index(':')</a:t>
            </a:r>
            <a:endParaRPr lang="zh-CN" altLang="en-US" sz="1400"/>
          </a:p>
          <a:p>
            <a:r>
              <a:rPr lang="zh-CN" altLang="en-US" sz="1400"/>
              <a:t>ValueError: substring not found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[145]: val.count(',')</a:t>
            </a:r>
            <a:endParaRPr lang="zh-CN" altLang="en-US" sz="1400"/>
          </a:p>
          <a:p>
            <a:r>
              <a:rPr lang="zh-CN" altLang="en-US" sz="1400"/>
              <a:t>Out[145]: 2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[146]: val.replace(',', '::')</a:t>
            </a:r>
            <a:endParaRPr lang="zh-CN" altLang="en-US" sz="1400"/>
          </a:p>
          <a:p>
            <a:r>
              <a:rPr lang="zh-CN" altLang="en-US" sz="1400"/>
              <a:t>Out[146]: 'a::b::  guido'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[147]: val.replace(',', '')</a:t>
            </a:r>
            <a:endParaRPr lang="zh-CN" altLang="en-US" sz="1400"/>
          </a:p>
          <a:p>
            <a:r>
              <a:rPr lang="zh-CN" altLang="en-US" sz="1400"/>
              <a:t>Out[147]: 'ab  guido'</a:t>
            </a:r>
            <a:endParaRPr lang="zh-CN" altLang="en-US" sz="1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7.3.1 </a:t>
            </a:r>
            <a:r>
              <a:rPr lang="en-US" altLang="zh-CN">
                <a:sym typeface="+mn-ea"/>
              </a:rPr>
              <a:t>字符串对象方法</a:t>
            </a:r>
            <a:endParaRPr lang="zh-CN" alt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5271770" cy="5041265"/>
          </a:xfrm>
        </p:spPr>
        <p:txBody>
          <a:bodyPr/>
          <a:lstStyle/>
          <a:p>
            <a:r>
              <a:rPr lang="en-US" altLang="zh-CN" sz="1520" b="1">
                <a:sym typeface="+mn-ea"/>
              </a:rPr>
              <a:t>内置的字符串方法</a:t>
            </a:r>
            <a:endParaRPr lang="en-US" altLang="zh-CN" sz="1520" b="1">
              <a:sym typeface="+mn-ea"/>
            </a:endParaRPr>
          </a:p>
          <a:p>
            <a:pPr lvl="1"/>
            <a:endParaRPr lang="en-US" altLang="zh-CN" sz="1520" b="1">
              <a:sym typeface="+mn-ea"/>
            </a:endParaRPr>
          </a:p>
          <a:p>
            <a:endParaRPr lang="en-US" altLang="zh-CN" sz="1700" b="1">
              <a:sym typeface="+mn-ea"/>
            </a:endParaRPr>
          </a:p>
        </p:txBody>
      </p:sp>
      <p:pic>
        <p:nvPicPr>
          <p:cNvPr id="6" name="图片 5" descr="zfc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8505" y="1748155"/>
            <a:ext cx="8374380" cy="43865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7.3.1 </a:t>
            </a:r>
            <a:r>
              <a:rPr lang="en-US" altLang="zh-CN">
                <a:sym typeface="+mn-ea"/>
              </a:rPr>
              <a:t>字符串对象方法</a:t>
            </a:r>
            <a:endParaRPr lang="zh-CN" alt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5271770" cy="5041265"/>
          </a:xfrm>
        </p:spPr>
        <p:txBody>
          <a:bodyPr/>
          <a:lstStyle/>
          <a:p>
            <a:r>
              <a:rPr lang="en-US" altLang="zh-CN" sz="1520" b="1">
                <a:sym typeface="+mn-ea"/>
              </a:rPr>
              <a:t>内置的字符串方法</a:t>
            </a:r>
            <a:endParaRPr lang="en-US" altLang="zh-CN" sz="1520" b="1">
              <a:sym typeface="+mn-ea"/>
            </a:endParaRPr>
          </a:p>
          <a:p>
            <a:pPr lvl="1"/>
            <a:endParaRPr lang="en-US" altLang="zh-CN" sz="1520" b="1">
              <a:sym typeface="+mn-ea"/>
            </a:endParaRPr>
          </a:p>
          <a:p>
            <a:endParaRPr lang="en-US" altLang="zh-CN" sz="1700" b="1">
              <a:sym typeface="+mn-ea"/>
            </a:endParaRPr>
          </a:p>
        </p:txBody>
      </p:sp>
      <p:pic>
        <p:nvPicPr>
          <p:cNvPr id="7" name="图片 6" descr="zfc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665" y="1845310"/>
            <a:ext cx="9790430" cy="34366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7.3.2 正则表达式</a:t>
            </a:r>
            <a:endParaRPr 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0998835" cy="5041265"/>
          </a:xfrm>
        </p:spPr>
        <p:txBody>
          <a:bodyPr/>
          <a:lstStyle/>
          <a:p>
            <a:r>
              <a:rPr lang="en-US" altLang="zh-CN" sz="1520">
                <a:sym typeface="+mn-ea"/>
              </a:rPr>
              <a:t>正则表达式提供了一种灵活的在文本中搜索或匹配（通常比前者复杂）字符串模式的方式</a:t>
            </a:r>
            <a:endParaRPr lang="en-US" altLang="zh-CN" sz="1520">
              <a:sym typeface="+mn-ea"/>
            </a:endParaRPr>
          </a:p>
          <a:p>
            <a:pPr lvl="1"/>
            <a:r>
              <a:rPr lang="en-US" altLang="zh-CN" sz="1360">
                <a:sym typeface="+mn-ea"/>
              </a:rPr>
              <a:t>Python内置的re模块负责对字符串应用正则表达式。</a:t>
            </a:r>
            <a:endParaRPr lang="en-US" altLang="zh-CN" sz="1360">
              <a:sym typeface="+mn-ea"/>
            </a:endParaRPr>
          </a:p>
          <a:p>
            <a:r>
              <a:rPr lang="en-US" altLang="zh-CN" sz="1520">
                <a:sym typeface="+mn-ea"/>
              </a:rPr>
              <a:t>re模块的函数可以分为三个大类：模式匹配、替换以及拆分。</a:t>
            </a:r>
            <a:endParaRPr lang="en-US" altLang="zh-CN" sz="1520">
              <a:sym typeface="+mn-ea"/>
            </a:endParaRPr>
          </a:p>
          <a:p>
            <a:pPr lvl="1"/>
            <a:r>
              <a:rPr lang="zh-CN" altLang="en-US" sz="1360">
                <a:sym typeface="+mn-ea"/>
              </a:rPr>
              <a:t>先编译再执行</a:t>
            </a:r>
            <a:endParaRPr lang="zh-CN" altLang="en-US" sz="1360">
              <a:sym typeface="+mn-ea"/>
            </a:endParaRPr>
          </a:p>
          <a:p>
            <a:pPr lvl="1"/>
            <a:r>
              <a:rPr lang="en-US" altLang="zh-CN" sz="1360">
                <a:sym typeface="+mn-ea"/>
              </a:rPr>
              <a:t>re.compile自己编译regex以得到一个</a:t>
            </a:r>
            <a:r>
              <a:rPr lang="en-US" altLang="zh-CN" sz="1360" b="1">
                <a:sym typeface="+mn-ea"/>
              </a:rPr>
              <a:t>可重用</a:t>
            </a:r>
            <a:r>
              <a:rPr lang="en-US" altLang="zh-CN" sz="1360">
                <a:sym typeface="+mn-ea"/>
              </a:rPr>
              <a:t>的regex对象</a:t>
            </a:r>
            <a:endParaRPr lang="en-US" altLang="zh-CN" sz="1360">
              <a:sym typeface="+mn-ea"/>
            </a:endParaRPr>
          </a:p>
          <a:p>
            <a:pPr lvl="1"/>
            <a:r>
              <a:rPr lang="en-US" altLang="zh-CN" sz="1360">
                <a:sym typeface="+mn-ea"/>
              </a:rPr>
              <a:t>re.split</a:t>
            </a:r>
            <a:r>
              <a:rPr lang="zh-CN" altLang="en-US" sz="1360">
                <a:sym typeface="+mn-ea"/>
              </a:rPr>
              <a:t>：根据正则表达式切分</a:t>
            </a:r>
            <a:endParaRPr lang="zh-CN" altLang="en-US" sz="1360">
              <a:sym typeface="+mn-ea"/>
            </a:endParaRPr>
          </a:p>
          <a:p>
            <a:pPr lvl="1"/>
            <a:r>
              <a:rPr lang="en-US" altLang="zh-CN" sz="1360">
                <a:sym typeface="+mn-ea"/>
              </a:rPr>
              <a:t>re.findall</a:t>
            </a:r>
            <a:r>
              <a:rPr lang="zh-CN" altLang="en-US" sz="1360">
                <a:sym typeface="+mn-ea"/>
              </a:rPr>
              <a:t>：找到所有匹配的模式</a:t>
            </a:r>
            <a:endParaRPr lang="en-US" altLang="zh-CN" sz="1360">
              <a:sym typeface="+mn-ea"/>
            </a:endParaRPr>
          </a:p>
          <a:p>
            <a:r>
              <a:rPr lang="zh-CN" altLang="en-US" sz="1520">
                <a:sym typeface="+mn-ea"/>
              </a:rPr>
              <a:t>示例：要拆分一个字符串，分隔符为数量不定的一组空白符。</a:t>
            </a:r>
            <a:endParaRPr lang="zh-CN" altLang="en-US" sz="1520">
              <a:sym typeface="+mn-ea"/>
            </a:endParaRPr>
          </a:p>
          <a:p>
            <a:endParaRPr lang="en-US" altLang="zh-CN" sz="17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78520" y="1773555"/>
            <a:ext cx="3521075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[148]: import re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[149]: text = "foo    bar\t baz  \tqux"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[150]: re.split('\s+', text)</a:t>
            </a:r>
            <a:endParaRPr lang="zh-CN" altLang="en-US" sz="1400"/>
          </a:p>
          <a:p>
            <a:r>
              <a:rPr lang="zh-CN" altLang="en-US" sz="1400"/>
              <a:t>Out[150]: ['foo', 'bar', 'baz', 'qux']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[151]: regex = re.compile('\s+')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[152]: regex.split(text)</a:t>
            </a:r>
            <a:endParaRPr lang="zh-CN" altLang="en-US" sz="1400"/>
          </a:p>
          <a:p>
            <a:r>
              <a:rPr lang="zh-CN" altLang="en-US" sz="1400"/>
              <a:t>Out[152]: ['foo', 'bar', 'baz', 'qux']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[153]: regex.findall(text)</a:t>
            </a:r>
            <a:endParaRPr lang="zh-CN" altLang="en-US" sz="1400"/>
          </a:p>
          <a:p>
            <a:r>
              <a:rPr lang="zh-CN" altLang="en-US" sz="1400"/>
              <a:t>Out[153]: ['    ', '\t ', '  \t']</a:t>
            </a:r>
            <a:endParaRPr lang="zh-CN" altLang="en-US" sz="1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7.3.2 正则表达式</a:t>
            </a:r>
            <a:endParaRPr 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0998835" cy="5041265"/>
          </a:xfrm>
        </p:spPr>
        <p:txBody>
          <a:bodyPr/>
          <a:lstStyle/>
          <a:p>
            <a:r>
              <a:rPr lang="en-US" altLang="zh-CN" sz="1520">
                <a:sym typeface="+mn-ea"/>
              </a:rPr>
              <a:t>findall返回的是字符串中所有的匹配项</a:t>
            </a:r>
            <a:endParaRPr lang="en-US" altLang="zh-CN" sz="1520">
              <a:sym typeface="+mn-ea"/>
            </a:endParaRPr>
          </a:p>
          <a:p>
            <a:r>
              <a:rPr lang="en-US" altLang="zh-CN" sz="1520">
                <a:sym typeface="+mn-ea"/>
              </a:rPr>
              <a:t>search则只返回第一个匹配项</a:t>
            </a:r>
            <a:endParaRPr lang="en-US" altLang="zh-CN" sz="1520">
              <a:sym typeface="+mn-ea"/>
            </a:endParaRPr>
          </a:p>
          <a:p>
            <a:r>
              <a:rPr lang="en-US" altLang="zh-CN" sz="1520">
                <a:sym typeface="+mn-ea"/>
              </a:rPr>
              <a:t>match只匹配字符串的首部</a:t>
            </a:r>
            <a:endParaRPr lang="en-US" altLang="zh-CN" sz="1520">
              <a:sym typeface="+mn-ea"/>
            </a:endParaRPr>
          </a:p>
          <a:p>
            <a:r>
              <a:rPr lang="en-US" altLang="zh-CN" sz="1520">
                <a:sym typeface="+mn-ea"/>
              </a:rPr>
              <a:t>sub可以将匹配到的模式替换为指定字符串</a:t>
            </a:r>
            <a:endParaRPr lang="en-US" altLang="zh-CN" sz="1520">
              <a:sym typeface="+mn-ea"/>
            </a:endParaRPr>
          </a:p>
          <a:p>
            <a:r>
              <a:rPr lang="zh-CN" altLang="en-US" sz="1520">
                <a:sym typeface="+mn-ea"/>
              </a:rPr>
              <a:t>示例：电子邮箱识别</a:t>
            </a:r>
            <a:endParaRPr lang="zh-CN" altLang="en-US" sz="152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82485" y="1197610"/>
            <a:ext cx="465201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text = """Dave dave@google.com</a:t>
            </a:r>
            <a:endParaRPr lang="zh-CN" altLang="en-US" sz="1400"/>
          </a:p>
          <a:p>
            <a:r>
              <a:rPr lang="zh-CN" altLang="en-US" sz="1400"/>
              <a:t>Steve steve@gmail.com</a:t>
            </a:r>
            <a:endParaRPr lang="zh-CN" altLang="en-US" sz="1400"/>
          </a:p>
          <a:p>
            <a:r>
              <a:rPr lang="zh-CN" altLang="en-US" sz="1400"/>
              <a:t>Rob rob@gmail.com</a:t>
            </a:r>
            <a:endParaRPr lang="zh-CN" altLang="en-US" sz="1400"/>
          </a:p>
          <a:p>
            <a:r>
              <a:rPr lang="zh-CN" altLang="en-US" sz="1400"/>
              <a:t>Ryan ryan@yahoo.com</a:t>
            </a:r>
            <a:endParaRPr lang="zh-CN" altLang="en-US" sz="1400"/>
          </a:p>
          <a:p>
            <a:r>
              <a:rPr lang="zh-CN" altLang="en-US" sz="1400"/>
              <a:t>"""</a:t>
            </a:r>
            <a:endParaRPr lang="zh-CN" altLang="en-US" sz="1400"/>
          </a:p>
          <a:p>
            <a:r>
              <a:rPr lang="zh-CN" altLang="en-US" sz="1400"/>
              <a:t>pattern = r'[A-Z0-9._%+-]+@[A-Z0-9.-]+\.[A-Z]{2,4}'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# re.IGNORECASE makes the regex case-insensitive</a:t>
            </a:r>
            <a:endParaRPr lang="zh-CN" altLang="en-US" sz="1400"/>
          </a:p>
          <a:p>
            <a:r>
              <a:rPr lang="zh-CN" altLang="en-US" sz="1400"/>
              <a:t>regex = re.compile(pattern, flags=re.IGNORECASE)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[155]: regex.findall(text)</a:t>
            </a:r>
            <a:endParaRPr lang="zh-CN" altLang="en-US" sz="1400"/>
          </a:p>
          <a:p>
            <a:r>
              <a:rPr lang="zh-CN" altLang="en-US" sz="1400"/>
              <a:t>Out[155]: </a:t>
            </a:r>
            <a:endParaRPr lang="zh-CN" altLang="en-US" sz="1400"/>
          </a:p>
          <a:p>
            <a:r>
              <a:rPr lang="zh-CN" altLang="en-US" sz="1400"/>
              <a:t>['dave@google.com',</a:t>
            </a:r>
            <a:endParaRPr lang="zh-CN" altLang="en-US" sz="1400"/>
          </a:p>
          <a:p>
            <a:r>
              <a:rPr lang="zh-CN" altLang="en-US" sz="1400"/>
              <a:t> 'steve@gmail.com',</a:t>
            </a:r>
            <a:endParaRPr lang="zh-CN" altLang="en-US" sz="1400"/>
          </a:p>
          <a:p>
            <a:r>
              <a:rPr lang="zh-CN" altLang="en-US" sz="1400"/>
              <a:t> 'rob@gmail.com',</a:t>
            </a:r>
            <a:endParaRPr lang="zh-CN" altLang="en-US" sz="1400"/>
          </a:p>
          <a:p>
            <a:r>
              <a:rPr lang="zh-CN" altLang="en-US" sz="1400"/>
              <a:t> 'ryan@yahoo.com']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[156]: m = regex.search(text)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[157]: m</a:t>
            </a:r>
            <a:endParaRPr lang="zh-CN" altLang="en-US" sz="1400"/>
          </a:p>
          <a:p>
            <a:r>
              <a:rPr lang="zh-CN" altLang="en-US" sz="1400"/>
              <a:t>Out[157]: &lt;_sre.SRE_Match object; span=(5, 20), match='dave@google.com'&gt;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1277620" y="3501390"/>
            <a:ext cx="465201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[158]: text[m.start():m.end()]</a:t>
            </a:r>
            <a:endParaRPr lang="zh-CN" altLang="en-US" sz="1400"/>
          </a:p>
          <a:p>
            <a:r>
              <a:rPr lang="zh-CN" altLang="en-US" sz="1400"/>
              <a:t>Out[158]: 'dave@google.com'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[159]: print(regex.match(text))</a:t>
            </a:r>
            <a:endParaRPr lang="zh-CN" altLang="en-US" sz="1400"/>
          </a:p>
          <a:p>
            <a:r>
              <a:rPr lang="zh-CN" altLang="en-US" sz="1400"/>
              <a:t>None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[160]: print(regex.sub('REDACTED', text))</a:t>
            </a:r>
            <a:endParaRPr lang="zh-CN" altLang="en-US" sz="1400"/>
          </a:p>
          <a:p>
            <a:r>
              <a:rPr lang="zh-CN" altLang="en-US" sz="1400"/>
              <a:t>Dave REDACTED</a:t>
            </a:r>
            <a:endParaRPr lang="zh-CN" altLang="en-US" sz="1400"/>
          </a:p>
          <a:p>
            <a:r>
              <a:rPr lang="zh-CN" altLang="en-US" sz="1400"/>
              <a:t>Steve REDACTED</a:t>
            </a:r>
            <a:endParaRPr lang="zh-CN" altLang="en-US" sz="1400"/>
          </a:p>
          <a:p>
            <a:r>
              <a:rPr lang="zh-CN" altLang="en-US" sz="1400"/>
              <a:t>Rob REDACTED</a:t>
            </a:r>
            <a:endParaRPr lang="zh-CN" altLang="en-US" sz="1400"/>
          </a:p>
          <a:p>
            <a:r>
              <a:rPr lang="zh-CN" altLang="en-US" sz="1400"/>
              <a:t>Ryan REDACTED</a:t>
            </a:r>
            <a:endParaRPr lang="zh-CN" altLang="en-US" sz="1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7.3.2 正则表达式</a:t>
            </a:r>
            <a:endParaRPr 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0998835" cy="5041265"/>
          </a:xfrm>
        </p:spPr>
        <p:txBody>
          <a:bodyPr/>
          <a:lstStyle/>
          <a:p>
            <a:r>
              <a:rPr lang="zh-CN" altLang="en-US" sz="1520">
                <a:sym typeface="+mn-ea"/>
              </a:rPr>
              <a:t>不仅想要找出电子邮件地址，还想将各个地址分成3个部分：用户名、域名以及域后缀</a:t>
            </a:r>
            <a:endParaRPr lang="zh-CN" altLang="en-US" sz="1520">
              <a:sym typeface="+mn-ea"/>
            </a:endParaRPr>
          </a:p>
          <a:p>
            <a:r>
              <a:rPr lang="zh-CN" altLang="en-US" sz="1520">
                <a:sym typeface="+mn-ea"/>
              </a:rPr>
              <a:t>分组：小括号</a:t>
            </a:r>
            <a:endParaRPr lang="zh-CN" altLang="en-US" sz="1520">
              <a:sym typeface="+mn-ea"/>
            </a:endParaRPr>
          </a:p>
          <a:p>
            <a:r>
              <a:rPr lang="zh-CN" altLang="en-US" sz="1520">
                <a:sym typeface="+mn-ea"/>
              </a:rPr>
              <a:t>sub访问各匹配项中的分组</a:t>
            </a:r>
            <a:endParaRPr lang="zh-CN" altLang="en-US" sz="1520">
              <a:sym typeface="+mn-ea"/>
            </a:endParaRPr>
          </a:p>
          <a:p>
            <a:pPr lvl="1"/>
            <a:r>
              <a:rPr lang="zh-CN" altLang="en-US" sz="1360">
                <a:sym typeface="+mn-ea"/>
              </a:rPr>
              <a:t>符号\1对应第一个匹配的组</a:t>
            </a:r>
            <a:endParaRPr lang="zh-CN" altLang="en-US" sz="136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99480" y="1989455"/>
            <a:ext cx="583501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[161]: pattern = r'([A-Z0-9._%+-]+)@([A-Z0-9.-]+)\.([A-Z]{2,4})'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[162]: regex = re.compile(pattern, flags=re.IGNORECASE)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[163]: m = regex.match('wesm@bright.net')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[164]: m.groups()</a:t>
            </a:r>
            <a:endParaRPr lang="zh-CN" altLang="en-US" sz="1400"/>
          </a:p>
          <a:p>
            <a:r>
              <a:rPr lang="zh-CN" altLang="en-US" sz="1400"/>
              <a:t>Out[164]: ('wesm', 'bright', 'net')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[165]: regex.findall(text)</a:t>
            </a:r>
            <a:endParaRPr lang="zh-CN" altLang="en-US" sz="1400"/>
          </a:p>
          <a:p>
            <a:r>
              <a:rPr lang="zh-CN" altLang="en-US" sz="1400"/>
              <a:t>Out[165]:</a:t>
            </a:r>
            <a:endParaRPr lang="zh-CN" altLang="en-US" sz="1400"/>
          </a:p>
          <a:p>
            <a:r>
              <a:rPr lang="zh-CN" altLang="en-US" sz="1400"/>
              <a:t>[('dave', 'google', 'com'),</a:t>
            </a:r>
            <a:endParaRPr lang="zh-CN" altLang="en-US" sz="1400"/>
          </a:p>
          <a:p>
            <a:r>
              <a:rPr lang="zh-CN" altLang="en-US" sz="1400"/>
              <a:t> ('steve', 'gmail', 'com'),</a:t>
            </a:r>
            <a:endParaRPr lang="zh-CN" altLang="en-US" sz="1400"/>
          </a:p>
          <a:p>
            <a:r>
              <a:rPr lang="zh-CN" altLang="en-US" sz="1400"/>
              <a:t> ('rob', 'gmail', 'com'),</a:t>
            </a:r>
            <a:endParaRPr lang="zh-CN" altLang="en-US" sz="1400"/>
          </a:p>
          <a:p>
            <a:r>
              <a:rPr lang="zh-CN" altLang="en-US" sz="1400"/>
              <a:t> ('ryan', 'yahoo', 'com')]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391795" y="3501390"/>
            <a:ext cx="553783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 [166]: print(regex.sub(r'Username: \1, Domain: \2, Suffix: \3', text))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Dave Username: dave, Domain: google, Suffix: com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Steve Username: steve, Domain: gmail, Suffix: com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Rob Username: rob, Domain: gmail, Suffix: com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Ryan Username: ryan, Domain: yahoo, Suffix: com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7.3.2 正则表达式</a:t>
            </a:r>
            <a:endParaRPr 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0998835" cy="5041265"/>
          </a:xfrm>
        </p:spPr>
        <p:txBody>
          <a:bodyPr/>
          <a:lstStyle/>
          <a:p>
            <a:r>
              <a:rPr lang="zh-CN" altLang="en-US" sz="1360">
                <a:sym typeface="+mn-ea"/>
              </a:rPr>
              <a:t>正则表达式方法</a:t>
            </a:r>
            <a:endParaRPr lang="zh-CN" altLang="en-US" sz="1360">
              <a:sym typeface="+mn-ea"/>
            </a:endParaRPr>
          </a:p>
        </p:txBody>
      </p:sp>
      <p:pic>
        <p:nvPicPr>
          <p:cNvPr id="6" name="图片 5" descr="re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955" y="1845310"/>
            <a:ext cx="8115935" cy="408241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7.3.3 pandas的矢量化字符串函数</a:t>
            </a:r>
            <a:endParaRPr 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0998835" cy="5041265"/>
          </a:xfrm>
        </p:spPr>
        <p:txBody>
          <a:bodyPr/>
          <a:lstStyle/>
          <a:p>
            <a:r>
              <a:rPr lang="zh-CN" altLang="en-US" sz="1520">
                <a:sym typeface="+mn-ea"/>
              </a:rPr>
              <a:t>字符串规整化工作：清理待分析的散乱数据</a:t>
            </a:r>
            <a:endParaRPr lang="zh-CN" altLang="en-US" sz="1520">
              <a:sym typeface="+mn-ea"/>
            </a:endParaRPr>
          </a:p>
          <a:p>
            <a:r>
              <a:rPr lang="zh-CN" altLang="en-US" sz="1520">
                <a:sym typeface="+mn-ea"/>
              </a:rPr>
              <a:t>字符串和正则表达式方法元素级应用</a:t>
            </a:r>
            <a:endParaRPr lang="zh-CN" altLang="en-US" sz="1520">
              <a:sym typeface="+mn-ea"/>
            </a:endParaRPr>
          </a:p>
          <a:p>
            <a:pPr lvl="1"/>
            <a:r>
              <a:rPr lang="zh-CN" altLang="en-US" sz="1360">
                <a:sym typeface="+mn-ea"/>
              </a:rPr>
              <a:t>空值：</a:t>
            </a:r>
            <a:r>
              <a:rPr lang="en-US" altLang="zh-CN" sz="1360">
                <a:sym typeface="+mn-ea"/>
              </a:rPr>
              <a:t>data.map</a:t>
            </a:r>
            <a:r>
              <a:rPr lang="zh-CN" altLang="en-US" sz="1360">
                <a:sym typeface="+mn-ea"/>
              </a:rPr>
              <a:t>报错</a:t>
            </a:r>
            <a:endParaRPr lang="zh-CN" altLang="en-US" sz="1360">
              <a:sym typeface="+mn-ea"/>
            </a:endParaRPr>
          </a:p>
          <a:p>
            <a:r>
              <a:rPr lang="zh-CN" altLang="en-US" sz="1520">
                <a:sym typeface="+mn-ea"/>
              </a:rPr>
              <a:t>解决方案</a:t>
            </a:r>
            <a:endParaRPr lang="zh-CN" altLang="en-US" sz="1520">
              <a:sym typeface="+mn-ea"/>
            </a:endParaRPr>
          </a:p>
          <a:p>
            <a:pPr lvl="1"/>
            <a:r>
              <a:rPr lang="zh-CN" altLang="en-US" sz="1360">
                <a:sym typeface="+mn-ea"/>
              </a:rPr>
              <a:t>通过str属性访问字符串方法</a:t>
            </a:r>
            <a:endParaRPr lang="zh-CN" altLang="en-US" sz="136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99480" y="1271905"/>
            <a:ext cx="58350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[167]: data = {'Dave': 'dave@google.com', 'Steve': 'steve@gmail.com',</a:t>
            </a:r>
            <a:endParaRPr lang="zh-CN" altLang="en-US" sz="1400"/>
          </a:p>
          <a:p>
            <a:r>
              <a:rPr lang="zh-CN" altLang="en-US" sz="1400"/>
              <a:t>   .....:         'Rob': 'rob@gmail.com', 'Wes': np.nan}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[168]: data = pd.Series(data)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[169]: data</a:t>
            </a:r>
            <a:endParaRPr lang="zh-CN" altLang="en-US" sz="1400"/>
          </a:p>
          <a:p>
            <a:r>
              <a:rPr lang="zh-CN" altLang="en-US" sz="1400"/>
              <a:t>Out[169]: </a:t>
            </a:r>
            <a:endParaRPr lang="zh-CN" altLang="en-US" sz="1400"/>
          </a:p>
          <a:p>
            <a:r>
              <a:rPr lang="zh-CN" altLang="en-US" sz="1400"/>
              <a:t>Dave     dave@google.com</a:t>
            </a:r>
            <a:endParaRPr lang="zh-CN" altLang="en-US" sz="1400"/>
          </a:p>
          <a:p>
            <a:r>
              <a:rPr lang="zh-CN" altLang="en-US" sz="1400"/>
              <a:t>Rob        rob@gmail.com</a:t>
            </a:r>
            <a:endParaRPr lang="zh-CN" altLang="en-US" sz="1400"/>
          </a:p>
          <a:p>
            <a:r>
              <a:rPr lang="zh-CN" altLang="en-US" sz="1400"/>
              <a:t>Steve    steve@gmail.com</a:t>
            </a:r>
            <a:endParaRPr lang="zh-CN" altLang="en-US" sz="1400"/>
          </a:p>
          <a:p>
            <a:r>
              <a:rPr lang="zh-CN" altLang="en-US" sz="1400"/>
              <a:t>Wes                  NaN</a:t>
            </a:r>
            <a:endParaRPr lang="zh-CN" altLang="en-US" sz="1400"/>
          </a:p>
          <a:p>
            <a:r>
              <a:rPr lang="zh-CN" altLang="en-US" sz="1400"/>
              <a:t>dtype: object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[170]: data.isnull()</a:t>
            </a:r>
            <a:endParaRPr lang="zh-CN" altLang="en-US" sz="1400"/>
          </a:p>
          <a:p>
            <a:r>
              <a:rPr lang="zh-CN" altLang="en-US" sz="1400"/>
              <a:t>Out[170]: </a:t>
            </a:r>
            <a:endParaRPr lang="zh-CN" altLang="en-US" sz="1400"/>
          </a:p>
          <a:p>
            <a:r>
              <a:rPr lang="zh-CN" altLang="en-US" sz="1400"/>
              <a:t>Dave     False</a:t>
            </a:r>
            <a:endParaRPr lang="zh-CN" altLang="en-US" sz="1400"/>
          </a:p>
          <a:p>
            <a:r>
              <a:rPr lang="zh-CN" altLang="en-US" sz="1400"/>
              <a:t>Rob      False</a:t>
            </a:r>
            <a:endParaRPr lang="zh-CN" altLang="en-US" sz="1400"/>
          </a:p>
          <a:p>
            <a:r>
              <a:rPr lang="zh-CN" altLang="en-US" sz="1400"/>
              <a:t>Steve    False</a:t>
            </a:r>
            <a:endParaRPr lang="zh-CN" altLang="en-US" sz="1400"/>
          </a:p>
          <a:p>
            <a:r>
              <a:rPr lang="zh-CN" altLang="en-US" sz="1400"/>
              <a:t>Wes       True</a:t>
            </a:r>
            <a:endParaRPr lang="zh-CN" altLang="en-US" sz="1400"/>
          </a:p>
          <a:p>
            <a:r>
              <a:rPr lang="zh-CN" altLang="en-US" sz="1400"/>
              <a:t>dtype: bool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1277620" y="3501390"/>
            <a:ext cx="465201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[171]: data.str.contains('gmail')</a:t>
            </a:r>
            <a:endParaRPr lang="zh-CN" altLang="en-US" sz="1400"/>
          </a:p>
          <a:p>
            <a:r>
              <a:rPr lang="zh-CN" altLang="en-US" sz="1400"/>
              <a:t>Out[171]: </a:t>
            </a:r>
            <a:endParaRPr lang="zh-CN" altLang="en-US" sz="1400"/>
          </a:p>
          <a:p>
            <a:r>
              <a:rPr lang="zh-CN" altLang="en-US" sz="1400"/>
              <a:t>Dave     False</a:t>
            </a:r>
            <a:endParaRPr lang="zh-CN" altLang="en-US" sz="1400"/>
          </a:p>
          <a:p>
            <a:r>
              <a:rPr lang="zh-CN" altLang="en-US" sz="1400"/>
              <a:t>Rob       True</a:t>
            </a:r>
            <a:endParaRPr lang="zh-CN" altLang="en-US" sz="1400"/>
          </a:p>
          <a:p>
            <a:r>
              <a:rPr lang="zh-CN" altLang="en-US" sz="1400"/>
              <a:t>Steve     True</a:t>
            </a:r>
            <a:endParaRPr lang="zh-CN" altLang="en-US" sz="1400"/>
          </a:p>
          <a:p>
            <a:r>
              <a:rPr lang="zh-CN" altLang="en-US" sz="1400"/>
              <a:t>Wes        NaN</a:t>
            </a:r>
            <a:endParaRPr lang="zh-CN" altLang="en-US" sz="1400"/>
          </a:p>
          <a:p>
            <a:r>
              <a:rPr lang="zh-CN" altLang="en-US" sz="1400"/>
              <a:t>dtype: object</a:t>
            </a:r>
            <a:endParaRPr lang="zh-CN" altLang="en-US" sz="1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7.3.3 pandas的矢量化字符串函数</a:t>
            </a:r>
            <a:endParaRPr 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0998835" cy="5041265"/>
          </a:xfrm>
        </p:spPr>
        <p:txBody>
          <a:bodyPr/>
          <a:lstStyle/>
          <a:p>
            <a:r>
              <a:rPr lang="zh-CN" altLang="en-US" sz="1520">
                <a:sym typeface="+mn-ea"/>
              </a:rPr>
              <a:t>正则表达式</a:t>
            </a:r>
            <a:endParaRPr lang="zh-CN" altLang="en-US" sz="1520">
              <a:sym typeface="+mn-ea"/>
            </a:endParaRPr>
          </a:p>
          <a:p>
            <a:r>
              <a:rPr lang="zh-CN" altLang="en-US" sz="1520">
                <a:sym typeface="+mn-ea"/>
              </a:rPr>
              <a:t>矢量化的元素获取操作</a:t>
            </a:r>
            <a:endParaRPr lang="zh-CN" altLang="en-US" sz="1520">
              <a:sym typeface="+mn-ea"/>
            </a:endParaRPr>
          </a:p>
          <a:p>
            <a:pPr lvl="1"/>
            <a:r>
              <a:rPr lang="zh-CN" altLang="en-US" sz="1360">
                <a:sym typeface="+mn-ea"/>
              </a:rPr>
              <a:t>str.get，</a:t>
            </a:r>
            <a:r>
              <a:rPr lang="en-US" altLang="zh-CN" sz="1360">
                <a:sym typeface="+mn-ea"/>
              </a:rPr>
              <a:t>s</a:t>
            </a:r>
            <a:r>
              <a:rPr lang="zh-CN" altLang="en-US" sz="1360">
                <a:sym typeface="+mn-ea"/>
              </a:rPr>
              <a:t>tr属性</a:t>
            </a:r>
            <a:endParaRPr lang="zh-CN" altLang="en-US" sz="1360">
              <a:sym typeface="+mn-ea"/>
            </a:endParaRPr>
          </a:p>
          <a:p>
            <a:endParaRPr lang="zh-CN" altLang="en-US" sz="152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99480" y="1271905"/>
            <a:ext cx="583501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[172]: pattern</a:t>
            </a:r>
            <a:endParaRPr lang="zh-CN" altLang="en-US" sz="1400"/>
          </a:p>
          <a:p>
            <a:r>
              <a:rPr lang="zh-CN" altLang="en-US" sz="1400"/>
              <a:t>Out[172]: '([A-Z0-9._%+-]+)@([A-Z0-9.-]+)\\.([A-Z]{2,4})'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[173]: data.str.findall(pattern, flags=re.IGNORECASE)</a:t>
            </a:r>
            <a:endParaRPr lang="zh-CN" altLang="en-US" sz="1400"/>
          </a:p>
          <a:p>
            <a:r>
              <a:rPr lang="zh-CN" altLang="en-US" sz="1400"/>
              <a:t>Out[173]: </a:t>
            </a:r>
            <a:endParaRPr lang="zh-CN" altLang="en-US" sz="1400"/>
          </a:p>
          <a:p>
            <a:r>
              <a:rPr lang="zh-CN" altLang="en-US" sz="1400"/>
              <a:t>Dave     [(dave, google, com)]</a:t>
            </a:r>
            <a:endParaRPr lang="zh-CN" altLang="en-US" sz="1400"/>
          </a:p>
          <a:p>
            <a:r>
              <a:rPr lang="zh-CN" altLang="en-US" sz="1400"/>
              <a:t>Rob        [(rob, gmail, com)]</a:t>
            </a:r>
            <a:endParaRPr lang="zh-CN" altLang="en-US" sz="1400"/>
          </a:p>
          <a:p>
            <a:r>
              <a:rPr lang="zh-CN" altLang="en-US" sz="1400"/>
              <a:t>Steve    [(steve, gmail, com)]</a:t>
            </a:r>
            <a:endParaRPr lang="zh-CN" altLang="en-US" sz="1400"/>
          </a:p>
          <a:p>
            <a:r>
              <a:rPr lang="zh-CN" altLang="en-US" sz="1400"/>
              <a:t>Wes                        NaN</a:t>
            </a:r>
            <a:endParaRPr lang="zh-CN" altLang="en-US" sz="1400"/>
          </a:p>
          <a:p>
            <a:r>
              <a:rPr lang="zh-CN" altLang="en-US" sz="1400"/>
              <a:t>dtype: object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[174]: matches = data.str.match(pattern, flags=re.IGNORECASE)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[175]: matches</a:t>
            </a:r>
            <a:endParaRPr lang="zh-CN" altLang="en-US" sz="1400"/>
          </a:p>
          <a:p>
            <a:r>
              <a:rPr lang="zh-CN" altLang="en-US" sz="1400"/>
              <a:t>Out[175]: </a:t>
            </a:r>
            <a:endParaRPr lang="zh-CN" altLang="en-US" sz="1400"/>
          </a:p>
          <a:p>
            <a:r>
              <a:rPr lang="zh-CN" altLang="en-US" sz="1400"/>
              <a:t>Dave     True</a:t>
            </a:r>
            <a:endParaRPr lang="zh-CN" altLang="en-US" sz="1400"/>
          </a:p>
          <a:p>
            <a:r>
              <a:rPr lang="zh-CN" altLang="en-US" sz="1400"/>
              <a:t>Rob      True</a:t>
            </a:r>
            <a:endParaRPr lang="zh-CN" altLang="en-US" sz="1400"/>
          </a:p>
          <a:p>
            <a:r>
              <a:rPr lang="zh-CN" altLang="en-US" sz="1400"/>
              <a:t>Steve    True</a:t>
            </a:r>
            <a:endParaRPr lang="zh-CN" altLang="en-US" sz="1400"/>
          </a:p>
          <a:p>
            <a:r>
              <a:rPr lang="zh-CN" altLang="en-US" sz="1400"/>
              <a:t>Wes       NaN</a:t>
            </a:r>
            <a:endParaRPr lang="zh-CN" altLang="en-US" sz="1400"/>
          </a:p>
          <a:p>
            <a:r>
              <a:rPr lang="zh-CN" altLang="en-US" sz="1400"/>
              <a:t>dtype: object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1277620" y="2712085"/>
            <a:ext cx="465201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[176]: matches.str.get(1)</a:t>
            </a:r>
            <a:endParaRPr lang="zh-CN" altLang="en-US" sz="1400"/>
          </a:p>
          <a:p>
            <a:r>
              <a:rPr lang="zh-CN" altLang="en-US" sz="1400"/>
              <a:t>Out[176]: </a:t>
            </a:r>
            <a:endParaRPr lang="zh-CN" altLang="en-US" sz="1400"/>
          </a:p>
          <a:p>
            <a:r>
              <a:rPr lang="zh-CN" altLang="en-US" sz="1400"/>
              <a:t>Dave    NaN</a:t>
            </a:r>
            <a:endParaRPr lang="zh-CN" altLang="en-US" sz="1400"/>
          </a:p>
          <a:p>
            <a:r>
              <a:rPr lang="zh-CN" altLang="en-US" sz="1400"/>
              <a:t>Rob     NaN</a:t>
            </a:r>
            <a:endParaRPr lang="zh-CN" altLang="en-US" sz="1400"/>
          </a:p>
          <a:p>
            <a:r>
              <a:rPr lang="zh-CN" altLang="en-US" sz="1400"/>
              <a:t>Steve   NaN</a:t>
            </a:r>
            <a:endParaRPr lang="zh-CN" altLang="en-US" sz="1400"/>
          </a:p>
          <a:p>
            <a:r>
              <a:rPr lang="zh-CN" altLang="en-US" sz="1400"/>
              <a:t>Wes     NaN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[177]: matches.str[0]</a:t>
            </a:r>
            <a:endParaRPr lang="zh-CN" altLang="en-US" sz="1400"/>
          </a:p>
          <a:p>
            <a:r>
              <a:rPr lang="zh-CN" altLang="en-US" sz="1400"/>
              <a:t>Out[177]: </a:t>
            </a:r>
            <a:endParaRPr lang="zh-CN" altLang="en-US" sz="1400"/>
          </a:p>
          <a:p>
            <a:r>
              <a:rPr lang="zh-CN" altLang="en-US" sz="1400"/>
              <a:t>Dave    NaN</a:t>
            </a:r>
            <a:endParaRPr lang="zh-CN" altLang="en-US" sz="1400"/>
          </a:p>
          <a:p>
            <a:r>
              <a:rPr lang="zh-CN" altLang="en-US" sz="1400"/>
              <a:t>Rob     NaN</a:t>
            </a:r>
            <a:endParaRPr lang="zh-CN" altLang="en-US" sz="1400"/>
          </a:p>
          <a:p>
            <a:r>
              <a:rPr lang="zh-CN" altLang="en-US" sz="1400"/>
              <a:t>Steve   NaN</a:t>
            </a:r>
            <a:endParaRPr lang="zh-CN" altLang="en-US" sz="1400"/>
          </a:p>
          <a:p>
            <a:r>
              <a:rPr lang="zh-CN" altLang="en-US" sz="1400"/>
              <a:t>Wes     NaN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4114800" y="4495165"/>
            <a:ext cx="254000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[178]: data.str[:5]</a:t>
            </a:r>
            <a:endParaRPr lang="zh-CN" altLang="en-US" sz="1400"/>
          </a:p>
          <a:p>
            <a:r>
              <a:rPr lang="zh-CN" altLang="en-US" sz="1400"/>
              <a:t>Out[178]: </a:t>
            </a:r>
            <a:endParaRPr lang="zh-CN" altLang="en-US" sz="1400"/>
          </a:p>
          <a:p>
            <a:r>
              <a:rPr lang="zh-CN" altLang="en-US" sz="1400"/>
              <a:t>Dave     dave@</a:t>
            </a:r>
            <a:endParaRPr lang="zh-CN" altLang="en-US" sz="1400"/>
          </a:p>
          <a:p>
            <a:r>
              <a:rPr lang="zh-CN" altLang="en-US" sz="1400"/>
              <a:t>Rob      rob@g</a:t>
            </a:r>
            <a:endParaRPr lang="zh-CN" altLang="en-US" sz="1400"/>
          </a:p>
          <a:p>
            <a:r>
              <a:rPr lang="zh-CN" altLang="en-US" sz="1400"/>
              <a:t>Steve    steve</a:t>
            </a:r>
            <a:endParaRPr lang="zh-CN" altLang="en-US" sz="1400"/>
          </a:p>
          <a:p>
            <a:r>
              <a:rPr lang="zh-CN" altLang="en-US" sz="1400"/>
              <a:t>Wes        NaN</a:t>
            </a:r>
            <a:endParaRPr lang="zh-CN" altLang="en-US" sz="1400"/>
          </a:p>
          <a:p>
            <a:r>
              <a:rPr lang="zh-CN" altLang="en-US" sz="1400"/>
              <a:t>dtype: object</a:t>
            </a:r>
            <a:endParaRPr lang="zh-CN" altLang="en-US" sz="1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7.3.3 pandas的矢量化字符串函数</a:t>
            </a:r>
            <a:endParaRPr lang="en-US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0235" y="1197610"/>
            <a:ext cx="10998835" cy="5041265"/>
          </a:xfrm>
        </p:spPr>
        <p:txBody>
          <a:bodyPr/>
          <a:lstStyle/>
          <a:p>
            <a:r>
              <a:rPr lang="zh-CN" altLang="en-US" sz="1520">
                <a:sym typeface="+mn-ea"/>
              </a:rPr>
              <a:t>pandas字符串方法</a:t>
            </a:r>
            <a:endParaRPr lang="zh-CN" altLang="en-US" sz="1520">
              <a:sym typeface="+mn-ea"/>
            </a:endParaRPr>
          </a:p>
        </p:txBody>
      </p:sp>
      <p:pic>
        <p:nvPicPr>
          <p:cNvPr id="7" name="图片 6" descr="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6010" y="1090295"/>
            <a:ext cx="6082665" cy="57683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23832</Words>
  <Application>WPS 演示</Application>
  <PresentationFormat>自定义</PresentationFormat>
  <Paragraphs>1212</Paragraphs>
  <Slides>48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7" baseType="lpstr">
      <vt:lpstr>Arial</vt:lpstr>
      <vt:lpstr>宋体</vt:lpstr>
      <vt:lpstr>Wingdings</vt:lpstr>
      <vt:lpstr>Arial Unicode MS</vt:lpstr>
      <vt:lpstr>微软雅黑</vt:lpstr>
      <vt:lpstr>Arial Black</vt:lpstr>
      <vt:lpstr>Arial Unicode MS</vt:lpstr>
      <vt:lpstr>Calibri</vt:lpstr>
      <vt:lpstr>Office 主题</vt:lpstr>
      <vt:lpstr>https://www.jianshu.com/p/04d180d90a3f</vt:lpstr>
      <vt:lpstr>大纲</vt:lpstr>
      <vt:lpstr>7.1 处理缺失值</vt:lpstr>
      <vt:lpstr>7.1.1 过滤缺失值</vt:lpstr>
      <vt:lpstr>7.1.1 过滤缺失值</vt:lpstr>
      <vt:lpstr>7.1.1 过滤缺失值</vt:lpstr>
      <vt:lpstr>7.1.1 过滤缺失值</vt:lpstr>
      <vt:lpstr>7.1.1 过滤缺失值</vt:lpstr>
      <vt:lpstr>7.1.1 过滤缺失值</vt:lpstr>
      <vt:lpstr>7.1.1 过滤缺失值</vt:lpstr>
      <vt:lpstr>7.1.2 填充缺失数据</vt:lpstr>
      <vt:lpstr>7.1.2 填充缺失数据</vt:lpstr>
      <vt:lpstr>7.1.2 填充缺失数据</vt:lpstr>
      <vt:lpstr>7.2 数据转换</vt:lpstr>
      <vt:lpstr>7.2.1 删除重复值</vt:lpstr>
      <vt:lpstr>7.2.1 删除重复值</vt:lpstr>
      <vt:lpstr>7.2.2 利用函数或映射进行数据转换</vt:lpstr>
      <vt:lpstr>7.2.2 利用函数或映射进行数据转换</vt:lpstr>
      <vt:lpstr>7.2.3 替换值</vt:lpstr>
      <vt:lpstr>7.2.3 替换值</vt:lpstr>
      <vt:lpstr>7.2.4 重命名轴索引</vt:lpstr>
      <vt:lpstr>7.2.5 离散化和分箱</vt:lpstr>
      <vt:lpstr>7.2.5 离散化和分箱</vt:lpstr>
      <vt:lpstr>7.2.5 离散化和分箱</vt:lpstr>
      <vt:lpstr>7.2.5 离散化和分箱</vt:lpstr>
      <vt:lpstr>7.2.6 检测和过滤异常值</vt:lpstr>
      <vt:lpstr>7.2.6 检测和过滤异常值</vt:lpstr>
      <vt:lpstr>7.2.7 排列和随机采样</vt:lpstr>
      <vt:lpstr>7.2.7 排列和随机采样</vt:lpstr>
      <vt:lpstr>7.2.8  计算指标/虚拟变量</vt:lpstr>
      <vt:lpstr>7.2.8  计算指标/虚拟变量</vt:lpstr>
      <vt:lpstr>7.2.8  计算指标/虚拟变量</vt:lpstr>
      <vt:lpstr>7.2.8  计算指标/虚拟变量</vt:lpstr>
      <vt:lpstr>7.2.8  计算指标/虚拟变量</vt:lpstr>
      <vt:lpstr>7.2.8  计算指标/虚拟变量</vt:lpstr>
      <vt:lpstr>7.2.8  计算指标/虚拟变量</vt:lpstr>
      <vt:lpstr>7.3 字符串操作</vt:lpstr>
      <vt:lpstr>7.3.1 字符串对象方法</vt:lpstr>
      <vt:lpstr>7.3.1 字符串对象方法</vt:lpstr>
      <vt:lpstr>7.3.1 字符串对象方法</vt:lpstr>
      <vt:lpstr>7.3.2 正则表达式</vt:lpstr>
      <vt:lpstr>7.3.2 正则表达式</vt:lpstr>
      <vt:lpstr>7.3.2 正则表达式</vt:lpstr>
      <vt:lpstr>7.3.2 正则表达式</vt:lpstr>
      <vt:lpstr>7.3.2 正则表达式</vt:lpstr>
      <vt:lpstr>7.3.3 pandas的矢量化字符串函数</vt:lpstr>
      <vt:lpstr>7.3.3 pandas的矢量化字符串函数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赵伟</dc:creator>
  <cp:lastModifiedBy>赵伟</cp:lastModifiedBy>
  <cp:revision>947</cp:revision>
  <cp:lastPrinted>2012-03-16T05:44:00Z</cp:lastPrinted>
  <dcterms:created xsi:type="dcterms:W3CDTF">2020-09-20T02:01:00Z</dcterms:created>
  <dcterms:modified xsi:type="dcterms:W3CDTF">2021-10-28T03:10:57Z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2052-11.1.0.10938</vt:lpwstr>
  </property>
  <property fmtid="{D5CDD505-2E9C-101B-9397-08002B2CF9AE}" pid="3" name="ICV">
    <vt:lpwstr>D4E75C92134340F091A03FB181EE2F64</vt:lpwstr>
  </property>
</Properties>
</file>