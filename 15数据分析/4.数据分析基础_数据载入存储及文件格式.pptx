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3"/>
    <p:sldId id="486" r:id="rId4"/>
    <p:sldId id="368" r:id="rId5"/>
    <p:sldId id="476" r:id="rId6"/>
    <p:sldId id="558" r:id="rId7"/>
    <p:sldId id="560" r:id="rId8"/>
    <p:sldId id="559" r:id="rId9"/>
    <p:sldId id="561" r:id="rId10"/>
    <p:sldId id="565" r:id="rId11"/>
    <p:sldId id="564" r:id="rId12"/>
    <p:sldId id="566" r:id="rId13"/>
    <p:sldId id="567" r:id="rId14"/>
    <p:sldId id="568" r:id="rId15"/>
    <p:sldId id="569" r:id="rId16"/>
    <p:sldId id="570" r:id="rId17"/>
    <p:sldId id="572" r:id="rId18"/>
    <p:sldId id="573" r:id="rId19"/>
    <p:sldId id="571" r:id="rId20"/>
    <p:sldId id="574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4" r:id="rId30"/>
    <p:sldId id="583" r:id="rId31"/>
    <p:sldId id="586" r:id="rId32"/>
    <p:sldId id="587" r:id="rId33"/>
    <p:sldId id="588" r:id="rId34"/>
    <p:sldId id="590" r:id="rId35"/>
    <p:sldId id="589" r:id="rId36"/>
    <p:sldId id="591" r:id="rId37"/>
    <p:sldId id="592" r:id="rId38"/>
    <p:sldId id="593" r:id="rId39"/>
    <p:sldId id="594" r:id="rId40"/>
    <p:sldId id="595" r:id="rId41"/>
    <p:sldId id="598" r:id="rId42"/>
    <p:sldId id="265" r:id="rId43"/>
  </p:sldIdLst>
  <p:sldSz cx="12204700" cy="6859270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0" autoAdjust="0"/>
    <p:restoredTop sz="96552" autoAdjust="0"/>
  </p:normalViewPr>
  <p:slideViewPr>
    <p:cSldViewPr>
      <p:cViewPr varScale="1">
        <p:scale>
          <a:sx n="81" d="100"/>
          <a:sy n="81" d="100"/>
        </p:scale>
        <p:origin x="96" y="834"/>
      </p:cViewPr>
      <p:guideLst>
        <p:guide orient="horz" pos="2160"/>
        <p:guide pos="38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26"/>
    </p:cViewPr>
  </p:sorter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solidFill>
                    <a:schemeClr val="accent4">
                      <a:lumMod val="50000"/>
                    </a:schemeClr>
                  </a:solidFill>
                </a:rPr>
                <a:t>数据分析基础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数据分析基础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/>
          </a:bodyPr>
          <a:lstStyle/>
          <a:p>
            <a:pPr lvl="2"/>
            <a:r>
              <a:rPr lang="en-US" altLang="zh-CN" sz="1150" dirty="0"/>
              <a:t>https://www.jianshu.com/p/04d180d90a3f</a:t>
            </a:r>
            <a:endParaRPr lang="en-US" altLang="zh-CN" sz="1150" dirty="0"/>
          </a:p>
        </p:txBody>
      </p:sp>
      <p:pic>
        <p:nvPicPr>
          <p:cNvPr id="2" name="图片 1" descr="src=http___pic4.zhimg.com_v2-e13f265ced6b2140e0c3809ffc9022e6_1200x500.jpg&amp;refer=http___pic4.zh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09320"/>
            <a:ext cx="7905750" cy="3860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Pandas</a:t>
            </a:r>
            <a:r>
              <a:rPr lang="zh-CN" altLang="en-US" dirty="0">
                <a:sym typeface="+mn-ea"/>
              </a:rPr>
              <a:t>入门大纲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6.1 读写文本格式的数据</a:t>
            </a:r>
            <a:endParaRPr lang="zh-CN"/>
          </a:p>
          <a:p>
            <a:pPr lvl="1"/>
            <a:r>
              <a:rPr lang="zh-CN" altLang="zh-CN"/>
              <a:t>逐块读取文本文件</a:t>
            </a:r>
            <a:endParaRPr lang="zh-CN" altLang="zh-CN"/>
          </a:p>
          <a:p>
            <a:pPr lvl="1"/>
            <a:r>
              <a:rPr lang="zh-CN" altLang="zh-CN"/>
              <a:t>将数据写出到文本格式</a:t>
            </a:r>
            <a:endParaRPr lang="zh-CN" altLang="zh-CN"/>
          </a:p>
          <a:p>
            <a:pPr lvl="1"/>
            <a:r>
              <a:rPr lang="zh-CN" altLang="zh-CN"/>
              <a:t>处理分隔符格式</a:t>
            </a:r>
            <a:endParaRPr lang="zh-CN" altLang="zh-CN"/>
          </a:p>
          <a:p>
            <a:pPr lvl="1"/>
            <a:r>
              <a:rPr lang="zh-CN" altLang="zh-CN"/>
              <a:t>JSON数据</a:t>
            </a:r>
            <a:endParaRPr lang="zh-CN" altLang="zh-CN"/>
          </a:p>
          <a:p>
            <a:pPr lvl="1"/>
            <a:r>
              <a:rPr lang="zh-CN" altLang="zh-CN"/>
              <a:t>XML和HTML：Web信息收集</a:t>
            </a:r>
            <a:endParaRPr lang="zh-CN" altLang="zh-CN"/>
          </a:p>
          <a:p>
            <a:r>
              <a:rPr lang="zh-CN" altLang="zh-CN"/>
              <a:t>6.2 二进制数据格式</a:t>
            </a:r>
            <a:endParaRPr lang="zh-CN" altLang="zh-CN"/>
          </a:p>
          <a:p>
            <a:pPr lvl="1"/>
            <a:r>
              <a:rPr lang="zh-CN" altLang="zh-CN"/>
              <a:t>使用HDF5格式</a:t>
            </a:r>
            <a:endParaRPr lang="zh-CN" altLang="zh-CN"/>
          </a:p>
          <a:p>
            <a:pPr lvl="1"/>
            <a:r>
              <a:rPr lang="zh-CN" altLang="zh-CN"/>
              <a:t>读取Microsoft Excel文件</a:t>
            </a:r>
            <a:endParaRPr lang="zh-CN" altLang="zh-CN"/>
          </a:p>
          <a:p>
            <a:r>
              <a:rPr lang="zh-CN" altLang="zh-CN"/>
              <a:t>6.3 Web APIs交互</a:t>
            </a:r>
            <a:endParaRPr lang="zh-CN" altLang="zh-CN"/>
          </a:p>
          <a:p>
            <a:r>
              <a:rPr lang="zh-CN" altLang="zh-CN"/>
              <a:t>6.4 数据库交互</a:t>
            </a:r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6.1 读写文本格式的数据</a:t>
            </a:r>
            <a:endParaRPr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p>
            <a:r>
              <a:rPr lang="zh-CN" b="1"/>
              <a:t>pandas表格解析函数</a:t>
            </a:r>
            <a:endParaRPr lang="zh-CN" b="1"/>
          </a:p>
        </p:txBody>
      </p:sp>
      <p:pic>
        <p:nvPicPr>
          <p:cNvPr id="5" name="图片 4" descr="readcsv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0370" y="1132205"/>
            <a:ext cx="7411085" cy="5106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可选参数类型</a:t>
            </a:r>
            <a:endParaRPr lang="zh-CN"/>
          </a:p>
          <a:p>
            <a:pPr lvl="1"/>
            <a:r>
              <a:rPr lang="zh-CN"/>
              <a:t>索引</a:t>
            </a:r>
            <a:endParaRPr lang="zh-CN"/>
          </a:p>
          <a:p>
            <a:pPr lvl="2"/>
            <a:r>
              <a:rPr lang="zh-CN"/>
              <a:t>将一个或多个列当做返回的DataFrame处理，以及是否从文件、用户获取列名。</a:t>
            </a:r>
            <a:endParaRPr lang="zh-CN"/>
          </a:p>
          <a:p>
            <a:pPr lvl="1"/>
            <a:r>
              <a:rPr lang="zh-CN"/>
              <a:t>类型推断和数据转换</a:t>
            </a:r>
            <a:endParaRPr lang="zh-CN"/>
          </a:p>
          <a:p>
            <a:pPr lvl="2"/>
            <a:r>
              <a:rPr lang="zh-CN"/>
              <a:t>包括用户定义值的转换、和自定义的缺失值标记列表等。</a:t>
            </a:r>
            <a:endParaRPr lang="zh-CN"/>
          </a:p>
          <a:p>
            <a:pPr lvl="1"/>
            <a:r>
              <a:rPr lang="zh-CN"/>
              <a:t>日期解析</a:t>
            </a:r>
            <a:endParaRPr lang="zh-CN"/>
          </a:p>
          <a:p>
            <a:pPr lvl="2"/>
            <a:r>
              <a:rPr lang="zh-CN"/>
              <a:t>包括组合功能，比如将分散在多个列中的日期时间信息组合成结果中的单个列。</a:t>
            </a:r>
            <a:endParaRPr lang="zh-CN"/>
          </a:p>
          <a:p>
            <a:pPr lvl="1"/>
            <a:r>
              <a:rPr lang="zh-CN"/>
              <a:t>迭代</a:t>
            </a:r>
            <a:endParaRPr lang="zh-CN"/>
          </a:p>
          <a:p>
            <a:pPr lvl="2"/>
            <a:r>
              <a:rPr lang="zh-CN"/>
              <a:t>支持对大文件进行逐块迭代。</a:t>
            </a:r>
            <a:endParaRPr lang="zh-CN"/>
          </a:p>
          <a:p>
            <a:pPr lvl="1"/>
            <a:r>
              <a:rPr lang="zh-CN"/>
              <a:t>不规整数据问题</a:t>
            </a:r>
            <a:endParaRPr lang="zh-CN"/>
          </a:p>
          <a:p>
            <a:pPr lvl="2"/>
            <a:r>
              <a:rPr lang="zh-CN"/>
              <a:t>跳过一些行、页脚、注释或其他一些不重要的东西（比如包含千分位分隔符的数值数据）。</a:t>
            </a:r>
            <a:endParaRPr lang="zh-CN"/>
          </a:p>
          <a:p>
            <a:pPr lvl="1"/>
            <a:endParaRPr 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现实问题</a:t>
            </a:r>
            <a:endParaRPr lang="zh-CN"/>
          </a:p>
          <a:p>
            <a:pPr lvl="1"/>
            <a:r>
              <a:rPr lang="zh-CN"/>
              <a:t>数据可能十分混乱</a:t>
            </a:r>
            <a:endParaRPr lang="zh-CN"/>
          </a:p>
          <a:p>
            <a:r>
              <a:rPr lang="zh-CN"/>
              <a:t>参数</a:t>
            </a:r>
            <a:endParaRPr lang="zh-CN"/>
          </a:p>
          <a:p>
            <a:pPr lvl="1"/>
            <a:r>
              <a:rPr lang="zh-CN"/>
              <a:t>越来越复杂，例如read_csv有超过50个参数</a:t>
            </a:r>
            <a:endParaRPr lang="zh-CN"/>
          </a:p>
          <a:p>
            <a:r>
              <a:rPr lang="zh-CN"/>
              <a:t>参数使用说明</a:t>
            </a:r>
            <a:endParaRPr lang="zh-CN"/>
          </a:p>
          <a:p>
            <a:pPr lvl="1"/>
            <a:r>
              <a:rPr lang="zh-CN"/>
              <a:t>查看文档</a:t>
            </a:r>
            <a:endParaRPr lang="zh-CN"/>
          </a:p>
          <a:p>
            <a:r>
              <a:rPr lang="zh-CN"/>
              <a:t>数据类型</a:t>
            </a:r>
            <a:endParaRPr lang="zh-CN"/>
          </a:p>
          <a:p>
            <a:pPr lvl="1"/>
            <a:r>
              <a:rPr lang="zh-CN">
                <a:sym typeface="+mn-ea"/>
              </a:rPr>
              <a:t>数据不包含类型：</a:t>
            </a:r>
            <a:r>
              <a:rPr lang="zh-CN">
                <a:sym typeface="+mn-ea"/>
              </a:rPr>
              <a:t>read_csv自动推断类型</a:t>
            </a:r>
            <a:endParaRPr lang="zh-CN"/>
          </a:p>
          <a:p>
            <a:pPr lvl="1"/>
            <a:r>
              <a:rPr lang="zh-CN"/>
              <a:t>包含数据类型的数据格式：</a:t>
            </a:r>
            <a:r>
              <a:rPr lang="en-US" altLang="zh-CN"/>
              <a:t>HDF5</a:t>
            </a:r>
            <a:r>
              <a:rPr lang="zh-CN" altLang="zh-CN"/>
              <a:t>、</a:t>
            </a:r>
            <a:r>
              <a:rPr lang="en-US" altLang="zh-CN"/>
              <a:t>Feather</a:t>
            </a:r>
            <a:r>
              <a:rPr lang="zh-CN" altLang="zh-CN"/>
              <a:t>和</a:t>
            </a:r>
            <a:r>
              <a:rPr lang="en-US" altLang="zh-CN"/>
              <a:t>msgpack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读取带列名的文本文件</a:t>
            </a:r>
            <a:endParaRPr lang="zh-CN"/>
          </a:p>
          <a:p>
            <a:pPr lvl="1"/>
            <a:r>
              <a:rPr lang="zh-CN"/>
              <a:t>read_csv</a:t>
            </a:r>
            <a:endParaRPr lang="zh-CN"/>
          </a:p>
          <a:p>
            <a:pPr lvl="1"/>
            <a:r>
              <a:rPr lang="zh-CN"/>
              <a:t>read_table</a:t>
            </a:r>
            <a:endParaRPr lang="zh-CN"/>
          </a:p>
          <a:p>
            <a:endParaRPr lang="zh-CN"/>
          </a:p>
          <a:p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7542530" y="1269365"/>
            <a:ext cx="4145915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[8]: !cat examples/ex1.csv</a:t>
            </a:r>
            <a:endParaRPr lang="zh-CN" altLang="en-US" sz="1400"/>
          </a:p>
          <a:p>
            <a:r>
              <a:rPr lang="zh-CN" altLang="en-US" sz="1400"/>
              <a:t>a,b,c,d,message</a:t>
            </a:r>
            <a:endParaRPr lang="zh-CN" altLang="en-US" sz="1400"/>
          </a:p>
          <a:p>
            <a:r>
              <a:rPr lang="zh-CN" altLang="en-US" sz="1400"/>
              <a:t>1,2,3,4,hello</a:t>
            </a:r>
            <a:endParaRPr lang="zh-CN" altLang="en-US" sz="1400"/>
          </a:p>
          <a:p>
            <a:r>
              <a:rPr lang="zh-CN" altLang="en-US" sz="1400"/>
              <a:t>5,6,7,8,world</a:t>
            </a:r>
            <a:endParaRPr lang="zh-CN" altLang="en-US" sz="1400"/>
          </a:p>
          <a:p>
            <a:r>
              <a:rPr lang="zh-CN" altLang="en-US" sz="1400"/>
              <a:t>9,10,11,12,foo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[9]: df = pd.read_csv('examples/ex1.csv')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[10]: df</a:t>
            </a:r>
            <a:endParaRPr lang="zh-CN" altLang="en-US" sz="1400"/>
          </a:p>
          <a:p>
            <a:r>
              <a:rPr lang="zh-CN" altLang="en-US" sz="1400"/>
              <a:t>Out[10]: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[11]: pd.read_table('examples/ex1.csv', sep=',')</a:t>
            </a:r>
            <a:endParaRPr lang="zh-CN" altLang="en-US" sz="1400"/>
          </a:p>
          <a:p>
            <a:r>
              <a:rPr lang="zh-CN" altLang="en-US" sz="1400"/>
              <a:t>Out[11]: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4191635" cy="5041265"/>
          </a:xfrm>
        </p:spPr>
        <p:txBody>
          <a:bodyPr/>
          <a:lstStyle/>
          <a:p>
            <a:r>
              <a:rPr lang="zh-CN"/>
              <a:t>读取不带列名文本文件</a:t>
            </a:r>
            <a:endParaRPr lang="zh-CN"/>
          </a:p>
          <a:p>
            <a:pPr lvl="1"/>
            <a:r>
              <a:rPr lang="zh-CN"/>
              <a:t>read_csv</a:t>
            </a:r>
            <a:endParaRPr lang="zh-CN"/>
          </a:p>
          <a:p>
            <a:pPr lvl="1"/>
            <a:r>
              <a:rPr lang="zh-CN"/>
              <a:t>可以让pandas为其分配默认的列名，也可以自己定义列名</a:t>
            </a:r>
            <a:endParaRPr lang="zh-CN"/>
          </a:p>
          <a:p>
            <a:endParaRPr lang="zh-CN"/>
          </a:p>
          <a:p>
            <a:endParaRPr lang="zh-CN"/>
          </a:p>
          <a:p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5035550" y="1269365"/>
            <a:ext cx="665289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[12]: !cat examples/ex2.csv</a:t>
            </a:r>
            <a:endParaRPr lang="zh-CN" altLang="en-US" sz="1400"/>
          </a:p>
          <a:p>
            <a:r>
              <a:rPr lang="zh-CN" altLang="en-US" sz="1400"/>
              <a:t>1,2,3,4,hello</a:t>
            </a:r>
            <a:endParaRPr lang="zh-CN" altLang="en-US" sz="1400"/>
          </a:p>
          <a:p>
            <a:r>
              <a:rPr lang="zh-CN" altLang="en-US" sz="1400"/>
              <a:t>5,6,7,8,world</a:t>
            </a:r>
            <a:endParaRPr lang="zh-CN" altLang="en-US" sz="1400"/>
          </a:p>
          <a:p>
            <a:r>
              <a:rPr lang="zh-CN" altLang="en-US" sz="1400"/>
              <a:t>9,10,11,12,foo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[13]: pd.read_csv('examples/ex2.csv', header=None)</a:t>
            </a:r>
            <a:endParaRPr lang="zh-CN" altLang="en-US" sz="1400"/>
          </a:p>
          <a:p>
            <a:r>
              <a:rPr lang="zh-CN" altLang="en-US" sz="1400"/>
              <a:t>Out[13]: </a:t>
            </a:r>
            <a:endParaRPr lang="zh-CN" altLang="en-US" sz="1400"/>
          </a:p>
          <a:p>
            <a:r>
              <a:rPr lang="zh-CN" altLang="en-US" sz="1400"/>
              <a:t>   0   1   2   3      4</a:t>
            </a:r>
            <a:endParaRPr lang="zh-CN" altLang="en-US" sz="1400"/>
          </a:p>
          <a:p>
            <a:r>
              <a:rPr lang="zh-CN" altLang="en-US" sz="1400"/>
              <a:t>0  1   2   3   4  hello</a:t>
            </a:r>
            <a:endParaRPr lang="zh-CN" altLang="en-US" sz="1400"/>
          </a:p>
          <a:p>
            <a:r>
              <a:rPr lang="zh-CN" altLang="en-US" sz="1400"/>
              <a:t>1  5   6   7   8  world</a:t>
            </a:r>
            <a:endParaRPr lang="zh-CN" altLang="en-US" sz="1400"/>
          </a:p>
          <a:p>
            <a:r>
              <a:rPr lang="zh-CN" altLang="en-US" sz="1400"/>
              <a:t>2  9  10  11  12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[14]: pd.read_csv('examples/ex2.csv', names=['a', 'b', 'c', 'd', 'message'])</a:t>
            </a:r>
            <a:endParaRPr lang="zh-CN" altLang="en-US" sz="1400"/>
          </a:p>
          <a:p>
            <a:r>
              <a:rPr lang="zh-CN" altLang="en-US" sz="1400"/>
              <a:t>Out[14]: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/>
              <a:t>指定索引列</a:t>
            </a:r>
            <a:endParaRPr lang="zh-CN"/>
          </a:p>
          <a:p>
            <a:r>
              <a:rPr lang="zh-CN"/>
              <a:t>多个列做成一个层次化索引</a:t>
            </a:r>
            <a:endParaRPr lang="zh-CN"/>
          </a:p>
          <a:p>
            <a:endParaRPr lang="zh-CN"/>
          </a:p>
          <a:p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5319395" y="1269365"/>
            <a:ext cx="636905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[15]: names = ['a', 'b', 'c', 'd', 'message']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[16]: pd.read_csv('examples/ex2.csv', names=names, index_col='message')</a:t>
            </a:r>
            <a:endParaRPr lang="zh-CN" altLang="en-US" sz="1400"/>
          </a:p>
          <a:p>
            <a:r>
              <a:rPr lang="zh-CN" altLang="en-US" sz="1400"/>
              <a:t>Out[16]: </a:t>
            </a:r>
            <a:endParaRPr lang="zh-CN" altLang="en-US" sz="1400"/>
          </a:p>
          <a:p>
            <a:r>
              <a:rPr lang="zh-CN" altLang="en-US" sz="1400"/>
              <a:t>         a   b   c   d</a:t>
            </a:r>
            <a:endParaRPr lang="zh-CN" altLang="en-US" sz="1400"/>
          </a:p>
          <a:p>
            <a:r>
              <a:rPr lang="zh-CN" altLang="en-US" sz="1400"/>
              <a:t>message               </a:t>
            </a:r>
            <a:endParaRPr lang="zh-CN" altLang="en-US" sz="1400"/>
          </a:p>
          <a:p>
            <a:r>
              <a:rPr lang="zh-CN" altLang="en-US" sz="1400"/>
              <a:t>hello    1   2   3   4</a:t>
            </a:r>
            <a:endParaRPr lang="zh-CN" altLang="en-US" sz="1400"/>
          </a:p>
          <a:p>
            <a:r>
              <a:rPr lang="zh-CN" altLang="en-US" sz="1400"/>
              <a:t>world    5   6   7   8</a:t>
            </a:r>
            <a:endParaRPr lang="zh-CN" altLang="en-US" sz="1400"/>
          </a:p>
          <a:p>
            <a:r>
              <a:rPr lang="zh-CN" altLang="en-US" sz="1400"/>
              <a:t>foo      9  10  11  12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[17]: !cat examples/csv_mindex.csv</a:t>
            </a:r>
            <a:endParaRPr lang="zh-CN" altLang="en-US" sz="1400"/>
          </a:p>
          <a:p>
            <a:r>
              <a:rPr lang="zh-CN" altLang="en-US" sz="1400"/>
              <a:t>key1,key2,value1,value2</a:t>
            </a:r>
            <a:endParaRPr lang="zh-CN" altLang="en-US" sz="1400"/>
          </a:p>
          <a:p>
            <a:r>
              <a:rPr lang="zh-CN" altLang="en-US" sz="1400"/>
              <a:t>one,a,1,2</a:t>
            </a:r>
            <a:endParaRPr lang="zh-CN" altLang="en-US" sz="1400"/>
          </a:p>
          <a:p>
            <a:r>
              <a:rPr lang="zh-CN" altLang="en-US" sz="1400"/>
              <a:t>one,b,3,4</a:t>
            </a:r>
            <a:endParaRPr lang="zh-CN" altLang="en-US" sz="1400"/>
          </a:p>
          <a:p>
            <a:r>
              <a:rPr lang="zh-CN" altLang="en-US" sz="1400"/>
              <a:t>one,c,5,6</a:t>
            </a:r>
            <a:endParaRPr lang="zh-CN" altLang="en-US" sz="1400"/>
          </a:p>
          <a:p>
            <a:r>
              <a:rPr lang="zh-CN" altLang="en-US" sz="1400"/>
              <a:t>one,d,7,8</a:t>
            </a:r>
            <a:endParaRPr lang="zh-CN" altLang="en-US" sz="1400"/>
          </a:p>
          <a:p>
            <a:r>
              <a:rPr lang="zh-CN" altLang="en-US" sz="1400"/>
              <a:t>two,a,9,10</a:t>
            </a:r>
            <a:endParaRPr lang="zh-CN" altLang="en-US" sz="1400"/>
          </a:p>
          <a:p>
            <a:r>
              <a:rPr lang="zh-CN" altLang="en-US" sz="1400"/>
              <a:t>two,b,11,12</a:t>
            </a:r>
            <a:endParaRPr lang="zh-CN" altLang="en-US" sz="1400"/>
          </a:p>
          <a:p>
            <a:r>
              <a:rPr lang="zh-CN" altLang="en-US" sz="1400"/>
              <a:t>two,c,13,14</a:t>
            </a:r>
            <a:endParaRPr lang="zh-CN" altLang="en-US" sz="1400"/>
          </a:p>
          <a:p>
            <a:r>
              <a:rPr lang="zh-CN" altLang="en-US" sz="1400"/>
              <a:t>two,d,15,16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85775" y="2997835"/>
            <a:ext cx="509778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[18]: parsed = pd.read_csv('examples/csv_mindex.csv',</a:t>
            </a:r>
            <a:endParaRPr lang="zh-CN" altLang="en-US" sz="1400"/>
          </a:p>
          <a:p>
            <a:r>
              <a:rPr lang="zh-CN" altLang="en-US" sz="1400"/>
              <a:t>   ....:                      index_col=['key1', 'key2'])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[19]: parsed</a:t>
            </a:r>
            <a:endParaRPr lang="zh-CN" altLang="en-US" sz="1400"/>
          </a:p>
          <a:p>
            <a:r>
              <a:rPr lang="zh-CN" altLang="en-US" sz="1400"/>
              <a:t>Out[19]: </a:t>
            </a:r>
            <a:endParaRPr lang="zh-CN" altLang="en-US" sz="1400"/>
          </a:p>
          <a:p>
            <a:r>
              <a:rPr lang="zh-CN" altLang="en-US" sz="1400"/>
              <a:t>           value1  value2</a:t>
            </a:r>
            <a:endParaRPr lang="zh-CN" altLang="en-US" sz="1400"/>
          </a:p>
          <a:p>
            <a:r>
              <a:rPr lang="zh-CN" altLang="en-US" sz="1400"/>
              <a:t>key1 key2                </a:t>
            </a:r>
            <a:endParaRPr lang="zh-CN" altLang="en-US" sz="1400"/>
          </a:p>
          <a:p>
            <a:r>
              <a:rPr lang="zh-CN" altLang="en-US" sz="1400"/>
              <a:t>one  a          1       2</a:t>
            </a:r>
            <a:endParaRPr lang="zh-CN" altLang="en-US" sz="1400"/>
          </a:p>
          <a:p>
            <a:r>
              <a:rPr lang="zh-CN" altLang="en-US" sz="1400"/>
              <a:t>     b          3       4</a:t>
            </a:r>
            <a:endParaRPr lang="zh-CN" altLang="en-US" sz="1400"/>
          </a:p>
          <a:p>
            <a:r>
              <a:rPr lang="zh-CN" altLang="en-US" sz="1400"/>
              <a:t>     c          5       6</a:t>
            </a:r>
            <a:endParaRPr lang="zh-CN" altLang="en-US" sz="1400"/>
          </a:p>
          <a:p>
            <a:r>
              <a:rPr lang="zh-CN" altLang="en-US" sz="1400"/>
              <a:t>     d          7       8</a:t>
            </a:r>
            <a:endParaRPr lang="zh-CN" altLang="en-US" sz="1400"/>
          </a:p>
          <a:p>
            <a:r>
              <a:rPr lang="zh-CN" altLang="en-US" sz="1400"/>
              <a:t>two  a          9      10</a:t>
            </a:r>
            <a:endParaRPr lang="zh-CN" altLang="en-US" sz="1400"/>
          </a:p>
          <a:p>
            <a:r>
              <a:rPr lang="zh-CN" altLang="en-US" sz="1400"/>
              <a:t>     b         11      12</a:t>
            </a:r>
            <a:endParaRPr lang="zh-CN" altLang="en-US" sz="1400"/>
          </a:p>
          <a:p>
            <a:r>
              <a:rPr lang="zh-CN" altLang="en-US" sz="1400"/>
              <a:t>     c         13      14</a:t>
            </a:r>
            <a:endParaRPr lang="zh-CN" altLang="en-US" sz="1400"/>
          </a:p>
          <a:p>
            <a:r>
              <a:rPr lang="zh-CN" altLang="en-US" sz="1400"/>
              <a:t>     d         15      16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5492115" cy="5041265"/>
          </a:xfrm>
        </p:spPr>
        <p:txBody>
          <a:bodyPr/>
          <a:lstStyle/>
          <a:p>
            <a:r>
              <a:rPr lang="zh-CN"/>
              <a:t>无固定的分隔符</a:t>
            </a:r>
            <a:endParaRPr lang="zh-CN"/>
          </a:p>
          <a:p>
            <a:pPr lvl="1"/>
            <a:r>
              <a:rPr lang="zh-CN"/>
              <a:t>正则表达式作为read_table的分隔符</a:t>
            </a:r>
            <a:endParaRPr lang="zh-CN"/>
          </a:p>
          <a:p>
            <a:pPr lvl="1"/>
            <a:r>
              <a:rPr lang="zh-CN"/>
              <a:t>由于列名比数据行的数量少，所以read_table推断第一列应该是DataFrame的索引</a:t>
            </a:r>
            <a:endParaRPr lang="zh-CN"/>
          </a:p>
          <a:p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6318250" y="1341755"/>
            <a:ext cx="5405755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[20]: list(open('examples/ex3.txt'))</a:t>
            </a:r>
            <a:endParaRPr lang="zh-CN" altLang="en-US" sz="1400"/>
          </a:p>
          <a:p>
            <a:r>
              <a:rPr lang="zh-CN" altLang="en-US" sz="1400"/>
              <a:t>Out[20]: </a:t>
            </a:r>
            <a:endParaRPr lang="zh-CN" altLang="en-US" sz="1400"/>
          </a:p>
          <a:p>
            <a:r>
              <a:rPr lang="zh-CN" altLang="en-US" sz="1400"/>
              <a:t>['            A         B         C\n',</a:t>
            </a:r>
            <a:endParaRPr lang="zh-CN" altLang="en-US" sz="1400"/>
          </a:p>
          <a:p>
            <a:r>
              <a:rPr lang="zh-CN" altLang="en-US" sz="1400"/>
              <a:t> 'aaa -0.264438 -1.026059 -0.619500\n',</a:t>
            </a:r>
            <a:endParaRPr lang="zh-CN" altLang="en-US" sz="1400"/>
          </a:p>
          <a:p>
            <a:r>
              <a:rPr lang="zh-CN" altLang="en-US" sz="1400"/>
              <a:t> 'bbb  0.927272  0.302904 -0.032399\n',</a:t>
            </a:r>
            <a:endParaRPr lang="zh-CN" altLang="en-US" sz="1400"/>
          </a:p>
          <a:p>
            <a:r>
              <a:rPr lang="zh-CN" altLang="en-US" sz="1400"/>
              <a:t> 'ccc -0.264273 -0.386314 -0.217601\n',</a:t>
            </a:r>
            <a:endParaRPr lang="zh-CN" altLang="en-US" sz="1400"/>
          </a:p>
          <a:p>
            <a:r>
              <a:rPr lang="zh-CN" altLang="en-US" sz="1400"/>
              <a:t> 'ddd -0.871858 -0.348382  1.100491\n']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[21]: result = pd.read_table('examples/ex3.txt', sep='\s+')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[22]: result</a:t>
            </a:r>
            <a:endParaRPr lang="zh-CN" altLang="en-US" sz="1400"/>
          </a:p>
          <a:p>
            <a:r>
              <a:rPr lang="zh-CN" altLang="en-US" sz="1400"/>
              <a:t>Out[22]: </a:t>
            </a:r>
            <a:endParaRPr lang="zh-CN" altLang="en-US" sz="1400"/>
          </a:p>
          <a:p>
            <a:r>
              <a:rPr lang="zh-CN" altLang="en-US" sz="1400"/>
              <a:t>            A         B         C</a:t>
            </a:r>
            <a:endParaRPr lang="zh-CN" altLang="en-US" sz="1400"/>
          </a:p>
          <a:p>
            <a:r>
              <a:rPr lang="zh-CN" altLang="en-US" sz="1400"/>
              <a:t>aaa -0.264438 -1.026059 -0.619500</a:t>
            </a:r>
            <a:endParaRPr lang="zh-CN" altLang="en-US" sz="1400"/>
          </a:p>
          <a:p>
            <a:r>
              <a:rPr lang="zh-CN" altLang="en-US" sz="1400"/>
              <a:t>bbb  0.927272  0.302904 -0.032399</a:t>
            </a:r>
            <a:endParaRPr lang="zh-CN" altLang="en-US" sz="1400"/>
          </a:p>
          <a:p>
            <a:r>
              <a:rPr lang="zh-CN" altLang="en-US" sz="1400"/>
              <a:t>ccc -0.264273 -0.386314 -0.217601</a:t>
            </a:r>
            <a:endParaRPr lang="zh-CN" altLang="en-US" sz="1400"/>
          </a:p>
          <a:p>
            <a:r>
              <a:rPr lang="zh-CN" altLang="en-US" sz="1400"/>
              <a:t>ddd -0.871858 -0.348382  1.100491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31855" cy="5041265"/>
          </a:xfrm>
        </p:spPr>
        <p:txBody>
          <a:bodyPr/>
          <a:lstStyle/>
          <a:p>
            <a:r>
              <a:rPr lang="zh-CN" altLang="en-US"/>
              <a:t>有效数据和无效数据混杂</a:t>
            </a:r>
            <a:endParaRPr lang="zh-CN" altLang="en-US"/>
          </a:p>
          <a:p>
            <a:pPr lvl="1"/>
            <a:r>
              <a:rPr lang="zh-CN" altLang="en-US"/>
              <a:t>skiprows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18250" y="1341755"/>
            <a:ext cx="5405755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[23]: !cat examples/ex4.csv</a:t>
            </a:r>
            <a:endParaRPr lang="zh-CN" altLang="en-US" sz="1400"/>
          </a:p>
          <a:p>
            <a:r>
              <a:rPr lang="zh-CN" altLang="en-US" sz="1400"/>
              <a:t># hey!</a:t>
            </a:r>
            <a:endParaRPr lang="zh-CN" altLang="en-US" sz="1400"/>
          </a:p>
          <a:p>
            <a:r>
              <a:rPr lang="zh-CN" altLang="en-US" sz="1400"/>
              <a:t>a,b,c,d,message</a:t>
            </a:r>
            <a:endParaRPr lang="zh-CN" altLang="en-US" sz="1400"/>
          </a:p>
          <a:p>
            <a:r>
              <a:rPr lang="zh-CN" altLang="en-US" sz="1400"/>
              <a:t># just wanted to make things more difficult for you</a:t>
            </a:r>
            <a:endParaRPr lang="zh-CN" altLang="en-US" sz="1400"/>
          </a:p>
          <a:p>
            <a:r>
              <a:rPr lang="zh-CN" altLang="en-US" sz="1400"/>
              <a:t># who reads CSV files with computers, anyway?</a:t>
            </a:r>
            <a:endParaRPr lang="zh-CN" altLang="en-US" sz="1400"/>
          </a:p>
          <a:p>
            <a:r>
              <a:rPr lang="zh-CN" altLang="en-US" sz="1400"/>
              <a:t>1,2,3,4,hello</a:t>
            </a:r>
            <a:endParaRPr lang="zh-CN" altLang="en-US" sz="1400"/>
          </a:p>
          <a:p>
            <a:r>
              <a:rPr lang="zh-CN" altLang="en-US" sz="1400"/>
              <a:t>5,6,7,8,world</a:t>
            </a:r>
            <a:endParaRPr lang="zh-CN" altLang="en-US" sz="1400"/>
          </a:p>
          <a:p>
            <a:r>
              <a:rPr lang="zh-CN" altLang="en-US" sz="1400"/>
              <a:t>9,10,11,12,foo</a:t>
            </a:r>
            <a:endParaRPr lang="zh-CN" altLang="en-US" sz="1400"/>
          </a:p>
          <a:p>
            <a:r>
              <a:rPr lang="zh-CN" altLang="en-US" sz="1400"/>
              <a:t>In [24]: pd.read_csv('examples/ex4.csv', skiprows=[0, 2, 3])</a:t>
            </a:r>
            <a:endParaRPr lang="zh-CN" altLang="en-US" sz="1400"/>
          </a:p>
          <a:p>
            <a:r>
              <a:rPr lang="zh-CN" altLang="en-US" sz="1400"/>
              <a:t>Out[24]: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5262880" cy="5041265"/>
          </a:xfrm>
        </p:spPr>
        <p:txBody>
          <a:bodyPr/>
          <a:lstStyle/>
          <a:p>
            <a:r>
              <a:rPr lang="zh-CN" altLang="en-US"/>
              <a:t>缺失值处理</a:t>
            </a:r>
            <a:endParaRPr lang="zh-CN" altLang="en-US"/>
          </a:p>
          <a:p>
            <a:pPr lvl="1"/>
            <a:r>
              <a:rPr lang="zh-CN" altLang="en-US"/>
              <a:t>默认情况下，pandas会用一组经常出现的标记值进行识别，比如NA及NULL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18250" y="1341755"/>
            <a:ext cx="540575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[25]: !cat examples/ex5.csv</a:t>
            </a:r>
            <a:endParaRPr lang="zh-CN" altLang="en-US" sz="1400"/>
          </a:p>
          <a:p>
            <a:r>
              <a:rPr lang="zh-CN" altLang="en-US" sz="1400"/>
              <a:t>something,a,b,c,d,message</a:t>
            </a:r>
            <a:endParaRPr lang="zh-CN" altLang="en-US" sz="1400"/>
          </a:p>
          <a:p>
            <a:r>
              <a:rPr lang="zh-CN" altLang="en-US" sz="1400"/>
              <a:t>one,1,2,3,4,NA</a:t>
            </a:r>
            <a:endParaRPr lang="zh-CN" altLang="en-US" sz="1400"/>
          </a:p>
          <a:p>
            <a:r>
              <a:rPr lang="zh-CN" altLang="en-US" sz="1400"/>
              <a:t>two,5,6,,8,world</a:t>
            </a:r>
            <a:endParaRPr lang="zh-CN" altLang="en-US" sz="1400"/>
          </a:p>
          <a:p>
            <a:r>
              <a:rPr lang="zh-CN" altLang="en-US" sz="1400"/>
              <a:t>three,9,10,11,12,foo</a:t>
            </a:r>
            <a:endParaRPr lang="zh-CN" altLang="en-US" sz="1400"/>
          </a:p>
          <a:p>
            <a:r>
              <a:rPr lang="zh-CN" altLang="en-US" sz="1400"/>
              <a:t>In [26]: result = pd.read_csv('examples/ex5.csv')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[27]: result</a:t>
            </a:r>
            <a:endParaRPr lang="zh-CN" altLang="en-US" sz="1400"/>
          </a:p>
          <a:p>
            <a:r>
              <a:rPr lang="zh-CN" altLang="en-US" sz="1400"/>
              <a:t>Out[27]: </a:t>
            </a:r>
            <a:endParaRPr lang="zh-CN" altLang="en-US" sz="1400"/>
          </a:p>
          <a:p>
            <a:r>
              <a:rPr lang="zh-CN" altLang="en-US" sz="1400"/>
              <a:t>  something  a   b     c   d message</a:t>
            </a:r>
            <a:endParaRPr lang="zh-CN" altLang="en-US" sz="1400"/>
          </a:p>
          <a:p>
            <a:r>
              <a:rPr lang="zh-CN" altLang="en-US" sz="1400"/>
              <a:t>0       one  1   2   3.0   4     NaN</a:t>
            </a:r>
            <a:endParaRPr lang="zh-CN" altLang="en-US" sz="1400"/>
          </a:p>
          <a:p>
            <a:r>
              <a:rPr lang="zh-CN" altLang="en-US" sz="1400"/>
              <a:t>1       two  5   6   NaN   8   world</a:t>
            </a:r>
            <a:endParaRPr lang="zh-CN" altLang="en-US" sz="1400"/>
          </a:p>
          <a:p>
            <a:r>
              <a:rPr lang="zh-CN" altLang="en-US" sz="1400"/>
              <a:t>2     three  9  10  11.0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[28]: pd.isnull(result)</a:t>
            </a:r>
            <a:endParaRPr lang="zh-CN" altLang="en-US" sz="1400"/>
          </a:p>
          <a:p>
            <a:r>
              <a:rPr lang="zh-CN" altLang="en-US" sz="1400"/>
              <a:t>Out[28]: </a:t>
            </a:r>
            <a:endParaRPr lang="zh-CN" altLang="en-US" sz="1400"/>
          </a:p>
          <a:p>
            <a:r>
              <a:rPr lang="zh-CN" altLang="en-US" sz="1400"/>
              <a:t>   something      a      b      c      d  message</a:t>
            </a:r>
            <a:endParaRPr lang="zh-CN" altLang="en-US" sz="1400"/>
          </a:p>
          <a:p>
            <a:r>
              <a:rPr lang="zh-CN" altLang="en-US" sz="1400"/>
              <a:t>0      False  False  False  False  False     True</a:t>
            </a:r>
            <a:endParaRPr lang="zh-CN" altLang="en-US" sz="1400"/>
          </a:p>
          <a:p>
            <a:r>
              <a:rPr lang="zh-CN" altLang="en-US" sz="1400"/>
              <a:t>1      False  False  False   True  False    False</a:t>
            </a:r>
            <a:endParaRPr lang="zh-CN" altLang="en-US" sz="1400"/>
          </a:p>
          <a:p>
            <a:r>
              <a:rPr lang="zh-CN" altLang="en-US" sz="1400"/>
              <a:t>2      False  False  False  False  False    False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5262880" cy="5041265"/>
          </a:xfrm>
        </p:spPr>
        <p:txBody>
          <a:bodyPr/>
          <a:lstStyle/>
          <a:p>
            <a:r>
              <a:rPr lang="zh-CN" altLang="en-US"/>
              <a:t>缺失值处理</a:t>
            </a:r>
            <a:endParaRPr lang="zh-CN" altLang="en-US"/>
          </a:p>
          <a:p>
            <a:pPr lvl="1"/>
            <a:r>
              <a:rPr lang="zh-CN" altLang="en-US"/>
              <a:t>na_values可以用一个列表或集合的字符串表示缺失值</a:t>
            </a:r>
            <a:endParaRPr lang="zh-CN" altLang="en-US"/>
          </a:p>
          <a:p>
            <a:pPr lvl="1"/>
            <a:r>
              <a:rPr lang="zh-CN" altLang="en-US"/>
              <a:t>字典的各列可以使用不同的NA标记值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18250" y="1341755"/>
            <a:ext cx="540575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[29]: result = pd.read_csv('examples/ex5.csv', na_values=['NULL'])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[30]: result</a:t>
            </a:r>
            <a:endParaRPr lang="zh-CN" altLang="en-US" sz="1400"/>
          </a:p>
          <a:p>
            <a:r>
              <a:rPr lang="zh-CN" altLang="en-US" sz="1400"/>
              <a:t>Out[30]: </a:t>
            </a:r>
            <a:endParaRPr lang="zh-CN" altLang="en-US" sz="1400"/>
          </a:p>
          <a:p>
            <a:r>
              <a:rPr lang="zh-CN" altLang="en-US" sz="1400"/>
              <a:t>  something  a   b     c   d message</a:t>
            </a:r>
            <a:endParaRPr lang="zh-CN" altLang="en-US" sz="1400"/>
          </a:p>
          <a:p>
            <a:r>
              <a:rPr lang="zh-CN" altLang="en-US" sz="1400"/>
              <a:t>0       one  1   2   3.0   4     NaN</a:t>
            </a:r>
            <a:endParaRPr lang="zh-CN" altLang="en-US" sz="1400"/>
          </a:p>
          <a:p>
            <a:r>
              <a:rPr lang="zh-CN" altLang="en-US" sz="1400"/>
              <a:t>1       two  5   6   NaN   8   world</a:t>
            </a:r>
            <a:endParaRPr lang="zh-CN" altLang="en-US" sz="1400"/>
          </a:p>
          <a:p>
            <a:r>
              <a:rPr lang="zh-CN" altLang="en-US" sz="1400"/>
              <a:t>2     three  9  10  11.0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[31]: sentinels = {'message': ['foo', 'NA'], 'something': ['two']}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[32]: pd.read_csv('examples/ex5.csv', na_values=sentinels)</a:t>
            </a:r>
            <a:endParaRPr lang="zh-CN" altLang="en-US" sz="1400"/>
          </a:p>
          <a:p>
            <a:r>
              <a:rPr lang="zh-CN" altLang="en-US" sz="1400"/>
              <a:t>Out[32]:</a:t>
            </a:r>
            <a:endParaRPr lang="zh-CN" altLang="en-US" sz="1400"/>
          </a:p>
          <a:p>
            <a:r>
              <a:rPr lang="zh-CN" altLang="en-US" sz="1400"/>
              <a:t>something  a   b     c   d message</a:t>
            </a:r>
            <a:endParaRPr lang="zh-CN" altLang="en-US" sz="1400"/>
          </a:p>
          <a:p>
            <a:r>
              <a:rPr lang="zh-CN" altLang="en-US" sz="1400"/>
              <a:t>0       one  1   2   3.0   4     NaN</a:t>
            </a:r>
            <a:endParaRPr lang="zh-CN" altLang="en-US" sz="1400"/>
          </a:p>
          <a:p>
            <a:r>
              <a:rPr lang="zh-CN" altLang="en-US" sz="1400"/>
              <a:t>1       NaN  5   6   NaN   8   world</a:t>
            </a:r>
            <a:endParaRPr lang="zh-CN" altLang="en-US" sz="1400"/>
          </a:p>
          <a:p>
            <a:r>
              <a:rPr lang="zh-CN" altLang="en-US" sz="1400"/>
              <a:t>2     three  9  10  11.0  12     NaN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>
                <a:sym typeface="+mn-ea"/>
              </a:rPr>
              <a:t>pandas.read_csv和pandas.read_table常用的选</a:t>
            </a:r>
            <a:r>
              <a:rPr lang="zh-CN" altLang="en-US"/>
              <a:t>项</a:t>
            </a:r>
            <a:endParaRPr lang="zh-CN" altLang="en-US"/>
          </a:p>
        </p:txBody>
      </p:sp>
      <p:pic>
        <p:nvPicPr>
          <p:cNvPr id="5" name="图片 4" descr="read_tabl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855" y="1917700"/>
            <a:ext cx="7463790" cy="4168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>
                <a:sym typeface="+mn-ea"/>
              </a:rPr>
              <a:t>pandas.read_csv和pandas.read_table常用的选</a:t>
            </a:r>
            <a:r>
              <a:rPr lang="zh-CN" altLang="en-US"/>
              <a:t>项</a:t>
            </a:r>
            <a:endParaRPr lang="zh-CN" altLang="en-US"/>
          </a:p>
        </p:txBody>
      </p:sp>
      <p:pic>
        <p:nvPicPr>
          <p:cNvPr id="4" name="图片 3" descr="read_table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59050" y="1915160"/>
            <a:ext cx="7395845" cy="4320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 读写文本格式的数据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>
                <a:sym typeface="+mn-ea"/>
              </a:rPr>
              <a:t>pandas.read_csv和pandas.read_table常用的选</a:t>
            </a:r>
            <a:r>
              <a:rPr lang="zh-CN" altLang="en-US"/>
              <a:t>项</a:t>
            </a:r>
            <a:endParaRPr lang="zh-CN" altLang="en-US"/>
          </a:p>
        </p:txBody>
      </p:sp>
      <p:pic>
        <p:nvPicPr>
          <p:cNvPr id="4" name="图片 3" descr="read_table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855" y="2637155"/>
            <a:ext cx="8395970" cy="2620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.1</a:t>
            </a:r>
            <a:r>
              <a:rPr dirty="0">
                <a:sym typeface="+mn-ea"/>
              </a:rPr>
              <a:t> 逐块读取文本文件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处理很大的文件时，读取文件的一小部分或逐块对文件进行迭代</a:t>
            </a:r>
            <a:endParaRPr lang="zh-CN" altLang="en-US"/>
          </a:p>
          <a:p>
            <a:pPr lvl="1"/>
            <a:r>
              <a:rPr lang="zh-CN" altLang="en-US"/>
              <a:t>设置显示的列数</a:t>
            </a:r>
            <a:endParaRPr lang="zh-CN" altLang="en-US"/>
          </a:p>
          <a:p>
            <a:pPr lvl="1"/>
            <a:r>
              <a:rPr lang="zh-CN" altLang="en-US"/>
              <a:t>nrows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94195" y="1838960"/>
            <a:ext cx="498856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[33]: pd.options.display.max_rows = 10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[34]: result = pd.read_csv('examples/ex6.csv')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[35]: result</a:t>
            </a:r>
            <a:endParaRPr lang="zh-CN" altLang="en-US" sz="1400"/>
          </a:p>
          <a:p>
            <a:r>
              <a:rPr lang="zh-CN" altLang="en-US" sz="1400"/>
              <a:t>Out[35]: </a:t>
            </a:r>
            <a:endParaRPr lang="zh-CN" altLang="en-US" sz="1400"/>
          </a:p>
          <a:p>
            <a:r>
              <a:rPr lang="zh-CN" altLang="en-US" sz="1400"/>
              <a:t>           one       two     three      four key</a:t>
            </a:r>
            <a:endParaRPr lang="zh-CN" altLang="en-US" sz="1400"/>
          </a:p>
          <a:p>
            <a:r>
              <a:rPr lang="zh-CN" altLang="en-US" sz="1400"/>
              <a:t>0     0.467976 -0.038649 -0.295344 -1.824726   L</a:t>
            </a:r>
            <a:endParaRPr lang="zh-CN" altLang="en-US" sz="1400"/>
          </a:p>
          <a:p>
            <a:r>
              <a:rPr lang="zh-CN" altLang="en-US" sz="1400"/>
              <a:t>1    -0.358893  1.404453  0.704965 -0.200638   B</a:t>
            </a:r>
            <a:endParaRPr lang="zh-CN" altLang="en-US" sz="1400"/>
          </a:p>
          <a:p>
            <a:r>
              <a:rPr lang="zh-CN" altLang="en-US" sz="1400"/>
              <a:t>2    -0.501840  0.659254 -0.421691 -0.057688   G</a:t>
            </a:r>
            <a:endParaRPr lang="zh-CN" altLang="en-US" sz="1400"/>
          </a:p>
          <a:p>
            <a:r>
              <a:rPr lang="zh-CN" altLang="en-US" sz="1400"/>
              <a:t>3     0.204886  1.074134  1.388361 -0.982404   R</a:t>
            </a:r>
            <a:endParaRPr lang="zh-CN" altLang="en-US" sz="1400"/>
          </a:p>
          <a:p>
            <a:r>
              <a:rPr lang="zh-CN" altLang="en-US" sz="1400"/>
              <a:t>4     0.354628 -0.133116  0.283763 -0.837063   Q</a:t>
            </a:r>
            <a:endParaRPr lang="zh-CN" altLang="en-US" sz="1400"/>
          </a:p>
          <a:p>
            <a:r>
              <a:rPr lang="zh-CN" altLang="en-US" sz="1400"/>
              <a:t>...        ...       ...       ...       ...  ..</a:t>
            </a:r>
            <a:endParaRPr lang="zh-CN" altLang="en-US" sz="1400"/>
          </a:p>
          <a:p>
            <a:r>
              <a:rPr lang="zh-CN" altLang="en-US" sz="1400"/>
              <a:t>9995  2.311896 -0.417070 -1.409599 -0.515821   L</a:t>
            </a:r>
            <a:endParaRPr lang="zh-CN" altLang="en-US" sz="1400"/>
          </a:p>
          <a:p>
            <a:r>
              <a:rPr lang="zh-CN" altLang="en-US" sz="1400"/>
              <a:t>9996 -0.479893 -0.650419  0.745152 -0.646038   E</a:t>
            </a:r>
            <a:endParaRPr lang="zh-CN" altLang="en-US" sz="1400"/>
          </a:p>
          <a:p>
            <a:r>
              <a:rPr lang="zh-CN" altLang="en-US" sz="1400"/>
              <a:t>9997  0.523331  0.787112  0.486066  1.093156   K</a:t>
            </a:r>
            <a:endParaRPr lang="zh-CN" altLang="en-US" sz="1400"/>
          </a:p>
          <a:p>
            <a:r>
              <a:rPr lang="zh-CN" altLang="en-US" sz="1400"/>
              <a:t>9998 -0.362559  0.598894 -1.843201  0.887292   G</a:t>
            </a:r>
            <a:endParaRPr lang="zh-CN" altLang="en-US" sz="1400"/>
          </a:p>
          <a:p>
            <a:r>
              <a:rPr lang="zh-CN" altLang="en-US" sz="1400"/>
              <a:t>9999 -0.096376 -1.012999 -0.657431 -0.573315   0</a:t>
            </a:r>
            <a:endParaRPr lang="zh-CN" altLang="en-US" sz="1400"/>
          </a:p>
          <a:p>
            <a:r>
              <a:rPr lang="zh-CN" altLang="en-US" sz="1400"/>
              <a:t>[10000 rows x 5 columns]</a:t>
            </a:r>
            <a:endParaRPr lang="zh-CN" altLang="en-US" sz="1400"/>
          </a:p>
          <a:p>
            <a:r>
              <a:rPr lang="zh-CN" altLang="en-US" sz="1400"/>
              <a:t>If you want to only read a small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1350010" y="4077970"/>
            <a:ext cx="503364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[36]: pd.read_csv('examples/ex6.csv', nrows=5)</a:t>
            </a:r>
            <a:endParaRPr lang="zh-CN" altLang="en-US" sz="1400"/>
          </a:p>
          <a:p>
            <a:r>
              <a:rPr lang="zh-CN" altLang="en-US" sz="1400"/>
              <a:t>Out[36]: </a:t>
            </a:r>
            <a:endParaRPr lang="zh-CN" altLang="en-US" sz="1400"/>
          </a:p>
          <a:p>
            <a:r>
              <a:rPr lang="zh-CN" altLang="en-US" sz="1400"/>
              <a:t>        one       two     three      four key</a:t>
            </a:r>
            <a:endParaRPr lang="zh-CN" altLang="en-US" sz="1400"/>
          </a:p>
          <a:p>
            <a:r>
              <a:rPr lang="zh-CN" altLang="en-US" sz="1400"/>
              <a:t>0  0.467976 -0.038649 -0.295344 -1.824726   L</a:t>
            </a:r>
            <a:endParaRPr lang="zh-CN" altLang="en-US" sz="1400"/>
          </a:p>
          <a:p>
            <a:r>
              <a:rPr lang="zh-CN" altLang="en-US" sz="1400"/>
              <a:t>1 -0.358893  1.404453  0.704965 -0.200638   B</a:t>
            </a:r>
            <a:endParaRPr lang="zh-CN" altLang="en-US" sz="1400"/>
          </a:p>
          <a:p>
            <a:r>
              <a:rPr lang="zh-CN" altLang="en-US" sz="1400"/>
              <a:t>2 -0.501840  0.659254 -0.421691 -0.057688   G</a:t>
            </a:r>
            <a:endParaRPr lang="zh-CN" altLang="en-US" sz="1400"/>
          </a:p>
          <a:p>
            <a:r>
              <a:rPr lang="zh-CN" altLang="en-US" sz="1400"/>
              <a:t>3  0.204886  1.074134  1.388361 -0.982404   R</a:t>
            </a:r>
            <a:endParaRPr lang="zh-CN" altLang="en-US" sz="1400"/>
          </a:p>
          <a:p>
            <a:r>
              <a:rPr lang="zh-CN" altLang="en-US" sz="1400"/>
              <a:t>4  0.354628 -0.133116  0.283763 -0.837063   Q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.1</a:t>
            </a:r>
            <a:r>
              <a:rPr dirty="0">
                <a:sym typeface="+mn-ea"/>
              </a:rPr>
              <a:t> 逐块读取文本文件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zh-CN" altLang="en-US"/>
              <a:t>处理很大的文件时，读取文件的一小部分或逐块对文件进行迭代</a:t>
            </a:r>
            <a:endParaRPr lang="zh-CN" altLang="en-US"/>
          </a:p>
          <a:p>
            <a:pPr lvl="1"/>
            <a:r>
              <a:rPr lang="zh-CN" altLang="en-US"/>
              <a:t>逐块读取文件chunksize</a:t>
            </a:r>
            <a:endParaRPr lang="zh-CN" altLang="en-US"/>
          </a:p>
          <a:p>
            <a:pPr lvl="1"/>
            <a:r>
              <a:rPr lang="zh-CN" altLang="en-US"/>
              <a:t>返回可迭代对象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94195" y="1838960"/>
            <a:ext cx="498856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[874]: chunker = pd.read_csv('ch06/ex6.csv', chunksize=1000)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[875]: chunker</a:t>
            </a:r>
            <a:endParaRPr lang="zh-CN" altLang="en-US" sz="1400"/>
          </a:p>
          <a:p>
            <a:r>
              <a:rPr lang="zh-CN" altLang="en-US" sz="1400"/>
              <a:t>Out[875]: &lt;pandas.io.parsers.TextParser at 0x8398150&gt;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5742305" y="3861435"/>
            <a:ext cx="597027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chunker = pd.read_csv('examples/ex6.csv', chunksize=1000)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tot = pd.Series([])</a:t>
            </a:r>
            <a:endParaRPr lang="zh-CN" altLang="en-US" sz="1400"/>
          </a:p>
          <a:p>
            <a:r>
              <a:rPr lang="zh-CN" altLang="en-US" sz="1400"/>
              <a:t>for piece in chunker:</a:t>
            </a:r>
            <a:endParaRPr lang="zh-CN" altLang="en-US" sz="1400"/>
          </a:p>
          <a:p>
            <a:r>
              <a:rPr lang="zh-CN" altLang="en-US" sz="1400"/>
              <a:t>    tot = tot.add(piece['key'].value_counts(), fill_value=0)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tot = tot.sort_values(ascending=False)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1133475" y="3285490"/>
            <a:ext cx="254000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[40]: tot[:10]</a:t>
            </a:r>
            <a:endParaRPr lang="zh-CN" altLang="en-US" sz="1400"/>
          </a:p>
          <a:p>
            <a:r>
              <a:rPr lang="zh-CN" altLang="en-US" sz="1400"/>
              <a:t>Out[40]: </a:t>
            </a:r>
            <a:endParaRPr lang="zh-CN" altLang="en-US" sz="1400"/>
          </a:p>
          <a:p>
            <a:r>
              <a:rPr lang="zh-CN" altLang="en-US" sz="1400"/>
              <a:t>E    368.0</a:t>
            </a:r>
            <a:endParaRPr lang="zh-CN" altLang="en-US" sz="1400"/>
          </a:p>
          <a:p>
            <a:r>
              <a:rPr lang="zh-CN" altLang="en-US" sz="1400"/>
              <a:t>X    364.0</a:t>
            </a:r>
            <a:endParaRPr lang="zh-CN" altLang="en-US" sz="1400"/>
          </a:p>
          <a:p>
            <a:r>
              <a:rPr lang="zh-CN" altLang="en-US" sz="1400"/>
              <a:t>L    346.0</a:t>
            </a:r>
            <a:endParaRPr lang="zh-CN" altLang="en-US" sz="1400"/>
          </a:p>
          <a:p>
            <a:r>
              <a:rPr lang="zh-CN" altLang="en-US" sz="1400"/>
              <a:t>O    343.0</a:t>
            </a:r>
            <a:endParaRPr lang="zh-CN" altLang="en-US" sz="1400"/>
          </a:p>
          <a:p>
            <a:r>
              <a:rPr lang="zh-CN" altLang="en-US" sz="1400"/>
              <a:t>Q    340.0</a:t>
            </a:r>
            <a:endParaRPr lang="zh-CN" altLang="en-US" sz="1400"/>
          </a:p>
          <a:p>
            <a:r>
              <a:rPr lang="zh-CN" altLang="en-US" sz="1400"/>
              <a:t>M    338.0</a:t>
            </a:r>
            <a:endParaRPr lang="zh-CN" altLang="en-US" sz="1400"/>
          </a:p>
          <a:p>
            <a:r>
              <a:rPr lang="zh-CN" altLang="en-US" sz="1400"/>
              <a:t>J    337.0</a:t>
            </a:r>
            <a:endParaRPr lang="zh-CN" altLang="en-US" sz="1400"/>
          </a:p>
          <a:p>
            <a:r>
              <a:rPr lang="zh-CN" altLang="en-US" sz="1400"/>
              <a:t>F    335.0</a:t>
            </a:r>
            <a:endParaRPr lang="zh-CN" altLang="en-US" sz="1400"/>
          </a:p>
          <a:p>
            <a:r>
              <a:rPr lang="zh-CN" altLang="en-US" sz="1400"/>
              <a:t>K    334.0</a:t>
            </a:r>
            <a:endParaRPr lang="zh-CN" altLang="en-US" sz="1400"/>
          </a:p>
          <a:p>
            <a:r>
              <a:rPr lang="zh-CN" altLang="en-US" sz="1400"/>
              <a:t>H    330.0</a:t>
            </a:r>
            <a:endParaRPr lang="zh-CN" altLang="en-US" sz="1400"/>
          </a:p>
          <a:p>
            <a:r>
              <a:rPr lang="zh-CN" altLang="en-US" sz="1400"/>
              <a:t>dtype: float64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.2 </a:t>
            </a:r>
            <a:r>
              <a:rPr lang="zh-CN" altLang="en-US">
                <a:sym typeface="+mn-ea"/>
              </a:rPr>
              <a:t>将数据写出到文本格式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en-US" altLang="zh-CN"/>
              <a:t>df.to_csv</a:t>
            </a:r>
            <a:endParaRPr lang="en-US" altLang="zh-CN"/>
          </a:p>
          <a:p>
            <a:pPr lvl="1"/>
            <a:r>
              <a:rPr lang="zh-CN" altLang="en-US"/>
              <a:t>指定分隔符</a:t>
            </a:r>
            <a:r>
              <a:rPr lang="en-US" altLang="zh-CN"/>
              <a:t>sep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22440" y="1341120"/>
            <a:ext cx="498856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[41]: data = pd.read_csv('examples/ex5.csv')</a:t>
            </a:r>
            <a:endParaRPr lang="zh-CN" altLang="en-US" sz="1400"/>
          </a:p>
          <a:p>
            <a:r>
              <a:rPr lang="zh-CN" altLang="en-US" sz="1400"/>
              <a:t>In [42]: data</a:t>
            </a:r>
            <a:endParaRPr lang="zh-CN" altLang="en-US" sz="1400"/>
          </a:p>
          <a:p>
            <a:r>
              <a:rPr lang="zh-CN" altLang="en-US" sz="1400"/>
              <a:t>Out[42]: </a:t>
            </a:r>
            <a:endParaRPr lang="zh-CN" altLang="en-US" sz="1400"/>
          </a:p>
          <a:p>
            <a:r>
              <a:rPr lang="zh-CN" altLang="en-US" sz="1400"/>
              <a:t>  something  a   b     c   d message</a:t>
            </a:r>
            <a:endParaRPr lang="zh-CN" altLang="en-US" sz="1400"/>
          </a:p>
          <a:p>
            <a:r>
              <a:rPr lang="zh-CN" altLang="en-US" sz="1400"/>
              <a:t>0       one  1   2   3.0   4     NaN</a:t>
            </a:r>
            <a:endParaRPr lang="zh-CN" altLang="en-US" sz="1400"/>
          </a:p>
          <a:p>
            <a:r>
              <a:rPr lang="zh-CN" altLang="en-US" sz="1400"/>
              <a:t>1       two  5   6   NaN   8   world</a:t>
            </a:r>
            <a:endParaRPr lang="zh-CN" altLang="en-US" sz="1400"/>
          </a:p>
          <a:p>
            <a:r>
              <a:rPr lang="zh-CN" altLang="en-US" sz="1400"/>
              <a:t>2     three  9  10  11.0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[43]: data.to_csv('examples/out.csv')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[44]: !cat examples/out.csv</a:t>
            </a:r>
            <a:endParaRPr lang="zh-CN" altLang="en-US" sz="1400"/>
          </a:p>
          <a:p>
            <a:r>
              <a:rPr lang="zh-CN" altLang="en-US" sz="1400"/>
              <a:t>,something,a,b,c,d,message</a:t>
            </a:r>
            <a:endParaRPr lang="zh-CN" altLang="en-US" sz="1400"/>
          </a:p>
          <a:p>
            <a:r>
              <a:rPr lang="zh-CN" altLang="en-US" sz="1400"/>
              <a:t>0,one,1,2,3.0,4,</a:t>
            </a:r>
            <a:endParaRPr lang="zh-CN" altLang="en-US" sz="1400"/>
          </a:p>
          <a:p>
            <a:r>
              <a:rPr lang="zh-CN" altLang="en-US" sz="1400"/>
              <a:t>1,two,5,6,,8,world</a:t>
            </a:r>
            <a:endParaRPr lang="zh-CN" altLang="en-US" sz="1400"/>
          </a:p>
          <a:p>
            <a:r>
              <a:rPr lang="zh-CN" altLang="en-US" sz="1400"/>
              <a:t>2,three,9,10,11.0,12,foo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[45]: import sys</a:t>
            </a:r>
            <a:endParaRPr lang="zh-CN" altLang="en-US" sz="1400"/>
          </a:p>
          <a:p>
            <a:r>
              <a:rPr lang="zh-CN" altLang="en-US" sz="1400"/>
              <a:t>In [46]: data.to_csv(sys.stdout, sep='|')</a:t>
            </a:r>
            <a:endParaRPr lang="zh-CN" altLang="en-US" sz="1400"/>
          </a:p>
          <a:p>
            <a:r>
              <a:rPr lang="zh-CN" altLang="en-US" sz="1400"/>
              <a:t>|something|a|b|c|d|message</a:t>
            </a:r>
            <a:endParaRPr lang="zh-CN" altLang="en-US" sz="1400"/>
          </a:p>
          <a:p>
            <a:r>
              <a:rPr lang="zh-CN" altLang="en-US" sz="1400"/>
              <a:t>0|one|1|2|3.0|4|</a:t>
            </a:r>
            <a:endParaRPr lang="zh-CN" altLang="en-US" sz="1400"/>
          </a:p>
          <a:p>
            <a:r>
              <a:rPr lang="zh-CN" altLang="en-US" sz="1400"/>
              <a:t>1|two|5|6||8|world</a:t>
            </a:r>
            <a:endParaRPr lang="zh-CN" altLang="en-US" sz="1400"/>
          </a:p>
          <a:p>
            <a:r>
              <a:rPr lang="zh-CN" altLang="en-US" sz="1400"/>
              <a:t>2|three|9|10|11.0|12|foo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.2 </a:t>
            </a:r>
            <a:r>
              <a:rPr lang="zh-CN" altLang="en-US">
                <a:sym typeface="+mn-ea"/>
              </a:rPr>
              <a:t>将数据写出到文本格式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en-US" altLang="zh-CN"/>
              <a:t>df.to_csv</a:t>
            </a:r>
            <a:endParaRPr lang="en-US" altLang="zh-CN"/>
          </a:p>
          <a:p>
            <a:pPr lvl="1"/>
            <a:r>
              <a:rPr lang="zh-CN"/>
              <a:t>标记缺失值</a:t>
            </a:r>
            <a:r>
              <a:rPr lang="en-US" altLang="zh-CN"/>
              <a:t>na_rep</a:t>
            </a:r>
            <a:endParaRPr lang="en-US" altLang="zh-CN"/>
          </a:p>
          <a:p>
            <a:pPr lvl="1"/>
            <a:r>
              <a:rPr lang="zh-CN" altLang="en-US"/>
              <a:t>行标签</a:t>
            </a:r>
            <a:r>
              <a:rPr lang="en-US" altLang="zh-CN"/>
              <a:t>index</a:t>
            </a:r>
            <a:endParaRPr lang="en-US" altLang="zh-CN"/>
          </a:p>
          <a:p>
            <a:pPr lvl="1"/>
            <a:r>
              <a:rPr lang="zh-CN" altLang="en-US"/>
              <a:t>列标签</a:t>
            </a:r>
            <a:r>
              <a:rPr lang="en-US" altLang="zh-CN"/>
              <a:t>header</a:t>
            </a:r>
            <a:endParaRPr lang="en-US" altLang="zh-CN"/>
          </a:p>
          <a:p>
            <a:pPr lvl="1"/>
            <a:r>
              <a:rPr lang="zh-CN" altLang="en-US"/>
              <a:t>保存指定列columns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22440" y="1341120"/>
            <a:ext cx="4988560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[45]: import sys</a:t>
            </a:r>
            <a:endParaRPr lang="zh-CN" altLang="en-US" sz="1400"/>
          </a:p>
          <a:p>
            <a:r>
              <a:rPr lang="zh-CN" altLang="en-US" sz="1400"/>
              <a:t>In [46]: data.to_csv(sys.stdout, sep='|')</a:t>
            </a:r>
            <a:endParaRPr lang="zh-CN" altLang="en-US" sz="1400"/>
          </a:p>
          <a:p>
            <a:r>
              <a:rPr lang="zh-CN" altLang="en-US" sz="1400"/>
              <a:t>|something|a|b|c|d|message</a:t>
            </a:r>
            <a:endParaRPr lang="zh-CN" altLang="en-US" sz="1400"/>
          </a:p>
          <a:p>
            <a:r>
              <a:rPr lang="zh-CN" altLang="en-US" sz="1400"/>
              <a:t>0|one|1|2|3.0|4|</a:t>
            </a:r>
            <a:endParaRPr lang="zh-CN" altLang="en-US" sz="1400"/>
          </a:p>
          <a:p>
            <a:r>
              <a:rPr lang="zh-CN" altLang="en-US" sz="1400"/>
              <a:t>1|two|5|6||8|world</a:t>
            </a:r>
            <a:endParaRPr lang="zh-CN" altLang="en-US" sz="1400"/>
          </a:p>
          <a:p>
            <a:r>
              <a:rPr lang="zh-CN" altLang="en-US" sz="1400"/>
              <a:t>2|three|9|10|11.0|12|foo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[47]: data.to_csv(sys.stdout, na_rep='NULL')</a:t>
            </a:r>
            <a:endParaRPr lang="zh-CN" altLang="en-US" sz="1400"/>
          </a:p>
          <a:p>
            <a:r>
              <a:rPr lang="zh-CN" altLang="en-US" sz="1400"/>
              <a:t>,something,a,b,c,d,message</a:t>
            </a:r>
            <a:endParaRPr lang="zh-CN" altLang="en-US" sz="1400"/>
          </a:p>
          <a:p>
            <a:r>
              <a:rPr lang="zh-CN" altLang="en-US" sz="1400"/>
              <a:t>0,one,1,2,3.0,4,NULL</a:t>
            </a:r>
            <a:endParaRPr lang="zh-CN" altLang="en-US" sz="1400"/>
          </a:p>
          <a:p>
            <a:r>
              <a:rPr lang="zh-CN" altLang="en-US" sz="1400"/>
              <a:t>1,two,5,6,NULL,8,world</a:t>
            </a:r>
            <a:endParaRPr lang="zh-CN" altLang="en-US" sz="1400"/>
          </a:p>
          <a:p>
            <a:r>
              <a:rPr lang="zh-CN" altLang="en-US" sz="1400"/>
              <a:t>2,three,9,10,11.0,12,foo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[48]: data.to_csv(sys.stdout, index=False, header=False)</a:t>
            </a:r>
            <a:endParaRPr lang="zh-CN" altLang="en-US" sz="1400"/>
          </a:p>
          <a:p>
            <a:r>
              <a:rPr lang="zh-CN" altLang="en-US" sz="1400"/>
              <a:t>one,1,2,3.0,4,</a:t>
            </a:r>
            <a:endParaRPr lang="zh-CN" altLang="en-US" sz="1400"/>
          </a:p>
          <a:p>
            <a:r>
              <a:rPr lang="zh-CN" altLang="en-US" sz="1400"/>
              <a:t>two,5,6,,8,world</a:t>
            </a:r>
            <a:endParaRPr lang="zh-CN" altLang="en-US" sz="1400"/>
          </a:p>
          <a:p>
            <a:r>
              <a:rPr lang="zh-CN" altLang="en-US" sz="1400"/>
              <a:t>three,9,10,11.0,12,foo</a:t>
            </a:r>
            <a:endParaRPr lang="zh-CN" altLang="en-US" sz="1400"/>
          </a:p>
          <a:p>
            <a:r>
              <a:rPr lang="zh-CN" altLang="en-US" sz="1400"/>
              <a:t>In [49]: data.to_csv(sys.stdout, index=False, columns=['a', 'b', 'c'])</a:t>
            </a:r>
            <a:endParaRPr lang="zh-CN" altLang="en-US" sz="1400"/>
          </a:p>
          <a:p>
            <a:r>
              <a:rPr lang="zh-CN" altLang="en-US" sz="1400"/>
              <a:t>a,b,c</a:t>
            </a:r>
            <a:endParaRPr lang="zh-CN" altLang="en-US" sz="1400"/>
          </a:p>
          <a:p>
            <a:r>
              <a:rPr lang="zh-CN" altLang="en-US" sz="1400"/>
              <a:t>1,2,3.0</a:t>
            </a:r>
            <a:endParaRPr lang="zh-CN" altLang="en-US" sz="1400"/>
          </a:p>
          <a:p>
            <a:r>
              <a:rPr lang="zh-CN" altLang="en-US" sz="1400"/>
              <a:t>5,6,</a:t>
            </a:r>
            <a:endParaRPr lang="zh-CN" altLang="en-US" sz="1400"/>
          </a:p>
          <a:p>
            <a:r>
              <a:rPr lang="zh-CN" altLang="en-US" sz="1400"/>
              <a:t>9,10,11.0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.2 </a:t>
            </a:r>
            <a:r>
              <a:rPr lang="zh-CN" altLang="en-US">
                <a:sym typeface="+mn-ea"/>
              </a:rPr>
              <a:t>将数据写出到文本格式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rPr lang="en-US" altLang="zh-CN"/>
              <a:t>Series</a:t>
            </a:r>
            <a:r>
              <a:rPr lang="zh-CN" altLang="en-US"/>
              <a:t>的</a:t>
            </a:r>
            <a:r>
              <a:rPr lang="en-US" altLang="zh-CN"/>
              <a:t>to_csv方法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22440" y="1341120"/>
            <a:ext cx="498856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[50]: dates = pd.date_range('1/1/2000', periods=7)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[51]: ts = pd.Series(np.arange(7), index=dates)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[52]: ts.to_csv('examples/tseries.csv')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[53]: !cat examples/tseries.csv</a:t>
            </a:r>
            <a:endParaRPr lang="zh-CN" altLang="en-US" sz="1400"/>
          </a:p>
          <a:p>
            <a:r>
              <a:rPr lang="zh-CN" altLang="en-US" sz="1400"/>
              <a:t>2000-01-01,0</a:t>
            </a:r>
            <a:endParaRPr lang="zh-CN" altLang="en-US" sz="1400"/>
          </a:p>
          <a:p>
            <a:r>
              <a:rPr lang="zh-CN" altLang="en-US" sz="1400"/>
              <a:t>2000-01-02,1</a:t>
            </a:r>
            <a:endParaRPr lang="zh-CN" altLang="en-US" sz="1400"/>
          </a:p>
          <a:p>
            <a:r>
              <a:rPr lang="zh-CN" altLang="en-US" sz="1400"/>
              <a:t>2000-01-03,2</a:t>
            </a:r>
            <a:endParaRPr lang="zh-CN" altLang="en-US" sz="1400"/>
          </a:p>
          <a:p>
            <a:r>
              <a:rPr lang="zh-CN" altLang="en-US" sz="1400"/>
              <a:t>2000-01-04,3</a:t>
            </a:r>
            <a:endParaRPr lang="zh-CN" altLang="en-US" sz="1400"/>
          </a:p>
          <a:p>
            <a:r>
              <a:rPr lang="zh-CN" altLang="en-US" sz="1400"/>
              <a:t>2000-01-05,4</a:t>
            </a:r>
            <a:endParaRPr lang="zh-CN" altLang="en-US" sz="1400"/>
          </a:p>
          <a:p>
            <a:r>
              <a:rPr lang="zh-CN" altLang="en-US" sz="1400"/>
              <a:t>2000-01-06,5</a:t>
            </a:r>
            <a:endParaRPr lang="zh-CN" altLang="en-US" sz="1400"/>
          </a:p>
          <a:p>
            <a:r>
              <a:rPr lang="zh-CN" altLang="en-US" sz="1400"/>
              <a:t>2000-01-07,6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.3 处理分隔符格式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大部分表格型数据都能用pandas.read_table进行加载</a:t>
            </a:r>
          </a:p>
          <a:p>
            <a:r>
              <a:rPr>
                <a:sym typeface="+mn-ea"/>
              </a:rPr>
              <a:t>Python内置的csv模块</a:t>
            </a:r>
            <a:endParaRPr>
              <a:sym typeface="+mn-ea"/>
            </a:endParaRPr>
          </a:p>
          <a:p>
            <a:pPr lvl="1"/>
            <a:r>
              <a:t>文件或文件型的对象传给csv.reader</a:t>
            </a:r>
          </a:p>
          <a:p>
            <a:pPr lvl="1"/>
            <a:r>
              <a:rPr lang="zh-CN"/>
              <a:t>读取文件到列表</a:t>
            </a:r>
          </a:p>
          <a:p>
            <a:pPr lvl="1"/>
            <a:r>
              <a:rPr lang="zh-CN" altLang="en-US"/>
              <a:t>文件分标题行和数据行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110095" y="1269365"/>
            <a:ext cx="498856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[54]: !cat examples/ex7.csv</a:t>
            </a:r>
            <a:endParaRPr lang="zh-CN" altLang="en-US" sz="1400"/>
          </a:p>
          <a:p>
            <a:r>
              <a:rPr lang="zh-CN" altLang="en-US" sz="1400"/>
              <a:t>"a","b","c"</a:t>
            </a:r>
            <a:endParaRPr lang="zh-CN" altLang="en-US" sz="1400"/>
          </a:p>
          <a:p>
            <a:r>
              <a:rPr lang="zh-CN" altLang="en-US" sz="1400"/>
              <a:t>"1","2","3"</a:t>
            </a:r>
            <a:endParaRPr lang="zh-CN" altLang="en-US" sz="1400"/>
          </a:p>
          <a:p>
            <a:r>
              <a:rPr lang="zh-CN" altLang="en-US" sz="1400"/>
              <a:t>"1","2","3"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import csv</a:t>
            </a:r>
            <a:endParaRPr lang="zh-CN" altLang="en-US" sz="1400"/>
          </a:p>
          <a:p>
            <a:r>
              <a:rPr lang="zh-CN" altLang="en-US" sz="1400"/>
              <a:t>f = open('examples/ex7.csv')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reader = csv.reader(f)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[56]: for line in reader:</a:t>
            </a:r>
            <a:endParaRPr lang="zh-CN" altLang="en-US" sz="1400"/>
          </a:p>
          <a:p>
            <a:r>
              <a:rPr lang="zh-CN" altLang="en-US" sz="1400"/>
              <a:t>   ....:     print(line)</a:t>
            </a:r>
            <a:endParaRPr lang="zh-CN" altLang="en-US" sz="1400"/>
          </a:p>
          <a:p>
            <a:r>
              <a:rPr lang="zh-CN" altLang="en-US" sz="1400"/>
              <a:t>['a', 'b', 'c']</a:t>
            </a:r>
            <a:endParaRPr lang="zh-CN" altLang="en-US" sz="1400"/>
          </a:p>
          <a:p>
            <a:r>
              <a:rPr lang="zh-CN" altLang="en-US" sz="1400"/>
              <a:t>['1', '2', '3']</a:t>
            </a:r>
            <a:endParaRPr lang="zh-CN" altLang="en-US" sz="1400"/>
          </a:p>
          <a:p>
            <a:r>
              <a:rPr lang="zh-CN" altLang="en-US" sz="1400"/>
              <a:t>['1', '2', '3']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[57]: with open('examples/ex7.csv') as f:</a:t>
            </a:r>
            <a:endParaRPr lang="zh-CN" altLang="en-US" sz="1400"/>
          </a:p>
          <a:p>
            <a:r>
              <a:rPr lang="zh-CN" altLang="en-US" sz="1400"/>
              <a:t>   ....:     lines = list(csv.reader(f))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[58]: header, values = lines[0], lines[1:]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1205865" y="4581525"/>
            <a:ext cx="480568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[59]: data_dict = {h: v for h, v in zip(header, zip(*values))}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[60]: data_dict</a:t>
            </a:r>
            <a:endParaRPr lang="zh-CN" altLang="en-US" sz="1400"/>
          </a:p>
          <a:p>
            <a:r>
              <a:rPr lang="zh-CN" altLang="en-US" sz="1400"/>
              <a:t>Out[60]: {'a': ('1', '1'), 'b': ('2', '2'), 'c': ('3', '3')}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.3 处理分隔符格式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大部分表格型数据都能用pandas.read_table进行加载</a:t>
            </a:r>
          </a:p>
          <a:p>
            <a:r>
              <a:rPr>
                <a:sym typeface="+mn-ea"/>
              </a:rPr>
              <a:t>Python内置的csv模块</a:t>
            </a:r>
            <a:endParaRPr>
              <a:sym typeface="+mn-ea"/>
            </a:endParaRPr>
          </a:p>
          <a:p>
            <a:pPr lvl="1"/>
            <a:r>
              <a:t>定义csv.Dialect的一个子类即可定义出新格式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10095" y="1269365"/>
            <a:ext cx="498856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class my_dialect(csv.Dialect):</a:t>
            </a:r>
            <a:endParaRPr lang="zh-CN" altLang="en-US" sz="1400"/>
          </a:p>
          <a:p>
            <a:r>
              <a:rPr lang="zh-CN" altLang="en-US" sz="1400"/>
              <a:t>    lineterminator = '\n'</a:t>
            </a:r>
            <a:endParaRPr lang="zh-CN" altLang="en-US" sz="1400"/>
          </a:p>
          <a:p>
            <a:r>
              <a:rPr lang="zh-CN" altLang="en-US" sz="1400"/>
              <a:t>    delimiter = ';'</a:t>
            </a:r>
            <a:endParaRPr lang="zh-CN" altLang="en-US" sz="1400"/>
          </a:p>
          <a:p>
            <a:r>
              <a:rPr lang="zh-CN" altLang="en-US" sz="1400"/>
              <a:t>    quotechar = '"'</a:t>
            </a:r>
            <a:endParaRPr lang="zh-CN" altLang="en-US" sz="1400"/>
          </a:p>
          <a:p>
            <a:r>
              <a:rPr lang="zh-CN" altLang="en-US" sz="1400"/>
              <a:t>    quoting = csv.QUOTE_MINIMAL</a:t>
            </a:r>
            <a:endParaRPr lang="zh-CN" altLang="en-US" sz="1400"/>
          </a:p>
          <a:p>
            <a:r>
              <a:rPr lang="zh-CN" altLang="en-US" sz="1400"/>
              <a:t>reader = csv.reader(f, dialect=my_dialect)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reader = csv.reader(f, delimiter='|')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.3 处理分隔符格式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4292600" cy="5041265"/>
          </a:xfrm>
        </p:spPr>
        <p:txBody>
          <a:bodyPr/>
          <a:lstStyle/>
          <a:p>
            <a:r>
              <a:rPr lang="zh-CN"/>
              <a:t>内置</a:t>
            </a:r>
            <a:r>
              <a:rPr lang="en-US" altLang="zh-CN"/>
              <a:t>CSV</a:t>
            </a:r>
            <a:r>
              <a:rPr lang="zh-CN" altLang="en-US"/>
              <a:t>模块的参数说明</a:t>
            </a:r>
            <a:endParaRPr lang="zh-CN" altLang="en-US"/>
          </a:p>
          <a:p>
            <a:pPr lvl="1"/>
            <a:r>
              <a:rPr lang="zh-CN" altLang="en-US"/>
              <a:t>对于复杂情况csv模块就无能为力</a:t>
            </a:r>
            <a:endParaRPr lang="zh-CN" altLang="en-US"/>
          </a:p>
          <a:p>
            <a:pPr lvl="1"/>
            <a:r>
              <a:rPr lang="zh-CN" altLang="en-US"/>
              <a:t>解决方案：</a:t>
            </a:r>
            <a:endParaRPr lang="zh-CN" altLang="en-US"/>
          </a:p>
          <a:p>
            <a:pPr lvl="2"/>
            <a:r>
              <a:rPr lang="zh-CN" altLang="en-US"/>
              <a:t>字符串方法或</a:t>
            </a:r>
            <a:r>
              <a:rPr lang="en-US" altLang="zh-CN"/>
              <a:t>re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0460" y="2205355"/>
            <a:ext cx="6957060" cy="3956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.3 处理分隔符格式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csv.writer</a:t>
            </a:r>
          </a:p>
          <a:p>
            <a:pPr lvl="1"/>
            <a:r>
              <a:rPr lang="zh-CN"/>
              <a:t>输出文件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7686675" y="1701165"/>
            <a:ext cx="399732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with open('mydata.csv', 'w') as f:</a:t>
            </a:r>
            <a:endParaRPr lang="zh-CN" altLang="en-US" sz="1400"/>
          </a:p>
          <a:p>
            <a:r>
              <a:rPr lang="zh-CN" altLang="en-US" sz="1400"/>
              <a:t>    writer = csv.writer(f, dialect=my_dialect)</a:t>
            </a:r>
            <a:endParaRPr lang="zh-CN" altLang="en-US" sz="1400"/>
          </a:p>
          <a:p>
            <a:r>
              <a:rPr lang="zh-CN" altLang="en-US" sz="1400"/>
              <a:t>    writer.writerow(('one', 'two', 'three'))</a:t>
            </a:r>
            <a:endParaRPr lang="zh-CN" altLang="en-US" sz="1400"/>
          </a:p>
          <a:p>
            <a:r>
              <a:rPr lang="zh-CN" altLang="en-US" sz="1400"/>
              <a:t>    writer.writerow(('1', '2', '3'))</a:t>
            </a:r>
            <a:endParaRPr lang="zh-CN" altLang="en-US" sz="1400"/>
          </a:p>
          <a:p>
            <a:r>
              <a:rPr lang="zh-CN" altLang="en-US" sz="1400"/>
              <a:t>    writer.writerow(('4', '5', '6'))</a:t>
            </a:r>
            <a:endParaRPr lang="zh-CN" altLang="en-US" sz="1400"/>
          </a:p>
          <a:p>
            <a:r>
              <a:rPr lang="zh-CN" altLang="en-US" sz="1400"/>
              <a:t>    writer.writerow(('7', '8', '9'))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.4 JSON数据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45825" cy="5041265"/>
          </a:xfrm>
        </p:spPr>
        <p:txBody>
          <a:bodyPr/>
          <a:lstStyle/>
          <a:p>
            <a:r>
              <a:t>JSON（JavaScript Object Notation的简称）</a:t>
            </a:r>
          </a:p>
          <a:p>
            <a:pPr lvl="1"/>
            <a:r>
              <a:t>通过HTTP请求在Web浏览器和其他应用程序之间发送数据的标准格式之一</a:t>
            </a:r>
          </a:p>
          <a:p>
            <a:pPr lvl="1"/>
            <a:r>
              <a:t>比表格型文本格式（如CSV）灵活</a:t>
            </a:r>
          </a:p>
          <a:p>
            <a:pPr lvl="1"/>
            <a:r>
              <a:t>JSON非常接近于有效的Python代码</a:t>
            </a:r>
          </a:p>
          <a:p>
            <a:pPr lvl="1"/>
            <a:r>
              <a:t>基本类型有对象（字典）、数组（列表）、字符串、数值、布尔值以及null。</a:t>
            </a:r>
          </a:p>
          <a:p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485775" y="3933825"/>
            <a:ext cx="54552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obj = """</a:t>
            </a:r>
            <a:endParaRPr lang="zh-CN" altLang="en-US" sz="1400"/>
          </a:p>
          <a:p>
            <a:r>
              <a:rPr lang="zh-CN" altLang="en-US" sz="1400"/>
              <a:t>{"name": "Wes",</a:t>
            </a:r>
            <a:endParaRPr lang="zh-CN" altLang="en-US" sz="1400"/>
          </a:p>
          <a:p>
            <a:r>
              <a:rPr lang="zh-CN" altLang="en-US" sz="1400"/>
              <a:t> "places_lived": ["United States", "Spain", "Germany"],</a:t>
            </a:r>
            <a:endParaRPr lang="zh-CN" altLang="en-US" sz="1400"/>
          </a:p>
          <a:p>
            <a:r>
              <a:rPr lang="zh-CN" altLang="en-US" sz="1400"/>
              <a:t> "pet": null,</a:t>
            </a:r>
            <a:endParaRPr lang="zh-CN" altLang="en-US" sz="1400"/>
          </a:p>
          <a:p>
            <a:r>
              <a:rPr lang="zh-CN" altLang="en-US" sz="1400"/>
              <a:t> "siblings": [{"name": "Scott", "age": 30, "pets": ["Zeus", "Zuko"]},</a:t>
            </a:r>
            <a:endParaRPr lang="zh-CN" altLang="en-US" sz="1400"/>
          </a:p>
          <a:p>
            <a:r>
              <a:rPr lang="zh-CN" altLang="en-US" sz="1400"/>
              <a:t>              {"name": "Katie", "age": 38,</a:t>
            </a:r>
            <a:endParaRPr lang="zh-CN" altLang="en-US" sz="1400"/>
          </a:p>
          <a:p>
            <a:r>
              <a:rPr lang="zh-CN" altLang="en-US" sz="1400"/>
              <a:t>               "pets": ["Sixes", "Stache", "Cisco"]}]</a:t>
            </a:r>
            <a:endParaRPr lang="zh-CN" altLang="en-US" sz="1400"/>
          </a:p>
          <a:p>
            <a:r>
              <a:rPr lang="zh-CN" altLang="en-US" sz="1400"/>
              <a:t>}</a:t>
            </a:r>
            <a:endParaRPr lang="zh-CN" altLang="en-US" sz="1400"/>
          </a:p>
          <a:p>
            <a:r>
              <a:rPr lang="zh-CN" altLang="en-US" sz="1400"/>
              <a:t>"""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6678295" y="3777615"/>
            <a:ext cx="540004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[62]: import json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[63]: result = json.loads(obj)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[64]: result</a:t>
            </a:r>
            <a:endParaRPr lang="zh-CN" altLang="en-US" sz="1400"/>
          </a:p>
          <a:p>
            <a:r>
              <a:rPr lang="zh-CN" altLang="en-US" sz="1400"/>
              <a:t>Out[64]: </a:t>
            </a:r>
            <a:endParaRPr lang="zh-CN" altLang="en-US" sz="1400"/>
          </a:p>
          <a:p>
            <a:r>
              <a:rPr lang="zh-CN" altLang="en-US" sz="1400"/>
              <a:t>{'name': 'Wes',</a:t>
            </a:r>
            <a:endParaRPr lang="zh-CN" altLang="en-US" sz="1400"/>
          </a:p>
          <a:p>
            <a:r>
              <a:rPr lang="zh-CN" altLang="en-US" sz="1400"/>
              <a:t> 'pet': None,</a:t>
            </a:r>
            <a:endParaRPr lang="zh-CN" altLang="en-US" sz="1400"/>
          </a:p>
          <a:p>
            <a:r>
              <a:rPr lang="zh-CN" altLang="en-US" sz="1400"/>
              <a:t> 'places_lived': ['United States', 'Spain', 'Germany'],</a:t>
            </a:r>
            <a:endParaRPr lang="zh-CN" altLang="en-US" sz="1400"/>
          </a:p>
          <a:p>
            <a:r>
              <a:rPr lang="zh-CN" altLang="en-US" sz="1400"/>
              <a:t> 'siblings': [{'age': 30, 'name': 'Scott', 'pets': ['Zeus', 'Zuko']},</a:t>
            </a:r>
            <a:endParaRPr lang="zh-CN" altLang="en-US" sz="1400"/>
          </a:p>
          <a:p>
            <a:r>
              <a:rPr lang="zh-CN" altLang="en-US" sz="1400"/>
              <a:t>  {'age': 38, 'name': 'Katie', 'pets': ['Sixes', 'Stache', 'Cisco']}]}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.4 JSON数据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6356985" cy="5041265"/>
          </a:xfrm>
        </p:spPr>
        <p:txBody>
          <a:bodyPr/>
          <a:lstStyle/>
          <a:p>
            <a:r>
              <a:t>json.dumps则将Python对象转换成JSON格式</a:t>
            </a:r>
          </a:p>
          <a:p>
            <a:r>
              <a:t>JSON对象转换为DataFrame</a:t>
            </a:r>
          </a:p>
          <a:p>
            <a:pPr lvl="1"/>
            <a:r>
              <a:t>read_json的默认选项假设JSON数组中的每个对象是表格中的一行</a:t>
            </a:r>
          </a:p>
          <a:p>
            <a:pPr lvl="1"/>
            <a:r>
              <a:rPr>
                <a:sym typeface="+mn-ea"/>
              </a:rPr>
              <a:t>to_json方法</a:t>
            </a:r>
            <a:r>
              <a:rPr lang="zh-CN">
                <a:sym typeface="+mn-ea"/>
              </a:rPr>
              <a:t>：</a:t>
            </a:r>
            <a:r>
              <a:t>pandas输出到JSON</a:t>
            </a:r>
          </a:p>
          <a:p/>
        </p:txBody>
      </p:sp>
      <p:sp>
        <p:nvSpPr>
          <p:cNvPr id="5" name="文本框 4"/>
          <p:cNvSpPr txBox="1"/>
          <p:nvPr/>
        </p:nvSpPr>
        <p:spPr>
          <a:xfrm>
            <a:off x="7038340" y="1413510"/>
            <a:ext cx="4989195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[65]: asjson = json.dumps(result)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[66]: siblings = pd.DataFrame(result['siblings'], columns=['name', 'age'])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[67]: siblings</a:t>
            </a:r>
            <a:endParaRPr lang="zh-CN" altLang="en-US" sz="1400"/>
          </a:p>
          <a:p>
            <a:r>
              <a:rPr lang="zh-CN" altLang="en-US" sz="1400"/>
              <a:t>Out[67]: </a:t>
            </a:r>
            <a:endParaRPr lang="zh-CN" altLang="en-US" sz="1400"/>
          </a:p>
          <a:p>
            <a:r>
              <a:rPr lang="zh-CN" altLang="en-US" sz="1400"/>
              <a:t>    name  age</a:t>
            </a:r>
            <a:endParaRPr lang="zh-CN" altLang="en-US" sz="1400"/>
          </a:p>
          <a:p>
            <a:r>
              <a:rPr lang="zh-CN" altLang="en-US" sz="1400"/>
              <a:t>0  Scott   30</a:t>
            </a:r>
            <a:endParaRPr lang="zh-CN" altLang="en-US" sz="1400"/>
          </a:p>
          <a:p>
            <a:r>
              <a:rPr lang="zh-CN" altLang="en-US" sz="1400"/>
              <a:t>1  Katie   38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[68]: !cat examples/example.json</a:t>
            </a:r>
            <a:endParaRPr lang="zh-CN" altLang="en-US" sz="1400"/>
          </a:p>
          <a:p>
            <a:r>
              <a:rPr lang="zh-CN" altLang="en-US" sz="1400"/>
              <a:t>[{"a": 1, "b": 2, "c": 3},</a:t>
            </a:r>
            <a:endParaRPr lang="zh-CN" altLang="en-US" sz="1400"/>
          </a:p>
          <a:p>
            <a:r>
              <a:rPr lang="zh-CN" altLang="en-US" sz="1400"/>
              <a:t> {"a": 4, "b": 5, "c": 6},</a:t>
            </a:r>
            <a:endParaRPr lang="zh-CN" altLang="en-US" sz="1400"/>
          </a:p>
          <a:p>
            <a:r>
              <a:rPr lang="zh-CN" altLang="en-US" sz="1400"/>
              <a:t> {"a": 7, "b": 8, "c": 9}]</a:t>
            </a:r>
            <a:endParaRPr lang="zh-CN" altLang="en-US" sz="1400"/>
          </a:p>
          <a:p>
            <a:r>
              <a:rPr lang="zh-CN" altLang="en-US" sz="1400"/>
              <a:t>In [69]: data = pd.read_json('examples/example.json')</a:t>
            </a:r>
            <a:endParaRPr lang="zh-CN" altLang="en-US" sz="1400"/>
          </a:p>
          <a:p>
            <a:r>
              <a:rPr lang="zh-CN" altLang="en-US" sz="1400"/>
              <a:t>In [70]: data</a:t>
            </a:r>
            <a:endParaRPr lang="zh-CN" altLang="en-US" sz="1400"/>
          </a:p>
          <a:p>
            <a:r>
              <a:rPr lang="zh-CN" altLang="en-US" sz="1400"/>
              <a:t>Out[70]: </a:t>
            </a:r>
            <a:endParaRPr lang="zh-CN" altLang="en-US" sz="1400"/>
          </a:p>
          <a:p>
            <a:r>
              <a:rPr lang="zh-CN" altLang="en-US" sz="1400"/>
              <a:t>   a  b  c</a:t>
            </a:r>
            <a:endParaRPr lang="zh-CN" altLang="en-US" sz="1400"/>
          </a:p>
          <a:p>
            <a:r>
              <a:rPr lang="zh-CN" altLang="en-US" sz="1400"/>
              <a:t>0  1  2  3</a:t>
            </a:r>
            <a:endParaRPr lang="zh-CN" altLang="en-US" sz="1400"/>
          </a:p>
          <a:p>
            <a:r>
              <a:rPr lang="zh-CN" altLang="en-US" sz="1400"/>
              <a:t>1  4  5  6</a:t>
            </a:r>
            <a:endParaRPr lang="zh-CN" altLang="en-US" sz="1400"/>
          </a:p>
          <a:p>
            <a:r>
              <a:rPr lang="zh-CN" altLang="en-US" sz="1400"/>
              <a:t>2  7  8  9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917575" y="4797425"/>
            <a:ext cx="542480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[71]: print(data.to_json())</a:t>
            </a:r>
            <a:endParaRPr lang="zh-CN" altLang="en-US" sz="1400"/>
          </a:p>
          <a:p>
            <a:r>
              <a:rPr lang="zh-CN" altLang="en-US" sz="1400"/>
              <a:t>{"a":{"0":1,"1":4,"2":7},"b":{"0":2,"1":5,"2":8},"c":{"0":3,"1":6,"2":9}}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[72]: print(data.to_json(orient='records'))</a:t>
            </a:r>
            <a:endParaRPr lang="zh-CN" altLang="en-US" sz="1400"/>
          </a:p>
          <a:p>
            <a:r>
              <a:rPr lang="zh-CN" altLang="en-US" sz="1400"/>
              <a:t>[{"a":1,"b":2,"c":3},{"a":4,"b":5,"c":6},{"a":7,"b":8,"c":9}]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.5 XML和HTML：Web信息收集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6356985" cy="5041265"/>
          </a:xfrm>
        </p:spPr>
        <p:txBody>
          <a:bodyPr/>
          <a:lstStyle/>
          <a:p>
            <a:r>
              <a:t>常见的</a:t>
            </a:r>
            <a:r>
              <a:rPr lang="zh-CN"/>
              <a:t>读取</a:t>
            </a:r>
            <a:r>
              <a:t>HTML和XML格式数据的库</a:t>
            </a:r>
          </a:p>
          <a:p>
            <a:pPr lvl="1"/>
            <a:r>
              <a:rPr lang="en-US"/>
              <a:t>lxml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速度比较快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Beautiful Soup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html5lib</a:t>
            </a:r>
            <a:r>
              <a:rPr lang="zh-CN" altLang="en-US">
                <a:sym typeface="+mn-ea"/>
              </a:rPr>
              <a:t>：</a:t>
            </a:r>
            <a:r>
              <a:rPr lang="en-US" altLang="zh-CN"/>
              <a:t>处理有误的HTML或XML文件更好</a:t>
            </a:r>
            <a:endParaRPr lang="en-US" altLang="zh-CN"/>
          </a:p>
          <a:p>
            <a:pPr lvl="1"/>
            <a:r>
              <a:rPr lang="en-US" altLang="zh-CN"/>
              <a:t>read_html</a:t>
            </a:r>
            <a:r>
              <a:rPr lang="zh-CN" altLang="en-US"/>
              <a:t>：使用lxml和Beautiful Soup自动将HTML文件中的表格解析为DataFrame对象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38340" y="1413510"/>
            <a:ext cx="4989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conda install lxml</a:t>
            </a:r>
            <a:endParaRPr lang="zh-CN" altLang="en-US" sz="1400"/>
          </a:p>
          <a:p>
            <a:r>
              <a:rPr lang="zh-CN" altLang="en-US" sz="1400"/>
              <a:t>pip install beautifulsoup4 html5lib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.5 XML和HTML：Web信息收集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pandas.read_htm</a:t>
            </a:r>
            <a:r>
              <a:rPr lang="en-US"/>
              <a:t>l</a:t>
            </a:r>
          </a:p>
          <a:p>
            <a:pPr lvl="1"/>
            <a:r>
              <a:t>默认条件下，它会搜索、尝试解析&lt;table&gt;标签内的的表格数据。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78710" y="2277745"/>
            <a:ext cx="754443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[73]: tables = pd.read_html('examples/fdic_failed_bank_list.html')</a:t>
            </a:r>
            <a:endParaRPr lang="zh-CN" altLang="en-US" sz="1400"/>
          </a:p>
          <a:p>
            <a:r>
              <a:rPr lang="zh-CN" altLang="en-US" sz="1400"/>
              <a:t>In [74]: len(tables)</a:t>
            </a:r>
            <a:endParaRPr lang="zh-CN" altLang="en-US" sz="1400"/>
          </a:p>
          <a:p>
            <a:r>
              <a:rPr lang="zh-CN" altLang="en-US" sz="1400"/>
              <a:t>Out[74]: 1</a:t>
            </a:r>
            <a:endParaRPr lang="zh-CN" altLang="en-US" sz="1400"/>
          </a:p>
          <a:p>
            <a:r>
              <a:rPr lang="zh-CN" altLang="en-US" sz="1400"/>
              <a:t>In [75]: failures = tables[0]</a:t>
            </a:r>
            <a:endParaRPr lang="zh-CN" altLang="en-US" sz="1400"/>
          </a:p>
          <a:p>
            <a:r>
              <a:rPr lang="zh-CN" altLang="en-US" sz="1400"/>
              <a:t>In [76]: failures.head()</a:t>
            </a:r>
            <a:endParaRPr lang="zh-CN" altLang="en-US" sz="1400"/>
          </a:p>
          <a:p>
            <a:r>
              <a:rPr lang="zh-CN" altLang="en-US" sz="1400"/>
              <a:t>Out[76]: </a:t>
            </a:r>
            <a:endParaRPr lang="zh-CN" altLang="en-US" sz="1400"/>
          </a:p>
          <a:p>
            <a:r>
              <a:rPr lang="zh-CN" altLang="en-US" sz="1400"/>
              <a:t>                      Bank Name             City  ST   CERT  \</a:t>
            </a:r>
            <a:endParaRPr lang="zh-CN" altLang="en-US" sz="1400"/>
          </a:p>
          <a:p>
            <a:r>
              <a:rPr lang="zh-CN" altLang="en-US" sz="1400"/>
              <a:t>0                   Allied Bank         Mulberry  AR     91   </a:t>
            </a:r>
            <a:endParaRPr lang="zh-CN" altLang="en-US" sz="1400"/>
          </a:p>
          <a:p>
            <a:r>
              <a:rPr lang="zh-CN" altLang="en-US" sz="1400"/>
              <a:t>1  The Woodbury Banking Company         Woodbury  GA  11297   </a:t>
            </a:r>
            <a:endParaRPr lang="zh-CN" altLang="en-US" sz="1400"/>
          </a:p>
          <a:p>
            <a:r>
              <a:rPr lang="zh-CN" altLang="en-US" sz="1400"/>
              <a:t>2        First CornerStone Bank  King of Prussia  PA  35312   </a:t>
            </a:r>
            <a:endParaRPr lang="zh-CN" altLang="en-US" sz="1400"/>
          </a:p>
          <a:p>
            <a:r>
              <a:rPr lang="zh-CN" altLang="en-US" sz="1400"/>
              <a:t>3            Trust Company Bank          Memphis  TN   9956   </a:t>
            </a:r>
            <a:endParaRPr lang="zh-CN" altLang="en-US" sz="1400"/>
          </a:p>
          <a:p>
            <a:r>
              <a:rPr lang="zh-CN" altLang="en-US" sz="1400"/>
              <a:t>4    North Milwaukee State Bank        Milwaukee  WI  20364   </a:t>
            </a:r>
            <a:endParaRPr lang="zh-CN" altLang="en-US" sz="1400"/>
          </a:p>
          <a:p>
            <a:r>
              <a:rPr lang="zh-CN" altLang="en-US" sz="1400"/>
              <a:t>                 Acquiring Institution        Closing Date       Updated Date  </a:t>
            </a:r>
            <a:endParaRPr lang="zh-CN" altLang="en-US" sz="1400"/>
          </a:p>
          <a:p>
            <a:r>
              <a:rPr lang="zh-CN" altLang="en-US" sz="1400"/>
              <a:t>0                         Today's Bank  September 23, 2016  November 17, 2016  </a:t>
            </a:r>
            <a:endParaRPr lang="zh-CN" altLang="en-US" sz="1400"/>
          </a:p>
          <a:p>
            <a:r>
              <a:rPr lang="zh-CN" altLang="en-US" sz="1400"/>
              <a:t>1                          United Bank     August 19, 2016  November 17, 2016  </a:t>
            </a:r>
            <a:endParaRPr lang="zh-CN" altLang="en-US" sz="1400"/>
          </a:p>
          <a:p>
            <a:r>
              <a:rPr lang="zh-CN" altLang="en-US" sz="1400"/>
              <a:t>2  First-Citizens Bank &amp; Trust Company         May 6, 2016  September 6, 2016  </a:t>
            </a:r>
            <a:endParaRPr lang="zh-CN" altLang="en-US" sz="1400"/>
          </a:p>
          <a:p>
            <a:r>
              <a:rPr lang="zh-CN" altLang="en-US" sz="1400"/>
              <a:t>3           The Bank of Fayette County      April 29, 2016  September 6, 2016  </a:t>
            </a:r>
            <a:endParaRPr lang="zh-CN" altLang="en-US" sz="1400"/>
          </a:p>
          <a:p>
            <a:r>
              <a:rPr lang="zh-CN" altLang="en-US" sz="1400"/>
              <a:t>4  First-Citizens Bank &amp; Trust Company      March 11, 2016      June 16, 2016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6.1</a:t>
            </a:r>
            <a:r>
              <a:rPr lang="en-US" dirty="0">
                <a:sym typeface="+mn-ea"/>
              </a:rPr>
              <a:t>.5 XML和HTML：Web信息收集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pandas.read_htm</a:t>
            </a:r>
            <a:r>
              <a:rPr lang="en-US"/>
              <a:t>l</a:t>
            </a:r>
          </a:p>
          <a:p>
            <a:pPr lvl="1"/>
            <a:r>
              <a:rPr lang="zh-CN"/>
              <a:t>示例：计算按年份计算倒闭的银行数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78710" y="2277745"/>
            <a:ext cx="754443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[77]: close_timestamps = pd.to_datetime(failures['Closing Date'])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[78]: close_timestamps.dt.year.value_counts()</a:t>
            </a:r>
            <a:endParaRPr lang="zh-CN" altLang="en-US" sz="1400"/>
          </a:p>
          <a:p>
            <a:r>
              <a:rPr lang="zh-CN" altLang="en-US" sz="1400"/>
              <a:t>Out[78]: </a:t>
            </a:r>
            <a:endParaRPr lang="zh-CN" altLang="en-US" sz="1400"/>
          </a:p>
          <a:p>
            <a:r>
              <a:rPr lang="zh-CN" altLang="en-US" sz="1400"/>
              <a:t>2010    157</a:t>
            </a:r>
            <a:endParaRPr lang="zh-CN" altLang="en-US" sz="1400"/>
          </a:p>
          <a:p>
            <a:r>
              <a:rPr lang="zh-CN" altLang="en-US" sz="1400"/>
              <a:t>2009    140</a:t>
            </a:r>
            <a:endParaRPr lang="zh-CN" altLang="en-US" sz="1400"/>
          </a:p>
          <a:p>
            <a:r>
              <a:rPr lang="zh-CN" altLang="en-US" sz="1400"/>
              <a:t>2011     92</a:t>
            </a:r>
            <a:endParaRPr lang="zh-CN" altLang="en-US" sz="1400"/>
          </a:p>
          <a:p>
            <a:r>
              <a:rPr lang="zh-CN" altLang="en-US" sz="1400"/>
              <a:t>2012     51</a:t>
            </a:r>
            <a:endParaRPr lang="zh-CN" altLang="en-US" sz="1400"/>
          </a:p>
          <a:p>
            <a:r>
              <a:rPr lang="zh-CN" altLang="en-US" sz="1400"/>
              <a:t>2008     25</a:t>
            </a:r>
            <a:endParaRPr lang="zh-CN" altLang="en-US" sz="1400"/>
          </a:p>
          <a:p>
            <a:r>
              <a:rPr lang="zh-CN" altLang="en-US" sz="1400"/>
              <a:t>       ... </a:t>
            </a:r>
            <a:endParaRPr lang="zh-CN" altLang="en-US" sz="1400"/>
          </a:p>
          <a:p>
            <a:r>
              <a:rPr lang="zh-CN" altLang="en-US" sz="1400"/>
              <a:t>2004      4</a:t>
            </a:r>
            <a:endParaRPr lang="zh-CN" altLang="en-US" sz="1400"/>
          </a:p>
          <a:p>
            <a:r>
              <a:rPr lang="zh-CN" altLang="en-US" sz="1400"/>
              <a:t>2001      4</a:t>
            </a:r>
            <a:endParaRPr lang="zh-CN" altLang="en-US" sz="1400"/>
          </a:p>
          <a:p>
            <a:r>
              <a:rPr lang="zh-CN" altLang="en-US" sz="1400"/>
              <a:t>2007      3</a:t>
            </a:r>
            <a:endParaRPr lang="zh-CN" altLang="en-US" sz="1400"/>
          </a:p>
          <a:p>
            <a:r>
              <a:rPr lang="zh-CN" altLang="en-US" sz="1400"/>
              <a:t>2003      3</a:t>
            </a:r>
            <a:endParaRPr lang="zh-CN" altLang="en-US" sz="1400"/>
          </a:p>
          <a:p>
            <a:r>
              <a:rPr lang="zh-CN" altLang="en-US" sz="1400"/>
              <a:t>2000      2</a:t>
            </a:r>
            <a:endParaRPr lang="zh-CN" altLang="en-US" sz="1400"/>
          </a:p>
          <a:p>
            <a:r>
              <a:rPr lang="zh-CN" altLang="en-US" sz="1400"/>
              <a:t>Name: Closing Date, Length: 15, dtype: int64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 二进制数据格式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pickle序列化</a:t>
            </a:r>
            <a:r>
              <a:rPr lang="zh-CN"/>
              <a:t>：实现数据的高效二进制格式存储的简便办法</a:t>
            </a:r>
            <a:endParaRPr lang="zh-CN"/>
          </a:p>
          <a:p>
            <a:pPr lvl="1"/>
            <a:r>
              <a:rPr lang="zh-CN" sz="1700"/>
              <a:t>使用</a:t>
            </a:r>
            <a:r>
              <a:rPr lang="en-US" altLang="zh-CN" sz="1700"/>
              <a:t>pickle</a:t>
            </a:r>
            <a:r>
              <a:rPr lang="zh-CN" altLang="en-US" sz="1700"/>
              <a:t>库</a:t>
            </a:r>
            <a:endParaRPr lang="zh-CN" altLang="en-US" sz="1700"/>
          </a:p>
          <a:p>
            <a:pPr lvl="1"/>
            <a:r>
              <a:rPr lang="zh-CN"/>
              <a:t>使用</a:t>
            </a:r>
            <a:r>
              <a:rPr lang="en-US" altLang="zh-CN"/>
              <a:t>df</a:t>
            </a:r>
            <a:r>
              <a:rPr lang="zh-CN" altLang="en-US"/>
              <a:t>对象的</a:t>
            </a:r>
            <a:r>
              <a:rPr lang="en-US" altLang="zh-CN"/>
              <a:t>to_pickle</a:t>
            </a:r>
            <a:r>
              <a:rPr lang="zh-CN" altLang="en-US"/>
              <a:t>方法</a:t>
            </a:r>
            <a:endParaRPr lang="zh-CN"/>
          </a:p>
          <a:p>
            <a:r>
              <a:rPr lang="zh-CN"/>
              <a:t>读取</a:t>
            </a:r>
            <a:r>
              <a:rPr lang="en-US" altLang="zh-CN"/>
              <a:t>pickle</a:t>
            </a:r>
            <a:r>
              <a:rPr lang="zh-CN" altLang="en-US"/>
              <a:t>数据</a:t>
            </a:r>
            <a:endParaRPr lang="zh-CN" altLang="en-US"/>
          </a:p>
          <a:p>
            <a:pPr lvl="1"/>
            <a:r>
              <a:rPr lang="zh-CN"/>
              <a:t>通过pickle直接读取被pickle化的数据</a:t>
            </a:r>
            <a:endParaRPr lang="zh-CN"/>
          </a:p>
          <a:p>
            <a:pPr lvl="1"/>
            <a:r>
              <a:rPr lang="zh-CN"/>
              <a:t>pandas.read_pickle</a:t>
            </a:r>
            <a:endParaRPr lang="zh-CN"/>
          </a:p>
          <a:p>
            <a:r>
              <a:rPr lang="zh-CN"/>
              <a:t>pickle仅建议用于短期存储格式</a:t>
            </a:r>
            <a:endParaRPr lang="zh-CN"/>
          </a:p>
          <a:p>
            <a:pPr lvl="1"/>
            <a:r>
              <a:rPr lang="zh-CN"/>
              <a:t>版本变更</a:t>
            </a:r>
            <a:endParaRPr lang="zh-CN"/>
          </a:p>
        </p:txBody>
      </p:sp>
      <p:sp>
        <p:nvSpPr>
          <p:cNvPr id="5" name="文本框 4"/>
          <p:cNvSpPr txBox="1"/>
          <p:nvPr/>
        </p:nvSpPr>
        <p:spPr>
          <a:xfrm>
            <a:off x="7614285" y="1197610"/>
            <a:ext cx="4534535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[87]: frame = pd.read_csv('examples/ex1.csv')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[88]: frame</a:t>
            </a:r>
            <a:endParaRPr lang="zh-CN" altLang="en-US" sz="1400"/>
          </a:p>
          <a:p>
            <a:r>
              <a:rPr lang="zh-CN" altLang="en-US" sz="1400"/>
              <a:t>Out[88]: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[89]: frame.to_pickle('examples/frame_pickle')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[90]: pd.read_pickle('examples/frame_pickle')</a:t>
            </a:r>
            <a:endParaRPr lang="zh-CN" altLang="en-US" sz="1400"/>
          </a:p>
          <a:p>
            <a:r>
              <a:rPr lang="zh-CN" altLang="en-US" sz="1400"/>
              <a:t>Out[90]: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.1 使用HDF5格式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374120" cy="5041265"/>
          </a:xfrm>
        </p:spPr>
        <p:txBody>
          <a:bodyPr/>
          <a:lstStyle/>
          <a:p>
            <a:r>
              <a:t>HDF5</a:t>
            </a:r>
            <a:r>
              <a:rPr lang="zh-CN">
                <a:sym typeface="+mn-ea"/>
              </a:rPr>
              <a:t>（hierarchical data format）</a:t>
            </a:r>
            <a:r>
              <a:t>是一种存储大规模科学数组数据的非常好的文件格式。</a:t>
            </a:r>
          </a:p>
          <a:p>
            <a:pPr lvl="1"/>
            <a:r>
              <a:rPr>
                <a:sym typeface="+mn-ea"/>
              </a:rPr>
              <a:t>层次型数据格式</a:t>
            </a:r>
            <a:endParaRPr>
              <a:sym typeface="+mn-ea"/>
            </a:endParaRPr>
          </a:p>
          <a:p>
            <a:pPr lvl="1"/>
            <a:r>
              <a:rPr lang="zh-CN">
                <a:sym typeface="+mn-ea"/>
              </a:rPr>
              <a:t>有</a:t>
            </a:r>
            <a:r>
              <a:rPr>
                <a:sym typeface="+mn-ea"/>
              </a:rPr>
              <a:t>多语言接口，如Java、Python和MATLAB等</a:t>
            </a:r>
          </a:p>
          <a:p>
            <a:pPr lvl="1"/>
            <a:r>
              <a:rPr lang="zh-CN"/>
              <a:t>每个HDF5文件都含有一个文件系统式的节点结构，能够存储多个数据集并支持元数据</a:t>
            </a:r>
            <a:endParaRPr lang="zh-CN"/>
          </a:p>
          <a:p>
            <a:pPr lvl="1"/>
            <a:r>
              <a:rPr lang="zh-CN"/>
              <a:t>与其他简单格式相比，HDF5支持多种压缩器的即时压缩，还能更高效地存储重复模式数据。</a:t>
            </a:r>
            <a:endParaRPr lang="zh-CN"/>
          </a:p>
          <a:p>
            <a:pPr lvl="1"/>
            <a:r>
              <a:rPr lang="zh-CN"/>
              <a:t>对于那些非常大的无法直接放入内存的数据集，HDF5是不错的选择，因为它可以高效地分块读写。</a:t>
            </a:r>
            <a:endParaRPr lang="zh-CN"/>
          </a:p>
          <a:p>
            <a:pPr lvl="1"/>
            <a:r>
              <a:rPr lang="zh-CN"/>
              <a:t>可以用PyTables或h5py库直接访问HDF5文件</a:t>
            </a:r>
            <a:endParaRPr lang="zh-CN"/>
          </a:p>
          <a:p>
            <a:pPr lvl="1"/>
            <a:r>
              <a:rPr lang="zh-CN"/>
              <a:t>pandas提供了更为高级的接口，可以简化存储Series和DataFrame对象。</a:t>
            </a:r>
            <a:endParaRPr lang="zh-CN"/>
          </a:p>
          <a:p>
            <a:pPr lvl="1"/>
            <a:r>
              <a:rPr lang="zh-CN"/>
              <a:t>HDFStore类可以像字典一样，处理低级的细节</a:t>
            </a:r>
            <a:endParaRPr 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.1 使用HDF5格式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HDF5是一种存储大规模科学数组数据的非常好的文件格式。</a:t>
            </a:r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2933700" y="1773555"/>
            <a:ext cx="723709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[92]: frame = pd.DataFrame({'a': np.random.randn(100)})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[93]: store = pd.HDFStore('mydata.h5')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[94]: store['obj1'] = frame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[95]: store['obj1_col'] = frame['a']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[96]: store</a:t>
            </a:r>
            <a:endParaRPr lang="zh-CN" altLang="en-US" sz="1400"/>
          </a:p>
          <a:p>
            <a:r>
              <a:rPr lang="zh-CN" altLang="en-US" sz="1400"/>
              <a:t>Out[96]: </a:t>
            </a:r>
            <a:endParaRPr lang="zh-CN" altLang="en-US" sz="1400"/>
          </a:p>
          <a:p>
            <a:r>
              <a:rPr lang="zh-CN" altLang="en-US" sz="1400"/>
              <a:t>&lt;class 'pandas.io.pytables.HDFStore'&gt;</a:t>
            </a:r>
            <a:endParaRPr lang="zh-CN" altLang="en-US" sz="1400"/>
          </a:p>
          <a:p>
            <a:r>
              <a:rPr lang="zh-CN" altLang="en-US" sz="1400"/>
              <a:t>File path: mydata.h5</a:t>
            </a:r>
            <a:endParaRPr lang="zh-CN" altLang="en-US" sz="1400"/>
          </a:p>
          <a:p>
            <a:r>
              <a:rPr lang="zh-CN" altLang="en-US" sz="1400"/>
              <a:t>/obj1                frame        (shape-&gt;[100,1])                               </a:t>
            </a:r>
            <a:endParaRPr lang="zh-CN" altLang="en-US" sz="1400"/>
          </a:p>
          <a:p>
            <a:r>
              <a:rPr lang="zh-CN" altLang="en-US" sz="1400"/>
              <a:t>        </a:t>
            </a:r>
            <a:endParaRPr lang="zh-CN" altLang="en-US" sz="1400"/>
          </a:p>
          <a:p>
            <a:r>
              <a:rPr lang="zh-CN" altLang="en-US" sz="1400"/>
              <a:t>/obj1_col            series       (shape-&gt;[100])                                 </a:t>
            </a:r>
            <a:endParaRPr lang="zh-CN" altLang="en-US" sz="1400"/>
          </a:p>
          <a:p>
            <a:r>
              <a:rPr lang="zh-CN" altLang="en-US" sz="1400"/>
              <a:t>        </a:t>
            </a:r>
            <a:endParaRPr lang="zh-CN" altLang="en-US" sz="1400"/>
          </a:p>
          <a:p>
            <a:r>
              <a:rPr lang="zh-CN" altLang="en-US" sz="1400"/>
              <a:t>/obj2                frame_table  (typ-&gt;appendable,nrows-&gt;100,ncols-&gt;1,indexers-&gt;</a:t>
            </a:r>
            <a:endParaRPr lang="zh-CN" altLang="en-US" sz="1400"/>
          </a:p>
          <a:p>
            <a:r>
              <a:rPr lang="zh-CN" altLang="en-US" sz="1400"/>
              <a:t>[index])</a:t>
            </a:r>
            <a:endParaRPr lang="zh-CN" altLang="en-US" sz="1400"/>
          </a:p>
          <a:p>
            <a:r>
              <a:rPr lang="zh-CN" altLang="en-US" sz="1400"/>
              <a:t>/obj3                frame_table  (typ-&gt;appendable,nrows-&gt;100,ncols-&gt;1,indexers-&gt;</a:t>
            </a:r>
            <a:endParaRPr lang="zh-CN" altLang="en-US" sz="1400"/>
          </a:p>
          <a:p>
            <a:r>
              <a:rPr lang="zh-CN" altLang="en-US" sz="1400"/>
              <a:t>[index])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.1 使用HDF5格式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HDF5文件中的对象可以通过与字典一样的API进行获取</a:t>
            </a:r>
          </a:p>
          <a:p>
            <a:r>
              <a:t>HDFStore支持两种存储模式，'fixed'和'table'。</a:t>
            </a:r>
          </a:p>
          <a:p>
            <a:pPr lvl="1"/>
            <a:r>
              <a:t>后者通常会更慢，但是支持使用特殊语法进行查询操作</a:t>
            </a:r>
          </a:p>
          <a:p>
            <a:pPr lvl="2"/>
            <a:r>
              <a:t>put是store['obj2'] = frame方法的显示版本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982710" y="1557655"/>
            <a:ext cx="273431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[97]: store['obj1']</a:t>
            </a:r>
            <a:endParaRPr lang="zh-CN" altLang="en-US" sz="1400"/>
          </a:p>
          <a:p>
            <a:r>
              <a:rPr lang="zh-CN" altLang="en-US" sz="1400"/>
              <a:t>Out[97]: </a:t>
            </a:r>
            <a:endParaRPr lang="zh-CN" altLang="en-US" sz="1400"/>
          </a:p>
          <a:p>
            <a:r>
              <a:rPr lang="zh-CN" altLang="en-US" sz="1400"/>
              <a:t>           a</a:t>
            </a:r>
            <a:endParaRPr lang="zh-CN" altLang="en-US" sz="1400"/>
          </a:p>
          <a:p>
            <a:r>
              <a:rPr lang="zh-CN" altLang="en-US" sz="1400"/>
              <a:t>0  -0.204708</a:t>
            </a:r>
            <a:endParaRPr lang="zh-CN" altLang="en-US" sz="1400"/>
          </a:p>
          <a:p>
            <a:r>
              <a:rPr lang="zh-CN" altLang="en-US" sz="1400"/>
              <a:t>1   0.478943</a:t>
            </a:r>
            <a:endParaRPr lang="zh-CN" altLang="en-US" sz="1400"/>
          </a:p>
          <a:p>
            <a:r>
              <a:rPr lang="zh-CN" altLang="en-US" sz="1400"/>
              <a:t>2  -0.519439</a:t>
            </a:r>
            <a:endParaRPr lang="zh-CN" altLang="en-US" sz="1400"/>
          </a:p>
          <a:p>
            <a:r>
              <a:rPr lang="zh-CN" altLang="en-US" sz="1400"/>
              <a:t>3  -0.555730</a:t>
            </a:r>
            <a:endParaRPr lang="zh-CN" altLang="en-US" sz="1400"/>
          </a:p>
          <a:p>
            <a:r>
              <a:rPr lang="zh-CN" altLang="en-US" sz="1400"/>
              <a:t>4   1.965781</a:t>
            </a:r>
            <a:endParaRPr lang="zh-CN" altLang="en-US" sz="1400"/>
          </a:p>
          <a:p>
            <a:r>
              <a:rPr lang="zh-CN" altLang="en-US" sz="1400"/>
              <a:t>..       ...</a:t>
            </a:r>
            <a:endParaRPr lang="zh-CN" altLang="en-US" sz="1400"/>
          </a:p>
          <a:p>
            <a:r>
              <a:rPr lang="zh-CN" altLang="en-US" sz="1400"/>
              <a:t>95  0.795253</a:t>
            </a:r>
            <a:endParaRPr lang="zh-CN" altLang="en-US" sz="1400"/>
          </a:p>
          <a:p>
            <a:r>
              <a:rPr lang="zh-CN" altLang="en-US" sz="1400"/>
              <a:t>96  0.118110</a:t>
            </a:r>
            <a:endParaRPr lang="zh-CN" altLang="en-US" sz="1400"/>
          </a:p>
          <a:p>
            <a:r>
              <a:rPr lang="zh-CN" altLang="en-US" sz="1400"/>
              <a:t>97 -0.748532</a:t>
            </a:r>
            <a:endParaRPr lang="zh-CN" altLang="en-US" sz="1400"/>
          </a:p>
          <a:p>
            <a:r>
              <a:rPr lang="zh-CN" altLang="en-US" sz="1400"/>
              <a:t>98  0.584970</a:t>
            </a:r>
            <a:endParaRPr lang="zh-CN" altLang="en-US" sz="1400"/>
          </a:p>
          <a:p>
            <a:r>
              <a:rPr lang="zh-CN" altLang="en-US" sz="1400"/>
              <a:t>99  0.152677</a:t>
            </a:r>
            <a:endParaRPr lang="zh-CN" altLang="en-US" sz="1400"/>
          </a:p>
          <a:p>
            <a:r>
              <a:rPr lang="zh-CN" altLang="en-US" sz="1400"/>
              <a:t>[100 rows x 1 columns]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357755" y="3131185"/>
            <a:ext cx="428117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[98]: store.put('obj2', frame, format='table')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[99]: store.select('obj2', where=['index &gt;= 10 and index &lt;= 15'])</a:t>
            </a:r>
            <a:endParaRPr lang="zh-CN" altLang="en-US" sz="1400"/>
          </a:p>
          <a:p>
            <a:r>
              <a:rPr lang="zh-CN" altLang="en-US" sz="1400"/>
              <a:t>Out[99]: </a:t>
            </a:r>
            <a:endParaRPr lang="zh-CN" altLang="en-US" sz="1400"/>
          </a:p>
          <a:p>
            <a:r>
              <a:rPr lang="zh-CN" altLang="en-US" sz="1400"/>
              <a:t>           a</a:t>
            </a:r>
            <a:endParaRPr lang="zh-CN" altLang="en-US" sz="1400"/>
          </a:p>
          <a:p>
            <a:r>
              <a:rPr lang="zh-CN" altLang="en-US" sz="1400"/>
              <a:t>10  1.007189</a:t>
            </a:r>
            <a:endParaRPr lang="zh-CN" altLang="en-US" sz="1400"/>
          </a:p>
          <a:p>
            <a:r>
              <a:rPr lang="zh-CN" altLang="en-US" sz="1400"/>
              <a:t>11 -1.296221</a:t>
            </a:r>
            <a:endParaRPr lang="zh-CN" altLang="en-US" sz="1400"/>
          </a:p>
          <a:p>
            <a:r>
              <a:rPr lang="zh-CN" altLang="en-US" sz="1400"/>
              <a:t>12  0.274992</a:t>
            </a:r>
            <a:endParaRPr lang="zh-CN" altLang="en-US" sz="1400"/>
          </a:p>
          <a:p>
            <a:r>
              <a:rPr lang="zh-CN" altLang="en-US" sz="1400"/>
              <a:t>13  0.228913</a:t>
            </a:r>
            <a:endParaRPr lang="zh-CN" altLang="en-US" sz="1400"/>
          </a:p>
          <a:p>
            <a:r>
              <a:rPr lang="zh-CN" altLang="en-US" sz="1400"/>
              <a:t>14  1.352917</a:t>
            </a:r>
            <a:endParaRPr lang="zh-CN" altLang="en-US" sz="1400"/>
          </a:p>
          <a:p>
            <a:r>
              <a:rPr lang="zh-CN" altLang="en-US" sz="1400"/>
              <a:t>15  0.886429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[100]: store.close()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.1 使用HDF5格式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pandas.read_hdf函数可以快捷使用这些工具</a:t>
            </a:r>
          </a:p>
          <a:p>
            <a:pPr lvl="1"/>
            <a:r>
              <a:t>Apache Parquet</a:t>
            </a:r>
            <a:r>
              <a:rPr lang="zh-CN"/>
              <a:t>：</a:t>
            </a:r>
            <a:r>
              <a:rPr>
                <a:sym typeface="+mn-ea"/>
              </a:rPr>
              <a:t>分布式存储</a:t>
            </a:r>
            <a:r>
              <a:t>的二进制格式</a:t>
            </a:r>
          </a:p>
          <a:p>
            <a:pPr lvl="1"/>
            <a:r>
              <a:t>本地处理海量数据，建议研究PyTables和h5py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70140" y="1773555"/>
            <a:ext cx="428117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[101]: frame.to_hdf('mydata.h5', 'obj3', format='table')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[102]: pd.read_hdf('mydata.h5', 'obj3', where=['index &lt; 5'])</a:t>
            </a:r>
            <a:endParaRPr lang="zh-CN" altLang="en-US" sz="1400"/>
          </a:p>
          <a:p>
            <a:r>
              <a:rPr lang="zh-CN" altLang="en-US" sz="1400"/>
              <a:t>Out[102]: </a:t>
            </a:r>
            <a:endParaRPr lang="zh-CN" altLang="en-US" sz="1400"/>
          </a:p>
          <a:p>
            <a:r>
              <a:rPr lang="zh-CN" altLang="en-US" sz="1400"/>
              <a:t>          a</a:t>
            </a:r>
            <a:endParaRPr lang="zh-CN" altLang="en-US" sz="1400"/>
          </a:p>
          <a:p>
            <a:r>
              <a:rPr lang="zh-CN" altLang="en-US" sz="1400"/>
              <a:t>0 -0.204708</a:t>
            </a:r>
            <a:endParaRPr lang="zh-CN" altLang="en-US" sz="1400"/>
          </a:p>
          <a:p>
            <a:r>
              <a:rPr lang="zh-CN" altLang="en-US" sz="1400"/>
              <a:t>1  0.478943</a:t>
            </a:r>
            <a:endParaRPr lang="zh-CN" altLang="en-US" sz="1400"/>
          </a:p>
          <a:p>
            <a:r>
              <a:rPr lang="zh-CN" altLang="en-US" sz="1400"/>
              <a:t>2 -0.519439</a:t>
            </a:r>
            <a:endParaRPr lang="zh-CN" altLang="en-US" sz="1400"/>
          </a:p>
          <a:p>
            <a:r>
              <a:rPr lang="zh-CN" altLang="en-US" sz="1400"/>
              <a:t>3 -0.555730</a:t>
            </a:r>
            <a:endParaRPr lang="zh-CN" altLang="en-US" sz="1400"/>
          </a:p>
          <a:p>
            <a:r>
              <a:rPr lang="zh-CN" altLang="en-US" sz="1400"/>
              <a:t>4  1.965781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.2 读取Microsoft Excel文件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pandas的ExcelFile类或pandas.read_excel函数支持读取存储在Excel 2003（或更高版本）中的表格型数据。</a:t>
            </a:r>
          </a:p>
          <a:p>
            <a:pPr lvl="1"/>
            <a:r>
              <a:t>这两个工具分别使用扩展包xlrd和openpyxl读取XLS和XLSX文件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33475" y="2700655"/>
            <a:ext cx="563753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[104]: xlsx = pd.ExcelFile('examples/ex1.xlsx')</a:t>
            </a:r>
            <a:endParaRPr lang="zh-CN" altLang="en-US" sz="1400"/>
          </a:p>
          <a:p>
            <a:r>
              <a:rPr lang="zh-CN" altLang="en-US" sz="1400"/>
              <a:t>In [105]: pd.read_excel(xlsx, 'Sheet1')</a:t>
            </a:r>
            <a:endParaRPr lang="zh-CN" altLang="en-US" sz="1400"/>
          </a:p>
          <a:p>
            <a:r>
              <a:rPr lang="zh-CN" altLang="en-US" sz="1400"/>
              <a:t>Out[105]: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[106]: frame = pd.read_excel('examples/ex1.xlsx', 'Sheet1')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[107]: frame</a:t>
            </a:r>
            <a:endParaRPr lang="zh-CN" altLang="en-US" sz="1400"/>
          </a:p>
          <a:p>
            <a:r>
              <a:rPr lang="zh-CN" altLang="en-US" sz="1400"/>
              <a:t>Out[107]: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6534150" y="2853690"/>
            <a:ext cx="563753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[108]: writer = pd.ExcelWriter('examples/ex2.xlsx')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[109]: frame.to_excel(writer, 'Sheet1')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[110]: writer.save()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[111]: frame.to_excel('examples/ex2.xlsx')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.2 读取Microsoft Excel文件</a:t>
            </a:r>
            <a:endParaRPr 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081385" cy="5041265"/>
          </a:xfrm>
        </p:spPr>
        <p:txBody>
          <a:bodyPr/>
          <a:lstStyle/>
          <a:p>
            <a:r>
              <a:t>pandas的ExcelFile类或pandas.read_excel函数支持读取存储在Excel 2003（或更高版本）中的表格型数据。</a:t>
            </a:r>
          </a:p>
          <a:p>
            <a:pPr lvl="1"/>
            <a:r>
              <a:t>这两个工具分别使用扩展包xlrd和openpyxl读取XLS和XLSX文件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33475" y="2700655"/>
            <a:ext cx="563753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[104]: xlsx = pd.ExcelFile('examples/ex1.xlsx')</a:t>
            </a:r>
            <a:endParaRPr lang="zh-CN" altLang="en-US" sz="1400"/>
          </a:p>
          <a:p>
            <a:r>
              <a:rPr lang="zh-CN" altLang="en-US" sz="1400"/>
              <a:t>In [105]: pd.read_excel(xlsx, 'Sheet1')</a:t>
            </a:r>
            <a:endParaRPr lang="zh-CN" altLang="en-US" sz="1400"/>
          </a:p>
          <a:p>
            <a:r>
              <a:rPr lang="zh-CN" altLang="en-US" sz="1400"/>
              <a:t>Out[105]: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[106]: frame = pd.read_excel('examples/ex1.xlsx', 'Sheet1')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[107]: frame</a:t>
            </a:r>
            <a:endParaRPr lang="zh-CN" altLang="en-US" sz="1400"/>
          </a:p>
          <a:p>
            <a:r>
              <a:rPr lang="zh-CN" altLang="en-US" sz="1400"/>
              <a:t>Out[107]: </a:t>
            </a:r>
            <a:endParaRPr lang="zh-CN" altLang="en-US" sz="1400"/>
          </a:p>
          <a:p>
            <a:r>
              <a:rPr lang="zh-CN" altLang="en-US" sz="1400"/>
              <a:t>   a   b   c   d message</a:t>
            </a:r>
            <a:endParaRPr lang="zh-CN" altLang="en-US" sz="1400"/>
          </a:p>
          <a:p>
            <a:r>
              <a:rPr lang="zh-CN" altLang="en-US" sz="1400"/>
              <a:t>0  1   2   3   4   hello</a:t>
            </a:r>
            <a:endParaRPr lang="zh-CN" altLang="en-US" sz="1400"/>
          </a:p>
          <a:p>
            <a:r>
              <a:rPr lang="zh-CN" altLang="en-US" sz="1400"/>
              <a:t>1  5   6   7   8   world</a:t>
            </a:r>
            <a:endParaRPr lang="zh-CN" altLang="en-US" sz="1400"/>
          </a:p>
          <a:p>
            <a:r>
              <a:rPr lang="zh-CN" altLang="en-US" sz="1400"/>
              <a:t>2  9  10  11  12     foo</a:t>
            </a:r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6534150" y="2853690"/>
            <a:ext cx="563753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[108]: writer = pd.ExcelWriter('examples/ex2.xlsx')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[109]: frame.to_excel(writer, 'Sheet1')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[110]: writer.save()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[111]: frame.to_excel('examples/ex2.xlsx')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6.2</a:t>
            </a:r>
            <a:r>
              <a:rPr lang="en-US" dirty="0">
                <a:sym typeface="+mn-ea"/>
              </a:rPr>
              <a:t>.2 读取Microsoft Excel文件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546"/>
            <a:ext cx="3835931" cy="5041187"/>
          </a:xfrm>
        </p:spPr>
        <p:txBody>
          <a:bodyPr/>
          <a:lstStyle/>
          <a:p>
            <a:r>
              <a:rPr lang="zh-CN" altLang="en-US" dirty="0" smtClean="0"/>
              <a:t>语法</a:t>
            </a:r>
            <a:endParaRPr lang="en-US" altLang="zh-CN" dirty="0" smtClean="0"/>
          </a:p>
          <a:p>
            <a:pPr lvl="1"/>
            <a:r>
              <a:rPr lang="en-US" altLang="zh-CN" dirty="0" err="1"/>
              <a:t>pd.read_excel</a:t>
            </a:r>
            <a:r>
              <a:rPr lang="en-US" altLang="zh-CN" dirty="0"/>
              <a:t>(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en-US" altLang="zh-CN" dirty="0" err="1"/>
              <a:t>io</a:t>
            </a:r>
            <a:r>
              <a:rPr lang="en-US" altLang="zh-CN" dirty="0"/>
              <a:t>,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en-US" altLang="zh-CN" dirty="0" err="1"/>
              <a:t>sheet_name</a:t>
            </a:r>
            <a:r>
              <a:rPr lang="en-US" altLang="zh-CN" dirty="0"/>
              <a:t>=0,</a:t>
            </a:r>
            <a:endParaRPr lang="en-US" altLang="zh-CN" dirty="0"/>
          </a:p>
          <a:p>
            <a:pPr lvl="1"/>
            <a:r>
              <a:rPr lang="en-US" altLang="zh-CN" dirty="0"/>
              <a:t>    header=0,</a:t>
            </a:r>
            <a:endParaRPr lang="en-US" altLang="zh-CN" dirty="0"/>
          </a:p>
          <a:p>
            <a:pPr lvl="1"/>
            <a:r>
              <a:rPr lang="en-US" altLang="zh-CN" dirty="0"/>
              <a:t>    names=None,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en-US" altLang="zh-CN" dirty="0" err="1"/>
              <a:t>index_col</a:t>
            </a:r>
            <a:r>
              <a:rPr lang="en-US" altLang="zh-CN" dirty="0"/>
              <a:t>=None,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en-US" altLang="zh-CN" dirty="0" err="1"/>
              <a:t>usecols</a:t>
            </a:r>
            <a:r>
              <a:rPr lang="en-US" altLang="zh-CN" dirty="0"/>
              <a:t>=None,</a:t>
            </a:r>
            <a:endParaRPr lang="en-US" altLang="zh-CN" dirty="0"/>
          </a:p>
          <a:p>
            <a:pPr lvl="1"/>
            <a:r>
              <a:rPr lang="en-US" altLang="zh-CN" dirty="0"/>
              <a:t>    squeeze=False,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en-US" altLang="zh-CN" dirty="0" err="1"/>
              <a:t>dtype</a:t>
            </a:r>
            <a:r>
              <a:rPr lang="en-US" altLang="zh-CN" dirty="0"/>
              <a:t>=None,</a:t>
            </a:r>
            <a:endParaRPr lang="en-US" altLang="zh-CN" dirty="0"/>
          </a:p>
          <a:p>
            <a:pPr lvl="1"/>
            <a:r>
              <a:rPr lang="en-US" altLang="zh-CN" dirty="0"/>
              <a:t>    engine=None</a:t>
            </a:r>
            <a:r>
              <a:rPr lang="en-US" altLang="zh-CN" dirty="0" smtClean="0"/>
              <a:t>,</a:t>
            </a:r>
            <a:endParaRPr lang="en-US" altLang="zh-CN" dirty="0" smtClean="0"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446166" y="2152779"/>
            <a:ext cx="3835931" cy="4011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>
            <a:lvl1pPr marL="408305" indent="-40830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n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5190" indent="-34036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61440" indent="-27241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06270" indent="-27241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51100" indent="-27241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»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5930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25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4955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9785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dirty="0"/>
              <a:t>  </a:t>
            </a:r>
            <a:r>
              <a:rPr lang="en-US" altLang="zh-CN" dirty="0" smtClean="0"/>
              <a:t>  converters=None,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true_values</a:t>
            </a:r>
            <a:r>
              <a:rPr lang="en-US" altLang="zh-CN" dirty="0" smtClean="0"/>
              <a:t>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false_values</a:t>
            </a:r>
            <a:r>
              <a:rPr lang="en-US" altLang="zh-CN" dirty="0" smtClean="0"/>
              <a:t>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skiprows</a:t>
            </a:r>
            <a:r>
              <a:rPr lang="en-US" altLang="zh-CN" dirty="0" smtClean="0"/>
              <a:t>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nrows</a:t>
            </a:r>
            <a:r>
              <a:rPr lang="en-US" altLang="zh-CN" dirty="0" smtClean="0"/>
              <a:t>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na_values</a:t>
            </a:r>
            <a:r>
              <a:rPr lang="en-US" altLang="zh-CN" dirty="0" smtClean="0"/>
              <a:t>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keep_default_na</a:t>
            </a:r>
            <a:r>
              <a:rPr lang="en-US" altLang="zh-CN" dirty="0" smtClean="0"/>
              <a:t>=True,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na_filter</a:t>
            </a:r>
            <a:r>
              <a:rPr lang="en-US" altLang="zh-CN" dirty="0" smtClean="0"/>
              <a:t>=True,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verbose=False,</a:t>
            </a:r>
            <a:endParaRPr lang="en-US" altLang="zh-CN" dirty="0" smtClean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7986888" y="2180107"/>
            <a:ext cx="4131140" cy="35111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>
            <a:lvl1pPr marL="408305" indent="-40830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n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5190" indent="-34036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61440" indent="-27241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06270" indent="-27241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51100" indent="-27241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2F6231"/>
              </a:buClr>
              <a:buFont typeface="Arial" panose="020B0604020202020204" pitchFamily="34" charset="0"/>
              <a:buChar char="»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5930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25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4955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9785" indent="-272415" algn="l" defTabSz="10890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dirty="0" smtClean="0"/>
              <a:t>    </a:t>
            </a:r>
            <a:r>
              <a:rPr lang="en-US" altLang="zh-CN" dirty="0" err="1"/>
              <a:t>parse_dates</a:t>
            </a:r>
            <a:r>
              <a:rPr lang="en-US" altLang="zh-CN" dirty="0"/>
              <a:t>=False,</a:t>
            </a:r>
            <a:endParaRPr lang="en-US" altLang="zh-CN" dirty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date_parser</a:t>
            </a:r>
            <a:r>
              <a:rPr lang="en-US" altLang="zh-CN" dirty="0" smtClean="0"/>
              <a:t>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thousands=None,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comment=None,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skipfooter</a:t>
            </a:r>
            <a:r>
              <a:rPr lang="en-US" altLang="zh-CN" dirty="0" smtClean="0"/>
              <a:t>=0,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convert_float</a:t>
            </a:r>
            <a:r>
              <a:rPr lang="en-US" altLang="zh-CN" dirty="0" smtClean="0"/>
              <a:t>=True,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   </a:t>
            </a:r>
            <a:r>
              <a:rPr lang="en-US" altLang="zh-CN" dirty="0" err="1" smtClean="0"/>
              <a:t>mangle_dupe_cols</a:t>
            </a:r>
            <a:r>
              <a:rPr lang="en-US" altLang="zh-CN" dirty="0" smtClean="0"/>
              <a:t>=True,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)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Web APIs交互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139805" cy="5005705"/>
          </a:xfrm>
        </p:spPr>
        <p:txBody>
          <a:bodyPr/>
          <a:lstStyle/>
          <a:p>
            <a:r>
              <a:rPr lang="zh-CN" altLang="en-US" dirty="0" smtClean="0"/>
              <a:t>许多网站都有一些通过JSON或其他格式提供数据的公共API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响应对象的json方法会返回一个包含被解析过的JSON字典</a:t>
            </a:r>
            <a:endParaRPr lang="zh-CN" altLang="en-US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5598160" y="2565400"/>
            <a:ext cx="644461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In [113]: import requests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[114]: url = 'https://api.github.com/repos/pandas-dev/pandas/issues'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[115]: resp = requests.get(url)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[116]: resp</a:t>
            </a:r>
            <a:endParaRPr lang="zh-CN" altLang="en-US" sz="1400"/>
          </a:p>
          <a:p>
            <a:r>
              <a:rPr lang="zh-CN" altLang="en-US" sz="1400"/>
              <a:t>Out[116]: &lt;Response [200]&gt;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[117]: data = resp.json()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In [118]: data[0]['title']</a:t>
            </a:r>
            <a:endParaRPr lang="zh-CN" altLang="en-US" sz="1400"/>
          </a:p>
          <a:p>
            <a:r>
              <a:rPr lang="zh-CN" altLang="en-US" sz="1400"/>
              <a:t>Out[118]: 'Period does not round down for frequencies less that 1 hour'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Web APIs交互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5" y="1197610"/>
            <a:ext cx="11139805" cy="5005705"/>
          </a:xfrm>
        </p:spPr>
        <p:txBody>
          <a:bodyPr/>
          <a:lstStyle/>
          <a:p>
            <a:pPr lvl="1"/>
            <a:r>
              <a:rPr lang="zh-CN" altLang="en-US" dirty="0" smtClean="0"/>
              <a:t>data中的每个元素都是一个包含所有GitHub主题页数据（不包含评论）的字典</a:t>
            </a:r>
            <a:endParaRPr lang="zh-CN" altLang="en-US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7614285" y="1629410"/>
            <a:ext cx="456311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/>
              <a:t>In [119]: issues = pd.DataFrame(data, columns=['number', 'title',</a:t>
            </a:r>
            <a:endParaRPr lang="zh-CN" altLang="en-US" sz="1000"/>
          </a:p>
          <a:p>
            <a:r>
              <a:rPr lang="zh-CN" altLang="en-US" sz="1000"/>
              <a:t>   .....:                                      'labels', 'state'])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In [120]: issues</a:t>
            </a:r>
            <a:endParaRPr lang="zh-CN" altLang="en-US" sz="1000"/>
          </a:p>
          <a:p>
            <a:r>
              <a:rPr lang="zh-CN" altLang="en-US" sz="1000"/>
              <a:t>Out[120]:</a:t>
            </a:r>
            <a:endParaRPr lang="zh-CN" altLang="en-US" sz="1000"/>
          </a:p>
          <a:p>
            <a:r>
              <a:rPr lang="zh-CN" altLang="en-US" sz="1000"/>
              <a:t>    number                                              title  \</a:t>
            </a:r>
            <a:endParaRPr lang="zh-CN" altLang="en-US" sz="1000"/>
          </a:p>
          <a:p>
            <a:r>
              <a:rPr lang="zh-CN" altLang="en-US" sz="1000"/>
              <a:t>0    17666  Period does not round down for frequencies les...   </a:t>
            </a:r>
            <a:endParaRPr lang="zh-CN" altLang="en-US" sz="1000"/>
          </a:p>
          <a:p>
            <a:r>
              <a:rPr lang="zh-CN" altLang="en-US" sz="1000"/>
              <a:t>1    17665           DOC: improve docstring of function where   </a:t>
            </a:r>
            <a:endParaRPr lang="zh-CN" altLang="en-US" sz="1000"/>
          </a:p>
          <a:p>
            <a:r>
              <a:rPr lang="zh-CN" altLang="en-US" sz="1000"/>
              <a:t>2    17664               COMPAT: skip 32-bit test on int repr   </a:t>
            </a:r>
            <a:endParaRPr lang="zh-CN" altLang="en-US" sz="1000"/>
          </a:p>
          <a:p>
            <a:r>
              <a:rPr lang="zh-CN" altLang="en-US" sz="1000"/>
              <a:t>3    17662                          implement Delegator class</a:t>
            </a:r>
            <a:endParaRPr lang="zh-CN" altLang="en-US" sz="1000"/>
          </a:p>
          <a:p>
            <a:r>
              <a:rPr lang="zh-CN" altLang="en-US" sz="1000"/>
              <a:t>4    17654  BUG: Fix series rename called with str alterin...   </a:t>
            </a:r>
            <a:endParaRPr lang="zh-CN" altLang="en-US" sz="1000"/>
          </a:p>
          <a:p>
            <a:r>
              <a:rPr lang="zh-CN" altLang="en-US" sz="1000"/>
              <a:t>..     ...                                                ...   </a:t>
            </a:r>
            <a:endParaRPr lang="zh-CN" altLang="en-US" sz="1000"/>
          </a:p>
          <a:p>
            <a:r>
              <a:rPr lang="zh-CN" altLang="en-US" sz="1000"/>
              <a:t>25   17603  BUG: Correctly localize naive datetime strings...   </a:t>
            </a:r>
            <a:endParaRPr lang="zh-CN" altLang="en-US" sz="1000"/>
          </a:p>
          <a:p>
            <a:r>
              <a:rPr lang="zh-CN" altLang="en-US" sz="1000"/>
              <a:t>26   17599                     core.dtypes.generic --&gt; cython   </a:t>
            </a:r>
            <a:endParaRPr lang="zh-CN" altLang="en-US" sz="1000"/>
          </a:p>
          <a:p>
            <a:r>
              <a:rPr lang="zh-CN" altLang="en-US" sz="1000"/>
              <a:t>27   17596   Merge cdate_range functionality into bdate_range   </a:t>
            </a:r>
            <a:endParaRPr lang="zh-CN" altLang="en-US" sz="1000"/>
          </a:p>
          <a:p>
            <a:r>
              <a:rPr lang="zh-CN" altLang="en-US" sz="1000"/>
              <a:t>28   17587  Time Grouper bug fix when applied for list gro...   </a:t>
            </a:r>
            <a:endParaRPr lang="zh-CN" altLang="en-US" sz="1000"/>
          </a:p>
          <a:p>
            <a:r>
              <a:rPr lang="zh-CN" altLang="en-US" sz="1000"/>
              <a:t>29   17583  BUG: fix tz-aware DatetimeIndex + TimedeltaInd...   </a:t>
            </a:r>
            <a:endParaRPr lang="zh-CN" altLang="en-US" sz="1000"/>
          </a:p>
          <a:p>
            <a:r>
              <a:rPr lang="zh-CN" altLang="en-US" sz="1000"/>
              <a:t>                                               labels state  </a:t>
            </a:r>
            <a:endParaRPr lang="zh-CN" altLang="en-US" sz="1000"/>
          </a:p>
          <a:p>
            <a:r>
              <a:rPr lang="zh-CN" altLang="en-US" sz="1000"/>
              <a:t>0                                                  []  open  </a:t>
            </a:r>
            <a:endParaRPr lang="zh-CN" altLang="en-US" sz="1000"/>
          </a:p>
          <a:p>
            <a:r>
              <a:rPr lang="zh-CN" altLang="en-US" sz="1000"/>
              <a:t>1   [{'id': 134699, 'url': 'https://api.github.com...  open  </a:t>
            </a:r>
            <a:endParaRPr lang="zh-CN" altLang="en-US" sz="1000"/>
          </a:p>
          <a:p>
            <a:r>
              <a:rPr lang="zh-CN" altLang="en-US" sz="1000"/>
              <a:t>2   [{'id': 563047854, 'url': 'https://api.github....  open  </a:t>
            </a:r>
            <a:endParaRPr lang="zh-CN" altLang="en-US" sz="1000"/>
          </a:p>
          <a:p>
            <a:r>
              <a:rPr lang="zh-CN" altLang="en-US" sz="1000"/>
              <a:t>3                                                  []  open  </a:t>
            </a:r>
            <a:endParaRPr lang="zh-CN" altLang="en-US" sz="1000"/>
          </a:p>
          <a:p>
            <a:r>
              <a:rPr lang="zh-CN" altLang="en-US" sz="1000"/>
              <a:t>4   [{'id': 76811, 'url': 'https://api.github.com/...  open  </a:t>
            </a:r>
            <a:endParaRPr lang="zh-CN" altLang="en-US" sz="1000"/>
          </a:p>
          <a:p>
            <a:r>
              <a:rPr lang="zh-CN" altLang="en-US" sz="1000"/>
              <a:t>..                                                ...   ...  </a:t>
            </a:r>
            <a:endParaRPr lang="zh-CN" altLang="en-US" sz="1000"/>
          </a:p>
          <a:p>
            <a:r>
              <a:rPr lang="zh-CN" altLang="en-US" sz="1000"/>
              <a:t>25  [{'id': 76811, 'url': 'https://api.github.com/...  open  </a:t>
            </a:r>
            <a:endParaRPr lang="zh-CN" altLang="en-US" sz="1000"/>
          </a:p>
          <a:p>
            <a:r>
              <a:rPr lang="zh-CN" altLang="en-US" sz="1000"/>
              <a:t>26  [{'id': 49094459, 'url': 'https://api.github.c...  open  </a:t>
            </a:r>
            <a:endParaRPr lang="zh-CN" altLang="en-US" sz="1000"/>
          </a:p>
          <a:p>
            <a:r>
              <a:rPr lang="zh-CN" altLang="en-US" sz="1000"/>
              <a:t>27  [{'id': 35818298, 'url': 'https://api.github.c...  open  </a:t>
            </a:r>
            <a:endParaRPr lang="zh-CN" altLang="en-US" sz="1000"/>
          </a:p>
          <a:p>
            <a:r>
              <a:rPr lang="zh-CN" altLang="en-US" sz="1000"/>
              <a:t>28  [{'id': 233160, 'url': 'https://api.github.com...  open  </a:t>
            </a:r>
            <a:endParaRPr lang="zh-CN" altLang="en-US" sz="1000"/>
          </a:p>
          <a:p>
            <a:r>
              <a:rPr lang="zh-CN" altLang="en-US" sz="1000"/>
              <a:t>29  [{'id': 76811, 'url': 'https://api.github.com/...  open  </a:t>
            </a:r>
            <a:endParaRPr lang="zh-CN" altLang="en-US" sz="1000"/>
          </a:p>
          <a:p>
            <a:r>
              <a:rPr lang="zh-CN" altLang="en-US" sz="1000"/>
              <a:t>[30 rows x 4 columns]</a:t>
            </a:r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6.</a:t>
            </a:r>
            <a:r>
              <a:rPr lang="en-US">
                <a:sym typeface="+mn-ea"/>
              </a:rPr>
              <a:t>4 </a:t>
            </a:r>
            <a:r>
              <a:rPr lang="zh-CN" altLang="en-US">
                <a:sym typeface="+mn-ea"/>
              </a:rPr>
              <a:t>数据库</a:t>
            </a:r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r>
              <a:rPr lang="en-US" altLang="zh-CN"/>
              <a:t>pandas</a:t>
            </a:r>
            <a:r>
              <a:rPr lang="zh-CN" altLang="en-US"/>
              <a:t>读写数据库里的数据</a:t>
            </a:r>
            <a:endParaRPr lang="en-US" altLang="zh-CN"/>
          </a:p>
          <a:p>
            <a:pPr lvl="1"/>
            <a:r>
              <a:rPr lang="en-US" altLang="zh-CN"/>
              <a:t>import pandas as pd</a:t>
            </a:r>
            <a:endParaRPr lang="en-US" altLang="zh-CN"/>
          </a:p>
          <a:p>
            <a:pPr lvl="1"/>
            <a:r>
              <a:rPr lang="en-US" altLang="zh-CN"/>
              <a:t>import numpy as np</a:t>
            </a:r>
            <a:endParaRPr lang="en-US" altLang="zh-CN"/>
          </a:p>
          <a:p>
            <a:pPr lvl="1"/>
            <a:r>
              <a:rPr lang="en-US" altLang="zh-CN"/>
              <a:t>import sqlalchemy as sqla</a:t>
            </a:r>
            <a:endParaRPr lang="en-US" altLang="zh-CN"/>
          </a:p>
          <a:p>
            <a:pPr lvl="1"/>
            <a:r>
              <a:rPr lang="en-US" altLang="zh-CN"/>
              <a:t>engine = sqla.create_engine("mysql+pymysql://</a:t>
            </a:r>
            <a:r>
              <a:rPr lang="zh-CN" altLang="en-US"/>
              <a:t>用户名</a:t>
            </a:r>
            <a:r>
              <a:rPr lang="en-US" altLang="zh-CN"/>
              <a:t>:</a:t>
            </a:r>
            <a:r>
              <a:rPr lang="zh-CN" altLang="en-US"/>
              <a:t>密码</a:t>
            </a:r>
            <a:r>
              <a:rPr lang="en-US" altLang="zh-CN"/>
              <a:t>@</a:t>
            </a:r>
            <a:r>
              <a:rPr lang="zh-CN" altLang="en-US"/>
              <a:t>主机名</a:t>
            </a:r>
            <a:r>
              <a:rPr lang="en-US" altLang="zh-CN"/>
              <a:t>/</a:t>
            </a:r>
            <a:r>
              <a:rPr lang="zh-CN" altLang="en-US"/>
              <a:t>数据库名</a:t>
            </a:r>
            <a:r>
              <a:rPr lang="en-US" altLang="zh-CN"/>
              <a:t>?charset=utf8")</a:t>
            </a:r>
            <a:endParaRPr lang="en-US" altLang="zh-CN"/>
          </a:p>
          <a:p>
            <a:pPr lvl="1"/>
            <a:r>
              <a:rPr lang="en-US" altLang="zh-CN"/>
              <a:t># </a:t>
            </a:r>
            <a:r>
              <a:rPr lang="zh-CN" altLang="en-US"/>
              <a:t>从</a:t>
            </a:r>
            <a:r>
              <a:rPr lang="en-US" altLang="zh-CN"/>
              <a:t>mysql</a:t>
            </a:r>
            <a:r>
              <a:rPr lang="zh-CN" altLang="en-US"/>
              <a:t>导入数据</a:t>
            </a:r>
            <a:endParaRPr lang="en-US" altLang="zh-CN"/>
          </a:p>
          <a:p>
            <a:pPr lvl="1"/>
            <a:r>
              <a:rPr lang="en-US" altLang="zh-CN"/>
              <a:t>df = pd.read_sql('select * from file_table', engine)</a:t>
            </a:r>
            <a:endParaRPr lang="en-US" altLang="zh-CN"/>
          </a:p>
          <a:p>
            <a:pPr lvl="1"/>
            <a:r>
              <a:rPr lang="en-US" altLang="zh-CN"/>
              <a:t># </a:t>
            </a:r>
            <a:r>
              <a:rPr lang="zh-CN" altLang="en-US"/>
              <a:t>从</a:t>
            </a:r>
            <a:r>
              <a:rPr lang="en-US" altLang="zh-CN"/>
              <a:t>df</a:t>
            </a:r>
            <a:r>
              <a:rPr lang="zh-CN" altLang="en-US"/>
              <a:t>导入到</a:t>
            </a:r>
            <a:r>
              <a:rPr lang="en-US" altLang="zh-CN"/>
              <a:t>mysql</a:t>
            </a:r>
            <a:endParaRPr lang="en-US" altLang="zh-CN"/>
          </a:p>
          <a:p>
            <a:pPr lvl="1"/>
            <a:r>
              <a:rPr lang="en-US" altLang="zh-CN"/>
              <a:t>data = pd.DataFrame(np.arange(12).reshape(3,4), columns=list('abcd'))</a:t>
            </a:r>
            <a:endParaRPr lang="en-US" altLang="zh-CN"/>
          </a:p>
          <a:p>
            <a:pPr lvl="1"/>
            <a:r>
              <a:rPr lang="en-US" altLang="zh-CN"/>
              <a:t>data.to_sql('pd_table', index=False, con=engine)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10560,&quot;width&quot;:18075}"/>
</p:tagLst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18449</Words>
  <Application>WPS 演示</Application>
  <PresentationFormat>自定义</PresentationFormat>
  <Paragraphs>884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Arial</vt:lpstr>
      <vt:lpstr>宋体</vt:lpstr>
      <vt:lpstr>Wingdings</vt:lpstr>
      <vt:lpstr>Arial Unicode MS</vt:lpstr>
      <vt:lpstr>微软雅黑</vt:lpstr>
      <vt:lpstr>Arial Black</vt:lpstr>
      <vt:lpstr>Arial Unicode MS</vt:lpstr>
      <vt:lpstr>Calibri</vt:lpstr>
      <vt:lpstr>Office 主题</vt:lpstr>
      <vt:lpstr>https://www.jianshu.com/p/04d180d90a3f</vt:lpstr>
      <vt:lpstr>Pandas入门大纲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 读写文本格式的数据</vt:lpstr>
      <vt:lpstr>6.1.1 逐块读取文本文件</vt:lpstr>
      <vt:lpstr>6.1.1 逐块读取文本文件</vt:lpstr>
      <vt:lpstr>6.1 读写文本格式的数据</vt:lpstr>
      <vt:lpstr>6.1.2 将数据写出到文本格式</vt:lpstr>
      <vt:lpstr>6.1.2 将数据写出到文本格式</vt:lpstr>
      <vt:lpstr>6.1.2 将数据写出到文本格式</vt:lpstr>
      <vt:lpstr>6.1.3 处理分隔符格式</vt:lpstr>
      <vt:lpstr>6.1.3 处理分隔符格式</vt:lpstr>
      <vt:lpstr>6.1.3 处理分隔符格式</vt:lpstr>
      <vt:lpstr>6.1.3 处理分隔符格式</vt:lpstr>
      <vt:lpstr>6.1.3 处理分隔符格式</vt:lpstr>
      <vt:lpstr>6.1.4 JSON数据</vt:lpstr>
      <vt:lpstr>6.1.5 XML和HTML：Web信息收集</vt:lpstr>
      <vt:lpstr>6.1.5 XML和HTML：Web信息收集</vt:lpstr>
      <vt:lpstr>6.1.5 XML和HTML：Web信息收集</vt:lpstr>
      <vt:lpstr>6.2 二进制数据格式</vt:lpstr>
      <vt:lpstr>6.2.1 使用HDF5格式</vt:lpstr>
      <vt:lpstr>6.2.1 使用HDF5格式</vt:lpstr>
      <vt:lpstr>6.2.1 使用HDF5格式</vt:lpstr>
      <vt:lpstr>6.2.1 使用HDF5格式</vt:lpstr>
      <vt:lpstr>6.2.2 读取Microsoft Excel文件</vt:lpstr>
      <vt:lpstr>4.1 导入.xls或xlsx文件</vt:lpstr>
      <vt:lpstr>4.1 导入.xls或xlsx文件</vt:lpstr>
      <vt:lpstr>6.3 Web APIs交互</vt:lpstr>
      <vt:lpstr>6.3 Web APIs交互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赵伟</cp:lastModifiedBy>
  <cp:revision>914</cp:revision>
  <cp:lastPrinted>2012-03-16T05:44:00Z</cp:lastPrinted>
  <dcterms:created xsi:type="dcterms:W3CDTF">2020-09-20T02:01:00Z</dcterms:created>
  <dcterms:modified xsi:type="dcterms:W3CDTF">2021-10-12T08:29:36Z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3A4720A4E2C849B9A05B978A86DDDB98</vt:lpwstr>
  </property>
</Properties>
</file>