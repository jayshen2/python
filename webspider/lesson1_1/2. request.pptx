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19" r:id="rId3"/>
    <p:sldId id="343" r:id="rId4"/>
    <p:sldId id="359" r:id="rId5"/>
    <p:sldId id="344" r:id="rId6"/>
    <p:sldId id="345" r:id="rId7"/>
    <p:sldId id="325" r:id="rId8"/>
    <p:sldId id="320" r:id="rId9"/>
    <p:sldId id="322" r:id="rId10"/>
    <p:sldId id="321" r:id="rId11"/>
    <p:sldId id="329" r:id="rId12"/>
    <p:sldId id="323" r:id="rId13"/>
    <p:sldId id="324" r:id="rId14"/>
    <p:sldId id="330" r:id="rId15"/>
    <p:sldId id="326" r:id="rId16"/>
    <p:sldId id="346" r:id="rId17"/>
    <p:sldId id="327" r:id="rId18"/>
    <p:sldId id="331" r:id="rId19"/>
    <p:sldId id="375" r:id="rId20"/>
    <p:sldId id="265" r:id="rId21"/>
  </p:sldIdLst>
  <p:sldSz cx="12204700" cy="6859588"/>
  <p:notesSz cx="9144000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8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8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86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3515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771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254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737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7" autoAdjust="0"/>
    <p:restoredTop sz="96552" autoAdjust="0"/>
  </p:normalViewPr>
  <p:slideViewPr>
    <p:cSldViewPr>
      <p:cViewPr varScale="1">
        <p:scale>
          <a:sx n="115" d="100"/>
          <a:sy n="115" d="100"/>
        </p:scale>
        <p:origin x="258" y="114"/>
      </p:cViewPr>
      <p:guideLst>
        <p:guide orient="horz" pos="2161"/>
        <p:guide pos="384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064" y="58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0E44AF-0D8D-4B66-BECC-4D5B9292E151}" type="datetimeFigureOut">
              <a:rPr lang="zh-CN" altLang="en-US"/>
              <a:t>2023/9/14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C35A87-E971-49BF-8F02-A5CE2B85C74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119A08-1D2F-470C-8FD3-E69459F4B57D}" type="datetimeFigureOut">
              <a:rPr lang="zh-CN" altLang="en-US"/>
              <a:t>2023/9/14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4413" y="514350"/>
            <a:ext cx="45751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6004EB-C740-4F3D-A864-243FCB14D11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8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902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8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86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351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77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25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737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网络爬虫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solidFill>
                    <a:schemeClr val="accent4">
                      <a:lumMod val="50000"/>
                    </a:schemeClr>
                  </a:solidFill>
                </a:rPr>
                <a:t>第一章  基础知识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C9F260F8-0F8D-4271-AB2B-8487BB54F279}" type="datetime1">
              <a:rPr lang="zh-CN" altLang="en-US"/>
              <a:t>2023/9/14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  <a:t>2023/9/14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网络爬虫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第一章  基础知识</a:t>
              </a: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cnblogs.com/lmh001/p/9928517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http/http-status-codes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douban.com/simpl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github.com/v3/#http-verbs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jamesaonier/article/details/8900305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ouban.com/" TargetMode="External"/><Relationship Id="rId2" Type="http://schemas.openxmlformats.org/officeDocument/2006/relationships/hyperlink" Target="http://www.baidu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ithub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jd.com/Search?keyword=%E7%88%AC%E8%99%AB&amp;enc=utf-8&amp;wq=%E7%88%AC%E8%99%AB&amp;pvid=171aad7e7745414884101eefb95115ff" TargetMode="External"/><Relationship Id="rId2" Type="http://schemas.openxmlformats.org/officeDocument/2006/relationships/hyperlink" Target="https://www.douban.com/search?q=pytho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68207" y="5157986"/>
            <a:ext cx="10668285" cy="844324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dirty="0"/>
              <a:t>网络爬虫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799"/>
          <a:stretch>
            <a:fillRect/>
          </a:stretch>
        </p:blipFill>
        <p:spPr>
          <a:xfrm>
            <a:off x="3078014" y="696932"/>
            <a:ext cx="6408712" cy="44797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认识</a:t>
            </a:r>
            <a:r>
              <a:rPr lang="en-US" altLang="zh-CN" dirty="0"/>
              <a:t>HTTP</a:t>
            </a:r>
            <a:r>
              <a:rPr lang="zh-CN" altLang="en-US" dirty="0"/>
              <a:t>请求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requests</a:t>
            </a:r>
            <a:r>
              <a:rPr lang="zh-CN" altLang="en-US" dirty="0"/>
              <a:t>库入门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HTTP</a:t>
            </a:r>
            <a:r>
              <a:rPr lang="zh-CN" altLang="en-US" dirty="0"/>
              <a:t>请求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请求和响应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HTTP</a:t>
            </a:r>
            <a:r>
              <a:rPr lang="zh-CN" altLang="en-US" dirty="0"/>
              <a:t>请求的含义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HTTP</a:t>
            </a:r>
            <a:r>
              <a:rPr lang="zh-CN" altLang="en-US" dirty="0"/>
              <a:t>请求信息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HTTP</a:t>
            </a:r>
            <a:r>
              <a:rPr lang="zh-CN" altLang="en-US" dirty="0"/>
              <a:t>响应状态码</a:t>
            </a:r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>
                <a:sym typeface="+mn-ea"/>
              </a:rPr>
              <a:t>请求和响应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我们在浏览器中输入一个URL，回车之后便会在浏览器中观察到页面内容。实际上，这个过程是浏览器向网站所在的服务器发送了一个请求，网站服务器接收到这个请求后进行处理和解析，然后返回对应的响应，接着传回给浏览器。响应里包含了页面的源代码等内容，浏览器再对其进行解析，便将网页呈现了出来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56965" y="3302000"/>
            <a:ext cx="4890135" cy="2023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2.1.1 HTTP</a:t>
            </a:r>
            <a:r>
              <a:rPr lang="zh-CN" altLang="en-US" dirty="0"/>
              <a:t>请求的含义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协议（</a:t>
            </a:r>
            <a:r>
              <a:rPr lang="en-US" altLang="zh-CN" dirty="0"/>
              <a:t>Hyper Text Transfer Protocol</a:t>
            </a:r>
            <a:r>
              <a:rPr lang="zh-CN" altLang="en-US" dirty="0"/>
              <a:t>，超文本传输协议）</a:t>
            </a:r>
            <a:r>
              <a:rPr lang="en-US" altLang="zh-CN" dirty="0"/>
              <a:t>,</a:t>
            </a:r>
            <a:r>
              <a:rPr lang="zh-CN" altLang="en-US" dirty="0"/>
              <a:t>是用于从万维网服务器传输超文本到本地浏览器的传送协议。</a:t>
            </a:r>
            <a:endParaRPr lang="en-US" altLang="zh-CN" dirty="0"/>
          </a:p>
          <a:p>
            <a:r>
              <a:rPr lang="en-US" altLang="zh-CN" dirty="0"/>
              <a:t>HTTP</a:t>
            </a:r>
            <a:r>
              <a:rPr lang="zh-CN" altLang="en-US" dirty="0"/>
              <a:t>请求简单理解：客户端向服务器端发送请求消息。</a:t>
            </a:r>
            <a:endParaRPr lang="en-US" altLang="zh-CN" dirty="0"/>
          </a:p>
          <a:p>
            <a:r>
              <a:rPr lang="en-US" altLang="zh-CN" dirty="0"/>
              <a:t>Web</a:t>
            </a:r>
            <a:r>
              <a:rPr lang="zh-CN" altLang="en-US" dirty="0"/>
              <a:t>服务大致流程</a:t>
            </a:r>
            <a:endParaRPr lang="en-US" altLang="zh-CN" dirty="0"/>
          </a:p>
          <a:p>
            <a:pPr lvl="1"/>
            <a:r>
              <a:rPr lang="zh-CN" altLang="en-US" dirty="0"/>
              <a:t>浏览器或爬虫希望服务器为其提供某种服务，需要先发请求</a:t>
            </a:r>
            <a:endParaRPr lang="en-US" altLang="zh-CN" dirty="0"/>
          </a:p>
          <a:p>
            <a:pPr lvl="1"/>
            <a:r>
              <a:rPr lang="zh-CN" altLang="en-US" dirty="0"/>
              <a:t>服务器收到请求，做出相应的响应</a:t>
            </a:r>
            <a:endParaRPr lang="en-US" altLang="zh-CN" dirty="0"/>
          </a:p>
          <a:p>
            <a:pPr lvl="1"/>
            <a:r>
              <a:rPr lang="zh-CN" altLang="en-US" dirty="0"/>
              <a:t>最后连接关闭</a:t>
            </a:r>
            <a:endParaRPr lang="en-US" altLang="zh-CN" dirty="0"/>
          </a:p>
          <a:p>
            <a:r>
              <a:rPr lang="zh-CN" altLang="en-US" dirty="0"/>
              <a:t>认识和理解</a:t>
            </a:r>
            <a:r>
              <a:rPr lang="en-US" altLang="zh-CN" dirty="0"/>
              <a:t>HTTP</a:t>
            </a:r>
            <a:r>
              <a:rPr lang="zh-CN" altLang="en-US" dirty="0"/>
              <a:t>请求非常重要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2.1.2 HTTP</a:t>
            </a:r>
            <a:r>
              <a:rPr lang="zh-CN" altLang="en-US" dirty="0"/>
              <a:t>请求信息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773" y="1197546"/>
            <a:ext cx="5996171" cy="5041187"/>
          </a:xfrm>
        </p:spPr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请求信息是一个数据块</a:t>
            </a:r>
            <a:endParaRPr lang="en-US" altLang="zh-CN" dirty="0"/>
          </a:p>
          <a:p>
            <a:pPr lvl="1"/>
            <a:r>
              <a:rPr lang="zh-CN" altLang="en-US" dirty="0"/>
              <a:t>请求行：请求方法、</a:t>
            </a:r>
            <a:r>
              <a:rPr lang="en-US" altLang="zh-CN" dirty="0"/>
              <a:t>URL</a:t>
            </a:r>
            <a:r>
              <a:rPr lang="zh-CN" altLang="en-US" dirty="0"/>
              <a:t>和协议及</a:t>
            </a:r>
            <a:endParaRPr lang="en-US" altLang="zh-CN" dirty="0"/>
          </a:p>
          <a:p>
            <a:pPr lvl="2"/>
            <a:r>
              <a:rPr lang="en-US" altLang="zh-CN" dirty="0"/>
              <a:t>Get</a:t>
            </a:r>
            <a:r>
              <a:rPr lang="zh-CN" altLang="en-US" dirty="0"/>
              <a:t>：请求指定的页面信息，并返回实体主体</a:t>
            </a:r>
            <a:endParaRPr lang="en-US" altLang="zh-CN" dirty="0"/>
          </a:p>
          <a:p>
            <a:pPr lvl="2"/>
            <a:r>
              <a:rPr lang="en-US" altLang="zh-CN" dirty="0"/>
              <a:t>Post</a:t>
            </a:r>
            <a:r>
              <a:rPr lang="zh-CN" altLang="en-US" dirty="0"/>
              <a:t>：向指定资源提交数据进行请求，数据包含在请求体中，可能导致新的资源的建立或已有资源的修改。</a:t>
            </a:r>
            <a:endParaRPr lang="en-US" altLang="zh-CN" dirty="0"/>
          </a:p>
          <a:p>
            <a:pPr lvl="2"/>
            <a:r>
              <a:rPr lang="zh-CN" altLang="en-US" dirty="0"/>
              <a:t>其他：</a:t>
            </a:r>
            <a:r>
              <a:rPr lang="en-US" altLang="zh-CN" dirty="0"/>
              <a:t>head</a:t>
            </a:r>
            <a:r>
              <a:rPr lang="zh-CN" altLang="en-US" dirty="0"/>
              <a:t>、</a:t>
            </a:r>
            <a:r>
              <a:rPr lang="en-US" altLang="zh-CN" dirty="0"/>
              <a:t>put</a:t>
            </a:r>
            <a:r>
              <a:rPr lang="zh-CN" altLang="en-US" dirty="0"/>
              <a:t>、</a:t>
            </a:r>
            <a:r>
              <a:rPr lang="en-US" altLang="zh-CN" dirty="0"/>
              <a:t>delete</a:t>
            </a:r>
            <a:r>
              <a:rPr lang="zh-CN" altLang="en-US" dirty="0"/>
              <a:t>、</a:t>
            </a:r>
            <a:r>
              <a:rPr lang="en-US" altLang="zh-CN" dirty="0"/>
              <a:t>option</a:t>
            </a:r>
            <a:r>
              <a:rPr lang="zh-CN" altLang="en-US" dirty="0"/>
              <a:t>、</a:t>
            </a:r>
            <a:r>
              <a:rPr lang="en-US" altLang="zh-CN" dirty="0"/>
              <a:t>patch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/>
              <a:t>请求头部</a:t>
            </a:r>
            <a:endParaRPr lang="en-US" altLang="zh-CN" dirty="0"/>
          </a:p>
          <a:p>
            <a:pPr lvl="2"/>
            <a:r>
              <a:rPr lang="zh-CN" altLang="en-US" dirty="0"/>
              <a:t>包含客户端环境和请求正文的有用信息（浏览器的类型、使用的语言、编码等）</a:t>
            </a:r>
            <a:endParaRPr lang="en-US" altLang="zh-CN" dirty="0"/>
          </a:p>
          <a:p>
            <a:pPr lvl="1"/>
            <a:r>
              <a:rPr lang="zh-CN" altLang="en-US" dirty="0"/>
              <a:t>请求正文</a:t>
            </a:r>
            <a:endParaRPr lang="en-US" altLang="zh-CN" dirty="0"/>
          </a:p>
          <a:p>
            <a:pPr lvl="2"/>
            <a:r>
              <a:rPr lang="en-US" altLang="zh-CN" dirty="0">
                <a:hlinkClick r:id="rId2"/>
              </a:rPr>
              <a:t>https://www.cnblogs.com/lmh001/p/9928517.html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93"/>
          <a:stretch>
            <a:fillRect/>
          </a:stretch>
        </p:blipFill>
        <p:spPr>
          <a:xfrm>
            <a:off x="6174358" y="1881622"/>
            <a:ext cx="5996170" cy="3168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2.1.3 HTTP</a:t>
            </a:r>
            <a:r>
              <a:rPr lang="zh-CN" altLang="en-US" dirty="0"/>
              <a:t>响应状态码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状态码分类</a:t>
            </a:r>
            <a:endParaRPr lang="en-US" altLang="zh-CN" dirty="0"/>
          </a:p>
          <a:p>
            <a:pPr lvl="1"/>
            <a:r>
              <a:rPr lang="en-US" altLang="zh-CN" dirty="0"/>
              <a:t>HTTP</a:t>
            </a:r>
            <a:r>
              <a:rPr lang="zh-CN" altLang="en-US" dirty="0"/>
              <a:t>状态码由三个十进制数字组成，第一个十进制数字定义了状态码的类型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详情：</a:t>
            </a:r>
            <a:endParaRPr lang="en-US" altLang="zh-CN" dirty="0"/>
          </a:p>
          <a:p>
            <a:pPr lvl="1"/>
            <a:r>
              <a:rPr lang="en-US" altLang="zh-CN">
                <a:hlinkClick r:id="rId2"/>
              </a:rPr>
              <a:t>https://www.runoob.com/http/http-status-codes.html</a:t>
            </a:r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285926" y="2349674"/>
          <a:ext cx="6480720" cy="2664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369">
                <a:tc>
                  <a:txBody>
                    <a:bodyPr/>
                    <a:lstStyle/>
                    <a:p>
                      <a:pPr marL="179705" algn="ctr" fontAlgn="ctr"/>
                      <a:r>
                        <a:rPr lang="zh-CN" altLang="en-US" sz="1600" b="1" u="none" strike="noStrike" dirty="0">
                          <a:effectLst/>
                        </a:rPr>
                        <a:t>分类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ctr" fontAlgn="ctr"/>
                      <a:r>
                        <a:rPr lang="zh-CN" altLang="en-US" sz="1600" b="1" u="none" strike="noStrike" dirty="0">
                          <a:effectLst/>
                        </a:rPr>
                        <a:t>分类描述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altLang="zh-CN" sz="1400" u="none" strike="noStrike">
                          <a:effectLst/>
                        </a:rPr>
                        <a:t>1**</a:t>
                      </a:r>
                      <a:endParaRPr lang="en-US" altLang="zh-CN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400" u="none" strike="noStrike">
                          <a:effectLst/>
                        </a:rPr>
                        <a:t>信息，服务器收到请求，需要请求者继续执行操作</a:t>
                      </a:r>
                      <a:endParaRPr lang="zh-CN" altLang="en-US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altLang="zh-CN" sz="1400" u="none" strike="noStrike">
                          <a:effectLst/>
                        </a:rPr>
                        <a:t>2**</a:t>
                      </a:r>
                      <a:endParaRPr lang="en-US" altLang="zh-CN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400" u="none" strike="noStrike">
                          <a:effectLst/>
                        </a:rPr>
                        <a:t>成功，操作被成功接收并处理</a:t>
                      </a:r>
                      <a:endParaRPr lang="zh-CN" altLang="en-US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altLang="zh-CN" sz="1400" u="none" strike="noStrike">
                          <a:effectLst/>
                        </a:rPr>
                        <a:t>3**</a:t>
                      </a:r>
                      <a:endParaRPr lang="en-US" altLang="zh-CN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400" u="none" strike="noStrike">
                          <a:effectLst/>
                        </a:rPr>
                        <a:t>重定向，需要进一步的操作以完成请求</a:t>
                      </a:r>
                      <a:endParaRPr lang="zh-CN" altLang="en-US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altLang="zh-CN" sz="1400" u="none" strike="noStrike">
                          <a:effectLst/>
                        </a:rPr>
                        <a:t>4**</a:t>
                      </a:r>
                      <a:endParaRPr lang="en-US" altLang="zh-CN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400" u="none" strike="noStrike">
                          <a:effectLst/>
                        </a:rPr>
                        <a:t>客户端错误，请求包含语法错误或无法完成请求</a:t>
                      </a:r>
                      <a:endParaRPr lang="zh-CN" altLang="en-US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altLang="zh-CN" sz="1400" u="none" strike="noStrike">
                          <a:effectLst/>
                        </a:rPr>
                        <a:t>5**</a:t>
                      </a:r>
                      <a:endParaRPr lang="en-US" altLang="zh-CN" sz="14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400" u="none" strike="noStrike" dirty="0">
                          <a:effectLst/>
                        </a:rPr>
                        <a:t>服务器错误，服务器在处理请求的过程中发生了错误</a:t>
                      </a:r>
                      <a:endParaRPr lang="zh-CN" alt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requests</a:t>
            </a:r>
            <a:r>
              <a:rPr lang="zh-CN" altLang="en-US" dirty="0"/>
              <a:t>库入门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requests</a:t>
            </a:r>
            <a:r>
              <a:rPr lang="zh-CN" altLang="en-US" dirty="0"/>
              <a:t>库的安装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requests</a:t>
            </a:r>
            <a:r>
              <a:rPr lang="zh-CN" altLang="en-US" dirty="0"/>
              <a:t>库的请求方法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requests</a:t>
            </a:r>
            <a:r>
              <a:rPr lang="zh-CN" altLang="en-US" dirty="0"/>
              <a:t>库的响应对象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定制头部请求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>
                <a:sym typeface="+mn-ea"/>
              </a:rPr>
              <a:t>post</a:t>
            </a:r>
            <a:r>
              <a:rPr lang="zh-CN" altLang="en-US" dirty="0">
                <a:sym typeface="+mn-ea"/>
              </a:rPr>
              <a:t>请求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重定向与超时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传递</a:t>
            </a:r>
            <a:r>
              <a:rPr lang="en-US" altLang="zh-CN" dirty="0">
                <a:sym typeface="+mn-ea"/>
              </a:rPr>
              <a:t>URL</a:t>
            </a:r>
            <a:r>
              <a:rPr lang="zh-CN" altLang="en-US" dirty="0">
                <a:sym typeface="+mn-ea"/>
              </a:rPr>
              <a:t>参数</a:t>
            </a:r>
            <a:endParaRPr lang="zh-CN" alt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ym typeface="+mn-ea"/>
              </a:rPr>
              <a:t>get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post</a:t>
            </a:r>
            <a:r>
              <a:rPr lang="zh-CN" altLang="en-US" dirty="0">
                <a:sym typeface="+mn-ea"/>
              </a:rPr>
              <a:t>实战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2.2.1 requests</a:t>
            </a:r>
            <a:r>
              <a:rPr lang="zh-CN" altLang="en-US" dirty="0"/>
              <a:t>库的安装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requests</a:t>
            </a:r>
            <a:r>
              <a:rPr lang="zh-CN" altLang="en-US" dirty="0"/>
              <a:t>库</a:t>
            </a:r>
            <a:endParaRPr lang="en-US" altLang="zh-CN" dirty="0"/>
          </a:p>
          <a:p>
            <a:pPr lvl="1"/>
            <a:r>
              <a:rPr lang="zh-CN" altLang="en-US" dirty="0"/>
              <a:t>优雅而简单的</a:t>
            </a:r>
            <a:r>
              <a:rPr lang="en-US" altLang="zh-CN" dirty="0"/>
              <a:t>HTTP</a:t>
            </a:r>
            <a:r>
              <a:rPr lang="zh-CN" altLang="en-US" dirty="0"/>
              <a:t>库</a:t>
            </a:r>
            <a:endParaRPr lang="en-US" altLang="zh-CN" dirty="0"/>
          </a:p>
          <a:p>
            <a:pPr lvl="1"/>
            <a:r>
              <a:rPr lang="zh-CN" altLang="en-US" dirty="0"/>
              <a:t>手写爬虫常用库</a:t>
            </a:r>
            <a:endParaRPr lang="en-US" altLang="zh-CN" dirty="0"/>
          </a:p>
          <a:p>
            <a:pPr lvl="1"/>
            <a:r>
              <a:rPr lang="zh-CN" altLang="en-US" dirty="0"/>
              <a:t>非标准库</a:t>
            </a:r>
            <a:endParaRPr lang="en-US" altLang="zh-CN" dirty="0"/>
          </a:p>
          <a:p>
            <a:r>
              <a:rPr lang="zh-CN" altLang="en-US" dirty="0"/>
              <a:t>安装方法</a:t>
            </a:r>
            <a:endParaRPr lang="en-US" altLang="zh-CN" dirty="0"/>
          </a:p>
          <a:p>
            <a:pPr lvl="1"/>
            <a:r>
              <a:rPr lang="en-US" altLang="zh-CN" dirty="0"/>
              <a:t>pip install requests</a:t>
            </a:r>
          </a:p>
          <a:p>
            <a:pPr lvl="1"/>
            <a:r>
              <a:rPr lang="en-US" altLang="zh-CN" dirty="0"/>
              <a:t>pip install requests –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hlinkClick r:id="rId2"/>
              </a:rPr>
              <a:t>https://pypi.douban.com/simple</a:t>
            </a:r>
            <a:endParaRPr lang="en-US" altLang="zh-CN" dirty="0"/>
          </a:p>
          <a:p>
            <a:r>
              <a:rPr lang="zh-CN" altLang="en-US" dirty="0"/>
              <a:t>使用方法</a:t>
            </a:r>
            <a:endParaRPr lang="en-US" altLang="zh-CN" dirty="0"/>
          </a:p>
          <a:p>
            <a:pPr lvl="1"/>
            <a:r>
              <a:rPr lang="en-US" altLang="zh-CN" dirty="0"/>
              <a:t>import requests</a:t>
            </a:r>
          </a:p>
          <a:p>
            <a:pPr lvl="1"/>
            <a:r>
              <a:rPr lang="zh-CN" altLang="en-US" dirty="0"/>
              <a:t>提示：没有报错说明安装成功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2.2.2 requests</a:t>
            </a:r>
            <a:r>
              <a:rPr lang="zh-CN" altLang="en-US" dirty="0"/>
              <a:t>库的请求方法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动作及描述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参考</a:t>
            </a:r>
            <a:r>
              <a:rPr lang="en-US" altLang="zh-CN" dirty="0"/>
              <a:t>:</a:t>
            </a:r>
            <a:r>
              <a:rPr lang="en-US" altLang="zh-CN" dirty="0">
                <a:hlinkClick r:id="rId3"/>
              </a:rPr>
              <a:t> https://developer.github.com/v3/#http-verbs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65846" y="1845618"/>
          <a:ext cx="9217024" cy="285717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79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7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Verb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Description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HEAD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en-US" sz="1400" u="none" strike="noStrike">
                          <a:effectLst/>
                        </a:rPr>
                        <a:t>Can be issued against any resource to get just the HTTP header info.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GET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en-US" sz="1400" u="none" strike="noStrike">
                          <a:effectLst/>
                        </a:rPr>
                        <a:t>Used for retrieving resources.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POST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en-US" sz="1400" u="none" strike="noStrike" dirty="0">
                          <a:effectLst/>
                        </a:rPr>
                        <a:t>Used for creating resources.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PATCH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en-US" sz="1400" u="none" strike="noStrike" dirty="0">
                          <a:effectLst/>
                        </a:rPr>
                        <a:t>Used for updating resources with partial JSON data.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35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PUT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en-US" sz="1400" u="none" strike="noStrike" dirty="0">
                          <a:effectLst/>
                        </a:rPr>
                        <a:t>Used for replacing resources or collections. For PUT requests with no body attribute, be sure to set the Content-Length header to zero.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DELETE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en-US" sz="1400" u="none" strike="noStrike" dirty="0">
                          <a:effectLst/>
                        </a:rPr>
                        <a:t>Used for deleting resources.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2.2.2 requests</a:t>
            </a:r>
            <a:r>
              <a:rPr lang="zh-CN" altLang="en-US" dirty="0"/>
              <a:t>库的请求方法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Requests</a:t>
            </a:r>
            <a:r>
              <a:rPr lang="zh-CN" altLang="en-US" dirty="0"/>
              <a:t>库的七个主要方法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37854" y="1989634"/>
          <a:ext cx="8496944" cy="3168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1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</a:rPr>
                        <a:t>方法 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说明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sz="1200" u="none" strike="noStrike">
                          <a:effectLst/>
                        </a:rPr>
                        <a:t>requests.request()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200" u="none" strike="noStrike" dirty="0">
                          <a:effectLst/>
                        </a:rPr>
                        <a:t>构造一个请求，支撑以下各方法的基础方法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sz="1200" u="none" strike="noStrike">
                          <a:effectLst/>
                        </a:rPr>
                        <a:t>requests.get()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200" u="none" strike="noStrike">
                          <a:effectLst/>
                        </a:rPr>
                        <a:t>获取</a:t>
                      </a:r>
                      <a:r>
                        <a:rPr lang="en-US" altLang="zh-CN" sz="1200" u="none" strike="noStrike">
                          <a:effectLst/>
                        </a:rPr>
                        <a:t>HTML</a:t>
                      </a:r>
                      <a:r>
                        <a:rPr lang="zh-CN" altLang="en-US" sz="1200" u="none" strike="noStrike">
                          <a:effectLst/>
                        </a:rPr>
                        <a:t>网页的主要方法，对应</a:t>
                      </a:r>
                      <a:r>
                        <a:rPr lang="en-US" altLang="zh-CN" sz="1200" u="none" strike="noStrike">
                          <a:effectLst/>
                        </a:rPr>
                        <a:t>HTTP</a:t>
                      </a:r>
                      <a:r>
                        <a:rPr lang="zh-CN" altLang="en-US" sz="1200" u="none" strike="noStrike">
                          <a:effectLst/>
                        </a:rPr>
                        <a:t>的</a:t>
                      </a:r>
                      <a:r>
                        <a:rPr lang="en-US" altLang="zh-CN" sz="1200" u="none" strike="noStrike">
                          <a:effectLst/>
                        </a:rPr>
                        <a:t>GET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sz="1200" u="none" strike="noStrike">
                          <a:effectLst/>
                        </a:rPr>
                        <a:t>requests.head()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200" u="none" strike="noStrike">
                          <a:effectLst/>
                        </a:rPr>
                        <a:t>获取</a:t>
                      </a:r>
                      <a:r>
                        <a:rPr lang="en-US" altLang="zh-CN" sz="1200" u="none" strike="noStrike">
                          <a:effectLst/>
                        </a:rPr>
                        <a:t>HTML</a:t>
                      </a:r>
                      <a:r>
                        <a:rPr lang="zh-CN" altLang="en-US" sz="1200" u="none" strike="noStrike">
                          <a:effectLst/>
                        </a:rPr>
                        <a:t>网页头的信息方法，对应</a:t>
                      </a:r>
                      <a:r>
                        <a:rPr lang="en-US" altLang="zh-CN" sz="1200" u="none" strike="noStrike">
                          <a:effectLst/>
                        </a:rPr>
                        <a:t>HTTP</a:t>
                      </a:r>
                      <a:r>
                        <a:rPr lang="zh-CN" altLang="en-US" sz="1200" u="none" strike="noStrike">
                          <a:effectLst/>
                        </a:rPr>
                        <a:t>的</a:t>
                      </a:r>
                      <a:r>
                        <a:rPr lang="en-US" altLang="zh-CN" sz="1200" u="none" strike="noStrike">
                          <a:effectLst/>
                        </a:rPr>
                        <a:t>HEAD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sz="1200" u="none" strike="noStrike">
                          <a:effectLst/>
                        </a:rPr>
                        <a:t>requests.post()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200" u="none" strike="noStrike" dirty="0">
                          <a:effectLst/>
                        </a:rPr>
                        <a:t>向</a:t>
                      </a:r>
                      <a:r>
                        <a:rPr lang="en-US" altLang="zh-CN" sz="1200" u="none" strike="noStrike" dirty="0">
                          <a:effectLst/>
                        </a:rPr>
                        <a:t>HTML</a:t>
                      </a:r>
                      <a:r>
                        <a:rPr lang="zh-CN" altLang="en-US" sz="1200" u="none" strike="noStrike" dirty="0">
                          <a:effectLst/>
                        </a:rPr>
                        <a:t>网页提交</a:t>
                      </a:r>
                      <a:r>
                        <a:rPr lang="en-US" altLang="zh-CN" sz="1200" u="none" strike="noStrike" dirty="0">
                          <a:effectLst/>
                        </a:rPr>
                        <a:t>POST</a:t>
                      </a:r>
                      <a:r>
                        <a:rPr lang="zh-CN" altLang="en-US" sz="1200" u="none" strike="noStrike" dirty="0">
                          <a:effectLst/>
                        </a:rPr>
                        <a:t>请求方法，对应</a:t>
                      </a:r>
                      <a:r>
                        <a:rPr lang="en-US" altLang="zh-CN" sz="1200" u="none" strike="noStrike" dirty="0">
                          <a:effectLst/>
                        </a:rPr>
                        <a:t>HTTP</a:t>
                      </a:r>
                      <a:r>
                        <a:rPr lang="zh-CN" altLang="en-US" sz="1200" u="none" strike="noStrike" dirty="0">
                          <a:effectLst/>
                        </a:rPr>
                        <a:t>的</a:t>
                      </a:r>
                      <a:r>
                        <a:rPr lang="en-US" altLang="zh-CN" sz="1200" u="none" strike="noStrike" dirty="0">
                          <a:effectLst/>
                        </a:rPr>
                        <a:t>POST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sz="1200" u="none" strike="noStrike">
                          <a:effectLst/>
                        </a:rPr>
                        <a:t>requests.put()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200" u="none" strike="noStrike">
                          <a:effectLst/>
                        </a:rPr>
                        <a:t>向</a:t>
                      </a:r>
                      <a:r>
                        <a:rPr lang="en-US" altLang="zh-CN" sz="1200" u="none" strike="noStrike">
                          <a:effectLst/>
                        </a:rPr>
                        <a:t>HTML</a:t>
                      </a:r>
                      <a:r>
                        <a:rPr lang="zh-CN" altLang="en-US" sz="1200" u="none" strike="noStrike">
                          <a:effectLst/>
                        </a:rPr>
                        <a:t>网页提交</a:t>
                      </a:r>
                      <a:r>
                        <a:rPr lang="en-US" altLang="zh-CN" sz="1200" u="none" strike="noStrike">
                          <a:effectLst/>
                        </a:rPr>
                        <a:t>PUT</a:t>
                      </a:r>
                      <a:r>
                        <a:rPr lang="zh-CN" altLang="en-US" sz="1200" u="none" strike="noStrike">
                          <a:effectLst/>
                        </a:rPr>
                        <a:t>请求的方法，对应</a:t>
                      </a:r>
                      <a:r>
                        <a:rPr lang="en-US" altLang="zh-CN" sz="1200" u="none" strike="noStrike">
                          <a:effectLst/>
                        </a:rPr>
                        <a:t>HTTP</a:t>
                      </a:r>
                      <a:r>
                        <a:rPr lang="zh-CN" altLang="en-US" sz="1200" u="none" strike="noStrike">
                          <a:effectLst/>
                        </a:rPr>
                        <a:t>的</a:t>
                      </a:r>
                      <a:r>
                        <a:rPr lang="en-US" altLang="zh-CN" sz="1200" u="none" strike="noStrike">
                          <a:effectLst/>
                        </a:rPr>
                        <a:t>RUT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sz="1200" u="none" strike="noStrike">
                          <a:effectLst/>
                        </a:rPr>
                        <a:t>requests.patch()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200" u="none" strike="noStrike">
                          <a:effectLst/>
                        </a:rPr>
                        <a:t>向</a:t>
                      </a:r>
                      <a:r>
                        <a:rPr lang="en-US" altLang="zh-CN" sz="1200" u="none" strike="noStrike">
                          <a:effectLst/>
                        </a:rPr>
                        <a:t>HTML</a:t>
                      </a:r>
                      <a:r>
                        <a:rPr lang="zh-CN" altLang="en-US" sz="1200" u="none" strike="noStrike">
                          <a:effectLst/>
                        </a:rPr>
                        <a:t>网页提交局部修改请求，对应于</a:t>
                      </a:r>
                      <a:r>
                        <a:rPr lang="en-US" altLang="zh-CN" sz="1200" u="none" strike="noStrike">
                          <a:effectLst/>
                        </a:rPr>
                        <a:t>HTTP</a:t>
                      </a:r>
                      <a:r>
                        <a:rPr lang="zh-CN" altLang="en-US" sz="1200" u="none" strike="noStrike">
                          <a:effectLst/>
                        </a:rPr>
                        <a:t>的</a:t>
                      </a:r>
                      <a:r>
                        <a:rPr lang="en-US" altLang="zh-CN" sz="1200" u="none" strike="noStrike">
                          <a:effectLst/>
                        </a:rPr>
                        <a:t>PATCH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en-US" sz="1200" u="none" strike="noStrike">
                          <a:effectLst/>
                        </a:rPr>
                        <a:t>requests.delete()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9705" algn="l" fontAlgn="ctr"/>
                      <a:r>
                        <a:rPr lang="zh-CN" altLang="en-US" sz="1200" u="none" strike="noStrike" dirty="0">
                          <a:effectLst/>
                        </a:rPr>
                        <a:t>向</a:t>
                      </a:r>
                      <a:r>
                        <a:rPr lang="en-US" altLang="zh-CN" sz="1200" u="none" strike="noStrike" dirty="0">
                          <a:effectLst/>
                        </a:rPr>
                        <a:t>HTML</a:t>
                      </a:r>
                      <a:r>
                        <a:rPr lang="zh-CN" altLang="en-US" sz="1200" u="none" strike="noStrike" dirty="0">
                          <a:effectLst/>
                        </a:rPr>
                        <a:t>页面提交删除请求</a:t>
                      </a:r>
                      <a:r>
                        <a:rPr lang="en-US" altLang="zh-CN" sz="1200" u="none" strike="noStrike" dirty="0">
                          <a:effectLst/>
                        </a:rPr>
                        <a:t>,</a:t>
                      </a:r>
                      <a:r>
                        <a:rPr lang="zh-CN" altLang="en-US" sz="1200" u="none" strike="noStrike" dirty="0">
                          <a:effectLst/>
                        </a:rPr>
                        <a:t>对应</a:t>
                      </a:r>
                      <a:r>
                        <a:rPr lang="en-US" altLang="zh-CN" sz="1200" u="none" strike="noStrike" dirty="0">
                          <a:effectLst/>
                        </a:rPr>
                        <a:t>HTTP</a:t>
                      </a:r>
                      <a:r>
                        <a:rPr lang="zh-CN" altLang="en-US" sz="1200" u="none" strike="noStrike" dirty="0">
                          <a:effectLst/>
                        </a:rPr>
                        <a:t>的</a:t>
                      </a:r>
                      <a:r>
                        <a:rPr lang="en-US" altLang="zh-CN" sz="1200" u="none" strike="noStrike" dirty="0">
                          <a:effectLst/>
                        </a:rPr>
                        <a:t>DELETE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2.2.2 requests</a:t>
            </a:r>
            <a:r>
              <a:rPr lang="zh-CN" altLang="en-US" dirty="0"/>
              <a:t>库的请求方法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代码示例</a:t>
            </a:r>
            <a:endParaRPr lang="en-US" altLang="zh-CN" dirty="0"/>
          </a:p>
          <a:p>
            <a:pPr lvl="1"/>
            <a:r>
              <a:rPr lang="en-US" altLang="zh-CN" dirty="0"/>
              <a:t>Get</a:t>
            </a:r>
            <a:r>
              <a:rPr lang="zh-CN" altLang="en-US" dirty="0"/>
              <a:t>请求</a:t>
            </a:r>
            <a:endParaRPr lang="en-US" altLang="zh-CN" dirty="0"/>
          </a:p>
          <a:p>
            <a:pPr lvl="2"/>
            <a:r>
              <a:rPr lang="en-US" altLang="zh-CN" dirty="0"/>
              <a:t>response = </a:t>
            </a:r>
            <a:r>
              <a:rPr lang="en-US" altLang="zh-CN" dirty="0" err="1"/>
              <a:t>requests.get</a:t>
            </a:r>
            <a:r>
              <a:rPr lang="en-US" altLang="zh-CN" dirty="0"/>
              <a:t>(“http://www.jmu.edu.cn”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response = </a:t>
            </a:r>
            <a:r>
              <a:rPr lang="en-US" altLang="zh-CN" dirty="0" err="1"/>
              <a:t>requests.get</a:t>
            </a:r>
            <a:r>
              <a:rPr lang="en-US" altLang="zh-CN" dirty="0"/>
              <a:t>(“http://www.douban.com”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Post</a:t>
            </a:r>
            <a:r>
              <a:rPr lang="zh-CN" altLang="en-US" dirty="0"/>
              <a:t>请求</a:t>
            </a:r>
            <a:endParaRPr lang="en-US" altLang="zh-CN" dirty="0"/>
          </a:p>
          <a:p>
            <a:pPr lvl="2"/>
            <a:r>
              <a:rPr lang="en-US" altLang="zh-CN" dirty="0"/>
              <a:t>response = </a:t>
            </a:r>
            <a:r>
              <a:rPr lang="en-US" altLang="zh-CN" dirty="0" err="1"/>
              <a:t>requests.post</a:t>
            </a:r>
            <a:r>
              <a:rPr lang="en-US" altLang="zh-CN" dirty="0"/>
              <a:t>(“http://www.jmu.edu.cn”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其他请求</a:t>
            </a:r>
            <a:endParaRPr lang="en-US" altLang="zh-CN" dirty="0"/>
          </a:p>
          <a:p>
            <a:pPr lvl="2"/>
            <a:r>
              <a:rPr lang="en-US" altLang="zh-CN" dirty="0"/>
              <a:t>response = </a:t>
            </a:r>
            <a:r>
              <a:rPr lang="en-US" altLang="zh-CN" dirty="0" err="1"/>
              <a:t>requests.head</a:t>
            </a:r>
            <a:r>
              <a:rPr lang="en-US" altLang="zh-CN" dirty="0"/>
              <a:t>(“http://www.jmu.edu.cn”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response = </a:t>
            </a:r>
            <a:r>
              <a:rPr lang="en-US" altLang="zh-CN" dirty="0" err="1"/>
              <a:t>requests.put</a:t>
            </a:r>
            <a:r>
              <a:rPr lang="en-US" altLang="zh-CN" dirty="0"/>
              <a:t>(“http://www.jmu.edu.cn”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response = </a:t>
            </a:r>
            <a:r>
              <a:rPr lang="en-US" altLang="zh-CN" dirty="0" err="1"/>
              <a:t>requests.delete</a:t>
            </a:r>
            <a:r>
              <a:rPr lang="en-US" altLang="zh-CN" dirty="0"/>
              <a:t>(“http://www.jmu.edu.cn”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response = </a:t>
            </a:r>
            <a:r>
              <a:rPr lang="en-US" altLang="zh-CN" dirty="0" err="1"/>
              <a:t>requests.patch</a:t>
            </a:r>
            <a:r>
              <a:rPr lang="en-US" altLang="zh-CN" dirty="0"/>
              <a:t>(“http://www.jmu.edu.cn”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思考题：为什么有些</a:t>
            </a:r>
            <a:r>
              <a:rPr lang="en-US" altLang="zh-CN" dirty="0"/>
              <a:t>URL</a:t>
            </a:r>
            <a:r>
              <a:rPr lang="zh-CN" altLang="en-US" dirty="0"/>
              <a:t>能爬，有些爬不下来？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2.2.3 requests</a:t>
            </a:r>
            <a:r>
              <a:rPr lang="zh-CN" altLang="en-US" dirty="0"/>
              <a:t>库的响应对象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常用响应对象</a:t>
            </a:r>
            <a:r>
              <a:rPr lang="en-US" altLang="zh-CN" dirty="0" err="1">
                <a:sym typeface="+mn-ea"/>
              </a:rPr>
              <a:t>response</a:t>
            </a:r>
            <a:r>
              <a:rPr lang="zh-CN" altLang="en-US" dirty="0" err="1">
                <a:sym typeface="+mn-ea"/>
              </a:rPr>
              <a:t>的</a:t>
            </a:r>
            <a:r>
              <a:rPr lang="zh-CN" altLang="en-US" dirty="0"/>
              <a:t>属性：</a:t>
            </a:r>
            <a:endParaRPr lang="en-US" altLang="zh-CN" dirty="0"/>
          </a:p>
          <a:p>
            <a:pPr lvl="1"/>
            <a:r>
              <a:rPr lang="en-US" altLang="zh-CN" dirty="0" err="1"/>
              <a:t>response.status_code</a:t>
            </a:r>
            <a:r>
              <a:rPr lang="en-US" altLang="zh-CN" dirty="0"/>
              <a:t>:	HTTP</a:t>
            </a:r>
            <a:r>
              <a:rPr lang="zh-CN" altLang="en-US" dirty="0"/>
              <a:t>请求的返回状态</a:t>
            </a:r>
            <a:endParaRPr lang="en-US" altLang="zh-CN" dirty="0"/>
          </a:p>
          <a:p>
            <a:pPr lvl="1"/>
            <a:r>
              <a:rPr lang="en-US" altLang="zh-CN" dirty="0" err="1"/>
              <a:t>response.headers</a:t>
            </a:r>
            <a:r>
              <a:rPr lang="en-US" altLang="zh-CN" dirty="0"/>
              <a:t>		HTTP</a:t>
            </a:r>
            <a:r>
              <a:rPr lang="zh-CN" altLang="en-US" dirty="0"/>
              <a:t>响应内容的头部内容</a:t>
            </a:r>
          </a:p>
          <a:p>
            <a:pPr lvl="1"/>
            <a:r>
              <a:rPr lang="en-US" altLang="zh-CN" dirty="0" err="1"/>
              <a:t>response.text</a:t>
            </a:r>
            <a:r>
              <a:rPr lang="en-US" altLang="zh-CN" dirty="0"/>
              <a:t>		HTTP</a:t>
            </a:r>
            <a:r>
              <a:rPr lang="zh-CN" altLang="en-US" dirty="0"/>
              <a:t>响应内容的字符串形式，即：</a:t>
            </a:r>
            <a:r>
              <a:rPr lang="en-US" altLang="zh-CN" dirty="0" err="1"/>
              <a:t>url</a:t>
            </a:r>
            <a:r>
              <a:rPr lang="zh-CN" altLang="en-US" dirty="0"/>
              <a:t>对应的页面内容</a:t>
            </a:r>
          </a:p>
          <a:p>
            <a:pPr lvl="1"/>
            <a:r>
              <a:rPr lang="en-US" altLang="zh-CN" dirty="0" err="1"/>
              <a:t>response.content</a:t>
            </a:r>
            <a:r>
              <a:rPr lang="en-US" altLang="zh-CN" dirty="0"/>
              <a:t>		HTTP</a:t>
            </a:r>
            <a:r>
              <a:rPr lang="zh-CN" altLang="en-US" dirty="0"/>
              <a:t>响应内容的二进制形式</a:t>
            </a:r>
            <a:endParaRPr lang="en-US" altLang="zh-CN" dirty="0"/>
          </a:p>
          <a:p>
            <a:pPr lvl="1"/>
            <a:r>
              <a:rPr lang="en-US" altLang="zh-CN" dirty="0" err="1"/>
              <a:t>response.encoding</a:t>
            </a:r>
            <a:r>
              <a:rPr lang="en-US" altLang="zh-CN" dirty="0"/>
              <a:t>	</a:t>
            </a:r>
            <a:r>
              <a:rPr lang="zh-CN" altLang="en-US" dirty="0"/>
              <a:t>从</a:t>
            </a:r>
            <a:r>
              <a:rPr lang="en-US" altLang="zh-CN" dirty="0"/>
              <a:t>HTTP header</a:t>
            </a:r>
            <a:r>
              <a:rPr lang="zh-CN" altLang="en-US" dirty="0"/>
              <a:t>中猜测的响应内容编码方式</a:t>
            </a:r>
          </a:p>
          <a:p>
            <a:pPr lvl="1"/>
            <a:r>
              <a:rPr lang="en-US" altLang="zh-CN" dirty="0" err="1"/>
              <a:t>response.apparent_encoding</a:t>
            </a:r>
            <a:r>
              <a:rPr lang="en-US" altLang="zh-CN" dirty="0"/>
              <a:t>	</a:t>
            </a:r>
            <a:r>
              <a:rPr lang="zh-CN" altLang="en-US" dirty="0"/>
              <a:t>从内容中分析出的响应内容编码方式（备选编码方式）</a:t>
            </a:r>
            <a:endParaRPr lang="en-US" altLang="zh-CN" dirty="0"/>
          </a:p>
          <a:p>
            <a:pPr lvl="1"/>
            <a:r>
              <a:rPr lang="en-US" altLang="zh-CN" dirty="0" err="1"/>
              <a:t>response.history</a:t>
            </a:r>
            <a:r>
              <a:rPr lang="en-US" altLang="zh-CN" dirty="0"/>
              <a:t>	</a:t>
            </a:r>
            <a:r>
              <a:rPr lang="zh-CN" altLang="en-US" dirty="0"/>
              <a:t>响应跳转历史信息</a:t>
            </a:r>
          </a:p>
          <a:p>
            <a:r>
              <a:rPr lang="zh-CN" altLang="en-US" dirty="0"/>
              <a:t>修改编码：</a:t>
            </a:r>
            <a:endParaRPr lang="en-US" altLang="zh-CN" dirty="0"/>
          </a:p>
          <a:p>
            <a:pPr lvl="1"/>
            <a:r>
              <a:rPr lang="en-US" altLang="zh-CN" dirty="0" err="1"/>
              <a:t>response.encoding</a:t>
            </a:r>
            <a:r>
              <a:rPr lang="en-US" altLang="zh-CN" dirty="0"/>
              <a:t> = </a:t>
            </a:r>
            <a:r>
              <a:rPr lang="en-US" altLang="zh-CN" dirty="0" err="1"/>
              <a:t>response.apparent_encoding</a:t>
            </a:r>
            <a:endParaRPr lang="en-US" altLang="zh-CN" dirty="0"/>
          </a:p>
          <a:p>
            <a:pPr lvl="1"/>
            <a:r>
              <a:rPr lang="en-US" altLang="zh-CN" dirty="0" err="1"/>
              <a:t>response.encoding</a:t>
            </a:r>
            <a:r>
              <a:rPr lang="en-US" altLang="zh-CN" dirty="0"/>
              <a:t> = 'utf-8' 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2.2.3 requests</a:t>
            </a:r>
            <a:r>
              <a:rPr lang="zh-CN" altLang="en-US" dirty="0"/>
              <a:t>库的响应对象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实战：</a:t>
            </a:r>
            <a:endParaRPr lang="en-US" altLang="zh-CN" dirty="0"/>
          </a:p>
          <a:p>
            <a:pPr lvl="1"/>
            <a:r>
              <a:rPr lang="zh-CN" altLang="en-US" dirty="0"/>
              <a:t>保存诚毅学院的</a:t>
            </a:r>
            <a:r>
              <a:rPr lang="en-US" altLang="zh-CN" dirty="0"/>
              <a:t>HTML</a:t>
            </a:r>
            <a:r>
              <a:rPr lang="zh-CN" altLang="en-US" dirty="0"/>
              <a:t>页面</a:t>
            </a:r>
            <a:endParaRPr lang="en-US" altLang="zh-CN" dirty="0"/>
          </a:p>
          <a:p>
            <a:pPr lvl="1"/>
            <a:r>
              <a:rPr lang="zh-CN" altLang="en-US" dirty="0"/>
              <a:t>保存百度的</a:t>
            </a:r>
            <a:r>
              <a:rPr lang="en-US" altLang="zh-CN" dirty="0"/>
              <a:t>HTML</a:t>
            </a:r>
            <a:r>
              <a:rPr lang="zh-CN" altLang="en-US" dirty="0"/>
              <a:t>页面</a:t>
            </a:r>
            <a:endParaRPr lang="en-US" altLang="zh-CN" dirty="0"/>
          </a:p>
          <a:p>
            <a:pPr lvl="1"/>
            <a:r>
              <a:rPr lang="zh-CN" altLang="en-US" dirty="0"/>
              <a:t>保存百度首页的</a:t>
            </a:r>
            <a:r>
              <a:rPr lang="en-US" altLang="zh-CN" dirty="0"/>
              <a:t>log</a:t>
            </a:r>
            <a:r>
              <a:rPr lang="zh-CN" altLang="en-US" dirty="0"/>
              <a:t>图片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2.2.4 </a:t>
            </a:r>
            <a:r>
              <a:rPr lang="zh-CN" altLang="en-US" dirty="0"/>
              <a:t>定制头部请求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服务器通过读取请求头部的用户代理（</a:t>
            </a:r>
            <a:r>
              <a:rPr lang="en-US" altLang="zh-CN" dirty="0"/>
              <a:t>User Agent</a:t>
            </a:r>
            <a:r>
              <a:rPr lang="zh-CN" altLang="en-US" dirty="0"/>
              <a:t>）信息判断请求来自浏览器还是爬虫</a:t>
            </a:r>
            <a:endParaRPr lang="en-US" altLang="zh-CN" dirty="0"/>
          </a:p>
          <a:p>
            <a:pPr lvl="1"/>
            <a:r>
              <a:rPr lang="en-US" altLang="zh-CN" dirty="0" err="1"/>
              <a:t>response.request.headers</a:t>
            </a:r>
            <a:endParaRPr lang="en-US" altLang="zh-CN" dirty="0"/>
          </a:p>
          <a:p>
            <a:pPr lvl="2"/>
            <a:r>
              <a:rPr lang="en-US" altLang="zh-CN" dirty="0"/>
              <a:t>{'User-Agent': 'python-requests/2.18.4', 'Accept-Encoding': '</a:t>
            </a:r>
            <a:r>
              <a:rPr lang="en-US" altLang="zh-CN" dirty="0" err="1"/>
              <a:t>gzip</a:t>
            </a:r>
            <a:r>
              <a:rPr lang="en-US" altLang="zh-CN" dirty="0"/>
              <a:t>, deflate', 'Accept': '*/*', 'Connection': 'keep-alive'}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常见浏览器</a:t>
            </a:r>
            <a:r>
              <a:rPr lang="en-US" altLang="zh-CN" dirty="0"/>
              <a:t>user-agent:</a:t>
            </a:r>
          </a:p>
          <a:p>
            <a:pPr lvl="1"/>
            <a:r>
              <a:rPr lang="en-US" altLang="zh-CN" dirty="0">
                <a:hlinkClick r:id="rId2"/>
              </a:rPr>
              <a:t>https://blog.csdn.net/jamesaonier/article/details/89003053</a:t>
            </a:r>
            <a:endParaRPr lang="en-US" altLang="zh-CN" dirty="0"/>
          </a:p>
          <a:p>
            <a:pPr lvl="1"/>
            <a:r>
              <a:rPr lang="en-US" altLang="zh-CN" dirty="0"/>
              <a:t>fake-useragent</a:t>
            </a:r>
          </a:p>
          <a:p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493838" y="2997746"/>
            <a:ext cx="9928737" cy="167007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headers = {'User-Agent':"Mozilla/5.0 (Windows NT 10.0; WOW64) AppleWebKit/537.36 (KHTML, like Gecko) Chrome/75.0.3770.100 Safari/537.36"}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url = 'https://www.douban.com'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response = requests.get(url, headers=headers)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print(response.text)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2.2.5 post</a:t>
            </a:r>
            <a:r>
              <a:rPr lang="zh-CN" altLang="en-US" dirty="0"/>
              <a:t>请求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http://httpbin.org/</a:t>
            </a:r>
            <a:r>
              <a:rPr lang="en-US" altLang="zh-CN" dirty="0"/>
              <a:t>get</a:t>
            </a:r>
          </a:p>
          <a:p>
            <a:r>
              <a:rPr lang="zh-CN" altLang="en-US" dirty="0"/>
              <a:t>http://httpbin.org/post</a:t>
            </a:r>
          </a:p>
          <a:p>
            <a:r>
              <a:rPr lang="zh-CN" altLang="en-US" dirty="0"/>
              <a:t>通常用于提交表单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  <a:endParaRPr lang="en-US" altLang="zh-CN" dirty="0"/>
          </a:p>
          <a:p>
            <a:pPr lvl="1"/>
            <a:r>
              <a:rPr lang="zh-CN" altLang="en-US" dirty="0"/>
              <a:t>https://qq.ip138.com/train/</a:t>
            </a:r>
          </a:p>
          <a:p>
            <a:pPr lvl="2"/>
            <a:r>
              <a:rPr lang="zh-CN" altLang="en-US" dirty="0"/>
              <a:t>列车时刻查询</a:t>
            </a:r>
          </a:p>
          <a:p>
            <a:pPr lvl="1"/>
            <a:r>
              <a:rPr lang="zh-CN" altLang="en-US" sz="1400" dirty="0">
                <a:sym typeface="+mn-ea"/>
              </a:rPr>
              <a:t>http://alexa.ip138.com/post/</a:t>
            </a:r>
            <a:endParaRPr lang="zh-CN" altLang="en-US" sz="1400" dirty="0"/>
          </a:p>
          <a:p>
            <a:pPr lvl="2"/>
            <a:r>
              <a:rPr lang="zh-CN" altLang="en-US" sz="1400" dirty="0">
                <a:sym typeface="+mn-ea"/>
              </a:rPr>
              <a:t>根据邮编查地名</a:t>
            </a:r>
          </a:p>
          <a:p>
            <a:pPr lvl="3"/>
            <a:r>
              <a:rPr lang="en-US" altLang="zh-CN" sz="1300" dirty="0">
                <a:sym typeface="+mn-ea"/>
              </a:rPr>
              <a:t>361021</a:t>
            </a:r>
          </a:p>
        </p:txBody>
      </p:sp>
      <p:sp>
        <p:nvSpPr>
          <p:cNvPr id="4" name="矩形 3"/>
          <p:cNvSpPr/>
          <p:nvPr/>
        </p:nvSpPr>
        <p:spPr>
          <a:xfrm>
            <a:off x="5382315" y="1753422"/>
            <a:ext cx="6102350" cy="39303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payload = {'key1': 'value1', 'school': '诚毅学院'}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r = requests.post("http://httpbin.org/post", data=payload)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print(r.text)</a:t>
            </a:r>
          </a:p>
          <a:p>
            <a:pPr>
              <a:lnSpc>
                <a:spcPct val="150000"/>
              </a:lnSpc>
            </a:pP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url = 'http://httpbin.org/post'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r = requests.post(url, data=json.dumps(payload))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print(r.text)</a:t>
            </a:r>
          </a:p>
          <a:p>
            <a:pPr>
              <a:lnSpc>
                <a:spcPct val="150000"/>
              </a:lnSpc>
            </a:pP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url = 'http://httpbin.org/post'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files = {'file': open('123.txt', 'rb')}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r = requests.post(url, files=files)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print(r.text)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2.2.6 </a:t>
            </a:r>
            <a:r>
              <a:rPr lang="zh-CN" altLang="en-US" dirty="0"/>
              <a:t>重定向与超时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默认情况下，除了</a:t>
            </a:r>
            <a:r>
              <a:rPr lang="en-US" altLang="zh-CN" dirty="0"/>
              <a:t>Head</a:t>
            </a:r>
            <a:r>
              <a:rPr lang="zh-CN" altLang="en-US" dirty="0"/>
              <a:t>请求方法，</a:t>
            </a:r>
            <a:r>
              <a:rPr lang="en-US" altLang="zh-CN" dirty="0"/>
              <a:t>requests</a:t>
            </a:r>
            <a:r>
              <a:rPr lang="zh-CN" altLang="en-US" dirty="0"/>
              <a:t>会自动处理所有重定向。</a:t>
            </a:r>
            <a:endParaRPr lang="en-US" altLang="zh-CN" dirty="0"/>
          </a:p>
          <a:p>
            <a:r>
              <a:rPr lang="zh-CN" altLang="en-US" dirty="0"/>
              <a:t>使用响应对象的</a:t>
            </a:r>
            <a:r>
              <a:rPr lang="en-US" altLang="zh-CN" dirty="0"/>
              <a:t>history</a:t>
            </a:r>
            <a:r>
              <a:rPr lang="zh-CN" altLang="en-US" dirty="0"/>
              <a:t>方法追踪重定向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http://www.baidu.com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http://www.douban.com</a:t>
            </a:r>
            <a:endParaRPr lang="en-US" altLang="zh-CN" dirty="0"/>
          </a:p>
          <a:p>
            <a:pPr lvl="1"/>
            <a:r>
              <a:rPr lang="en-US" altLang="zh-CN" dirty="0">
                <a:hlinkClick r:id="rId4"/>
              </a:rPr>
              <a:t>http://www.github.com</a:t>
            </a:r>
            <a:endParaRPr lang="en-US" altLang="zh-CN" dirty="0"/>
          </a:p>
          <a:p>
            <a:pPr lvl="1"/>
            <a:r>
              <a:rPr lang="zh-CN" altLang="en-US" dirty="0"/>
              <a:t>比较请求的</a:t>
            </a:r>
            <a:r>
              <a:rPr lang="en-US" altLang="zh-CN" dirty="0" err="1"/>
              <a:t>url</a:t>
            </a:r>
            <a:r>
              <a:rPr lang="zh-CN" altLang="en-US" dirty="0"/>
              <a:t>和实际请求的</a:t>
            </a:r>
            <a:r>
              <a:rPr lang="en-US" altLang="zh-CN" dirty="0" err="1"/>
              <a:t>url</a:t>
            </a:r>
          </a:p>
          <a:p>
            <a:pPr lvl="1"/>
            <a:r>
              <a:rPr lang="zh-CN" altLang="en-US" dirty="0" err="1"/>
              <a:t>查看重定向页面内容</a:t>
            </a:r>
            <a:endParaRPr lang="en-US" altLang="zh-CN" dirty="0"/>
          </a:p>
          <a:p>
            <a:r>
              <a:rPr lang="zh-CN" altLang="en-US" dirty="0"/>
              <a:t>有些网络访问速度较慢或服务器没有响应，则爬虫程序可能会一直等待响应</a:t>
            </a:r>
            <a:endParaRPr lang="en-US" altLang="zh-CN" dirty="0"/>
          </a:p>
          <a:p>
            <a:pPr lvl="1"/>
            <a:r>
              <a:rPr lang="zh-CN" altLang="en-US" dirty="0"/>
              <a:t>设置等待超时</a:t>
            </a:r>
            <a:r>
              <a:rPr lang="en-US" altLang="zh-CN" dirty="0"/>
              <a:t>timeout</a:t>
            </a:r>
            <a:r>
              <a:rPr lang="zh-CN" altLang="en-US" dirty="0"/>
              <a:t>参数</a:t>
            </a:r>
            <a:endParaRPr lang="en-US" altLang="zh-CN" dirty="0"/>
          </a:p>
          <a:p>
            <a:pPr lvl="1"/>
            <a:r>
              <a:rPr lang="zh-CN" altLang="en-US" dirty="0"/>
              <a:t>超出等待时长则抛出异常</a:t>
            </a:r>
            <a:endParaRPr lang="en-US" altLang="zh-CN" dirty="0"/>
          </a:p>
          <a:p>
            <a:pPr lvl="1"/>
            <a:r>
              <a:rPr lang="zh-CN" altLang="en-US" dirty="0"/>
              <a:t>结合异常捕获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2.2.7 </a:t>
            </a:r>
            <a:r>
              <a:rPr lang="zh-CN" altLang="en-US" dirty="0"/>
              <a:t>传递</a:t>
            </a:r>
            <a:r>
              <a:rPr lang="en-US" altLang="zh-CN" dirty="0"/>
              <a:t>URL</a:t>
            </a:r>
            <a:r>
              <a:rPr lang="zh-CN" altLang="en-US" dirty="0"/>
              <a:t>参数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动态页面的爬取</a:t>
            </a:r>
          </a:p>
          <a:p>
            <a:pPr lvl="1"/>
            <a:r>
              <a:rPr lang="zh-CN" altLang="en-US" dirty="0"/>
              <a:t>有些网站通过</a:t>
            </a:r>
            <a:r>
              <a:rPr lang="en-US" altLang="zh-CN" dirty="0"/>
              <a:t>URL</a:t>
            </a:r>
            <a:r>
              <a:rPr lang="zh-CN" altLang="en-US" dirty="0"/>
              <a:t>的查询字符串传递某种数据。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URL</a:t>
            </a:r>
            <a:r>
              <a:rPr lang="zh-CN" altLang="en-US" dirty="0"/>
              <a:t>传递查询参数的例子，查询的数据以键值对的形式置于</a:t>
            </a:r>
            <a:r>
              <a:rPr lang="en-US" altLang="zh-CN" dirty="0"/>
              <a:t>URL</a:t>
            </a:r>
            <a:r>
              <a:rPr lang="zh-CN" altLang="en-US" dirty="0"/>
              <a:t>中，？后面</a:t>
            </a:r>
            <a:endParaRPr lang="en-US" altLang="zh-CN" dirty="0"/>
          </a:p>
          <a:p>
            <a:pPr lvl="2"/>
            <a:r>
              <a:rPr lang="zh-CN" altLang="en-US" dirty="0"/>
              <a:t>在豆瓣搜索框中搜索关键字</a:t>
            </a:r>
            <a:r>
              <a:rPr lang="en-US" altLang="zh-CN" dirty="0"/>
              <a:t>python</a:t>
            </a:r>
            <a:r>
              <a:rPr lang="zh-CN" altLang="en-US" dirty="0"/>
              <a:t>，</a:t>
            </a:r>
            <a:r>
              <a:rPr lang="en-US" altLang="zh-CN" dirty="0"/>
              <a:t>URL</a:t>
            </a:r>
            <a:r>
              <a:rPr lang="zh-CN" altLang="en-US" dirty="0"/>
              <a:t>跳转到</a:t>
            </a:r>
            <a:r>
              <a:rPr lang="en-US" altLang="zh-CN" dirty="0">
                <a:hlinkClick r:id="rId2"/>
              </a:rPr>
              <a:t>https://www.douban.com/search?q=python</a:t>
            </a:r>
            <a:endParaRPr lang="en-US" altLang="zh-CN" dirty="0"/>
          </a:p>
          <a:p>
            <a:pPr lvl="2"/>
            <a:r>
              <a:rPr lang="zh-CN" altLang="en-US" dirty="0"/>
              <a:t>在京东搜索框中搜索关键字爬虫，</a:t>
            </a:r>
            <a:r>
              <a:rPr lang="en-US" altLang="zh-CN" dirty="0"/>
              <a:t>URL</a:t>
            </a:r>
            <a:r>
              <a:rPr lang="zh-CN" altLang="en-US" dirty="0"/>
              <a:t>跳转到</a:t>
            </a:r>
            <a:r>
              <a:rPr lang="en-US" altLang="zh-CN" dirty="0">
                <a:hlinkClick r:id="rId3"/>
              </a:rPr>
              <a:t>https://search.jd.com/Search?keyword=%E7%88%AC%E8%99%AB&amp;enc=utf-8&amp;wq=%E7%88%AC%E8%99%AB&amp;pvid=171aad7e7745414884101eefb95115ff</a:t>
            </a:r>
            <a:endParaRPr lang="en-US" altLang="zh-CN" dirty="0"/>
          </a:p>
          <a:p>
            <a:r>
              <a:rPr lang="en-US" altLang="zh-CN" dirty="0"/>
              <a:t>Requests</a:t>
            </a:r>
            <a:r>
              <a:rPr lang="zh-CN" altLang="en-US" dirty="0"/>
              <a:t>允许使用</a:t>
            </a:r>
            <a:r>
              <a:rPr lang="en-US" altLang="zh-CN" dirty="0"/>
              <a:t>params</a:t>
            </a:r>
            <a:r>
              <a:rPr lang="zh-CN" altLang="en-US" dirty="0"/>
              <a:t>关键字参数，以一个字符串字典来提供这些参数</a:t>
            </a:r>
            <a:endParaRPr lang="en-US" altLang="zh-CN" dirty="0"/>
          </a:p>
          <a:p>
            <a:pPr lvl="1"/>
            <a:r>
              <a:rPr lang="zh-CN" altLang="en-US" dirty="0"/>
              <a:t>查询豆瓣的书籍栏目中与</a:t>
            </a:r>
            <a:r>
              <a:rPr lang="en-US" altLang="zh-CN" dirty="0"/>
              <a:t>python</a:t>
            </a:r>
            <a:r>
              <a:rPr lang="zh-CN" altLang="en-US" dirty="0"/>
              <a:t>相关的内容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610038" y="4987434"/>
            <a:ext cx="7488832" cy="10218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params = {'q' : 'python', 'cat' : '1001'}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response = requests.get(url='https://www.douban.com/search', params=params)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print(response.url)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</a:t>
            </a:r>
            <a:r>
              <a:rPr lang="en-US" dirty="0"/>
              <a:t>8 get</a:t>
            </a:r>
            <a:r>
              <a:rPr lang="zh-CN" altLang="en-US" dirty="0"/>
              <a:t>和</a:t>
            </a:r>
            <a:r>
              <a:rPr lang="en-US" altLang="zh-CN" dirty="0"/>
              <a:t>post</a:t>
            </a:r>
            <a:r>
              <a:rPr lang="zh-CN" altLang="en-US" dirty="0"/>
              <a:t>实战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动态页面的爬取实战</a:t>
            </a:r>
            <a:r>
              <a:rPr lang="zh-CN" altLang="en-US" dirty="0">
                <a:solidFill>
                  <a:schemeClr val="bg1"/>
                </a:solidFill>
              </a:rPr>
              <a:t>动化地分类下载</a:t>
            </a:r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>
                <a:solidFill>
                  <a:schemeClr val="bg1"/>
                </a:solidFill>
              </a:rPr>
              <a:t>各种相关内容，并保存成多个</a:t>
            </a:r>
            <a:r>
              <a:rPr lang="en-US" altLang="zh-CN" dirty="0">
                <a:solidFill>
                  <a:schemeClr val="bg1"/>
                </a:solidFill>
              </a:rPr>
              <a:t>html</a:t>
            </a:r>
            <a:r>
              <a:rPr lang="zh-CN" altLang="en-US" dirty="0">
                <a:solidFill>
                  <a:schemeClr val="bg1"/>
                </a:solidFill>
              </a:rPr>
              <a:t>文件</a:t>
            </a:r>
          </a:p>
          <a:p>
            <a:pPr marL="887730" lvl="1" indent="-342900">
              <a:buAutoNum type="arabicPeriod"/>
            </a:pPr>
            <a:r>
              <a:rPr lang="en-US" altLang="zh-CN" sz="1400" dirty="0">
                <a:sym typeface="+mn-ea"/>
              </a:rPr>
              <a:t>ip</a:t>
            </a:r>
            <a:r>
              <a:rPr lang="zh-CN" altLang="en-US" sz="1400" dirty="0">
                <a:sym typeface="+mn-ea"/>
              </a:rPr>
              <a:t>归属地查询：</a:t>
            </a:r>
            <a:endParaRPr lang="zh-CN" altLang="en-US" sz="1400" dirty="0"/>
          </a:p>
          <a:p>
            <a:pPr lvl="2"/>
            <a:r>
              <a:rPr lang="zh-CN" altLang="en-US" dirty="0"/>
              <a:t>编写函数给定</a:t>
            </a:r>
            <a:r>
              <a:rPr lang="en-US" altLang="zh-CN" dirty="0"/>
              <a:t>ip</a:t>
            </a:r>
            <a:r>
              <a:rPr lang="zh-CN" altLang="en-US" dirty="0"/>
              <a:t>地址（例如</a:t>
            </a:r>
            <a:r>
              <a:rPr lang="en-US" altLang="zh-CN" dirty="0"/>
              <a:t>:210.34.144.220</a:t>
            </a:r>
            <a:r>
              <a:rPr lang="zh-CN" altLang="en-US" dirty="0"/>
              <a:t>）从https://ip38.com/上查询对应的</a:t>
            </a:r>
            <a:r>
              <a:rPr lang="en-US" altLang="zh-CN" dirty="0"/>
              <a:t>ip</a:t>
            </a:r>
            <a:r>
              <a:rPr lang="zh-CN" altLang="en-US" dirty="0"/>
              <a:t>归属地</a:t>
            </a:r>
            <a:r>
              <a:rPr lang="en-US" altLang="zh-CN" dirty="0"/>
              <a:t>, </a:t>
            </a:r>
            <a:r>
              <a:rPr lang="zh-CN" altLang="en-US" dirty="0"/>
              <a:t>并将查询到的网页保存下来</a:t>
            </a:r>
          </a:p>
          <a:p>
            <a:pPr marL="887730" lvl="1" indent="-342900">
              <a:buAutoNum type="arabicPeriod"/>
            </a:pPr>
            <a:r>
              <a:rPr lang="zh-CN" altLang="en-US" sz="1400" dirty="0">
                <a:sym typeface="+mn-ea"/>
              </a:rPr>
              <a:t>列车按出发地点-目的地查询：</a:t>
            </a:r>
            <a:endParaRPr lang="zh-CN" altLang="en-US" sz="1400" dirty="0"/>
          </a:p>
          <a:p>
            <a:pPr lvl="2"/>
            <a:r>
              <a:rPr lang="zh-CN" altLang="en-US" sz="1400" dirty="0">
                <a:sym typeface="+mn-ea"/>
              </a:rPr>
              <a:t>编写函数给定出发城市和目的城市名称，从https://qq.ip138.com/train/search138.asp上查询</a:t>
            </a:r>
            <a:r>
              <a:rPr lang="zh-CN" sz="1400" dirty="0">
                <a:sym typeface="+mn-ea"/>
              </a:rPr>
              <a:t>所有经过出发地和目的地的列车班次</a:t>
            </a:r>
            <a:r>
              <a:rPr lang="en-US" altLang="zh-CN" sz="1400" dirty="0">
                <a:sym typeface="+mn-ea"/>
              </a:rPr>
              <a:t>, </a:t>
            </a:r>
            <a:r>
              <a:rPr lang="zh-CN" altLang="en-US" sz="1400" dirty="0">
                <a:sym typeface="+mn-ea"/>
              </a:rPr>
              <a:t>并将查询到的网页保存下</a:t>
            </a:r>
          </a:p>
          <a:p>
            <a:pPr marL="887730" lvl="1" indent="-342900">
              <a:buAutoNum type="arabicPeriod"/>
            </a:pPr>
            <a:r>
              <a:rPr lang="zh-CN" altLang="en-US" sz="1400" dirty="0">
                <a:sym typeface="+mn-ea"/>
              </a:rPr>
              <a:t>人邮图书</a:t>
            </a:r>
          </a:p>
          <a:p>
            <a:pPr lvl="2"/>
            <a:r>
              <a:rPr lang="zh-CN" altLang="en-US" sz="1150" dirty="0">
                <a:sym typeface="+mn-ea"/>
              </a:rPr>
              <a:t>https://www.ryjiaoyu.com/book，</a:t>
            </a:r>
            <a:r>
              <a:rPr lang="en-US" altLang="zh-CN" sz="1150" dirty="0">
                <a:sym typeface="+mn-ea"/>
              </a:rPr>
              <a:t> </a:t>
            </a:r>
            <a:r>
              <a:rPr lang="zh-CN" altLang="en-US" sz="1150" dirty="0">
                <a:sym typeface="+mn-ea"/>
              </a:rPr>
              <a:t>前</a:t>
            </a:r>
            <a:r>
              <a:rPr lang="en-US" altLang="zh-CN" sz="1150" dirty="0">
                <a:sym typeface="+mn-ea"/>
              </a:rPr>
              <a:t>100</a:t>
            </a:r>
            <a:r>
              <a:rPr lang="zh-CN" altLang="en-US" sz="1150" dirty="0">
                <a:sym typeface="+mn-ea"/>
              </a:rPr>
              <a:t>页的图书页面全部保存到</a:t>
            </a:r>
            <a:r>
              <a:rPr lang="en-US" altLang="zh-CN" sz="1150" dirty="0">
                <a:sym typeface="+mn-ea"/>
              </a:rPr>
              <a:t>“</a:t>
            </a:r>
            <a:r>
              <a:rPr lang="zh-CN" altLang="en-US" sz="1150" dirty="0">
                <a:sym typeface="+mn-ea"/>
              </a:rPr>
              <a:t>人邮教育</a:t>
            </a:r>
            <a:r>
              <a:rPr lang="en-US" altLang="zh-CN" sz="1150" dirty="0">
                <a:sym typeface="+mn-ea"/>
              </a:rPr>
              <a:t>”</a:t>
            </a:r>
            <a:r>
              <a:rPr lang="zh-CN" altLang="en-US" sz="1150" dirty="0">
                <a:sym typeface="+mn-ea"/>
              </a:rPr>
              <a:t>文件夹下，</a:t>
            </a:r>
          </a:p>
          <a:p>
            <a:pPr lvl="3"/>
            <a:r>
              <a:rPr lang="zh-CN" altLang="en-US" sz="1065" dirty="0">
                <a:sym typeface="+mn-ea"/>
              </a:rPr>
              <a:t>用代码判断当前文件夹下是否存在</a:t>
            </a:r>
            <a:r>
              <a:rPr lang="en-US" altLang="zh-CN" sz="1060" dirty="0">
                <a:sym typeface="+mn-ea"/>
              </a:rPr>
              <a:t>“</a:t>
            </a:r>
            <a:r>
              <a:rPr lang="zh-CN" altLang="en-US" sz="1060" dirty="0">
                <a:sym typeface="+mn-ea"/>
              </a:rPr>
              <a:t>人邮教育</a:t>
            </a:r>
            <a:r>
              <a:rPr lang="en-US" altLang="zh-CN" sz="1060" dirty="0">
                <a:sym typeface="+mn-ea"/>
              </a:rPr>
              <a:t>”</a:t>
            </a:r>
            <a:r>
              <a:rPr lang="zh-CN" altLang="en-US" sz="1060" dirty="0">
                <a:sym typeface="+mn-ea"/>
              </a:rPr>
              <a:t>文件夹，如果不存在，用代码新建</a:t>
            </a:r>
            <a:r>
              <a:rPr lang="en-US" altLang="zh-CN" sz="1060" dirty="0">
                <a:sym typeface="+mn-ea"/>
              </a:rPr>
              <a:t>“</a:t>
            </a:r>
            <a:r>
              <a:rPr lang="zh-CN" altLang="en-US" sz="1060" dirty="0">
                <a:sym typeface="+mn-ea"/>
              </a:rPr>
              <a:t>人邮教育</a:t>
            </a:r>
            <a:r>
              <a:rPr lang="en-US" altLang="zh-CN" sz="1060" dirty="0">
                <a:sym typeface="+mn-ea"/>
              </a:rPr>
              <a:t>”</a:t>
            </a:r>
            <a:r>
              <a:rPr lang="zh-CN" altLang="en-US" sz="1060" dirty="0">
                <a:sym typeface="+mn-ea"/>
              </a:rPr>
              <a:t>文件夹</a:t>
            </a:r>
          </a:p>
          <a:p>
            <a:pPr lvl="3"/>
            <a:r>
              <a:rPr lang="zh-CN" altLang="en-US" sz="1060" dirty="0">
                <a:sym typeface="+mn-ea"/>
              </a:rPr>
              <a:t>页面下载的代码用函数封装起来</a:t>
            </a:r>
            <a:endParaRPr lang="zh-CN" altLang="en-US" sz="1065" dirty="0">
              <a:sym typeface="+mn-ea"/>
            </a:endParaRPr>
          </a:p>
          <a:p>
            <a:pPr lvl="2"/>
            <a:endParaRPr lang="zh-CN" altLang="en-US" sz="14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30,&quot;width&quot;:1095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7078592-af21-4757-a773-d86426a96df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9989162-2412-440e-9789-dc1fccddd9d7}"/>
</p:tagLst>
</file>

<file path=ppt/theme/theme1.xml><?xml version="1.0" encoding="utf-8"?>
<a:theme xmlns:a="http://schemas.openxmlformats.org/drawingml/2006/main" name="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1468</Words>
  <Application>Microsoft Office PowerPoint</Application>
  <PresentationFormat>自定义</PresentationFormat>
  <Paragraphs>223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 Unicode MS</vt:lpstr>
      <vt:lpstr>等线</vt:lpstr>
      <vt:lpstr>宋体</vt:lpstr>
      <vt:lpstr>微软雅黑</vt:lpstr>
      <vt:lpstr>Arial</vt:lpstr>
      <vt:lpstr>Arial Black</vt:lpstr>
      <vt:lpstr>Calibri</vt:lpstr>
      <vt:lpstr>Wingdings</vt:lpstr>
      <vt:lpstr>Office 主题</vt:lpstr>
      <vt:lpstr>网络爬虫</vt:lpstr>
      <vt:lpstr>大纲</vt:lpstr>
      <vt:lpstr>2.1 HTTP请求</vt:lpstr>
      <vt:lpstr>2.1 请求和响应</vt:lpstr>
      <vt:lpstr>2.1.1 HTTP请求的含义</vt:lpstr>
      <vt:lpstr>2.1.2 HTTP请求信息</vt:lpstr>
      <vt:lpstr>2.1.3 HTTP响应状态码</vt:lpstr>
      <vt:lpstr>2.2 requests库入门</vt:lpstr>
      <vt:lpstr>2.2.1 requests库的安装</vt:lpstr>
      <vt:lpstr>2.2.2 requests库的请求方法</vt:lpstr>
      <vt:lpstr>2.2.2 requests库的请求方法</vt:lpstr>
      <vt:lpstr>2.2.2 requests库的请求方法</vt:lpstr>
      <vt:lpstr>2.2.3 requests库的响应对象</vt:lpstr>
      <vt:lpstr>2.2.3 requests库的响应对象</vt:lpstr>
      <vt:lpstr>2.2.4 定制头部请求</vt:lpstr>
      <vt:lpstr>2.2.5 post请求</vt:lpstr>
      <vt:lpstr>2.2.6 重定向与超时</vt:lpstr>
      <vt:lpstr>2.2.7 传递URL参数</vt:lpstr>
      <vt:lpstr>2.2.8 get和post实战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赵伟</dc:creator>
  <cp:lastModifiedBy>CYXY</cp:lastModifiedBy>
  <cp:revision>704</cp:revision>
  <cp:lastPrinted>2012-03-16T05:44:00Z</cp:lastPrinted>
  <dcterms:created xsi:type="dcterms:W3CDTF">2020-09-20T05:29:00Z</dcterms:created>
  <dcterms:modified xsi:type="dcterms:W3CDTF">2023-09-14T13:26:22Z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385F2E79DAAB4D7D87E22ECCECA0DD05</vt:lpwstr>
  </property>
</Properties>
</file>