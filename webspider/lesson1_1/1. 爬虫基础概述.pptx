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56" r:id="rId2"/>
    <p:sldId id="336" r:id="rId3"/>
    <p:sldId id="319" r:id="rId4"/>
    <p:sldId id="372" r:id="rId5"/>
    <p:sldId id="343" r:id="rId6"/>
    <p:sldId id="344" r:id="rId7"/>
    <p:sldId id="345" r:id="rId8"/>
    <p:sldId id="368" r:id="rId9"/>
    <p:sldId id="359" r:id="rId10"/>
    <p:sldId id="346" r:id="rId11"/>
    <p:sldId id="360" r:id="rId12"/>
    <p:sldId id="369" r:id="rId13"/>
    <p:sldId id="370" r:id="rId14"/>
    <p:sldId id="371" r:id="rId15"/>
    <p:sldId id="350" r:id="rId16"/>
    <p:sldId id="351" r:id="rId17"/>
    <p:sldId id="373" r:id="rId18"/>
    <p:sldId id="374" r:id="rId19"/>
    <p:sldId id="352" r:id="rId20"/>
    <p:sldId id="265" r:id="rId21"/>
  </p:sldIdLst>
  <p:sldSz cx="12204700" cy="6859588"/>
  <p:notesSz cx="9144000" cy="6858000"/>
  <p:custDataLst>
    <p:tags r:id="rId24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54483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108902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63385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217868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723515" algn="l" defTabSz="1089025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3267710" algn="l" defTabSz="1089025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812540" algn="l" defTabSz="1089025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4357370" algn="l" defTabSz="1089025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1" userDrawn="1">
          <p15:clr>
            <a:srgbClr val="A4A3A4"/>
          </p15:clr>
        </p15:guide>
        <p15:guide id="2" pos="384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003399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77" autoAdjust="0"/>
    <p:restoredTop sz="96552" autoAdjust="0"/>
  </p:normalViewPr>
  <p:slideViewPr>
    <p:cSldViewPr showGuides="1">
      <p:cViewPr varScale="1">
        <p:scale>
          <a:sx n="106" d="100"/>
          <a:sy n="106" d="100"/>
        </p:scale>
        <p:origin x="80" y="164"/>
      </p:cViewPr>
      <p:guideLst>
        <p:guide orient="horz" pos="2161"/>
        <p:guide pos="3844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7" d="100"/>
          <a:sy n="87" d="100"/>
        </p:scale>
        <p:origin x="2064" y="58"/>
      </p:cViewPr>
      <p:guideLst>
        <p:guide orient="horz" pos="2160"/>
        <p:guide pos="288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0E44AF-0D8D-4B66-BECC-4D5B9292E151}" type="datetimeFigureOut">
              <a:rPr lang="zh-CN" altLang="en-US"/>
              <a:t>2026/3/2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C3C35A87-E971-49BF-8F02-A5CE2B85C743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57119A08-1D2F-470C-8FD3-E69459F4B57D}" type="datetimeFigureOut">
              <a:rPr lang="zh-CN" altLang="en-US"/>
              <a:t>2026/3/2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284413" y="514350"/>
            <a:ext cx="4575175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A06004EB-C740-4F3D-A864-243FCB14D11E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544830"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1089025"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633855"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2178685"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2723515" algn="l" defTabSz="108902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3267710" algn="l" defTabSz="108902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812540" algn="l" defTabSz="108902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4357370" algn="l" defTabSz="1089025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4"/>
          <p:cNvSpPr txBox="1"/>
          <p:nvPr userDrawn="1"/>
        </p:nvSpPr>
        <p:spPr>
          <a:xfrm>
            <a:off x="239599" y="6434041"/>
            <a:ext cx="4228870" cy="365210"/>
          </a:xfrm>
          <a:prstGeom prst="rect">
            <a:avLst/>
          </a:prstGeom>
        </p:spPr>
        <p:txBody>
          <a:bodyPr lIns="108932" tIns="54466" rIns="108932" bIns="54466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网络爬虫</a:t>
            </a:r>
            <a:r>
              <a:rPr lang="en-US" altLang="zh-CN" sz="13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        </a:t>
            </a:r>
            <a:r>
              <a:rPr lang="zh-CN" altLang="en-US" sz="13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讲师    洪成蹊</a:t>
            </a:r>
            <a:endParaRPr lang="en-US" altLang="zh-CN" sz="1300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grpSp>
        <p:nvGrpSpPr>
          <p:cNvPr id="5" name="组合 19"/>
          <p:cNvGrpSpPr/>
          <p:nvPr userDrawn="1"/>
        </p:nvGrpSpPr>
        <p:grpSpPr bwMode="auto">
          <a:xfrm>
            <a:off x="0" y="6238758"/>
            <a:ext cx="12204700" cy="273832"/>
            <a:chOff x="0" y="6237927"/>
            <a:chExt cx="9144000" cy="272911"/>
          </a:xfrm>
        </p:grpSpPr>
        <p:cxnSp>
          <p:nvCxnSpPr>
            <p:cNvPr id="6" name="直接连接符 5"/>
            <p:cNvCxnSpPr>
              <a:endCxn id="7" idx="1"/>
            </p:cNvCxnSpPr>
            <p:nvPr userDrawn="1"/>
          </p:nvCxnSpPr>
          <p:spPr>
            <a:xfrm flipV="1">
              <a:off x="0" y="6374383"/>
              <a:ext cx="3275856" cy="7109"/>
            </a:xfrm>
            <a:prstGeom prst="line">
              <a:avLst/>
            </a:prstGeom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>
              <a:stCxn id="7" idx="3"/>
            </p:cNvCxnSpPr>
            <p:nvPr userDrawn="1"/>
          </p:nvCxnSpPr>
          <p:spPr>
            <a:xfrm>
              <a:off x="5826944" y="6374383"/>
              <a:ext cx="3317056" cy="7109"/>
            </a:xfrm>
            <a:prstGeom prst="line">
              <a:avLst/>
            </a:prstGeom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" name="矩形 6"/>
            <p:cNvSpPr/>
            <p:nvPr userDrawn="1"/>
          </p:nvSpPr>
          <p:spPr>
            <a:xfrm>
              <a:off x="3275856" y="6237927"/>
              <a:ext cx="2551088" cy="2729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400" b="1" dirty="0">
                  <a:solidFill>
                    <a:schemeClr val="accent4">
                      <a:lumMod val="50000"/>
                    </a:schemeClr>
                  </a:solidFill>
                </a:rPr>
                <a:t>第一章  基础知识</a:t>
              </a:r>
              <a:endParaRPr lang="zh-CN" altLang="en-US" sz="1300" b="1" dirty="0">
                <a:solidFill>
                  <a:schemeClr val="accent4">
                    <a:lumMod val="50000"/>
                  </a:schemeClr>
                </a:solidFill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5353" y="2929613"/>
            <a:ext cx="10373995" cy="928910"/>
          </a:xfrm>
        </p:spPr>
        <p:txBody>
          <a:bodyPr>
            <a:normAutofit/>
          </a:bodyPr>
          <a:lstStyle>
            <a:lvl1pPr algn="l">
              <a:defRPr sz="43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915353" y="3887100"/>
            <a:ext cx="8543290" cy="685967"/>
          </a:xfrm>
        </p:spPr>
        <p:txBody>
          <a:bodyPr anchor="ctr">
            <a:normAutofit/>
          </a:bodyPr>
          <a:lstStyle>
            <a:lvl1pPr marL="0" indent="0" algn="l">
              <a:buNone/>
              <a:defRPr sz="1700" b="1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sym typeface="Wingdings" panose="05000000000000000000" pitchFamily="2" charset="2"/>
              </a:defRPr>
            </a:lvl1pPr>
            <a:lvl2pPr marL="5448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890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338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786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235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677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125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573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altLang="zh-CN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742" y="405458"/>
            <a:ext cx="8279325" cy="576065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Font typeface="Wingdings" panose="05000000000000000000" pitchFamily="2" charset="2"/>
              <a:buChar char="n"/>
              <a:defRPr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Font typeface="Wingdings" panose="05000000000000000000" pitchFamily="2" charset="2"/>
              <a:buChar char="n"/>
              <a:defRPr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" y="6357821"/>
            <a:ext cx="667445" cy="501767"/>
          </a:xfrm>
          <a:prstGeom prst="rect">
            <a:avLst/>
          </a:prstGeom>
        </p:spPr>
        <p:txBody>
          <a:bodyPr lIns="108932" tIns="54466" rIns="108932" bIns="54466"/>
          <a:lstStyle>
            <a:lvl1pPr>
              <a:defRPr/>
            </a:lvl1pPr>
          </a:lstStyle>
          <a:p>
            <a:pPr>
              <a:defRPr/>
            </a:pPr>
            <a:fld id="{C9F260F8-0F8D-4271-AB2B-8487BB54F279}" type="datetime1">
              <a:rPr lang="zh-CN" altLang="en-US"/>
              <a:t>2026/3/2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>
          <a:xfrm>
            <a:off x="3" y="6357821"/>
            <a:ext cx="1421827" cy="501767"/>
          </a:xfrm>
          <a:prstGeom prst="rect">
            <a:avLst/>
          </a:prstGeom>
        </p:spPr>
        <p:txBody>
          <a:bodyPr lIns="108932" tIns="54466" rIns="108932" bIns="54466"/>
          <a:lstStyle>
            <a:lvl1pPr>
              <a:defRPr/>
            </a:lvl1pPr>
          </a:lstStyle>
          <a:p>
            <a:pPr>
              <a:defRPr/>
            </a:pPr>
            <a:fld id="{FFADEFA4-4608-418A-84AC-D4C3F38BFDE0}" type="datetime1">
              <a:rPr lang="zh-CN" altLang="en-US"/>
              <a:t>2026/3/2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3669564"/>
            <a:ext cx="12204700" cy="601802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932" tIns="54466" rIns="108932" bIns="54466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3" name="矩形 2"/>
          <p:cNvSpPr/>
          <p:nvPr userDrawn="1"/>
        </p:nvSpPr>
        <p:spPr>
          <a:xfrm>
            <a:off x="1129363" y="1703784"/>
            <a:ext cx="652508" cy="611329"/>
          </a:xfrm>
          <a:prstGeom prst="rect">
            <a:avLst/>
          </a:prstGeom>
          <a:solidFill>
            <a:schemeClr val="accent4">
              <a:lumMod val="50000"/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932" tIns="54466" rIns="108932" bIns="54466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4" name="页脚占位符 4"/>
          <p:cNvSpPr txBox="1"/>
          <p:nvPr userDrawn="1"/>
        </p:nvSpPr>
        <p:spPr>
          <a:xfrm>
            <a:off x="610235" y="6434041"/>
            <a:ext cx="4443274" cy="365210"/>
          </a:xfrm>
          <a:prstGeom prst="rect">
            <a:avLst/>
          </a:prstGeom>
        </p:spPr>
        <p:txBody>
          <a:bodyPr lIns="108932" tIns="54466" rIns="108932" bIns="54466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集美大学诚毅学院 数据科学与大数据教研室</a:t>
            </a:r>
          </a:p>
        </p:txBody>
      </p:sp>
      <p:sp>
        <p:nvSpPr>
          <p:cNvPr id="5" name="矩形 4"/>
          <p:cNvSpPr/>
          <p:nvPr userDrawn="1"/>
        </p:nvSpPr>
        <p:spPr>
          <a:xfrm>
            <a:off x="557734" y="1197546"/>
            <a:ext cx="864096" cy="828867"/>
          </a:xfrm>
          <a:prstGeom prst="rect">
            <a:avLst/>
          </a:prstGeom>
          <a:solidFill>
            <a:schemeClr val="accent4">
              <a:lumMod val="50000"/>
              <a:alpha val="5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932" tIns="54466" rIns="108932" bIns="54466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6" name="TextBox 5"/>
          <p:cNvSpPr txBox="1"/>
          <p:nvPr userDrawn="1"/>
        </p:nvSpPr>
        <p:spPr>
          <a:xfrm>
            <a:off x="1892153" y="2107102"/>
            <a:ext cx="5339556" cy="1541157"/>
          </a:xfrm>
          <a:prstGeom prst="rect">
            <a:avLst/>
          </a:prstGeom>
          <a:noFill/>
        </p:spPr>
        <p:txBody>
          <a:bodyPr lIns="108932" tIns="54466" rIns="108932" bIns="54466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93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4">
                    <a:lumMod val="5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</a:rPr>
              <a:t>Thanks</a:t>
            </a:r>
            <a:endParaRPr lang="zh-CN" altLang="en-US" sz="93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accent4">
                  <a:lumMod val="50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9179012" y="3581432"/>
            <a:ext cx="2517159" cy="771715"/>
          </a:xfrm>
          <a:prstGeom prst="rect">
            <a:avLst/>
          </a:prstGeom>
          <a:noFill/>
        </p:spPr>
        <p:txBody>
          <a:bodyPr wrap="none" lIns="108932" tIns="54466" rIns="108932" bIns="54466" anchor="ctr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4300" dirty="0">
                <a:solidFill>
                  <a:schemeClr val="bg1"/>
                </a:solidFill>
                <a:latin typeface="Arial Black" panose="020B0A04020102020204" pitchFamily="34" charset="0"/>
                <a:ea typeface="+mn-ea"/>
              </a:rPr>
              <a:t>FAQ</a:t>
            </a:r>
            <a:r>
              <a:rPr lang="zh-CN" altLang="en-US" sz="4300" dirty="0">
                <a:solidFill>
                  <a:schemeClr val="bg1"/>
                </a:solidFill>
                <a:latin typeface="Arial Black" panose="020B0A04020102020204" pitchFamily="34" charset="0"/>
                <a:ea typeface="+mn-ea"/>
              </a:rPr>
              <a:t>时间</a:t>
            </a:r>
            <a:endParaRPr lang="en-US" altLang="zh-CN" sz="4300" dirty="0">
              <a:solidFill>
                <a:schemeClr val="bg1"/>
              </a:solidFill>
              <a:latin typeface="Arial Black" panose="020B0A04020102020204" pitchFamily="34" charset="0"/>
              <a:ea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标题占位符 1"/>
          <p:cNvSpPr>
            <a:spLocks noGrp="1"/>
          </p:cNvSpPr>
          <p:nvPr>
            <p:ph type="title"/>
          </p:nvPr>
        </p:nvSpPr>
        <p:spPr bwMode="auto">
          <a:xfrm>
            <a:off x="629742" y="405458"/>
            <a:ext cx="8279325" cy="57606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108932" tIns="54466" rIns="108932" bIns="54466" numCol="1" anchor="ctr" anchorCtr="0" compatLnSpc="1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2052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610235" y="1197546"/>
            <a:ext cx="10984230" cy="50411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108932" tIns="54466" rIns="108932" bIns="54466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cxnSp>
        <p:nvCxnSpPr>
          <p:cNvPr id="9" name="直接连接符 8"/>
          <p:cNvCxnSpPr/>
          <p:nvPr/>
        </p:nvCxnSpPr>
        <p:spPr>
          <a:xfrm>
            <a:off x="413718" y="1053530"/>
            <a:ext cx="11251208" cy="1587"/>
          </a:xfrm>
          <a:prstGeom prst="line">
            <a:avLst/>
          </a:prstGeom>
          <a:ln w="12700">
            <a:solidFill>
              <a:schemeClr val="accent4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7" name="页脚占位符 4"/>
          <p:cNvSpPr txBox="1"/>
          <p:nvPr userDrawn="1"/>
        </p:nvSpPr>
        <p:spPr>
          <a:xfrm>
            <a:off x="239598" y="6434041"/>
            <a:ext cx="4324981" cy="365210"/>
          </a:xfrm>
          <a:prstGeom prst="rect">
            <a:avLst/>
          </a:prstGeom>
        </p:spPr>
        <p:txBody>
          <a:bodyPr lIns="108932" tIns="54466" rIns="108932" bIns="54466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网络爬虫</a:t>
            </a:r>
            <a:r>
              <a:rPr lang="en-US" altLang="zh-CN" sz="13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        </a:t>
            </a:r>
            <a:r>
              <a:rPr lang="zh-CN" altLang="en-US" sz="1300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讲师    洪成蹊</a:t>
            </a:r>
            <a:endParaRPr lang="en-US" altLang="zh-CN" sz="1300" dirty="0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485726" y="405458"/>
            <a:ext cx="118690" cy="499070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lIns="108932" tIns="54466" rIns="108932" bIns="54466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grpSp>
        <p:nvGrpSpPr>
          <p:cNvPr id="2059" name="组合 18"/>
          <p:cNvGrpSpPr/>
          <p:nvPr userDrawn="1"/>
        </p:nvGrpSpPr>
        <p:grpSpPr bwMode="auto">
          <a:xfrm>
            <a:off x="0" y="6238756"/>
            <a:ext cx="12204700" cy="288099"/>
            <a:chOff x="0" y="6237942"/>
            <a:chExt cx="9144000" cy="287130"/>
          </a:xfrm>
        </p:grpSpPr>
        <p:cxnSp>
          <p:nvCxnSpPr>
            <p:cNvPr id="20" name="直接连接符 19"/>
            <p:cNvCxnSpPr>
              <a:endCxn id="27" idx="1"/>
            </p:cNvCxnSpPr>
            <p:nvPr userDrawn="1"/>
          </p:nvCxnSpPr>
          <p:spPr>
            <a:xfrm>
              <a:off x="0" y="6381507"/>
              <a:ext cx="3347864" cy="0"/>
            </a:xfrm>
            <a:prstGeom prst="line">
              <a:avLst/>
            </a:prstGeom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7" name="矩形 26"/>
            <p:cNvSpPr/>
            <p:nvPr userDrawn="1"/>
          </p:nvSpPr>
          <p:spPr>
            <a:xfrm>
              <a:off x="3347864" y="6237942"/>
              <a:ext cx="2448272" cy="28713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300" b="1" dirty="0">
                  <a:solidFill>
                    <a:schemeClr val="accent4">
                      <a:lumMod val="50000"/>
                    </a:schemeClr>
                  </a:solidFill>
                </a:rPr>
                <a:t>第一章  基础知识</a:t>
              </a:r>
            </a:p>
          </p:txBody>
        </p:sp>
        <p:cxnSp>
          <p:nvCxnSpPr>
            <p:cNvPr id="28" name="直接连接符 27"/>
            <p:cNvCxnSpPr>
              <a:stCxn id="27" idx="3"/>
            </p:cNvCxnSpPr>
            <p:nvPr userDrawn="1"/>
          </p:nvCxnSpPr>
          <p:spPr>
            <a:xfrm>
              <a:off x="5796136" y="6381507"/>
              <a:ext cx="3347864" cy="0"/>
            </a:xfrm>
            <a:prstGeom prst="line">
              <a:avLst/>
            </a:prstGeom>
            <a:ln>
              <a:solidFill>
                <a:schemeClr val="accent4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900" b="1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9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9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9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9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544830" algn="l" rtl="0" fontAlgn="base">
        <a:spcBef>
          <a:spcPct val="0"/>
        </a:spcBef>
        <a:spcAft>
          <a:spcPct val="0"/>
        </a:spcAft>
        <a:defRPr sz="29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6pPr>
      <a:lvl7pPr marL="1089025" algn="l" rtl="0" fontAlgn="base">
        <a:spcBef>
          <a:spcPct val="0"/>
        </a:spcBef>
        <a:spcAft>
          <a:spcPct val="0"/>
        </a:spcAft>
        <a:defRPr sz="29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7pPr>
      <a:lvl8pPr marL="1633855" algn="l" rtl="0" fontAlgn="base">
        <a:spcBef>
          <a:spcPct val="0"/>
        </a:spcBef>
        <a:spcAft>
          <a:spcPct val="0"/>
        </a:spcAft>
        <a:defRPr sz="29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8pPr>
      <a:lvl9pPr marL="2178685" algn="l" rtl="0" fontAlgn="base">
        <a:spcBef>
          <a:spcPct val="0"/>
        </a:spcBef>
        <a:spcAft>
          <a:spcPct val="0"/>
        </a:spcAft>
        <a:defRPr sz="29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9pPr>
    </p:titleStyle>
    <p:bodyStyle>
      <a:lvl1pPr marL="408305" indent="-408305" algn="l" rtl="0" eaLnBrk="0" fontAlgn="base" hangingPunct="0">
        <a:lnSpc>
          <a:spcPct val="150000"/>
        </a:lnSpc>
        <a:spcBef>
          <a:spcPct val="20000"/>
        </a:spcBef>
        <a:spcAft>
          <a:spcPct val="0"/>
        </a:spcAft>
        <a:buClr>
          <a:schemeClr val="accent4">
            <a:lumMod val="50000"/>
          </a:schemeClr>
        </a:buClr>
        <a:buFont typeface="Wingdings" panose="05000000000000000000" pitchFamily="2" charset="2"/>
        <a:buChar char="u"/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885190" indent="-340360" algn="l" rtl="0" eaLnBrk="0" fontAlgn="base" hangingPunct="0">
        <a:lnSpc>
          <a:spcPct val="150000"/>
        </a:lnSpc>
        <a:spcBef>
          <a:spcPct val="20000"/>
        </a:spcBef>
        <a:spcAft>
          <a:spcPct val="0"/>
        </a:spcAft>
        <a:buClr>
          <a:srgbClr val="2F6231"/>
        </a:buClr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361440" indent="-272415" algn="l" rtl="0" eaLnBrk="0" fontAlgn="base" hangingPunct="0">
        <a:lnSpc>
          <a:spcPct val="150000"/>
        </a:lnSpc>
        <a:spcBef>
          <a:spcPct val="20000"/>
        </a:spcBef>
        <a:spcAft>
          <a:spcPct val="0"/>
        </a:spcAft>
        <a:buClr>
          <a:srgbClr val="2F623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906270" indent="-272415" algn="l" rtl="0" eaLnBrk="0" fontAlgn="base" hangingPunct="0">
        <a:lnSpc>
          <a:spcPct val="150000"/>
        </a:lnSpc>
        <a:spcBef>
          <a:spcPct val="20000"/>
        </a:spcBef>
        <a:spcAft>
          <a:spcPct val="0"/>
        </a:spcAft>
        <a:buClr>
          <a:srgbClr val="2F6231"/>
        </a:buClr>
        <a:buFont typeface="Arial" panose="020B0604020202020204" pitchFamily="34" charset="0"/>
        <a:buChar char="–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2451100" indent="-272415" algn="l" rtl="0" eaLnBrk="0" fontAlgn="base" hangingPunct="0">
        <a:lnSpc>
          <a:spcPct val="150000"/>
        </a:lnSpc>
        <a:spcBef>
          <a:spcPct val="20000"/>
        </a:spcBef>
        <a:spcAft>
          <a:spcPct val="0"/>
        </a:spcAft>
        <a:buClr>
          <a:srgbClr val="2F6231"/>
        </a:buClr>
        <a:buFont typeface="Arial" panose="020B0604020202020204" pitchFamily="34" charset="0"/>
        <a:buChar char="»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2995930" indent="-272415" algn="l" defTabSz="1089025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40125" indent="-272415" algn="l" defTabSz="1089025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084955" indent="-272415" algn="l" defTabSz="1089025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29785" indent="-272415" algn="l" defTabSz="1089025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08902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44830" algn="l" defTabSz="108902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89025" algn="l" defTabSz="108902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33855" algn="l" defTabSz="108902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78685" algn="l" defTabSz="108902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23515" algn="l" defTabSz="108902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67710" algn="l" defTabSz="108902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812540" algn="l" defTabSz="108902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357370" algn="l" defTabSz="1089025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book.jd.com/writer/%E5%BC%A0%E6%B6%9B_1.html" TargetMode="Externa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epin.com/zhaopin/" TargetMode="External"/><Relationship Id="rId7" Type="http://schemas.openxmlformats.org/officeDocument/2006/relationships/hyperlink" Target="https://www.lagou.com/jobs/7516676.html?show=9d2aacfe897c4bbaabc30ba6680a3c09" TargetMode="External"/><Relationship Id="rId2" Type="http://schemas.openxmlformats.org/officeDocument/2006/relationships/hyperlink" Target="https://search.51job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lagou.com/" TargetMode="External"/><Relationship Id="rId5" Type="http://schemas.openxmlformats.org/officeDocument/2006/relationships/hyperlink" Target="https://sou.zhaopin.com/" TargetMode="External"/><Relationship Id="rId4" Type="http://schemas.openxmlformats.org/officeDocument/2006/relationships/hyperlink" Target="https://sou.zhaopin.com/?jl=763&amp;kw=%E7%BD%91%E7%BB%9C%E7%88%AC%E8%99%AB&amp;kt=3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shenzhen.sina.cn/news/s/2019-04-26/detail-ihvhiqax5103198.d.html?from=wap" TargetMode="External"/><Relationship Id="rId2" Type="http://schemas.openxmlformats.org/officeDocument/2006/relationships/hyperlink" Target="https://tech.sina.com.cn/csj/2019-10-17/doc-iicezzrr2875522.s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cac.gov.cn/2019-06/16/c_1124630015.htm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nblogs.com/lhm166/articles/12863468.html" TargetMode="External"/><Relationship Id="rId2" Type="http://schemas.openxmlformats.org/officeDocument/2006/relationships/hyperlink" Target="https://www.jetbrains.com/pycharm/download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mirrors.tuna.tsinghua.edu.cn/anaconda/archive/" TargetMode="Externa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/>
          <p:cNvSpPr>
            <a:spLocks noGrp="1"/>
          </p:cNvSpPr>
          <p:nvPr>
            <p:ph type="ctrTitle"/>
          </p:nvPr>
        </p:nvSpPr>
        <p:spPr>
          <a:xfrm>
            <a:off x="768207" y="5157986"/>
            <a:ext cx="10668285" cy="844324"/>
          </a:xfrm>
        </p:spPr>
        <p:txBody>
          <a:bodyPr>
            <a:normAutofit fontScale="90000"/>
          </a:bodyPr>
          <a:lstStyle/>
          <a:p>
            <a:pPr algn="ctr" eaLnBrk="1" hangingPunct="1">
              <a:lnSpc>
                <a:spcPct val="150000"/>
              </a:lnSpc>
            </a:pPr>
            <a:r>
              <a:rPr lang="zh-CN" altLang="en-US" dirty="0"/>
              <a:t>网络爬虫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2030" y="857278"/>
            <a:ext cx="6008216" cy="398044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课程介绍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467" y="1125538"/>
            <a:ext cx="10984230" cy="5041187"/>
          </a:xfrm>
        </p:spPr>
        <p:txBody>
          <a:bodyPr/>
          <a:lstStyle/>
          <a:p>
            <a:r>
              <a:rPr lang="zh-CN" altLang="en-US" dirty="0"/>
              <a:t>学时、学分</a:t>
            </a:r>
            <a:endParaRPr lang="en-US" altLang="zh-CN" dirty="0"/>
          </a:p>
          <a:p>
            <a:pPr lvl="1"/>
            <a:r>
              <a:rPr lang="en-US" altLang="zh-CN" dirty="0"/>
              <a:t>56</a:t>
            </a:r>
            <a:r>
              <a:rPr lang="zh-CN" altLang="en-US" dirty="0"/>
              <a:t>（</a:t>
            </a:r>
            <a:r>
              <a:rPr lang="en-US" altLang="zh-CN" dirty="0"/>
              <a:t>40+16</a:t>
            </a:r>
            <a:r>
              <a:rPr lang="zh-CN" altLang="en-US" dirty="0"/>
              <a:t>）学时、</a:t>
            </a:r>
            <a:r>
              <a:rPr lang="en-US" altLang="zh-CN" dirty="0"/>
              <a:t>2.5</a:t>
            </a:r>
            <a:r>
              <a:rPr lang="zh-CN" altLang="en-US" dirty="0"/>
              <a:t>学分</a:t>
            </a:r>
            <a:endParaRPr lang="en-US" altLang="zh-CN" dirty="0"/>
          </a:p>
          <a:p>
            <a:r>
              <a:rPr lang="zh-CN" altLang="en-US" dirty="0"/>
              <a:t>考核方式</a:t>
            </a:r>
            <a:endParaRPr lang="en-US" altLang="zh-CN" dirty="0"/>
          </a:p>
          <a:p>
            <a:pPr lvl="1"/>
            <a:r>
              <a:rPr lang="zh-CN" altLang="en-US" dirty="0"/>
              <a:t>平时</a:t>
            </a:r>
            <a:r>
              <a:rPr lang="en-US" altLang="zh-CN" dirty="0"/>
              <a:t>30%+</a:t>
            </a:r>
            <a:r>
              <a:rPr lang="zh-CN" altLang="en-US" dirty="0"/>
              <a:t>期末考试</a:t>
            </a:r>
            <a:r>
              <a:rPr lang="en-US" altLang="zh-CN" dirty="0"/>
              <a:t>70%</a:t>
            </a:r>
          </a:p>
          <a:p>
            <a:r>
              <a:rPr lang="zh-CN" altLang="en-US" dirty="0"/>
              <a:t>答疑</a:t>
            </a:r>
            <a:endParaRPr lang="en-US" altLang="zh-CN" dirty="0"/>
          </a:p>
          <a:p>
            <a:pPr lvl="1"/>
            <a:r>
              <a:rPr lang="en-US" altLang="zh-CN" dirty="0"/>
              <a:t>QQ</a:t>
            </a:r>
            <a:r>
              <a:rPr lang="zh-CN" altLang="en-US" dirty="0"/>
              <a:t>、微信、腾讯会议等</a:t>
            </a:r>
            <a:endParaRPr lang="en-US" altLang="zh-CN" dirty="0"/>
          </a:p>
          <a:p>
            <a:r>
              <a:rPr lang="zh-CN" altLang="en-US" dirty="0"/>
              <a:t>参考书</a:t>
            </a:r>
            <a:endParaRPr lang="en-US" altLang="zh-CN" dirty="0"/>
          </a:p>
          <a:p>
            <a:pPr lvl="1"/>
            <a:r>
              <a:rPr lang="zh-CN" altLang="zh-CN" sz="1400" dirty="0"/>
              <a:t>《</a:t>
            </a:r>
            <a:r>
              <a:rPr lang="zh-CN" altLang="en-US" sz="1400" dirty="0"/>
              <a:t> </a:t>
            </a:r>
            <a:r>
              <a:rPr sz="1400" dirty="0"/>
              <a:t>Python3网络爬虫开发实战 第2版</a:t>
            </a:r>
            <a:r>
              <a:rPr lang="zh-CN" altLang="en-US" sz="1400" dirty="0"/>
              <a:t> </a:t>
            </a:r>
            <a:r>
              <a:rPr lang="zh-CN" altLang="zh-CN" sz="1400" dirty="0"/>
              <a:t>》</a:t>
            </a:r>
            <a:r>
              <a:rPr lang="zh-CN" altLang="en-US" sz="1400" dirty="0"/>
              <a:t>崔庆才 著</a:t>
            </a:r>
            <a:r>
              <a:rPr lang="zh-CN" altLang="zh-CN" sz="1400" dirty="0"/>
              <a:t>，</a:t>
            </a:r>
            <a:r>
              <a:rPr lang="zh-CN" altLang="en-US" sz="1400" dirty="0"/>
              <a:t>人民邮电出版社 </a:t>
            </a:r>
            <a:r>
              <a:rPr lang="en-US" altLang="zh-CN" sz="1400" dirty="0"/>
              <a:t>(2021.11)</a:t>
            </a:r>
          </a:p>
          <a:p>
            <a:pPr lvl="1"/>
            <a:r>
              <a:rPr lang="zh-CN" altLang="zh-CN" sz="1400" dirty="0"/>
              <a:t>《</a:t>
            </a:r>
            <a:r>
              <a:rPr lang="en-US" altLang="zh-CN" sz="1400" dirty="0"/>
              <a:t> Python</a:t>
            </a:r>
            <a:r>
              <a:rPr lang="zh-CN" altLang="en-US" sz="1400" dirty="0"/>
              <a:t>网络爬虫（</a:t>
            </a:r>
            <a:r>
              <a:rPr lang="en-US" altLang="zh-CN" sz="1400" dirty="0" err="1"/>
              <a:t>Scrapy</a:t>
            </a:r>
            <a:r>
              <a:rPr lang="zh-CN" altLang="en-US" sz="1400" dirty="0"/>
              <a:t>框架）</a:t>
            </a:r>
            <a:r>
              <a:rPr lang="zh-CN" altLang="zh-CN" sz="1400" dirty="0"/>
              <a:t>》</a:t>
            </a:r>
            <a:r>
              <a:rPr lang="zh-CN" altLang="en-US" sz="1400" dirty="0"/>
              <a:t>北京课工场教育科技有限公司 著</a:t>
            </a:r>
            <a:r>
              <a:rPr lang="en-US" altLang="zh-CN" sz="1400" dirty="0"/>
              <a:t>,</a:t>
            </a:r>
            <a:r>
              <a:rPr lang="zh-CN" altLang="en-US" sz="1400" dirty="0"/>
              <a:t>人民邮电</a:t>
            </a:r>
            <a:r>
              <a:rPr lang="zh-CN" altLang="zh-CN" sz="1400" dirty="0"/>
              <a:t>出版社</a:t>
            </a:r>
            <a:r>
              <a:rPr lang="en-US" altLang="zh-CN" sz="1400" dirty="0"/>
              <a:t>(2020.01)</a:t>
            </a:r>
            <a:endParaRPr lang="zh-CN" altLang="zh-CN" sz="1400" dirty="0"/>
          </a:p>
          <a:p>
            <a:pPr lvl="1"/>
            <a:r>
              <a:rPr lang="zh-CN" altLang="zh-CN" sz="1400" dirty="0"/>
              <a:t>《</a:t>
            </a:r>
            <a:r>
              <a:rPr lang="zh-CN" altLang="en-US" sz="1400" dirty="0"/>
              <a:t>从零开始学</a:t>
            </a:r>
            <a:r>
              <a:rPr lang="en-US" altLang="zh-CN" sz="1400" dirty="0" err="1"/>
              <a:t>Scrapy</a:t>
            </a:r>
            <a:r>
              <a:rPr lang="zh-CN" altLang="en-US" sz="1400" dirty="0"/>
              <a:t>网络爬虫（视频教学版） </a:t>
            </a:r>
            <a:r>
              <a:rPr lang="zh-CN" altLang="zh-CN" sz="1400" dirty="0"/>
              <a:t>》</a:t>
            </a:r>
            <a:r>
              <a:rPr lang="zh-CN" altLang="en-US" sz="1400" dirty="0">
                <a:hlinkClick r:id="rId3"/>
              </a:rPr>
              <a:t>张涛</a:t>
            </a:r>
            <a:r>
              <a:rPr lang="zh-CN" altLang="en-US" sz="1400" dirty="0"/>
              <a:t> 著</a:t>
            </a:r>
            <a:r>
              <a:rPr lang="en-US" altLang="zh-CN" sz="1400" dirty="0"/>
              <a:t>, </a:t>
            </a:r>
            <a:r>
              <a:rPr lang="zh-CN" altLang="en-US" sz="1400" dirty="0"/>
              <a:t>机械工业出版社</a:t>
            </a:r>
            <a:r>
              <a:rPr lang="en-US" altLang="zh-CN" sz="1400" dirty="0"/>
              <a:t>(2019.09)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1523" y="1197547"/>
            <a:ext cx="1555087" cy="2158354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61943" y="1197547"/>
            <a:ext cx="1654511" cy="2158354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5299123" y="1197610"/>
            <a:ext cx="2621232" cy="316828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课程大纲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序言</a:t>
            </a:r>
            <a:endParaRPr lang="en-US" altLang="zh-CN" dirty="0"/>
          </a:p>
          <a:p>
            <a:r>
              <a:rPr lang="zh-CN" altLang="en-US" dirty="0"/>
              <a:t>爬虫库：</a:t>
            </a:r>
            <a:endParaRPr lang="en-US" altLang="zh-CN" dirty="0"/>
          </a:p>
          <a:p>
            <a:pPr marL="934085" lvl="1" indent="-457200"/>
            <a:r>
              <a:rPr lang="en-US" altLang="zh-CN" dirty="0"/>
              <a:t>Requests</a:t>
            </a:r>
            <a:r>
              <a:rPr lang="zh-CN" altLang="en-US" dirty="0"/>
              <a:t>库、</a:t>
            </a:r>
            <a:r>
              <a:rPr lang="en-US" altLang="zh-CN" dirty="0" err="1"/>
              <a:t>Urllib</a:t>
            </a:r>
            <a:r>
              <a:rPr lang="zh-CN" altLang="en-US" dirty="0"/>
              <a:t>库、</a:t>
            </a:r>
            <a:r>
              <a:rPr lang="en-US" altLang="zh-CN" dirty="0" err="1"/>
              <a:t>Scrapy</a:t>
            </a:r>
            <a:r>
              <a:rPr lang="zh-CN" altLang="en-US" dirty="0"/>
              <a:t>框架</a:t>
            </a:r>
            <a:endParaRPr lang="en-US" altLang="zh-CN" dirty="0"/>
          </a:p>
          <a:p>
            <a:r>
              <a:rPr lang="zh-CN" altLang="en-US" dirty="0"/>
              <a:t>解析方法：</a:t>
            </a:r>
            <a:endParaRPr lang="en-US" altLang="zh-CN" dirty="0"/>
          </a:p>
          <a:p>
            <a:pPr marL="934085" lvl="1" indent="-457200"/>
            <a:r>
              <a:rPr lang="en-US" altLang="zh-CN" dirty="0" err="1"/>
              <a:t>lxml</a:t>
            </a:r>
            <a:r>
              <a:rPr lang="zh-CN" altLang="en-US" dirty="0"/>
              <a:t>、</a:t>
            </a:r>
            <a:r>
              <a:rPr lang="en-US" altLang="zh-CN" dirty="0" err="1"/>
              <a:t>beautifulSoup</a:t>
            </a:r>
            <a:r>
              <a:rPr lang="zh-CN" altLang="en-US" dirty="0"/>
              <a:t>、</a:t>
            </a:r>
            <a:r>
              <a:rPr lang="en-US" altLang="zh-CN" dirty="0"/>
              <a:t>re</a:t>
            </a:r>
          </a:p>
          <a:p>
            <a:r>
              <a:rPr lang="zh-CN" altLang="en-US" dirty="0"/>
              <a:t>存储：</a:t>
            </a:r>
            <a:endParaRPr lang="en-US" altLang="zh-CN" dirty="0"/>
          </a:p>
          <a:p>
            <a:pPr marL="934085" lvl="1" indent="-457200"/>
            <a:r>
              <a:rPr lang="en-US" altLang="zh-CN" dirty="0" err="1"/>
              <a:t>pymysql</a:t>
            </a:r>
            <a:r>
              <a:rPr lang="zh-CN" altLang="en-US" dirty="0"/>
              <a:t>、</a:t>
            </a:r>
            <a:r>
              <a:rPr lang="en-US" altLang="zh-CN" dirty="0" err="1"/>
              <a:t>pymongo</a:t>
            </a:r>
            <a:endParaRPr lang="en-US" altLang="zh-CN" dirty="0"/>
          </a:p>
          <a:p>
            <a:r>
              <a:rPr lang="zh-CN" altLang="en-US" dirty="0"/>
              <a:t>反反爬：</a:t>
            </a:r>
            <a:endParaRPr lang="en-US" altLang="zh-CN" dirty="0"/>
          </a:p>
          <a:p>
            <a:pPr lvl="1"/>
            <a:r>
              <a:rPr lang="en-US" altLang="zh-CN"/>
              <a:t>Selenium</a:t>
            </a:r>
            <a:endParaRPr lang="en-US" altLang="zh-CN" dirty="0"/>
          </a:p>
          <a:p>
            <a:pPr marL="457200" indent="-457200">
              <a:buFont typeface="+mj-lt"/>
              <a:buAutoNum type="arabicPeriod"/>
            </a:pPr>
            <a:endParaRPr lang="en-US" altLang="zh-CN" dirty="0"/>
          </a:p>
          <a:p>
            <a:pPr marL="457200" indent="-457200">
              <a:buFont typeface="+mj-lt"/>
              <a:buAutoNum type="arabicPeriod"/>
            </a:pPr>
            <a:endParaRPr lang="en-US" altLang="zh-C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序言大纲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zh-CN" altLang="en-US" dirty="0"/>
              <a:t>什么是网络爬虫</a:t>
            </a:r>
            <a:endParaRPr lang="en-US" altLang="zh-CN" dirty="0"/>
          </a:p>
          <a:p>
            <a:pPr marL="457200" indent="-457200">
              <a:buFont typeface="+mj-lt"/>
              <a:buAutoNum type="arabicPeriod"/>
            </a:pPr>
            <a:r>
              <a:rPr lang="zh-CN" altLang="en-US" dirty="0"/>
              <a:t>为什么要学习网络爬虫</a:t>
            </a:r>
            <a:endParaRPr lang="en-US" altLang="zh-CN" dirty="0"/>
          </a:p>
          <a:p>
            <a:pPr marL="457200" indent="-457200">
              <a:buFont typeface="+mj-lt"/>
              <a:buAutoNum type="arabicPeriod"/>
            </a:pPr>
            <a:r>
              <a:rPr lang="zh-CN" altLang="en-US" dirty="0"/>
              <a:t>利害</a:t>
            </a:r>
            <a:endParaRPr lang="en-US" altLang="zh-CN" dirty="0"/>
          </a:p>
          <a:p>
            <a:pPr marL="457200" indent="-457200">
              <a:buFont typeface="+mj-lt"/>
              <a:buAutoNum type="arabicPeriod"/>
            </a:pPr>
            <a:r>
              <a:rPr lang="en-US" altLang="zh-CN" dirty="0"/>
              <a:t>Web</a:t>
            </a:r>
            <a:r>
              <a:rPr lang="zh-CN" altLang="en-US" dirty="0"/>
              <a:t>基础回顾</a:t>
            </a:r>
            <a:endParaRPr lang="en-US" altLang="zh-CN" dirty="0"/>
          </a:p>
          <a:p>
            <a:pPr marL="457200" indent="-457200">
              <a:buFont typeface="+mj-lt"/>
              <a:buAutoNum type="arabicPeriod"/>
            </a:pPr>
            <a:r>
              <a:rPr lang="zh-CN" altLang="en-US" dirty="0"/>
              <a:t>进一步认识网络爬虫</a:t>
            </a:r>
            <a:endParaRPr lang="en-US" altLang="zh-CN" dirty="0"/>
          </a:p>
          <a:p>
            <a:pPr marL="457200" indent="-457200">
              <a:buFont typeface="+mj-lt"/>
              <a:buAutoNum type="arabicPeriod"/>
            </a:pPr>
            <a:r>
              <a:rPr lang="zh-CN" altLang="en-US" dirty="0"/>
              <a:t>实验环境如何搭建</a:t>
            </a:r>
            <a:endParaRPr lang="en-US" altLang="zh-CN" dirty="0"/>
          </a:p>
          <a:p>
            <a:pPr marL="457200" indent="-457200">
              <a:buFont typeface="+mj-lt"/>
              <a:buAutoNum type="arabicPeriod"/>
            </a:pPr>
            <a:endParaRPr lang="en-US" altLang="zh-CN" dirty="0"/>
          </a:p>
          <a:p>
            <a:pPr marL="457200" indent="-457200">
              <a:buFont typeface="+mj-lt"/>
              <a:buAutoNum type="arabicPeriod"/>
            </a:pPr>
            <a:endParaRPr lang="en-US" altLang="zh-CN" dirty="0"/>
          </a:p>
          <a:p>
            <a:pPr marL="457200" indent="-457200">
              <a:buFont typeface="+mj-lt"/>
              <a:buAutoNum type="arabicPeriod"/>
            </a:pPr>
            <a:endParaRPr lang="en-US" altLang="zh-C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zh-CN" altLang="en-US" dirty="0"/>
              <a:t>什么是网络爬虫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网络爬虫，又称网络蜘蛛、网络蚂蚁、网络机器人等</a:t>
            </a:r>
            <a:endParaRPr lang="en-US" altLang="zh-CN" dirty="0"/>
          </a:p>
          <a:p>
            <a:pPr lvl="1"/>
            <a:r>
              <a:rPr lang="zh-CN" altLang="en-US" dirty="0"/>
              <a:t>可以自动化浏览网络中的信息，并按照我们的需求，指定出相应的规则，获取相应的信息。</a:t>
            </a:r>
            <a:endParaRPr lang="en-US" altLang="zh-CN" dirty="0"/>
          </a:p>
          <a:p>
            <a:r>
              <a:rPr lang="zh-CN" altLang="en-US" dirty="0"/>
              <a:t>简单的来说，网络爬虫，即</a:t>
            </a:r>
            <a:r>
              <a:rPr lang="en-US" altLang="zh-CN" dirty="0"/>
              <a:t>Web Spider——</a:t>
            </a:r>
            <a:r>
              <a:rPr lang="zh-CN" altLang="en-US" dirty="0"/>
              <a:t>网络数据采集</a:t>
            </a:r>
            <a:endParaRPr lang="en-US" altLang="zh-CN" dirty="0"/>
          </a:p>
          <a:p>
            <a:r>
              <a:rPr lang="zh-CN" altLang="en-US" dirty="0"/>
              <a:t>主要任务：</a:t>
            </a:r>
            <a:endParaRPr lang="en-US" altLang="zh-CN" dirty="0"/>
          </a:p>
          <a:p>
            <a:pPr marL="934085" lvl="1" indent="-457200"/>
            <a:r>
              <a:rPr lang="zh-CN" altLang="en-US" dirty="0"/>
              <a:t>下载目标网页</a:t>
            </a:r>
            <a:endParaRPr lang="en-US" altLang="zh-CN" dirty="0"/>
          </a:p>
          <a:p>
            <a:pPr marL="934085" lvl="1" indent="-457200"/>
            <a:r>
              <a:rPr lang="zh-CN" altLang="en-US" dirty="0"/>
              <a:t>提取所需数据</a:t>
            </a:r>
            <a:endParaRPr lang="en-US" altLang="zh-CN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0542" y="3213770"/>
            <a:ext cx="3322247" cy="266429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 </a:t>
            </a:r>
            <a:r>
              <a:rPr lang="zh-CN" altLang="en-US" dirty="0"/>
              <a:t>为什么要学习网络爬虫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专业</a:t>
            </a:r>
            <a:endParaRPr lang="en-US" altLang="zh-CN" dirty="0"/>
          </a:p>
          <a:p>
            <a:pPr lvl="1"/>
            <a:r>
              <a:rPr lang="zh-CN" altLang="en-US" dirty="0"/>
              <a:t>数据</a:t>
            </a:r>
            <a:endParaRPr lang="en-US" altLang="zh-CN" dirty="0"/>
          </a:p>
          <a:p>
            <a:r>
              <a:rPr lang="zh-CN" altLang="en-US" dirty="0"/>
              <a:t>就业</a:t>
            </a:r>
            <a:endParaRPr lang="en-US" altLang="zh-CN" dirty="0"/>
          </a:p>
          <a:p>
            <a:pPr lvl="1"/>
            <a:r>
              <a:rPr lang="en-US" altLang="zh-CN" sz="1600" dirty="0">
                <a:hlinkClick r:id="rId2"/>
              </a:rPr>
              <a:t>https://search.51job.com/</a:t>
            </a:r>
            <a:endParaRPr lang="en-US" altLang="zh-CN" sz="1600" dirty="0"/>
          </a:p>
          <a:p>
            <a:pPr lvl="1"/>
            <a:r>
              <a:rPr lang="en-US" altLang="zh-CN" sz="1600" dirty="0">
                <a:hlinkClick r:id="rId3"/>
              </a:rPr>
              <a:t>https://www.liepin.com/zhaopin/</a:t>
            </a:r>
            <a:endParaRPr lang="en-US" altLang="zh-CN" sz="1600" dirty="0">
              <a:hlinkClick r:id="rId4"/>
            </a:endParaRPr>
          </a:p>
          <a:p>
            <a:pPr lvl="1"/>
            <a:r>
              <a:rPr lang="en-US" altLang="zh-CN" sz="1600" dirty="0">
                <a:hlinkClick r:id="rId5"/>
              </a:rPr>
              <a:t>https://sou.zhaopin.com/</a:t>
            </a:r>
            <a:endParaRPr lang="en-US" altLang="zh-CN" sz="1600" dirty="0"/>
          </a:p>
          <a:p>
            <a:pPr lvl="1"/>
            <a:r>
              <a:rPr lang="en-US" altLang="zh-CN" sz="1600" dirty="0">
                <a:hlinkClick r:id="rId6"/>
              </a:rPr>
              <a:t>https://www.lagou.com/</a:t>
            </a:r>
            <a:endParaRPr lang="en-US" altLang="zh-CN" sz="1600" dirty="0"/>
          </a:p>
          <a:p>
            <a:pPr lvl="1"/>
            <a:r>
              <a:rPr lang="en-US" altLang="zh-CN" sz="1600" dirty="0">
                <a:hlinkClick r:id="rId7"/>
              </a:rPr>
              <a:t>https://www.lagou.com/jobs/7516676.html?show=9d2aacfe897c4bbaabc30ba6680a3c09</a:t>
            </a:r>
            <a:endParaRPr lang="en-US" altLang="zh-CN" sz="1600" dirty="0"/>
          </a:p>
          <a:p>
            <a:r>
              <a:rPr lang="zh-CN" altLang="en-US" dirty="0"/>
              <a:t>怎么学</a:t>
            </a:r>
            <a:endParaRPr lang="en-US" altLang="zh-C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 </a:t>
            </a:r>
            <a:r>
              <a:rPr lang="zh-CN" altLang="en-US" dirty="0"/>
              <a:t>利害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友情提醒</a:t>
            </a:r>
            <a:endParaRPr lang="en-US" altLang="zh-CN" dirty="0"/>
          </a:p>
          <a:p>
            <a:pPr lvl="1"/>
            <a:r>
              <a:rPr lang="zh-CN" altLang="en-US" dirty="0">
                <a:hlinkClick r:id="rId2"/>
              </a:rPr>
              <a:t>只因写了一段爬虫，公司</a:t>
            </a:r>
            <a:r>
              <a:rPr lang="en-US" altLang="zh-CN" dirty="0">
                <a:hlinkClick r:id="rId2"/>
              </a:rPr>
              <a:t>200</a:t>
            </a:r>
            <a:r>
              <a:rPr lang="zh-CN" altLang="en-US" dirty="0">
                <a:hlinkClick r:id="rId2"/>
              </a:rPr>
              <a:t>多人被抓</a:t>
            </a:r>
            <a:endParaRPr lang="zh-CN" altLang="en-US" dirty="0"/>
          </a:p>
          <a:p>
            <a:pPr lvl="1"/>
            <a:r>
              <a:rPr lang="zh-CN" altLang="en-US" dirty="0">
                <a:hlinkClick r:id="rId3"/>
              </a:rPr>
              <a:t>首宗爬虫软件案审结</a:t>
            </a:r>
            <a:endParaRPr lang="zh-CN" altLang="en-US" dirty="0"/>
          </a:p>
          <a:p>
            <a:pPr lvl="1"/>
            <a:r>
              <a:rPr lang="zh-CN" altLang="en-US" dirty="0">
                <a:hlinkClick r:id="rId4"/>
              </a:rPr>
              <a:t>网络爬虫的法律规制</a:t>
            </a:r>
            <a:endParaRPr lang="zh-CN" altLang="en-US" dirty="0"/>
          </a:p>
          <a:p>
            <a:pPr lvl="1"/>
            <a:r>
              <a:rPr lang="zh-CN" altLang="en-US" b="1" dirty="0"/>
              <a:t>我们在写程序时候，要时刻根据</a:t>
            </a:r>
            <a:r>
              <a:rPr lang="zh-CN" altLang="en-US" b="1" dirty="0">
                <a:solidFill>
                  <a:srgbClr val="FF0000"/>
                </a:solidFill>
              </a:rPr>
              <a:t>法律法规</a:t>
            </a:r>
            <a:r>
              <a:rPr lang="zh-CN" altLang="en-US" b="1" dirty="0"/>
              <a:t>来指导自己的行为，避免面向</a:t>
            </a:r>
            <a:r>
              <a:rPr lang="zh-CN" altLang="en-US" b="1" u="sng" dirty="0">
                <a:solidFill>
                  <a:srgbClr val="FF0000"/>
                </a:solidFill>
              </a:rPr>
              <a:t>监狱</a:t>
            </a:r>
            <a:r>
              <a:rPr lang="zh-CN" altLang="en-US" b="1" dirty="0"/>
              <a:t>编程。</a:t>
            </a:r>
            <a:endParaRPr lang="en-US" altLang="zh-CN" b="1" dirty="0"/>
          </a:p>
          <a:p>
            <a:endParaRPr lang="en-US" altLang="zh-CN" dirty="0"/>
          </a:p>
          <a:p>
            <a:endParaRPr lang="en-US" altLang="zh-C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 Web</a:t>
            </a:r>
            <a:r>
              <a:rPr lang="zh-CN" altLang="en-US" dirty="0"/>
              <a:t>基础回顾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网络访问知识回顾</a:t>
            </a:r>
            <a:endParaRPr lang="en-US" altLang="zh-CN" dirty="0"/>
          </a:p>
          <a:p>
            <a:pPr marL="887730" lvl="1" indent="-342900">
              <a:buFont typeface="+mj-lt"/>
              <a:buAutoNum type="arabicPeriod"/>
            </a:pPr>
            <a:r>
              <a:rPr lang="zh-CN" altLang="en-US" dirty="0"/>
              <a:t>浏览器</a:t>
            </a:r>
            <a:r>
              <a:rPr lang="en-US" altLang="zh-CN" dirty="0"/>
              <a:t>-&gt;URL</a:t>
            </a:r>
            <a:r>
              <a:rPr lang="zh-CN" altLang="en-US" dirty="0"/>
              <a:t>地址</a:t>
            </a:r>
            <a:r>
              <a:rPr lang="en-US" altLang="zh-CN" dirty="0"/>
              <a:t>-&gt;</a:t>
            </a:r>
            <a:r>
              <a:rPr lang="zh-CN" altLang="en-US" dirty="0"/>
              <a:t>向</a:t>
            </a:r>
            <a:r>
              <a:rPr lang="en-US" altLang="zh-CN" dirty="0"/>
              <a:t>Web</a:t>
            </a:r>
            <a:r>
              <a:rPr lang="zh-CN" altLang="en-US" dirty="0"/>
              <a:t>服务器发请求</a:t>
            </a:r>
          </a:p>
          <a:p>
            <a:pPr marL="887730" lvl="1" indent="-342900">
              <a:buFont typeface="+mj-lt"/>
              <a:buAutoNum type="arabicPeriod"/>
            </a:pPr>
            <a:r>
              <a:rPr lang="en-US" altLang="zh-CN" dirty="0"/>
              <a:t>Web</a:t>
            </a:r>
            <a:r>
              <a:rPr lang="zh-CN" altLang="en-US" dirty="0"/>
              <a:t>服务器</a:t>
            </a:r>
            <a:r>
              <a:rPr lang="en-US" altLang="zh-CN" dirty="0"/>
              <a:t>-&gt;URL</a:t>
            </a:r>
            <a:r>
              <a:rPr lang="zh-CN" altLang="en-US" dirty="0"/>
              <a:t>地址转文件全名</a:t>
            </a:r>
            <a:r>
              <a:rPr lang="en-US" altLang="zh-CN" dirty="0"/>
              <a:t>-&gt;</a:t>
            </a:r>
            <a:r>
              <a:rPr lang="zh-CN" altLang="en-US" dirty="0"/>
              <a:t>找文件</a:t>
            </a:r>
          </a:p>
          <a:p>
            <a:pPr marL="887730" lvl="1" indent="-342900">
              <a:buFont typeface="+mj-lt"/>
              <a:buAutoNum type="arabicPeriod"/>
            </a:pPr>
            <a:r>
              <a:rPr lang="zh-CN" altLang="en-US" dirty="0"/>
              <a:t>文件解析</a:t>
            </a:r>
            <a:endParaRPr lang="en-US" altLang="zh-CN" dirty="0"/>
          </a:p>
          <a:p>
            <a:pPr marL="1363980" lvl="2" indent="-342900"/>
            <a:r>
              <a:rPr lang="zh-CN" altLang="en-US" dirty="0"/>
              <a:t>静态网页</a:t>
            </a:r>
            <a:r>
              <a:rPr lang="en-US" altLang="zh-CN" dirty="0"/>
              <a:t>-&gt;</a:t>
            </a:r>
            <a:r>
              <a:rPr lang="zh-CN" altLang="en-US" dirty="0"/>
              <a:t>查找文档</a:t>
            </a:r>
            <a:r>
              <a:rPr lang="en-US" altLang="zh-CN" dirty="0"/>
              <a:t>-&gt;</a:t>
            </a:r>
            <a:r>
              <a:rPr lang="zh-CN" altLang="en-US" dirty="0"/>
              <a:t>浏览器；</a:t>
            </a:r>
            <a:endParaRPr lang="en-US" altLang="zh-CN" dirty="0"/>
          </a:p>
          <a:p>
            <a:pPr marL="1363980" lvl="2" indent="-342900"/>
            <a:r>
              <a:rPr lang="zh-CN" altLang="en-US" dirty="0"/>
              <a:t>包含</a:t>
            </a:r>
            <a:r>
              <a:rPr lang="en-US" altLang="zh-CN" dirty="0"/>
              <a:t>PHP</a:t>
            </a:r>
            <a:r>
              <a:rPr lang="zh-CN" altLang="en-US" dirty="0"/>
              <a:t>等程序</a:t>
            </a:r>
            <a:r>
              <a:rPr lang="en-US" altLang="zh-CN" dirty="0"/>
              <a:t>-&gt;</a:t>
            </a:r>
            <a:r>
              <a:rPr lang="zh-CN" altLang="en-US" dirty="0"/>
              <a:t>服务器运行程序</a:t>
            </a:r>
            <a:r>
              <a:rPr lang="en-US" altLang="zh-CN" dirty="0"/>
              <a:t>-&gt;</a:t>
            </a:r>
            <a:r>
              <a:rPr lang="zh-CN" altLang="en-US" dirty="0"/>
              <a:t>浏览器</a:t>
            </a:r>
            <a:endParaRPr lang="en-US" altLang="zh-CN" dirty="0"/>
          </a:p>
          <a:p>
            <a:pPr marL="1363980" lvl="2" indent="-342900"/>
            <a:r>
              <a:rPr lang="zh-CN" altLang="en-US" dirty="0"/>
              <a:t>程序访问数据库</a:t>
            </a:r>
            <a:r>
              <a:rPr lang="en-US" altLang="zh-CN" dirty="0"/>
              <a:t>-&gt;</a:t>
            </a:r>
            <a:r>
              <a:rPr lang="zh-CN" altLang="en-US" dirty="0"/>
              <a:t>数据库执行操作</a:t>
            </a:r>
          </a:p>
          <a:p>
            <a:pPr marL="887730" lvl="1" indent="-342900">
              <a:buFont typeface="+mj-lt"/>
              <a:buAutoNum type="arabicPeriod"/>
            </a:pPr>
            <a:r>
              <a:rPr lang="zh-CN" altLang="en-US" dirty="0"/>
              <a:t>数据库</a:t>
            </a:r>
            <a:r>
              <a:rPr lang="en-US" altLang="zh-CN" dirty="0"/>
              <a:t>-&gt;web</a:t>
            </a:r>
            <a:r>
              <a:rPr lang="zh-CN" altLang="en-US" dirty="0"/>
              <a:t>服务器</a:t>
            </a:r>
            <a:r>
              <a:rPr lang="en-US" altLang="zh-CN" dirty="0"/>
              <a:t>-&gt;</a:t>
            </a:r>
            <a:r>
              <a:rPr lang="zh-CN" altLang="en-US" dirty="0"/>
              <a:t>数据嵌入</a:t>
            </a:r>
            <a:r>
              <a:rPr lang="en-US" altLang="zh-CN" dirty="0"/>
              <a:t>HTML-&gt;</a:t>
            </a:r>
            <a:r>
              <a:rPr lang="zh-CN" altLang="en-US" dirty="0"/>
              <a:t>浏览器。</a:t>
            </a:r>
          </a:p>
          <a:p>
            <a:pPr marL="887730" lvl="1" indent="-342900">
              <a:buFont typeface="+mj-lt"/>
              <a:buAutoNum type="arabicPeriod"/>
            </a:pPr>
            <a:r>
              <a:rPr lang="zh-CN" altLang="en-US" dirty="0"/>
              <a:t>浏览器解释</a:t>
            </a:r>
            <a:r>
              <a:rPr lang="en-US" altLang="zh-CN" dirty="0"/>
              <a:t>HTML-&gt;</a:t>
            </a:r>
            <a:r>
              <a:rPr lang="zh-CN" altLang="en-US" dirty="0"/>
              <a:t>展示结果</a:t>
            </a:r>
          </a:p>
          <a:p>
            <a:pPr lvl="1"/>
            <a:endParaRPr lang="en-US" altLang="zh-CN" dirty="0"/>
          </a:p>
          <a:p>
            <a:endParaRPr lang="en-US" altLang="zh-CN" dirty="0"/>
          </a:p>
        </p:txBody>
      </p:sp>
      <p:pic>
        <p:nvPicPr>
          <p:cNvPr id="4" name="Picture 25" descr="tu1-3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8414" y="1257820"/>
            <a:ext cx="5360987" cy="462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 Web</a:t>
            </a:r>
            <a:r>
              <a:rPr lang="zh-CN" altLang="en-US" dirty="0"/>
              <a:t>基础回顾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Web</a:t>
            </a:r>
            <a:r>
              <a:rPr lang="zh-CN" altLang="en-US" dirty="0"/>
              <a:t>基础</a:t>
            </a:r>
            <a:endParaRPr lang="en-US" altLang="zh-CN" dirty="0"/>
          </a:p>
          <a:p>
            <a:pPr lvl="1"/>
            <a:r>
              <a:rPr lang="en-US" altLang="zh-CN" dirty="0">
                <a:solidFill>
                  <a:srgbClr val="FF0000"/>
                </a:solidFill>
              </a:rPr>
              <a:t>HTML</a:t>
            </a:r>
            <a:r>
              <a:rPr lang="zh-CN" altLang="en-US" dirty="0"/>
              <a:t>是用来描述网页的一种语言，其全称叫作</a:t>
            </a:r>
            <a:r>
              <a:rPr lang="en-US" altLang="zh-CN" dirty="0"/>
              <a:t>Hyper Text Markup Language</a:t>
            </a:r>
            <a:r>
              <a:rPr lang="zh-CN" altLang="en-US" dirty="0"/>
              <a:t>，即超文本标记语言。网页包括文字、按钮、图片和视频等各种复杂的元素，其基础架构就是</a:t>
            </a:r>
            <a:r>
              <a:rPr lang="en-US" altLang="zh-CN" dirty="0"/>
              <a:t>HTML</a:t>
            </a:r>
            <a:r>
              <a:rPr lang="zh-CN" altLang="en-US" dirty="0"/>
              <a:t>。不同类型的文字通过不同类型的标签来表示，如图片用</a:t>
            </a:r>
            <a:r>
              <a:rPr lang="en-US" altLang="zh-CN" dirty="0" err="1"/>
              <a:t>img</a:t>
            </a:r>
            <a:r>
              <a:rPr lang="zh-CN" altLang="en-US" dirty="0"/>
              <a:t>标签表示，视频用</a:t>
            </a:r>
            <a:r>
              <a:rPr lang="en-US" altLang="zh-CN" dirty="0"/>
              <a:t>video</a:t>
            </a:r>
            <a:r>
              <a:rPr lang="zh-CN" altLang="en-US" dirty="0"/>
              <a:t>标签表示，段落用</a:t>
            </a:r>
            <a:r>
              <a:rPr lang="en-US" altLang="zh-CN" dirty="0"/>
              <a:t>p</a:t>
            </a:r>
            <a:r>
              <a:rPr lang="zh-CN" altLang="en-US" dirty="0"/>
              <a:t>标签表示，它们之间的布局又常通过布局标签</a:t>
            </a:r>
            <a:r>
              <a:rPr lang="en-US" altLang="zh-CN" dirty="0"/>
              <a:t>div</a:t>
            </a:r>
            <a:r>
              <a:rPr lang="zh-CN" altLang="en-US" dirty="0"/>
              <a:t>嵌套组合而成，各种标签通过不同的排列和嵌套才形成了网页的框架。</a:t>
            </a:r>
          </a:p>
          <a:p>
            <a:pPr lvl="1"/>
            <a:r>
              <a:rPr lang="en-US" altLang="zh-CN" dirty="0">
                <a:solidFill>
                  <a:srgbClr val="FF0000"/>
                </a:solidFill>
              </a:rPr>
              <a:t>CSS</a:t>
            </a:r>
            <a:r>
              <a:rPr lang="zh-CN" altLang="en-US" dirty="0"/>
              <a:t>，全称叫作</a:t>
            </a:r>
            <a:r>
              <a:rPr lang="en-US" altLang="zh-CN" dirty="0"/>
              <a:t>Cascading Style Sheets</a:t>
            </a:r>
            <a:r>
              <a:rPr lang="zh-CN" altLang="en-US" dirty="0"/>
              <a:t>，即层叠样式表。“层叠”是指当在</a:t>
            </a:r>
            <a:r>
              <a:rPr lang="en-US" altLang="zh-CN" dirty="0"/>
              <a:t>HTML</a:t>
            </a:r>
            <a:r>
              <a:rPr lang="zh-CN" altLang="en-US" dirty="0"/>
              <a:t>中引用了数个样式文件，并且样式发生冲突时，浏览器能依据层叠顺序处理。“样式”指网页中文字大小、颜色、元素间距、排列等格式。</a:t>
            </a:r>
          </a:p>
          <a:p>
            <a:pPr lvl="1"/>
            <a:r>
              <a:rPr lang="en-US" altLang="zh-CN" dirty="0">
                <a:solidFill>
                  <a:srgbClr val="FF0000"/>
                </a:solidFill>
              </a:rPr>
              <a:t>JavaScript</a:t>
            </a:r>
            <a:r>
              <a:rPr lang="zh-CN" altLang="en-US" dirty="0"/>
              <a:t>，简称</a:t>
            </a:r>
            <a:r>
              <a:rPr lang="en-US" altLang="zh-CN" dirty="0"/>
              <a:t>JS</a:t>
            </a:r>
            <a:r>
              <a:rPr lang="zh-CN" altLang="en-US" dirty="0"/>
              <a:t>，是一种脚本语言。</a:t>
            </a:r>
            <a:r>
              <a:rPr lang="en-US" altLang="zh-CN" dirty="0"/>
              <a:t>HTML</a:t>
            </a:r>
            <a:r>
              <a:rPr lang="zh-CN" altLang="en-US" dirty="0"/>
              <a:t>和</a:t>
            </a:r>
            <a:r>
              <a:rPr lang="en-US" altLang="zh-CN" dirty="0"/>
              <a:t>CSS</a:t>
            </a:r>
            <a:r>
              <a:rPr lang="zh-CN" altLang="en-US" dirty="0"/>
              <a:t>配合使用，提供给用户的只是一种静态信息，缺乏交互性。我们在网页里可能会看到一些交互和动画效果，如下载进度条、提示框、轮播图等，这通常就是</a:t>
            </a:r>
            <a:r>
              <a:rPr lang="en-US" altLang="zh-CN" dirty="0"/>
              <a:t>JavaScript</a:t>
            </a:r>
            <a:r>
              <a:rPr lang="zh-CN" altLang="en-US" dirty="0"/>
              <a:t>的功劳。它的出现使得用户与信息之间不只是一种浏览与显示的关系，而是实现了一种实时、动态、交互的页面功能。</a:t>
            </a:r>
            <a:endParaRPr lang="en-US" altLang="zh-C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 Web</a:t>
            </a:r>
            <a:r>
              <a:rPr lang="zh-CN" altLang="en-US" dirty="0"/>
              <a:t>基础回顾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网络爬虫抓取过程可以理解为模拟浏览器操作的过程。</a:t>
            </a:r>
          </a:p>
          <a:p>
            <a:pPr lvl="1"/>
            <a:r>
              <a:rPr lang="zh-CN" altLang="en-US" dirty="0"/>
              <a:t>浏览器的主要功能是向服务器发出请求，在浏览器窗口中展示您选择的网络资源</a:t>
            </a:r>
          </a:p>
          <a:p>
            <a:pPr lvl="1"/>
            <a:r>
              <a:rPr lang="zh-CN" altLang="en-US" dirty="0"/>
              <a:t>浏览器分析</a:t>
            </a:r>
            <a:r>
              <a:rPr lang="en-US" altLang="zh-CN" dirty="0"/>
              <a:t>Response</a:t>
            </a:r>
            <a:r>
              <a:rPr lang="zh-CN" altLang="en-US" dirty="0"/>
              <a:t>中的 </a:t>
            </a:r>
            <a:r>
              <a:rPr lang="en-US" altLang="zh-CN" dirty="0"/>
              <a:t>HTML</a:t>
            </a:r>
            <a:r>
              <a:rPr lang="zh-CN" altLang="en-US" dirty="0"/>
              <a:t>，发现其中引用了很多其他文件，比如</a:t>
            </a:r>
            <a:r>
              <a:rPr lang="en-US" altLang="zh-CN" dirty="0"/>
              <a:t>Images</a:t>
            </a:r>
            <a:r>
              <a:rPr lang="zh-CN" altLang="en-US" dirty="0"/>
              <a:t>文件，</a:t>
            </a:r>
            <a:r>
              <a:rPr lang="en-US" altLang="zh-CN" dirty="0"/>
              <a:t>CSS</a:t>
            </a:r>
            <a:r>
              <a:rPr lang="zh-CN" altLang="en-US" dirty="0"/>
              <a:t>文件，</a:t>
            </a:r>
            <a:r>
              <a:rPr lang="en-US" altLang="zh-CN" dirty="0"/>
              <a:t>JS</a:t>
            </a:r>
            <a:r>
              <a:rPr lang="zh-CN" altLang="en-US" dirty="0"/>
              <a:t>文件。 浏览器会自动再次发送</a:t>
            </a:r>
            <a:r>
              <a:rPr lang="en-US" altLang="zh-CN" dirty="0"/>
              <a:t>Request</a:t>
            </a:r>
            <a:r>
              <a:rPr lang="zh-CN" altLang="en-US" dirty="0"/>
              <a:t>去获取图片，</a:t>
            </a:r>
            <a:r>
              <a:rPr lang="en-US" altLang="zh-CN" dirty="0"/>
              <a:t>CSS</a:t>
            </a:r>
            <a:r>
              <a:rPr lang="zh-CN" altLang="en-US" dirty="0"/>
              <a:t>文件，或者</a:t>
            </a:r>
            <a:r>
              <a:rPr lang="en-US" altLang="zh-CN" dirty="0"/>
              <a:t>JS</a:t>
            </a:r>
            <a:r>
              <a:rPr lang="zh-CN" altLang="en-US" dirty="0"/>
              <a:t>文件等。</a:t>
            </a:r>
          </a:p>
          <a:p>
            <a:r>
              <a:rPr lang="zh-CN" altLang="en-US" dirty="0"/>
              <a:t>当所有的文件都下载成功后，网页会根据</a:t>
            </a:r>
            <a:r>
              <a:rPr lang="en-US" altLang="zh-CN" dirty="0"/>
              <a:t>HTML</a:t>
            </a:r>
            <a:r>
              <a:rPr lang="zh-CN" altLang="en-US" dirty="0"/>
              <a:t>语法结构，完整的显示出来了</a:t>
            </a:r>
            <a:endParaRPr lang="en-US" altLang="zh-CN" dirty="0"/>
          </a:p>
        </p:txBody>
      </p:sp>
      <p:grpSp>
        <p:nvGrpSpPr>
          <p:cNvPr id="4" name="组合 3"/>
          <p:cNvGrpSpPr/>
          <p:nvPr/>
        </p:nvGrpSpPr>
        <p:grpSpPr>
          <a:xfrm>
            <a:off x="3250854" y="3645818"/>
            <a:ext cx="5658213" cy="2502030"/>
            <a:chOff x="1988343" y="2066211"/>
            <a:chExt cx="8228013" cy="3725853"/>
          </a:xfrm>
        </p:grpSpPr>
        <p:grpSp>
          <p:nvGrpSpPr>
            <p:cNvPr id="5" name="组合 4"/>
            <p:cNvGrpSpPr/>
            <p:nvPr/>
          </p:nvGrpSpPr>
          <p:grpSpPr>
            <a:xfrm>
              <a:off x="1988343" y="2066211"/>
              <a:ext cx="8228013" cy="3725853"/>
              <a:chOff x="1988343" y="2066211"/>
              <a:chExt cx="8228013" cy="3725853"/>
            </a:xfrm>
          </p:grpSpPr>
          <p:pic>
            <p:nvPicPr>
              <p:cNvPr id="7" name="Picture 2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88343" y="2066211"/>
                <a:ext cx="8228013" cy="36290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8" name="图片 7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925722" y="3510558"/>
                <a:ext cx="3290634" cy="2281506"/>
              </a:xfrm>
              <a:prstGeom prst="rect">
                <a:avLst/>
              </a:prstGeom>
            </p:spPr>
          </p:pic>
        </p:grpSp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988343" y="2076111"/>
              <a:ext cx="3105895" cy="197685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 </a:t>
            </a:r>
            <a:r>
              <a:rPr lang="zh-CN" altLang="en-US" dirty="0"/>
              <a:t>进一步认识网络爬虫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搜索引擎与爬虫</a:t>
            </a:r>
          </a:p>
          <a:p>
            <a:pPr lvl="1"/>
            <a:r>
              <a:rPr lang="zh-CN" altLang="en-US" dirty="0"/>
              <a:t>搜索引擎离不开爬虫，比如百度的搜索引擎爬虫叫作百度蜘蛛（</a:t>
            </a:r>
            <a:r>
              <a:rPr lang="en-US" altLang="zh-CN" dirty="0" err="1"/>
              <a:t>BaiduSpider</a:t>
            </a:r>
            <a:r>
              <a:rPr lang="zh-CN" altLang="en-US" dirty="0"/>
              <a:t>）。百度蜘蛛每天会在海量的互联网信息中进行爬取，爬取优质信息并收录，当用户在百度搜索引擎上检索对应关键词是，百度会对其关键词进行分析处理，并从收录的网页中找出相关的网页，按照一定的排名规则进行排序并将结果展示给用户</a:t>
            </a:r>
          </a:p>
          <a:p>
            <a:pPr lvl="1"/>
            <a:r>
              <a:rPr lang="zh-CN" altLang="en-US" dirty="0"/>
              <a:t>那么，如何覆盖互联网中更多的优质网页，又如何筛选这些重复的页面？</a:t>
            </a:r>
            <a:r>
              <a:rPr lang="en-US" altLang="zh-CN" dirty="0"/>
              <a:t>——</a:t>
            </a:r>
            <a:r>
              <a:rPr lang="zh-CN" altLang="en-US" dirty="0"/>
              <a:t>这些都是由百度蜘蛛爬虫的算法所决定的。采用不同的算法，爬虫的运行效率会不同，爬取结果也会有所差异。所以我们在研究爬虫的时候，不仅仅要了解爬虫是如何实现，还需要知道一些常见的爬虫算法</a:t>
            </a:r>
            <a:endParaRPr lang="en-US" altLang="zh-CN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 </a:t>
            </a:r>
            <a:r>
              <a:rPr lang="zh-CN" altLang="en-US" dirty="0"/>
              <a:t>进一步认识网络爬虫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网络爬虫的组成</a:t>
            </a:r>
          </a:p>
          <a:p>
            <a:endParaRPr lang="en-US" alt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8054" y="2151240"/>
            <a:ext cx="4819374" cy="351080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 </a:t>
            </a:r>
            <a:r>
              <a:rPr lang="zh-CN" altLang="en-US" dirty="0"/>
              <a:t>进一步认识网络爬虫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0234" y="1197546"/>
            <a:ext cx="11180747" cy="5041187"/>
          </a:xfrm>
        </p:spPr>
        <p:txBody>
          <a:bodyPr/>
          <a:lstStyle/>
          <a:p>
            <a:r>
              <a:rPr lang="zh-CN" altLang="en-US" dirty="0"/>
              <a:t>爬虫类型</a:t>
            </a:r>
          </a:p>
          <a:p>
            <a:pPr lvl="1"/>
            <a:r>
              <a:rPr lang="zh-CN" altLang="en-US" dirty="0"/>
              <a:t>通用爬虫</a:t>
            </a:r>
          </a:p>
          <a:p>
            <a:pPr lvl="2"/>
            <a:r>
              <a:rPr lang="zh-CN" altLang="en-US" dirty="0"/>
              <a:t>通用网络爬虫是捜索引擎抓取系统（</a:t>
            </a:r>
            <a:r>
              <a:rPr lang="en-US" altLang="zh-CN" dirty="0"/>
              <a:t>Baidu</a:t>
            </a:r>
            <a:r>
              <a:rPr lang="zh-CN" altLang="en-US" dirty="0"/>
              <a:t>、</a:t>
            </a:r>
            <a:r>
              <a:rPr lang="en-US" altLang="zh-CN" dirty="0"/>
              <a:t>Google</a:t>
            </a:r>
            <a:r>
              <a:rPr lang="zh-CN" altLang="en-US" dirty="0"/>
              <a:t>、</a:t>
            </a:r>
            <a:r>
              <a:rPr lang="en-US" altLang="zh-CN" dirty="0"/>
              <a:t>Bing</a:t>
            </a:r>
            <a:r>
              <a:rPr lang="zh-CN" altLang="en-US" dirty="0"/>
              <a:t>等）的重要组成部分。主要目的是将互联网上的</a:t>
            </a:r>
          </a:p>
          <a:p>
            <a:pPr lvl="2"/>
            <a:r>
              <a:rPr lang="zh-CN" altLang="en-US" dirty="0"/>
              <a:t>网页下载到本地，形成一个互联网内容的镜像备份。</a:t>
            </a:r>
          </a:p>
          <a:p>
            <a:pPr lvl="1"/>
            <a:r>
              <a:rPr lang="zh-CN" altLang="en-US" dirty="0"/>
              <a:t>聚焦爬虫</a:t>
            </a:r>
          </a:p>
          <a:p>
            <a:pPr lvl="2"/>
            <a:r>
              <a:rPr lang="zh-CN" altLang="en-US" dirty="0"/>
              <a:t>聚焦爬虫，是”面向特定主题需求”的一种网络爬虫程序，它与通用搜索引擎爬虫的区别在于： 聚焦爬虫在实施网页抓取时会对内容进行处理筛选，尽量保证只抓取与需求相关的网页信息。</a:t>
            </a:r>
          </a:p>
          <a:p>
            <a:pPr lvl="1"/>
            <a:r>
              <a:rPr lang="zh-CN" altLang="en-US" dirty="0"/>
              <a:t>增量式爬虫</a:t>
            </a:r>
          </a:p>
          <a:p>
            <a:pPr lvl="2"/>
            <a:r>
              <a:rPr lang="zh-CN" altLang="en-US" dirty="0"/>
              <a:t>所谓增量式，对应着增量式更新。增量式更新指的是在更新的时候只更新改变的地方，而未改变的地方则不更新。</a:t>
            </a:r>
          </a:p>
          <a:p>
            <a:pPr lvl="2"/>
            <a:r>
              <a:rPr lang="zh-CN" altLang="en-US" dirty="0"/>
              <a:t>所以增量式爬虫技术在爬取网页的过程中，只爬取内容发生变化的网页或是新产生的网页，对未发生内容变化的网页，则不会爬取</a:t>
            </a:r>
            <a:endParaRPr lang="en-US" altLang="zh-CN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 </a:t>
            </a:r>
            <a:r>
              <a:rPr lang="zh-CN" altLang="en-US" dirty="0"/>
              <a:t>进一步认识网络爬虫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0234" y="1197546"/>
            <a:ext cx="11036732" cy="5041187"/>
          </a:xfrm>
        </p:spPr>
        <p:txBody>
          <a:bodyPr/>
          <a:lstStyle/>
          <a:p>
            <a:r>
              <a:rPr lang="zh-CN" altLang="en-US" dirty="0"/>
              <a:t>通用爬虫</a:t>
            </a:r>
          </a:p>
          <a:p>
            <a:pPr lvl="1"/>
            <a:r>
              <a:rPr lang="zh-CN" altLang="en-US" dirty="0"/>
              <a:t>通用网络爬虫从互联网中搜集网页，采集信息，这些网页信息用于为搜索引擎建立索引从而提供支持，它决定着整个引擎系统的内容是否丰富，信息是否即时，因此其性能的优劣直接影响着搜索引擎的效果。</a:t>
            </a:r>
          </a:p>
          <a:p>
            <a:pPr lvl="1"/>
            <a:r>
              <a:rPr lang="zh-CN" altLang="en-US" dirty="0"/>
              <a:t>第一步：抓取网页</a:t>
            </a:r>
          </a:p>
          <a:p>
            <a:pPr lvl="2"/>
            <a:r>
              <a:rPr lang="zh-CN" altLang="en-US" dirty="0"/>
              <a:t>搜索引擎网络爬虫的基本工作流程如下：</a:t>
            </a:r>
          </a:p>
          <a:p>
            <a:pPr lvl="2"/>
            <a:r>
              <a:rPr lang="zh-CN" altLang="en-US" dirty="0"/>
              <a:t>首先选取一部分的种子</a:t>
            </a:r>
            <a:r>
              <a:rPr lang="en-US" altLang="zh-CN" dirty="0"/>
              <a:t>URL</a:t>
            </a:r>
            <a:r>
              <a:rPr lang="zh-CN" altLang="en-US" dirty="0"/>
              <a:t>，将这些</a:t>
            </a:r>
            <a:r>
              <a:rPr lang="en-US" altLang="zh-CN" dirty="0"/>
              <a:t>URL</a:t>
            </a:r>
            <a:r>
              <a:rPr lang="zh-CN" altLang="en-US" dirty="0"/>
              <a:t>放入待抓取</a:t>
            </a:r>
            <a:r>
              <a:rPr lang="en-US" altLang="zh-CN" dirty="0"/>
              <a:t>URL</a:t>
            </a:r>
            <a:r>
              <a:rPr lang="zh-CN" altLang="en-US" dirty="0"/>
              <a:t>队列；</a:t>
            </a:r>
          </a:p>
          <a:p>
            <a:pPr lvl="2"/>
            <a:r>
              <a:rPr lang="zh-CN" altLang="en-US" dirty="0"/>
              <a:t>取出待抓取</a:t>
            </a:r>
            <a:r>
              <a:rPr lang="en-US" altLang="zh-CN" dirty="0"/>
              <a:t>URL</a:t>
            </a:r>
            <a:r>
              <a:rPr lang="zh-CN" altLang="en-US" dirty="0"/>
              <a:t>，解析</a:t>
            </a:r>
            <a:r>
              <a:rPr lang="en-US" altLang="zh-CN" dirty="0"/>
              <a:t>DNS</a:t>
            </a:r>
            <a:r>
              <a:rPr lang="zh-CN" altLang="en-US" dirty="0"/>
              <a:t>得到主机的</a:t>
            </a:r>
            <a:r>
              <a:rPr lang="en-US" altLang="zh-CN" dirty="0"/>
              <a:t>IP</a:t>
            </a:r>
            <a:r>
              <a:rPr lang="zh-CN" altLang="en-US" dirty="0"/>
              <a:t>，并将</a:t>
            </a:r>
            <a:r>
              <a:rPr lang="en-US" altLang="zh-CN" dirty="0"/>
              <a:t>URL</a:t>
            </a:r>
            <a:r>
              <a:rPr lang="zh-CN" altLang="en-US" dirty="0"/>
              <a:t>对应的网页下载下来，存储进已下载网页库中，并且将这些</a:t>
            </a:r>
            <a:r>
              <a:rPr lang="en-US" altLang="zh-CN" dirty="0"/>
              <a:t>URL</a:t>
            </a:r>
            <a:r>
              <a:rPr lang="zh-CN" altLang="en-US" dirty="0"/>
              <a:t>放进已抓取</a:t>
            </a:r>
            <a:r>
              <a:rPr lang="en-US" altLang="zh-CN" dirty="0"/>
              <a:t>URL</a:t>
            </a:r>
            <a:r>
              <a:rPr lang="zh-CN" altLang="en-US" dirty="0"/>
              <a:t>队列。</a:t>
            </a:r>
          </a:p>
          <a:p>
            <a:pPr lvl="2"/>
            <a:r>
              <a:rPr lang="zh-CN" altLang="en-US" dirty="0"/>
              <a:t>分析已抓取</a:t>
            </a:r>
            <a:r>
              <a:rPr lang="en-US" altLang="zh-CN" dirty="0"/>
              <a:t>URL</a:t>
            </a:r>
            <a:r>
              <a:rPr lang="zh-CN" altLang="en-US" dirty="0"/>
              <a:t>队列中的</a:t>
            </a:r>
            <a:r>
              <a:rPr lang="en-US" altLang="zh-CN" dirty="0"/>
              <a:t>URL</a:t>
            </a:r>
            <a:r>
              <a:rPr lang="zh-CN" altLang="en-US" dirty="0"/>
              <a:t>，分析其中的其他</a:t>
            </a:r>
            <a:r>
              <a:rPr lang="en-US" altLang="zh-CN" dirty="0"/>
              <a:t>URL</a:t>
            </a:r>
            <a:r>
              <a:rPr lang="zh-CN" altLang="en-US" dirty="0"/>
              <a:t>，并且将</a:t>
            </a:r>
            <a:r>
              <a:rPr lang="en-US" altLang="zh-CN" dirty="0"/>
              <a:t>URL</a:t>
            </a:r>
            <a:r>
              <a:rPr lang="zh-CN" altLang="en-US" dirty="0"/>
              <a:t>放入待抓取</a:t>
            </a:r>
            <a:r>
              <a:rPr lang="en-US" altLang="zh-CN" dirty="0"/>
              <a:t>URL</a:t>
            </a:r>
            <a:r>
              <a:rPr lang="zh-CN" altLang="en-US" dirty="0"/>
              <a:t>队列，从而进入下一个循环</a:t>
            </a:r>
            <a:r>
              <a:rPr lang="en-US" altLang="zh-CN" dirty="0"/>
              <a:t>…</a:t>
            </a:r>
          </a:p>
          <a:p>
            <a:endParaRPr lang="en-US" altLang="zh-CN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 </a:t>
            </a:r>
            <a:r>
              <a:rPr lang="zh-CN" altLang="en-US" dirty="0"/>
              <a:t>进一步认识网络爬虫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0234" y="1197546"/>
            <a:ext cx="11252755" cy="5041187"/>
          </a:xfrm>
        </p:spPr>
        <p:txBody>
          <a:bodyPr/>
          <a:lstStyle/>
          <a:p>
            <a:pPr lvl="1"/>
            <a:r>
              <a:rPr lang="zh-CN" altLang="en-US" dirty="0"/>
              <a:t>第二步：数据存储</a:t>
            </a:r>
          </a:p>
          <a:p>
            <a:pPr lvl="2"/>
            <a:r>
              <a:rPr lang="zh-CN" altLang="en-US" dirty="0"/>
              <a:t>搜索引擎通过爬虫爬取到的网页，将数据存入原始页面数据库。其中的页面数据与用户浏览器得到的</a:t>
            </a:r>
            <a:r>
              <a:rPr lang="en-US" altLang="zh-CN" dirty="0"/>
              <a:t>HTML</a:t>
            </a:r>
            <a:r>
              <a:rPr lang="zh-CN" altLang="en-US" dirty="0"/>
              <a:t>是基本一样的。</a:t>
            </a:r>
          </a:p>
          <a:p>
            <a:pPr lvl="2"/>
            <a:r>
              <a:rPr lang="zh-CN" altLang="en-US" dirty="0"/>
              <a:t>搜索引擎蜘蛛在抓取页面时，也做一定的重复内容检测，一旦遇到访问权重很低的网站上有大量抄袭、采集或者复制的内容，很可能就不再爬行。</a:t>
            </a:r>
          </a:p>
          <a:p>
            <a:pPr lvl="1"/>
            <a:r>
              <a:rPr lang="zh-CN" altLang="en-US" dirty="0"/>
              <a:t>第三步：预处理</a:t>
            </a:r>
          </a:p>
          <a:p>
            <a:pPr lvl="2"/>
            <a:r>
              <a:rPr lang="zh-CN" altLang="en-US" dirty="0"/>
              <a:t>搜索引擎将爬虫抓取回来的页面，进行各种步骤的预处理。</a:t>
            </a:r>
          </a:p>
          <a:p>
            <a:pPr lvl="2"/>
            <a:r>
              <a:rPr lang="zh-CN" altLang="en-US" dirty="0"/>
              <a:t>提取文字、中文分词</a:t>
            </a:r>
          </a:p>
          <a:p>
            <a:pPr lvl="2"/>
            <a:r>
              <a:rPr lang="zh-CN" altLang="en-US" dirty="0"/>
              <a:t>消除噪音（比如版权声明文字、导航条、广告等</a:t>
            </a:r>
            <a:r>
              <a:rPr lang="en-US" altLang="zh-CN" dirty="0"/>
              <a:t>……</a:t>
            </a:r>
            <a:r>
              <a:rPr lang="zh-CN" altLang="en-US" dirty="0"/>
              <a:t>）</a:t>
            </a:r>
          </a:p>
          <a:p>
            <a:pPr lvl="2"/>
            <a:r>
              <a:rPr lang="zh-CN" altLang="en-US" dirty="0"/>
              <a:t>索引处理</a:t>
            </a:r>
          </a:p>
          <a:p>
            <a:pPr lvl="2"/>
            <a:r>
              <a:rPr lang="zh-CN" altLang="en-US" dirty="0"/>
              <a:t>链接关系计算、特殊文件处理</a:t>
            </a:r>
          </a:p>
          <a:p>
            <a:pPr lvl="2"/>
            <a:r>
              <a:rPr lang="zh-CN" altLang="en-US" dirty="0"/>
              <a:t>除了</a:t>
            </a:r>
            <a:r>
              <a:rPr lang="en-US" altLang="zh-CN" dirty="0"/>
              <a:t>HTML</a:t>
            </a:r>
            <a:r>
              <a:rPr lang="zh-CN" altLang="en-US" dirty="0"/>
              <a:t>文件外，搜索引擎通常还能抓取和索引以文字为基础的多种文件类型，如 </a:t>
            </a:r>
            <a:r>
              <a:rPr lang="en-US" altLang="zh-CN" dirty="0"/>
              <a:t>PDF</a:t>
            </a:r>
            <a:r>
              <a:rPr lang="zh-CN" altLang="en-US" dirty="0"/>
              <a:t>、</a:t>
            </a:r>
            <a:r>
              <a:rPr lang="en-US" altLang="zh-CN" dirty="0"/>
              <a:t>Word</a:t>
            </a:r>
            <a:r>
              <a:rPr lang="zh-CN" altLang="en-US" dirty="0"/>
              <a:t>、</a:t>
            </a:r>
            <a:r>
              <a:rPr lang="en-US" altLang="zh-CN" dirty="0"/>
              <a:t>WPS</a:t>
            </a:r>
            <a:r>
              <a:rPr lang="zh-CN" altLang="en-US" dirty="0"/>
              <a:t>、</a:t>
            </a:r>
            <a:r>
              <a:rPr lang="en-US" altLang="zh-CN" dirty="0"/>
              <a:t>XLS</a:t>
            </a:r>
            <a:r>
              <a:rPr lang="zh-CN" altLang="en-US" dirty="0"/>
              <a:t>、</a:t>
            </a:r>
            <a:r>
              <a:rPr lang="en-US" altLang="zh-CN" dirty="0"/>
              <a:t>PPT</a:t>
            </a:r>
            <a:r>
              <a:rPr lang="zh-CN" altLang="en-US" dirty="0"/>
              <a:t>、</a:t>
            </a:r>
            <a:r>
              <a:rPr lang="en-US" altLang="zh-CN" dirty="0"/>
              <a:t>TXT </a:t>
            </a:r>
            <a:r>
              <a:rPr lang="zh-CN" altLang="en-US" dirty="0"/>
              <a:t>文件等。我们在搜索结果中也经常会看到这些文件类型。</a:t>
            </a:r>
          </a:p>
          <a:p>
            <a:pPr lvl="2"/>
            <a:r>
              <a:rPr lang="zh-CN" altLang="en-US" dirty="0"/>
              <a:t>但搜索引擎还不能处理图片、视频、</a:t>
            </a:r>
            <a:r>
              <a:rPr lang="en-US" altLang="zh-CN" dirty="0"/>
              <a:t>Flash </a:t>
            </a:r>
            <a:r>
              <a:rPr lang="zh-CN" altLang="en-US" dirty="0"/>
              <a:t>这类非文字内容，也不能执行脚本和程序。</a:t>
            </a:r>
            <a:endParaRPr lang="en-US" altLang="zh-CN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 </a:t>
            </a:r>
            <a:r>
              <a:rPr lang="zh-CN" altLang="en-US" dirty="0"/>
              <a:t>进一步认识网络爬虫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网络</a:t>
            </a:r>
            <a:r>
              <a:rPr lang="zh-CN" altLang="en-US"/>
              <a:t>爬虫基本结构</a:t>
            </a:r>
            <a:endParaRPr lang="en-US" altLang="zh-CN" dirty="0"/>
          </a:p>
          <a:p>
            <a:endParaRPr lang="en-US" alt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0022" y="2349674"/>
            <a:ext cx="5653598" cy="364086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 </a:t>
            </a:r>
            <a:r>
              <a:rPr lang="zh-CN" altLang="en-US" dirty="0"/>
              <a:t>进一步认识网络爬虫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爬虫的抓取策略</a:t>
            </a:r>
          </a:p>
          <a:p>
            <a:pPr lvl="1"/>
            <a:r>
              <a:rPr lang="zh-CN" altLang="en-US" dirty="0"/>
              <a:t>深度优先遍历策略</a:t>
            </a:r>
          </a:p>
          <a:p>
            <a:pPr lvl="1"/>
            <a:r>
              <a:rPr lang="zh-CN" altLang="en-US" dirty="0"/>
              <a:t>广度优先遍历策略</a:t>
            </a:r>
          </a:p>
          <a:p>
            <a:pPr lvl="1"/>
            <a:r>
              <a:rPr lang="zh-CN" altLang="en-US" dirty="0"/>
              <a:t>大站优先策略</a:t>
            </a:r>
          </a:p>
          <a:p>
            <a:pPr lvl="1"/>
            <a:r>
              <a:rPr lang="en-US" altLang="zh-CN" dirty="0"/>
              <a:t>Partial PageRank</a:t>
            </a:r>
            <a:r>
              <a:rPr lang="zh-CN" altLang="en-US" dirty="0"/>
              <a:t>策略</a:t>
            </a:r>
          </a:p>
          <a:p>
            <a:pPr lvl="1"/>
            <a:r>
              <a:rPr lang="en-US" altLang="zh-CN" dirty="0"/>
              <a:t>OPIC</a:t>
            </a:r>
            <a:r>
              <a:rPr lang="zh-CN" altLang="en-US" dirty="0"/>
              <a:t>策略</a:t>
            </a:r>
            <a:endParaRPr lang="en-US" alt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3727" y="1701602"/>
            <a:ext cx="3810680" cy="414073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 </a:t>
            </a:r>
            <a:r>
              <a:rPr lang="zh-CN" altLang="en-US" dirty="0"/>
              <a:t>进一步认识网络爬虫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9742" y="1001275"/>
            <a:ext cx="10984230" cy="5041187"/>
          </a:xfrm>
        </p:spPr>
        <p:txBody>
          <a:bodyPr/>
          <a:lstStyle/>
          <a:p>
            <a:r>
              <a:rPr lang="zh-CN" altLang="en-US" dirty="0"/>
              <a:t>网络爬虫技术实现</a:t>
            </a:r>
          </a:p>
          <a:p>
            <a:pPr lvl="1"/>
            <a:r>
              <a:rPr lang="en-US" altLang="zh-CN" dirty="0"/>
              <a:t>Python</a:t>
            </a:r>
          </a:p>
          <a:p>
            <a:pPr lvl="2"/>
            <a:r>
              <a:rPr lang="zh-CN" altLang="en-US" dirty="0"/>
              <a:t>爬虫框架非常丰富，并且多线程的处理能力较强，并且简单易学，代码简洁</a:t>
            </a:r>
          </a:p>
          <a:p>
            <a:pPr lvl="1"/>
            <a:r>
              <a:rPr lang="en-US" altLang="zh-CN" dirty="0"/>
              <a:t>Java</a:t>
            </a:r>
          </a:p>
          <a:p>
            <a:pPr lvl="2"/>
            <a:r>
              <a:rPr lang="zh-CN" altLang="en-US" dirty="0"/>
              <a:t>适合开发大型爬虫项目</a:t>
            </a:r>
          </a:p>
          <a:p>
            <a:pPr lvl="1"/>
            <a:r>
              <a:rPr lang="en-US" altLang="zh-CN" dirty="0"/>
              <a:t>PHP</a:t>
            </a:r>
          </a:p>
          <a:p>
            <a:pPr lvl="2"/>
            <a:r>
              <a:rPr lang="zh-CN" altLang="en-US" dirty="0"/>
              <a:t>后端处理很强，代码很简洁，模块也较丰富，但并并行能力相对来说较弱</a:t>
            </a:r>
          </a:p>
          <a:p>
            <a:pPr lvl="1"/>
            <a:r>
              <a:rPr lang="en-US" altLang="zh-CN" dirty="0"/>
              <a:t>Node.JS</a:t>
            </a:r>
          </a:p>
          <a:p>
            <a:pPr lvl="2"/>
            <a:r>
              <a:rPr lang="zh-CN" altLang="en-US" dirty="0"/>
              <a:t>支持高并发与多线程处理</a:t>
            </a:r>
          </a:p>
          <a:p>
            <a:pPr lvl="1"/>
            <a:r>
              <a:rPr lang="en-US" altLang="zh-CN" dirty="0"/>
              <a:t>C++</a:t>
            </a:r>
          </a:p>
          <a:p>
            <a:pPr lvl="2"/>
            <a:r>
              <a:rPr lang="zh-CN" altLang="en-US" dirty="0"/>
              <a:t>运行速度快，适合开发大型爬虫项目，成本较高</a:t>
            </a:r>
          </a:p>
          <a:p>
            <a:pPr lvl="1"/>
            <a:r>
              <a:rPr lang="en-US" altLang="zh-CN" dirty="0"/>
              <a:t>Go</a:t>
            </a:r>
            <a:r>
              <a:rPr lang="zh-CN" altLang="en-US" dirty="0"/>
              <a:t>语言</a:t>
            </a:r>
          </a:p>
          <a:p>
            <a:pPr lvl="2"/>
            <a:r>
              <a:rPr lang="zh-CN" altLang="en-US" dirty="0"/>
              <a:t>高并发能力非常强</a:t>
            </a:r>
          </a:p>
          <a:p>
            <a:endParaRPr lang="zh-CN" altLang="en-US" dirty="0"/>
          </a:p>
          <a:p>
            <a:endParaRPr lang="en-US" altLang="zh-CN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 </a:t>
            </a:r>
            <a:r>
              <a:rPr lang="zh-CN" altLang="en-US" dirty="0"/>
              <a:t>实验环境如何搭建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PyCharm</a:t>
            </a:r>
          </a:p>
          <a:p>
            <a:pPr lvl="1"/>
            <a:r>
              <a:rPr lang="en-US" altLang="zh-CN" dirty="0">
                <a:hlinkClick r:id="rId2"/>
              </a:rPr>
              <a:t>https://www.jetbrains.com/pycharm/download/</a:t>
            </a:r>
            <a:endParaRPr lang="en-US" altLang="zh-CN" dirty="0"/>
          </a:p>
          <a:p>
            <a:r>
              <a:rPr lang="en-US" altLang="zh-CN" dirty="0" err="1"/>
              <a:t>Virtualenv</a:t>
            </a:r>
            <a:endParaRPr lang="en-US" altLang="zh-CN" dirty="0"/>
          </a:p>
          <a:p>
            <a:pPr lvl="1"/>
            <a:r>
              <a:rPr lang="en-US" altLang="zh-CN" dirty="0">
                <a:hlinkClick r:id="rId3"/>
              </a:rPr>
              <a:t>https://www.cnblogs.com/lhm166/articles/12863468.html</a:t>
            </a:r>
            <a:endParaRPr lang="en-US" altLang="zh-CN" dirty="0"/>
          </a:p>
          <a:p>
            <a:r>
              <a:rPr lang="en-US" altLang="zh-CN" dirty="0"/>
              <a:t>Anaconda</a:t>
            </a:r>
          </a:p>
          <a:p>
            <a:pPr lvl="1"/>
            <a:r>
              <a:rPr lang="en-US" altLang="zh-CN" dirty="0">
                <a:hlinkClick r:id="rId4"/>
              </a:rPr>
              <a:t>https://mirrors.tuna.tsinghua.edu.cn/anaconda/archive/</a:t>
            </a:r>
            <a:endParaRPr lang="en-US" altLang="zh-CN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6ef6cf12-4bdd-432d-88ec-94344e82f33f"/>
  <p:tag name="COMMONDATA" val="eyJoZGlkIjoiMWFhZWYzOTkzOTJhMGFhNmU1MTQyZDc4M2NjMzNjNjU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">
  <a:themeElements>
    <a:clrScheme name="穿越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凸显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1670</Words>
  <Application>Microsoft Office PowerPoint</Application>
  <PresentationFormat>自定义</PresentationFormat>
  <Paragraphs>139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7" baseType="lpstr">
      <vt:lpstr>Arial Unicode MS</vt:lpstr>
      <vt:lpstr>微软雅黑</vt:lpstr>
      <vt:lpstr>Arial</vt:lpstr>
      <vt:lpstr>Arial Black</vt:lpstr>
      <vt:lpstr>Calibri</vt:lpstr>
      <vt:lpstr>Wingdings</vt:lpstr>
      <vt:lpstr>Office 主题</vt:lpstr>
      <vt:lpstr>网络爬虫</vt:lpstr>
      <vt:lpstr>课程介绍</vt:lpstr>
      <vt:lpstr>课程大纲</vt:lpstr>
      <vt:lpstr>序言大纲</vt:lpstr>
      <vt:lpstr>什么是网络爬虫</vt:lpstr>
      <vt:lpstr>2. 为什么要学习网络爬虫</vt:lpstr>
      <vt:lpstr>3. 利害</vt:lpstr>
      <vt:lpstr>4. Web基础回顾</vt:lpstr>
      <vt:lpstr>4. Web基础回顾</vt:lpstr>
      <vt:lpstr>4. Web基础回顾</vt:lpstr>
      <vt:lpstr>5. 进一步认识网络爬虫</vt:lpstr>
      <vt:lpstr>5. 进一步认识网络爬虫</vt:lpstr>
      <vt:lpstr>5. 进一步认识网络爬虫</vt:lpstr>
      <vt:lpstr>5. 进一步认识网络爬虫</vt:lpstr>
      <vt:lpstr>5. 进一步认识网络爬虫</vt:lpstr>
      <vt:lpstr>5. 进一步认识网络爬虫</vt:lpstr>
      <vt:lpstr>5. 进一步认识网络爬虫</vt:lpstr>
      <vt:lpstr>5. 进一步认识网络爬虫</vt:lpstr>
      <vt:lpstr>6. 实验环境如何搭建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赵伟</dc:creator>
  <cp:lastModifiedBy>c24988</cp:lastModifiedBy>
  <cp:revision>733</cp:revision>
  <cp:lastPrinted>2012-03-16T05:44:00Z</cp:lastPrinted>
  <dcterms:created xsi:type="dcterms:W3CDTF">2020-09-20T02:01:00Z</dcterms:created>
  <dcterms:modified xsi:type="dcterms:W3CDTF">2026-03-02T13:48:37Z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2052-11.1.0.14309</vt:lpwstr>
  </property>
  <property fmtid="{D5CDD505-2E9C-101B-9397-08002B2CF9AE}" pid="3" name="ICV">
    <vt:lpwstr>98B8592333984D22B9B45A8CE7DF2194_12</vt:lpwstr>
  </property>
</Properties>
</file>